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179D49-5086-4F3F-56F3-A66EDC74947B}">
          <p14:sldIdLst>
            <p14:sldId id="256"/>
            <p14:sldId id="257"/>
            <p14:sldId id="258"/>
            <p14:sldId id="259"/>
          </p14:sldIdLst>
        </p14:section>
        <p14:section name="Stage 1: AIO" id="{70C3B4BD-39D9-CD1D-5A10-425B9B1CC204}">
          <p14:sldIdLst>
            <p14:sldId id="260"/>
            <p14:sldId id="261"/>
          </p14:sldIdLst>
        </p14:section>
        <p14:section name="Stage 2: School of Excellence" id="{EFFF3597-FCA6-7CEC-B147-CE8E9C73039D}">
          <p14:sldIdLst>
            <p14:sldId id="262"/>
            <p14:sldId id="263"/>
          </p14:sldIdLst>
        </p14:section>
        <p14:section name="Stage 3: AIIO and FARIO" id="{B7A88F29-6421-140F-C03D-A01C2AAC3BD1}">
          <p14:sldIdLst>
            <p14:sldId id="264"/>
            <p14:sldId id="265"/>
            <p14:sldId id="266"/>
            <p14:sldId id="267"/>
          </p14:sldIdLst>
        </p14:section>
        <p14:section name="Stage 4: Selection School" id="{1AFF958F-741D-1130-A3C3-B9321BB2669B}">
          <p14:sldIdLst>
            <p14:sldId id="268"/>
            <p14:sldId id="269"/>
          </p14:sldIdLst>
        </p14:section>
        <p14:section name="The IOI" id="{5E9D30D9-132E-D757-7137-8896549418CD}">
          <p14:sldIdLst>
            <p14:sldId id="270"/>
            <p14:sldId id="271"/>
          </p14:sldIdLst>
        </p14:section>
        <p14:section name="Wrap-up" id="{AFAA97FA-5B76-AAB2-1115-BA59545A6599}">
          <p14:sldIdLst>
            <p14:sldId id="272"/>
            <p14:sldId id="273"/>
          </p14:sldIdLst>
        </p14:section>
        <p14:section name="Addendum: IOI Syllabus" id="{446D1D63-0723-C8F1-59F2-5F049CBF85B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6301"/>
  </p:normalViewPr>
  <p:slideViewPr>
    <p:cSldViewPr snapToGrid="0" snapToObjects="1">
      <p:cViewPr varScale="1">
        <p:scale>
          <a:sx n="123" d="100"/>
          <a:sy n="123" d="100"/>
        </p:scale>
        <p:origin x="6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yan Sun" userId="851caa7714272873" providerId="LiveId" clId="{9CD94D5E-0A18-4CEF-A655-0E4C15651F93}"/>
    <pc:docChg chg="modSld">
      <pc:chgData name="Bryan Sun" userId="851caa7714272873" providerId="LiveId" clId="{9CD94D5E-0A18-4CEF-A655-0E4C15651F93}" dt="2026-10-02T22:59:42.639" v="48" actId="20577"/>
      <pc:docMkLst>
        <pc:docMk/>
      </pc:docMkLst>
      <pc:sldChg chg="modSp mod">
        <pc:chgData name="Bryan Sun" userId="851caa7714272873" providerId="LiveId" clId="{9CD94D5E-0A18-4CEF-A655-0E4C15651F93}" dt="2026-10-02T22:59:42.639" v="48" actId="20577"/>
        <pc:sldMkLst>
          <pc:docMk/>
          <pc:sldMk cId="0" sldId="256"/>
        </pc:sldMkLst>
        <pc:spChg chg="mod">
          <ac:chgData name="Bryan Sun" userId="851caa7714272873" providerId="LiveId" clId="{9CD94D5E-0A18-4CEF-A655-0E4C15651F93}" dt="2026-10-02T22:59:42.639" v="48" actId="20577"/>
          <ac:spMkLst>
            <pc:docMk/>
            <pc:sldMk cId="0" sldId="256"/>
            <ac:spMk id="2" creationId="{00000000-0000-0000-0000-000000000000}"/>
          </ac:spMkLst>
        </pc:spChg>
      </pc:sldChg>
    </pc:docChg>
  </pc:docChgLst>
  <pc:docChgLst>
    <pc:chgData name="Bryan Sun" userId="851caa7714272873" providerId="LiveId" clId="{1DF0C224-3A3E-55A6-A8D1-F8F2208D385B}"/>
    <pc:docChg chg="delSld modSection">
      <pc:chgData name="Bryan Sun" userId="851caa7714272873" providerId="LiveId" clId="{1DF0C224-3A3E-55A6-A8D1-F8F2208D385B}" dt="2026-10-02T10:05:09.373" v="0" actId="2696"/>
      <pc:docMkLst>
        <pc:docMk/>
      </pc:docMkLst>
      <pc:sldChg chg="del">
        <pc:chgData name="Bryan Sun" userId="851caa7714272873" providerId="LiveId" clId="{1DF0C224-3A3E-55A6-A8D1-F8F2208D385B}" dt="2026-10-02T10:05:09.373" v="0" actId="2696"/>
        <pc:sldMkLst>
          <pc:docMk/>
          <pc:sldMk cId="0" sldId="27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1185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introduces how Australia picks its four-student IOI team. The goal: every student knows which stage comes next for them, when it happens, and what they need to learn for it. Dates and numbers are for the 2026 cycle and change a little each year.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Only the AIO is open: anyone can enter through their school. Every later stage is invitation only. The EGOI is the European Girls' Olympiad in Informatics; its four-person team is picked from AIIO results. The four colours used here stay fixed for the rest of the deck: teal = AIO, orange = School of Excellence, coral = AIIO and FARIO, navy = Selection School.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full cycle runs from one August to the next. The highlighted row is the hard gate, covered on the next slide. Sources: AMT pages for the AIO and the Selection School; the AIOC contest schedule for the AIIO and FARIO dates.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fact for planning. A student who first does well in the AIO in Year 12 is too late for this cycle. A Year 11 student who reaches the December school can still sit the AIIO and attend the Selection School in Year 12.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AIO is the one stage everyone in this room can do. Its score decides who is invited to the December School of Excellence. AMT does not publish the cut-off score.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official AIO syllabus. The P1–6 topic list comes from past papers, 2019 to 2026. Entry costs AUD 25.90 per student in 2026 and the entry deadline was a week before the contest.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school, not a contest: lectures, labs and practice contests. Only students invited here can later make the IOI team.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of the school is to take a student from "can solve AIO Problem 6" to "can attempt invitational problems" in time for the February AIIO, about eight weeks later. C++ becomes the practical choice from here on: the AIIO and the IOI accept only 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AIIO = Australian Invitational Informatics Olympiad. FARIO = French-Australian Regional Informatics Olympiad. Invitation to the AIIO is based on AIO performance; a student's relative AIIO score is a main criterion for the next step.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sat at school under supervision. Problems come in roughly increasing difficulty. Input and output are standard input and output, with no code templates. Students may not bring in saved code, so they need to be able to write their own brute force for testing.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problems have solutions in our AIIO folder. The early subtasks of most problems need only AIO-level techniques; the full solutions need the graph, DP and data-structure material from the School of Excellence.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habits matter as much as the topics. Ask students which ones they already do in the AIO. Kth Number (2025 P4) adds one more: an interactive task where full marks need at most ⌈N/2⌉+1 queries, and the grader may adapt its answers.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Informatics Selection School ran from 23 April to 1 May at UNSW, Sydney. Invitations are based on AIIO and FARIO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level few new topics are taught; the school is about applying known material creatively to IOI-difficulty problems. IOI tasks usually ask students to write a function that a grader calls, instead of reading standard input.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country sends up to four secondary-school students. The IOI is held mid-year, usually between July and September.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marks each topic as included, outside of focus or excluded. The "left out" topics are explicitly excluded: knowing them gives no advantage at the IOI. The full summary is in the selection pathway document.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card is what Lessons 1 to 4 covered. The right card is the gap between AIO Problem 6 and the AIIO. Ask: which of the right-hand topics has anyone already seen?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student to say which stage they are aiming for this year.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IOI Syllabus 2025, ioinformatics.org/files/ioi-syllabus-2025.pdf. The syllabus is updated each year by the International Scientific Committee; check the latest edition before relying on a detail.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excluded maths (modular inverses, trigonometry, FFT) is common in other contests such as Codeforces, but will not be needed at the IOI.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does not name segment trees or Fenwick trees directly; earlier editions listed them under statically balanced and augmented binary search trees.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705600"/>
            <a:ext cx="952500" cy="152400"/>
          </a:xfrm>
          <a:prstGeom prst="rect">
            <a:avLst/>
          </a:prstGeom>
          <a:solidFill>
            <a:srgbClr val="F9AA19"/>
          </a:solidFill>
          <a:ln w="12700">
            <a:solidFill>
              <a:srgbClr val="F9AA19"/>
            </a:solidFill>
            <a:prstDash val="solid"/>
          </a:ln>
        </p:spPr>
        <p:txBody>
          <a:bodyPr/>
          <a:lstStyle/>
          <a:p>
            <a:endParaRPr lang="en-US"/>
          </a:p>
        </p:txBody>
      </p:sp>
      <p:sp>
        <p:nvSpPr>
          <p:cNvPr id="3" name="Text 1"/>
          <p:cNvSpPr>
            <a:spLocks noGrp="1"/>
          </p:cNvSpPr>
          <p:nvPr>
            <p:ph type="body" idx="101" hasCustomPrompt="1"/>
          </p:nvPr>
        </p:nvSpPr>
        <p:spPr>
          <a:xfrm>
            <a:off x="812800" y="609600"/>
            <a:ext cx="10566400" cy="279400"/>
          </a:xfrm>
          <a:prstGeom prst="rect">
            <a:avLst/>
          </a:prstGeom>
          <a:noFill/>
          <a:ln/>
        </p:spPr>
        <p:txBody>
          <a:bodyPr wrap="square" rtlCol="0"/>
          <a:lstStyle>
            <a:lvl1pPr marL="0" indent="0">
              <a:buNone/>
              <a:defRPr lang="en-US" sz="1200" b="1" kern="0" spc="200" dirty="0">
                <a:solidFill>
                  <a:srgbClr val="287673"/>
                </a:solidFill>
                <a:latin typeface="Mulish" pitchFamily="34" charset="0"/>
                <a:ea typeface="Mulish" pitchFamily="34" charset="-122"/>
                <a:cs typeface="Mulish" pitchFamily="34" charset="-120"/>
              </a:defRPr>
            </a:lvl1pPr>
          </a:lstStyle>
          <a:p>
            <a:pPr marL="0" indent="0">
              <a:buNone/>
            </a:pPr>
            <a:endParaRPr lang="en-US" sz="1200" dirty="0"/>
          </a:p>
        </p:txBody>
      </p:sp>
      <p:sp>
        <p:nvSpPr>
          <p:cNvPr id="4" name="Text 1"/>
          <p:cNvSpPr>
            <a:spLocks noGrp="1"/>
          </p:cNvSpPr>
          <p:nvPr>
            <p:ph type="title" idx="102" hasCustomPrompt="1"/>
          </p:nvPr>
        </p:nvSpPr>
        <p:spPr>
          <a:xfrm>
            <a:off x="812800" y="952500"/>
            <a:ext cx="10566400" cy="482600"/>
          </a:xfrm>
          <a:prstGeom prst="rect">
            <a:avLst/>
          </a:prstGeom>
          <a:noFill/>
          <a:ln/>
        </p:spPr>
        <p:txBody>
          <a:bodyPr wrap="square" rtlCol="0"/>
          <a:lstStyle>
            <a:lvl1pPr marL="0" indent="0" algn="l">
              <a:buNone/>
              <a:defRPr lang="en-US" sz="2600" b="1" kern="0" spc="200" dirty="0">
                <a:solidFill>
                  <a:srgbClr val="1F2328"/>
                </a:solidFill>
                <a:latin typeface="Jost" pitchFamily="34" charset="0"/>
                <a:ea typeface="Jost" pitchFamily="34" charset="-122"/>
                <a:cs typeface="Jost" pitchFamily="34" charset="-120"/>
              </a:defRPr>
            </a:lvl1pPr>
          </a:lstStyle>
          <a:p>
            <a:pPr marL="0" indent="0" algn="l">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ge title">
    <p:bg>
      <p:bgPr>
        <a:solidFill>
          <a:srgbClr val="FFFFFF"/>
        </a:solidFill>
        <a:effectLst/>
      </p:bgPr>
    </p:bg>
    <p:spTree>
      <p:nvGrpSpPr>
        <p:cNvPr id="1" name=""/>
        <p:cNvGrpSpPr/>
        <p:nvPr/>
      </p:nvGrpSpPr>
      <p:grpSpPr>
        <a:xfrm>
          <a:off x="0" y="0"/>
          <a:ext cx="0" cy="0"/>
          <a:chOff x="0" y="0"/>
          <a:chExt cx="0" cy="0"/>
        </a:xfrm>
      </p:grpSpPr>
      <p:pic>
        <p:nvPicPr>
          <p:cNvPr id="2" name="Image 0" descr="/tmp/claude-0/-home-claude/1222ba5a-071e-5b7a-ad17-7f7252f4bde6/scratchpad/artifact-files/c8bf8ae3-9ea2-4658-ab62-f7e0802c258a/f3e971b733e6020d790935bd71386456.png"/>
          <p:cNvPicPr>
            <a:picLocks noChangeAspect="1"/>
          </p:cNvPicPr>
          <p:nvPr/>
        </p:nvPicPr>
        <p:blipFill>
          <a:blip r:embed="rId2"/>
          <a:stretch>
            <a:fillRect/>
          </a:stretch>
        </p:blipFill>
        <p:spPr>
          <a:xfrm>
            <a:off x="8763000" y="736600"/>
            <a:ext cx="3429000" cy="6121400"/>
          </a:xfrm>
          <a:prstGeom prst="rect">
            <a:avLst/>
          </a:prstGeom>
        </p:spPr>
      </p:pic>
      <p:sp>
        <p:nvSpPr>
          <p:cNvPr id="3" name="Text 0"/>
          <p:cNvSpPr>
            <a:spLocks noGrp="1"/>
          </p:cNvSpPr>
          <p:nvPr>
            <p:ph type="body" idx="101" hasCustomPrompt="1"/>
          </p:nvPr>
        </p:nvSpPr>
        <p:spPr>
          <a:xfrm>
            <a:off x="812800" y="2095500"/>
            <a:ext cx="7302500" cy="279400"/>
          </a:xfrm>
          <a:prstGeom prst="rect">
            <a:avLst/>
          </a:prstGeom>
          <a:noFill/>
          <a:ln/>
        </p:spPr>
        <p:txBody>
          <a:bodyPr wrap="square" rtlCol="0"/>
          <a:lstStyle>
            <a:lvl1pPr marL="0" indent="0">
              <a:buNone/>
              <a:defRPr lang="en-US" sz="1300" b="1" kern="0" spc="300" dirty="0">
                <a:solidFill>
                  <a:srgbClr val="287673"/>
                </a:solidFill>
                <a:latin typeface="Mulish" pitchFamily="34" charset="0"/>
                <a:ea typeface="Mulish" pitchFamily="34" charset="-122"/>
                <a:cs typeface="Mulish" pitchFamily="34" charset="-120"/>
              </a:defRPr>
            </a:lvl1pPr>
          </a:lstStyle>
          <a:p>
            <a:pPr marL="0" indent="0">
              <a:buNone/>
            </a:pPr>
            <a:endParaRPr lang="en-US" sz="1300" dirty="0"/>
          </a:p>
        </p:txBody>
      </p:sp>
      <p:sp>
        <p:nvSpPr>
          <p:cNvPr id="4" name="Text 0"/>
          <p:cNvSpPr>
            <a:spLocks noGrp="1"/>
          </p:cNvSpPr>
          <p:nvPr>
            <p:ph type="title" idx="102" hasCustomPrompt="1"/>
          </p:nvPr>
        </p:nvSpPr>
        <p:spPr>
          <a:xfrm>
            <a:off x="812800" y="2476500"/>
            <a:ext cx="7810500" cy="1333500"/>
          </a:xfrm>
          <a:prstGeom prst="rect">
            <a:avLst/>
          </a:prstGeom>
          <a:noFill/>
          <a:ln/>
        </p:spPr>
        <p:txBody>
          <a:bodyPr wrap="square" rtlCol="0"/>
          <a:lstStyle>
            <a:lvl1pPr marL="0" indent="0" algn="l">
              <a:buNone/>
              <a:defRPr lang="en-US" sz="4400" b="1" kern="0" spc="300" dirty="0">
                <a:solidFill>
                  <a:srgbClr val="1F2328"/>
                </a:solidFill>
                <a:latin typeface="Jost" pitchFamily="34" charset="0"/>
                <a:ea typeface="Jost" pitchFamily="34" charset="-122"/>
                <a:cs typeface="Jost" pitchFamily="34" charset="-120"/>
              </a:defRPr>
            </a:lvl1pPr>
          </a:lstStyle>
          <a:p>
            <a:pPr marL="0" indent="0" algn="l">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A2DEF4"/>
        </a:solidFill>
        <a:effectLst/>
      </p:bgPr>
    </p:bg>
    <p:spTree>
      <p:nvGrpSpPr>
        <p:cNvPr id="1" name=""/>
        <p:cNvGrpSpPr/>
        <p:nvPr/>
      </p:nvGrpSpPr>
      <p:grpSpPr>
        <a:xfrm>
          <a:off x="0" y="0"/>
          <a:ext cx="0" cy="0"/>
          <a:chOff x="0" y="0"/>
          <a:chExt cx="0" cy="0"/>
        </a:xfrm>
      </p:grpSpPr>
      <p:pic>
        <p:nvPicPr>
          <p:cNvPr id="2" name="Image 0" descr="/tmp/claude-0/-home-claude/1222ba5a-071e-5b7a-ad17-7f7252f4bde6/scratchpad/artifact-files/c8bf8ae3-9ea2-4658-ab62-f7e0802c258a/6a8cc99ce5ebcca1baaa021b0518f298.png"/>
          <p:cNvPicPr>
            <a:picLocks noChangeAspect="1"/>
          </p:cNvPicPr>
          <p:nvPr/>
        </p:nvPicPr>
        <p:blipFill>
          <a:blip r:embed="rId2"/>
          <a:stretch>
            <a:fillRect/>
          </a:stretch>
        </p:blipFill>
        <p:spPr>
          <a:xfrm>
            <a:off x="0" y="0"/>
            <a:ext cx="6858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0A4054"/>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112000" y="1905000"/>
            <a:ext cx="4267200" cy="320040"/>
          </a:xfrm>
          <a:prstGeom prst="rect">
            <a:avLst/>
          </a:prstGeom>
          <a:noFill/>
          <a:ln/>
        </p:spPr>
        <p:txBody>
          <a:bodyPr wrap="square" lIns="0" tIns="0" rIns="0" bIns="0" rtlCol="0" anchor="t"/>
          <a:lstStyle/>
          <a:p>
            <a:pPr marL="0" indent="0" algn="r">
              <a:buNone/>
            </a:pPr>
            <a:r>
              <a:rPr lang="en-US" sz="1300" b="1" kern="0" spc="300" dirty="0">
                <a:solidFill>
                  <a:srgbClr val="14232B"/>
                </a:solidFill>
                <a:latin typeface="Mulish" pitchFamily="34" charset="0"/>
                <a:ea typeface="Mulish" pitchFamily="34" charset="-122"/>
                <a:cs typeface="Mulish" pitchFamily="34" charset="-120"/>
              </a:rPr>
              <a:t>AUSTRALIAN</a:t>
            </a:r>
            <a:r>
              <a:rPr lang="zh-CN" altLang="en-US" sz="1300" b="1" kern="0" spc="300" dirty="0">
                <a:solidFill>
                  <a:srgbClr val="14232B"/>
                </a:solidFill>
                <a:latin typeface="Mulish" pitchFamily="34" charset="0"/>
                <a:ea typeface="Mulish" pitchFamily="34" charset="-122"/>
                <a:cs typeface="Mulish" pitchFamily="34" charset="-120"/>
              </a:rPr>
              <a:t> </a:t>
            </a:r>
            <a:r>
              <a:rPr lang="en-US" altLang="zh-CN" sz="1300" b="1" kern="0" spc="300" dirty="0">
                <a:solidFill>
                  <a:srgbClr val="14232B"/>
                </a:solidFill>
                <a:latin typeface="Mulish" pitchFamily="34" charset="0"/>
                <a:ea typeface="Mulish" pitchFamily="34" charset="-122"/>
                <a:cs typeface="Mulish" pitchFamily="34" charset="-120"/>
              </a:rPr>
              <a:t>INFORMATICS</a:t>
            </a:r>
            <a:endParaRPr lang="en-US" sz="1300" dirty="0"/>
          </a:p>
        </p:txBody>
      </p:sp>
      <p:sp>
        <p:nvSpPr>
          <p:cNvPr id="3" name="Text 1"/>
          <p:cNvSpPr txBox="1"/>
          <p:nvPr/>
        </p:nvSpPr>
        <p:spPr>
          <a:xfrm>
            <a:off x="7112000" y="2286000"/>
            <a:ext cx="4267200" cy="2095500"/>
          </a:xfrm>
          <a:prstGeom prst="rect">
            <a:avLst/>
          </a:prstGeom>
          <a:noFill/>
          <a:ln/>
        </p:spPr>
        <p:txBody>
          <a:bodyPr wrap="square" lIns="0" tIns="0" rIns="0" bIns="0" rtlCol="0" anchor="t"/>
          <a:lstStyle/>
          <a:p>
            <a:pPr marL="0" indent="0" algn="r">
              <a:lnSpc>
                <a:spcPct val="95000"/>
              </a:lnSpc>
              <a:buNone/>
            </a:pPr>
            <a:r>
              <a:rPr lang="en-US" sz="4800" b="1" kern="0" spc="200" dirty="0">
                <a:solidFill>
                  <a:srgbClr val="14232B"/>
                </a:solidFill>
                <a:latin typeface="Jost" pitchFamily="34" charset="0"/>
                <a:ea typeface="Jost" pitchFamily="34" charset="-122"/>
                <a:cs typeface="Jost" pitchFamily="34" charset="-120"/>
              </a:rPr>
              <a:t>THE SELECTION JOURNEY</a:t>
            </a:r>
            <a:endParaRPr lang="en-US" sz="4800" dirty="0"/>
          </a:p>
        </p:txBody>
      </p:sp>
      <p:sp>
        <p:nvSpPr>
          <p:cNvPr id="4" name="Text 2"/>
          <p:cNvSpPr txBox="1"/>
          <p:nvPr/>
        </p:nvSpPr>
        <p:spPr>
          <a:xfrm>
            <a:off x="7112000" y="4508500"/>
            <a:ext cx="4267200" cy="1016000"/>
          </a:xfrm>
          <a:prstGeom prst="rect">
            <a:avLst/>
          </a:prstGeom>
          <a:noFill/>
          <a:ln/>
        </p:spPr>
        <p:txBody>
          <a:bodyPr wrap="square" lIns="0" tIns="0" rIns="0" bIns="0" rtlCol="0" anchor="t"/>
          <a:lstStyle/>
          <a:p>
            <a:pPr marL="0" indent="0" algn="r">
              <a:lnSpc>
                <a:spcPct val="140000"/>
              </a:lnSpc>
              <a:buNone/>
            </a:pPr>
            <a:r>
              <a:rPr lang="en-US" sz="1500" dirty="0">
                <a:solidFill>
                  <a:srgbClr val="14232B"/>
                </a:solidFill>
                <a:latin typeface="Mulish" pitchFamily="34" charset="0"/>
                <a:ea typeface="Mulish" pitchFamily="34" charset="-122"/>
                <a:cs typeface="Mulish" pitchFamily="34" charset="-120"/>
              </a:rPr>
              <a:t>AIO → School of Excellence</a:t>
            </a:r>
            <a:endParaRPr lang="en-US" sz="1500" dirty="0"/>
          </a:p>
          <a:p>
            <a:pPr marL="0" indent="0" algn="r">
              <a:lnSpc>
                <a:spcPct val="140000"/>
              </a:lnSpc>
              <a:buNone/>
            </a:pPr>
            <a:r>
              <a:rPr lang="en-US" sz="1500" dirty="0">
                <a:solidFill>
                  <a:srgbClr val="14232B"/>
                </a:solidFill>
                <a:latin typeface="Mulish" pitchFamily="34" charset="0"/>
                <a:ea typeface="Mulish" pitchFamily="34" charset="-122"/>
                <a:cs typeface="Mulish" pitchFamily="34" charset="-120"/>
              </a:rPr>
              <a:t>→ AIIO and FARIO</a:t>
            </a:r>
            <a:endParaRPr lang="en-US" sz="1500" dirty="0"/>
          </a:p>
          <a:p>
            <a:pPr marL="0" indent="0" algn="r">
              <a:lnSpc>
                <a:spcPct val="140000"/>
              </a:lnSpc>
              <a:buNone/>
            </a:pPr>
            <a:r>
              <a:rPr lang="en-US" sz="1500" dirty="0">
                <a:solidFill>
                  <a:srgbClr val="14232B"/>
                </a:solidFill>
                <a:latin typeface="Mulish" pitchFamily="34" charset="0"/>
                <a:ea typeface="Mulish" pitchFamily="34" charset="-122"/>
                <a:cs typeface="Mulish" pitchFamily="34" charset="-120"/>
              </a:rPr>
              <a:t>→ Selection School → IOI</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THE ROUTE</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FOUR STAGES TO THE IOI TEAM</a:t>
            </a:r>
            <a:endParaRPr lang="en-US" sz="2600" dirty="0"/>
          </a:p>
        </p:txBody>
      </p:sp>
      <p:sp>
        <p:nvSpPr>
          <p:cNvPr id="4" name="Shape 2"/>
          <p:cNvSpPr/>
          <p:nvPr/>
        </p:nvSpPr>
        <p:spPr>
          <a:xfrm>
            <a:off x="8128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5" name="Shape 3"/>
          <p:cNvSpPr/>
          <p:nvPr/>
        </p:nvSpPr>
        <p:spPr>
          <a:xfrm>
            <a:off x="812800" y="1638300"/>
            <a:ext cx="1676400" cy="63500"/>
          </a:xfrm>
          <a:prstGeom prst="rect">
            <a:avLst/>
          </a:prstGeom>
          <a:solidFill>
            <a:srgbClr val="3E9A97"/>
          </a:solidFill>
          <a:ln w="12700">
            <a:solidFill>
              <a:srgbClr val="3E9A97"/>
            </a:solidFill>
            <a:prstDash val="solid"/>
          </a:ln>
        </p:spPr>
        <p:txBody>
          <a:bodyPr/>
          <a:lstStyle/>
          <a:p>
            <a:endParaRPr lang="en-AU"/>
          </a:p>
        </p:txBody>
      </p:sp>
      <p:sp>
        <p:nvSpPr>
          <p:cNvPr id="6" name="Text 4"/>
          <p:cNvSpPr txBox="1"/>
          <p:nvPr/>
        </p:nvSpPr>
        <p:spPr>
          <a:xfrm>
            <a:off x="9652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AUGUST</a:t>
            </a:r>
            <a:endParaRPr lang="en-US" sz="1200" dirty="0"/>
          </a:p>
        </p:txBody>
      </p:sp>
      <p:sp>
        <p:nvSpPr>
          <p:cNvPr id="7" name="Text 5"/>
          <p:cNvSpPr txBox="1"/>
          <p:nvPr/>
        </p:nvSpPr>
        <p:spPr>
          <a:xfrm>
            <a:off x="9652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AIO</a:t>
            </a:r>
            <a:endParaRPr lang="en-US" sz="1600" dirty="0"/>
          </a:p>
        </p:txBody>
      </p:sp>
      <p:sp>
        <p:nvSpPr>
          <p:cNvPr id="8" name="Text 6"/>
          <p:cNvSpPr txBox="1"/>
          <p:nvPr/>
        </p:nvSpPr>
        <p:spPr>
          <a:xfrm>
            <a:off x="9652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Open to any school student</a:t>
            </a:r>
            <a:endParaRPr lang="en-US" sz="1200" dirty="0"/>
          </a:p>
        </p:txBody>
      </p:sp>
      <p:sp>
        <p:nvSpPr>
          <p:cNvPr id="9" name="Text 7"/>
          <p:cNvSpPr txBox="1"/>
          <p:nvPr/>
        </p:nvSpPr>
        <p:spPr>
          <a:xfrm>
            <a:off x="25400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10" name="Shape 8"/>
          <p:cNvSpPr/>
          <p:nvPr/>
        </p:nvSpPr>
        <p:spPr>
          <a:xfrm>
            <a:off x="28575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11" name="Shape 9"/>
          <p:cNvSpPr/>
          <p:nvPr/>
        </p:nvSpPr>
        <p:spPr>
          <a:xfrm>
            <a:off x="2857500" y="1638300"/>
            <a:ext cx="1676400" cy="63500"/>
          </a:xfrm>
          <a:prstGeom prst="rect">
            <a:avLst/>
          </a:prstGeom>
          <a:solidFill>
            <a:srgbClr val="E0960F"/>
          </a:solidFill>
          <a:ln w="12700">
            <a:solidFill>
              <a:srgbClr val="E0960F"/>
            </a:solidFill>
            <a:prstDash val="solid"/>
          </a:ln>
        </p:spPr>
        <p:txBody>
          <a:bodyPr/>
          <a:lstStyle/>
          <a:p>
            <a:endParaRPr lang="en-AU"/>
          </a:p>
        </p:txBody>
      </p:sp>
      <p:sp>
        <p:nvSpPr>
          <p:cNvPr id="12" name="Text 10"/>
          <p:cNvSpPr txBox="1"/>
          <p:nvPr/>
        </p:nvSpPr>
        <p:spPr>
          <a:xfrm>
            <a:off x="30099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DECEMBER</a:t>
            </a:r>
            <a:endParaRPr lang="en-US" sz="1200" dirty="0"/>
          </a:p>
        </p:txBody>
      </p:sp>
      <p:sp>
        <p:nvSpPr>
          <p:cNvPr id="13" name="Text 11"/>
          <p:cNvSpPr txBox="1"/>
          <p:nvPr/>
        </p:nvSpPr>
        <p:spPr>
          <a:xfrm>
            <a:off x="30099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School of Excellence</a:t>
            </a:r>
            <a:endParaRPr lang="en-US" sz="1600" dirty="0"/>
          </a:p>
        </p:txBody>
      </p:sp>
      <p:sp>
        <p:nvSpPr>
          <p:cNvPr id="14" name="Text 12"/>
          <p:cNvSpPr txBox="1"/>
          <p:nvPr/>
        </p:nvSpPr>
        <p:spPr>
          <a:xfrm>
            <a:off x="30099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Top AIO results, Year 11 or below</a:t>
            </a:r>
            <a:endParaRPr lang="en-US" sz="1200" dirty="0"/>
          </a:p>
        </p:txBody>
      </p:sp>
      <p:sp>
        <p:nvSpPr>
          <p:cNvPr id="15" name="Text 13"/>
          <p:cNvSpPr txBox="1"/>
          <p:nvPr/>
        </p:nvSpPr>
        <p:spPr>
          <a:xfrm>
            <a:off x="45847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16" name="Shape 14"/>
          <p:cNvSpPr/>
          <p:nvPr/>
        </p:nvSpPr>
        <p:spPr>
          <a:xfrm>
            <a:off x="49022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17" name="Shape 15"/>
          <p:cNvSpPr/>
          <p:nvPr/>
        </p:nvSpPr>
        <p:spPr>
          <a:xfrm>
            <a:off x="4902200" y="1638300"/>
            <a:ext cx="1676400" cy="63500"/>
          </a:xfrm>
          <a:prstGeom prst="rect">
            <a:avLst/>
          </a:prstGeom>
          <a:solidFill>
            <a:srgbClr val="E46F69"/>
          </a:solidFill>
          <a:ln w="12700">
            <a:solidFill>
              <a:srgbClr val="E46F69"/>
            </a:solidFill>
            <a:prstDash val="solid"/>
          </a:ln>
        </p:spPr>
        <p:txBody>
          <a:bodyPr/>
          <a:lstStyle/>
          <a:p>
            <a:endParaRPr lang="en-AU"/>
          </a:p>
        </p:txBody>
      </p:sp>
      <p:sp>
        <p:nvSpPr>
          <p:cNvPr id="18" name="Text 16"/>
          <p:cNvSpPr txBox="1"/>
          <p:nvPr/>
        </p:nvSpPr>
        <p:spPr>
          <a:xfrm>
            <a:off x="50546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FEB – MAR</a:t>
            </a:r>
            <a:endParaRPr lang="en-US" sz="1200" dirty="0"/>
          </a:p>
        </p:txBody>
      </p:sp>
      <p:sp>
        <p:nvSpPr>
          <p:cNvPr id="19" name="Text 17"/>
          <p:cNvSpPr txBox="1"/>
          <p:nvPr/>
        </p:nvSpPr>
        <p:spPr>
          <a:xfrm>
            <a:off x="50546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AIIO and FARIO</a:t>
            </a:r>
            <a:endParaRPr lang="en-US" sz="1600" dirty="0"/>
          </a:p>
        </p:txBody>
      </p:sp>
      <p:sp>
        <p:nvSpPr>
          <p:cNvPr id="20" name="Text 18"/>
          <p:cNvSpPr txBox="1"/>
          <p:nvPr/>
        </p:nvSpPr>
        <p:spPr>
          <a:xfrm>
            <a:off x="50546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About 40 invited to the AIIO</a:t>
            </a:r>
            <a:endParaRPr lang="en-US" sz="1200" dirty="0"/>
          </a:p>
        </p:txBody>
      </p:sp>
      <p:sp>
        <p:nvSpPr>
          <p:cNvPr id="21" name="Text 19"/>
          <p:cNvSpPr txBox="1"/>
          <p:nvPr/>
        </p:nvSpPr>
        <p:spPr>
          <a:xfrm>
            <a:off x="66294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22" name="Shape 20"/>
          <p:cNvSpPr/>
          <p:nvPr/>
        </p:nvSpPr>
        <p:spPr>
          <a:xfrm>
            <a:off x="6946900" y="1638300"/>
            <a:ext cx="1676400" cy="1460500"/>
          </a:xfrm>
          <a:prstGeom prst="rect">
            <a:avLst/>
          </a:prstGeom>
          <a:solidFill>
            <a:srgbClr val="FFFFFF"/>
          </a:solidFill>
          <a:ln w="9525">
            <a:solidFill>
              <a:srgbClr val="DADDE0"/>
            </a:solidFill>
            <a:prstDash val="solid"/>
          </a:ln>
        </p:spPr>
        <p:txBody>
          <a:bodyPr/>
          <a:lstStyle/>
          <a:p>
            <a:endParaRPr lang="en-AU"/>
          </a:p>
        </p:txBody>
      </p:sp>
      <p:sp>
        <p:nvSpPr>
          <p:cNvPr id="23" name="Shape 21"/>
          <p:cNvSpPr/>
          <p:nvPr/>
        </p:nvSpPr>
        <p:spPr>
          <a:xfrm>
            <a:off x="6946900" y="1638300"/>
            <a:ext cx="1676400" cy="63500"/>
          </a:xfrm>
          <a:prstGeom prst="rect">
            <a:avLst/>
          </a:prstGeom>
          <a:solidFill>
            <a:srgbClr val="0A4054"/>
          </a:solidFill>
          <a:ln w="12700">
            <a:solidFill>
              <a:srgbClr val="0A4054"/>
            </a:solidFill>
            <a:prstDash val="solid"/>
          </a:ln>
        </p:spPr>
        <p:txBody>
          <a:bodyPr/>
          <a:lstStyle/>
          <a:p>
            <a:endParaRPr lang="en-AU"/>
          </a:p>
        </p:txBody>
      </p:sp>
      <p:sp>
        <p:nvSpPr>
          <p:cNvPr id="24" name="Text 22"/>
          <p:cNvSpPr txBox="1"/>
          <p:nvPr/>
        </p:nvSpPr>
        <p:spPr>
          <a:xfrm>
            <a:off x="7099300" y="18288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LATE APRIL</a:t>
            </a:r>
            <a:endParaRPr lang="en-US" sz="1200" dirty="0"/>
          </a:p>
        </p:txBody>
      </p:sp>
      <p:sp>
        <p:nvSpPr>
          <p:cNvPr id="25" name="Text 23"/>
          <p:cNvSpPr txBox="1"/>
          <p:nvPr/>
        </p:nvSpPr>
        <p:spPr>
          <a:xfrm>
            <a:off x="70993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Selection School</a:t>
            </a:r>
            <a:endParaRPr lang="en-US" sz="1600" dirty="0"/>
          </a:p>
        </p:txBody>
      </p:sp>
      <p:sp>
        <p:nvSpPr>
          <p:cNvPr id="26" name="Text 24"/>
          <p:cNvSpPr txBox="1"/>
          <p:nvPr/>
        </p:nvSpPr>
        <p:spPr>
          <a:xfrm>
            <a:off x="70993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19 invited in 2026</a:t>
            </a:r>
            <a:endParaRPr lang="en-US" sz="1200" dirty="0"/>
          </a:p>
        </p:txBody>
      </p:sp>
      <p:sp>
        <p:nvSpPr>
          <p:cNvPr id="27" name="Text 25"/>
          <p:cNvSpPr txBox="1"/>
          <p:nvPr/>
        </p:nvSpPr>
        <p:spPr>
          <a:xfrm>
            <a:off x="8674100" y="2082800"/>
            <a:ext cx="266700" cy="365760"/>
          </a:xfrm>
          <a:prstGeom prst="rect">
            <a:avLst/>
          </a:prstGeom>
          <a:noFill/>
          <a:ln/>
        </p:spPr>
        <p:txBody>
          <a:bodyPr wrap="square" lIns="0" tIns="0" rIns="0" bIns="0" rtlCol="0" anchor="t"/>
          <a:lstStyle/>
          <a:p>
            <a:pPr marL="0" indent="0" algn="ctr">
              <a:buNone/>
            </a:pPr>
            <a:r>
              <a:rPr lang="en-US" sz="2200" dirty="0">
                <a:solidFill>
                  <a:srgbClr val="8A9199"/>
                </a:solidFill>
                <a:latin typeface="Mulish" pitchFamily="34" charset="0"/>
                <a:ea typeface="Mulish" pitchFamily="34" charset="-122"/>
                <a:cs typeface="Mulish" pitchFamily="34" charset="-120"/>
              </a:rPr>
              <a:t>→</a:t>
            </a:r>
            <a:endParaRPr lang="en-US" sz="2200" dirty="0"/>
          </a:p>
        </p:txBody>
      </p:sp>
      <p:sp>
        <p:nvSpPr>
          <p:cNvPr id="28" name="Shape 26"/>
          <p:cNvSpPr/>
          <p:nvPr/>
        </p:nvSpPr>
        <p:spPr>
          <a:xfrm>
            <a:off x="8991600" y="1638300"/>
            <a:ext cx="1676400" cy="1460500"/>
          </a:xfrm>
          <a:prstGeom prst="rect">
            <a:avLst/>
          </a:prstGeom>
          <a:solidFill>
            <a:srgbClr val="FEF3DC"/>
          </a:solidFill>
          <a:ln w="9525">
            <a:solidFill>
              <a:srgbClr val="F3D9A4"/>
            </a:solidFill>
            <a:prstDash val="solid"/>
          </a:ln>
        </p:spPr>
        <p:txBody>
          <a:bodyPr/>
          <a:lstStyle/>
          <a:p>
            <a:endParaRPr lang="en-AU"/>
          </a:p>
        </p:txBody>
      </p:sp>
      <p:sp>
        <p:nvSpPr>
          <p:cNvPr id="29" name="Shape 27"/>
          <p:cNvSpPr/>
          <p:nvPr/>
        </p:nvSpPr>
        <p:spPr>
          <a:xfrm>
            <a:off x="8991600" y="1638300"/>
            <a:ext cx="1676400" cy="63500"/>
          </a:xfrm>
          <a:prstGeom prst="rect">
            <a:avLst/>
          </a:prstGeom>
          <a:solidFill>
            <a:srgbClr val="F9AA19"/>
          </a:solidFill>
          <a:ln w="12700">
            <a:solidFill>
              <a:srgbClr val="F9AA19"/>
            </a:solidFill>
            <a:prstDash val="solid"/>
          </a:ln>
        </p:spPr>
        <p:txBody>
          <a:bodyPr/>
          <a:lstStyle/>
          <a:p>
            <a:endParaRPr lang="en-AU"/>
          </a:p>
        </p:txBody>
      </p:sp>
      <p:sp>
        <p:nvSpPr>
          <p:cNvPr id="30" name="Text 28"/>
          <p:cNvSpPr txBox="1"/>
          <p:nvPr/>
        </p:nvSpPr>
        <p:spPr>
          <a:xfrm>
            <a:off x="9144000" y="1828800"/>
            <a:ext cx="1371600" cy="274320"/>
          </a:xfrm>
          <a:prstGeom prst="rect">
            <a:avLst/>
          </a:prstGeom>
          <a:noFill/>
          <a:ln/>
        </p:spPr>
        <p:txBody>
          <a:bodyPr wrap="square" lIns="0" tIns="0" rIns="0" bIns="0" rtlCol="0" anchor="t"/>
          <a:lstStyle/>
          <a:p>
            <a:pPr marL="0" indent="0">
              <a:buNone/>
            </a:pPr>
            <a:r>
              <a:rPr lang="en-US" sz="1200" b="1" kern="0" spc="200" dirty="0">
                <a:solidFill>
                  <a:srgbClr val="8A5300"/>
                </a:solidFill>
                <a:latin typeface="Mulish" pitchFamily="34" charset="0"/>
                <a:ea typeface="Mulish" pitchFamily="34" charset="-122"/>
                <a:cs typeface="Mulish" pitchFamily="34" charset="-120"/>
              </a:rPr>
              <a:t>MID-YEAR</a:t>
            </a:r>
            <a:endParaRPr lang="en-US" sz="1200" dirty="0"/>
          </a:p>
        </p:txBody>
      </p:sp>
      <p:sp>
        <p:nvSpPr>
          <p:cNvPr id="31" name="Text 29"/>
          <p:cNvSpPr txBox="1"/>
          <p:nvPr/>
        </p:nvSpPr>
        <p:spPr>
          <a:xfrm>
            <a:off x="9144000" y="20574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IOI team</a:t>
            </a:r>
            <a:endParaRPr lang="en-US" sz="1600" dirty="0"/>
          </a:p>
        </p:txBody>
      </p:sp>
      <p:sp>
        <p:nvSpPr>
          <p:cNvPr id="32" name="Text 30"/>
          <p:cNvSpPr txBox="1"/>
          <p:nvPr/>
        </p:nvSpPr>
        <p:spPr>
          <a:xfrm>
            <a:off x="9144000" y="25908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4 students</a:t>
            </a:r>
            <a:endParaRPr lang="en-US" sz="1200" dirty="0"/>
          </a:p>
        </p:txBody>
      </p:sp>
      <p:sp>
        <p:nvSpPr>
          <p:cNvPr id="33" name="Shape 31"/>
          <p:cNvSpPr/>
          <p:nvPr/>
        </p:nvSpPr>
        <p:spPr>
          <a:xfrm>
            <a:off x="4902200" y="3251200"/>
            <a:ext cx="1676400" cy="1460500"/>
          </a:xfrm>
          <a:prstGeom prst="rect">
            <a:avLst/>
          </a:prstGeom>
          <a:solidFill>
            <a:srgbClr val="FFFFFF"/>
          </a:solidFill>
          <a:ln w="19050">
            <a:solidFill>
              <a:srgbClr val="B4BAC0"/>
            </a:solidFill>
            <a:prstDash val="dash"/>
          </a:ln>
        </p:spPr>
        <p:txBody>
          <a:bodyPr/>
          <a:lstStyle/>
          <a:p>
            <a:endParaRPr lang="en-AU"/>
          </a:p>
        </p:txBody>
      </p:sp>
      <p:sp>
        <p:nvSpPr>
          <p:cNvPr id="34" name="Text 32"/>
          <p:cNvSpPr txBox="1"/>
          <p:nvPr/>
        </p:nvSpPr>
        <p:spPr>
          <a:xfrm>
            <a:off x="5054600" y="3441700"/>
            <a:ext cx="1371600" cy="274320"/>
          </a:xfrm>
          <a:prstGeom prst="rect">
            <a:avLst/>
          </a:prstGeom>
          <a:noFill/>
          <a:ln/>
        </p:spPr>
        <p:txBody>
          <a:bodyPr wrap="square" lIns="0" tIns="0" rIns="0" bIns="0" rtlCol="0" anchor="t"/>
          <a:lstStyle/>
          <a:p>
            <a:pPr marL="0" indent="0">
              <a:buNone/>
            </a:pPr>
            <a:r>
              <a:rPr lang="en-US" sz="1200" b="1" kern="0" spc="200" dirty="0">
                <a:solidFill>
                  <a:srgbClr val="5D6670"/>
                </a:solidFill>
                <a:latin typeface="Mulish" pitchFamily="34" charset="0"/>
                <a:ea typeface="Mulish" pitchFamily="34" charset="-122"/>
                <a:cs typeface="Mulish" pitchFamily="34" charset="-120"/>
              </a:rPr>
              <a:t>↓ FROM AIIO</a:t>
            </a:r>
            <a:endParaRPr lang="en-US" sz="1200" dirty="0"/>
          </a:p>
        </p:txBody>
      </p:sp>
      <p:sp>
        <p:nvSpPr>
          <p:cNvPr id="35" name="Text 33"/>
          <p:cNvSpPr txBox="1"/>
          <p:nvPr/>
        </p:nvSpPr>
        <p:spPr>
          <a:xfrm>
            <a:off x="5054600" y="3670300"/>
            <a:ext cx="1371600" cy="50800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EGOI team</a:t>
            </a:r>
            <a:endParaRPr lang="en-US" sz="1600" dirty="0"/>
          </a:p>
        </p:txBody>
      </p:sp>
      <p:sp>
        <p:nvSpPr>
          <p:cNvPr id="36" name="Text 34"/>
          <p:cNvSpPr txBox="1"/>
          <p:nvPr/>
        </p:nvSpPr>
        <p:spPr>
          <a:xfrm>
            <a:off x="5054600" y="4203700"/>
            <a:ext cx="1371600" cy="444500"/>
          </a:xfrm>
          <a:prstGeom prst="rect">
            <a:avLst/>
          </a:prstGeom>
          <a:noFill/>
          <a:ln/>
        </p:spPr>
        <p:txBody>
          <a:bodyPr wrap="square" lIns="0" tIns="0" rIns="0" bIns="0" rtlCol="0" anchor="t"/>
          <a:lstStyle/>
          <a:p>
            <a:pPr marL="0" indent="0">
              <a:buNone/>
            </a:pPr>
            <a:r>
              <a:rPr lang="en-US" sz="1200" dirty="0">
                <a:solidFill>
                  <a:srgbClr val="4D5560"/>
                </a:solidFill>
                <a:latin typeface="Mulish" pitchFamily="34" charset="0"/>
                <a:ea typeface="Mulish" pitchFamily="34" charset="-122"/>
                <a:cs typeface="Mulish" pitchFamily="34" charset="-120"/>
              </a:rPr>
              <a:t>4 girls</a:t>
            </a:r>
            <a:endParaRPr lang="en-US" sz="1200" dirty="0"/>
          </a:p>
        </p:txBody>
      </p:sp>
      <p:sp>
        <p:nvSpPr>
          <p:cNvPr id="37" name="Text 35"/>
          <p:cNvSpPr txBox="1"/>
          <p:nvPr/>
        </p:nvSpPr>
        <p:spPr>
          <a:xfrm>
            <a:off x="812800" y="5067300"/>
            <a:ext cx="10566400" cy="365760"/>
          </a:xfrm>
          <a:prstGeom prst="rect">
            <a:avLst/>
          </a:prstGeom>
          <a:noFill/>
          <a:ln/>
        </p:spPr>
        <p:txBody>
          <a:bodyPr wrap="square" lIns="0" tIns="0" rIns="0" bIns="0" rtlCol="0" anchor="t"/>
          <a:lstStyle/>
          <a:p>
            <a:pPr marL="0" indent="0">
              <a:buNone/>
            </a:pPr>
            <a:r>
              <a:rPr lang="en-US" sz="1500" b="1" dirty="0">
                <a:solidFill>
                  <a:srgbClr val="0A4054"/>
                </a:solidFill>
                <a:latin typeface="Mulish" pitchFamily="34" charset="0"/>
                <a:ea typeface="Mulish" pitchFamily="34" charset="-122"/>
                <a:cs typeface="Mulish" pitchFamily="34" charset="-120"/>
              </a:rPr>
              <a:t>Every arrow is an invitation, earned by your results at the stage before.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ONE CYCLE · AUGUST TO AUGUST</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THE YEAR AT A GLANCE</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914400"/>
        </p:xfrm>
        <a:graphic>
          <a:graphicData uri="http://schemas.openxmlformats.org/drawingml/2006/table">
            <a:tbl>
              <a:tblPr/>
              <a:tblGrid>
                <a:gridCol w="2113280">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3169920">
                  <a:extLst>
                    <a:ext uri="{9D8B030D-6E8A-4147-A177-3AD203B41FA5}">
                      <a16:colId xmlns:a16="http://schemas.microsoft.com/office/drawing/2014/main" val="20002"/>
                    </a:ext>
                  </a:extLst>
                </a:gridCol>
                <a:gridCol w="2958592">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When</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Stage</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Format</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Who takes part</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Aug (27 Aug 2026)</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AIO</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Online contest · 6 problems · 3 h</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Any school student</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December</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School of Excellence</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About 10 days, live-in training</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Top AIO results, Year 11 or below</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EF3DC"/>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Feb (12 Feb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AIIO</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4 problems · 4 h · C++</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About 40, Australia and NZ</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Mar (6 Mar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FARIO</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Same format as the AIIO</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IOI candidates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Apr (23 Apr – 1 May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Selection School</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Live-in school + selection exams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19 students in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Aug (Tashkent, 2026)</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IOI</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2 days · 3 tasks a day · 5 h a day</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Team of 4</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812800" y="5461000"/>
            <a:ext cx="10566400" cy="32004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Dates are from the 2026 cycle. They move a little each year.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1905000"/>
            <a:ext cx="10566400" cy="320040"/>
          </a:xfrm>
          <a:prstGeom prst="rect">
            <a:avLst/>
          </a:prstGeom>
          <a:noFill/>
          <a:ln/>
        </p:spPr>
        <p:txBody>
          <a:bodyPr wrap="square" lIns="0" tIns="0" rIns="0" bIns="0" rtlCol="0" anchor="t"/>
          <a:lstStyle/>
          <a:p>
            <a:pPr marL="0" indent="0">
              <a:buNone/>
            </a:pPr>
            <a:r>
              <a:rPr lang="en-US" sz="1300" b="1" kern="0" spc="300" dirty="0">
                <a:solidFill>
                  <a:srgbClr val="F9AA19"/>
                </a:solidFill>
                <a:latin typeface="Mulish" pitchFamily="34" charset="0"/>
                <a:ea typeface="Mulish" pitchFamily="34" charset="-122"/>
                <a:cs typeface="Mulish" pitchFamily="34" charset="-120"/>
              </a:rPr>
              <a:t>THE ONE RULE TO REMEMBER</a:t>
            </a:r>
            <a:endParaRPr lang="en-US" sz="1300" dirty="0"/>
          </a:p>
        </p:txBody>
      </p:sp>
      <p:sp>
        <p:nvSpPr>
          <p:cNvPr id="3" name="Text 1"/>
          <p:cNvSpPr txBox="1"/>
          <p:nvPr/>
        </p:nvSpPr>
        <p:spPr>
          <a:xfrm>
            <a:off x="812800" y="2349500"/>
            <a:ext cx="10566400" cy="698500"/>
          </a:xfrm>
          <a:prstGeom prst="rect">
            <a:avLst/>
          </a:prstGeom>
          <a:noFill/>
          <a:ln/>
        </p:spPr>
        <p:txBody>
          <a:bodyPr wrap="square" lIns="0" tIns="0" rIns="0" bIns="0" rtlCol="0" anchor="t"/>
          <a:lstStyle/>
          <a:p>
            <a:pPr marL="0" indent="0">
              <a:buNone/>
            </a:pPr>
            <a:r>
              <a:rPr lang="en-US" sz="4400" b="1" kern="0" spc="300" dirty="0">
                <a:solidFill>
                  <a:srgbClr val="F3F5F6"/>
                </a:solidFill>
                <a:latin typeface="Jost" pitchFamily="34" charset="0"/>
                <a:ea typeface="Jost" pitchFamily="34" charset="-122"/>
                <a:cs typeface="Jost" pitchFamily="34" charset="-120"/>
              </a:rPr>
              <a:t>YEAR 11 IS THE CUT-OFF</a:t>
            </a:r>
            <a:endParaRPr lang="en-US" sz="4400" dirty="0"/>
          </a:p>
        </p:txBody>
      </p:sp>
      <p:sp>
        <p:nvSpPr>
          <p:cNvPr id="4" name="Text 2"/>
          <p:cNvSpPr txBox="1"/>
          <p:nvPr/>
        </p:nvSpPr>
        <p:spPr>
          <a:xfrm>
            <a:off x="812800" y="3302000"/>
            <a:ext cx="8255000" cy="762000"/>
          </a:xfrm>
          <a:prstGeom prst="rect">
            <a:avLst/>
          </a:prstGeom>
          <a:noFill/>
          <a:ln/>
        </p:spPr>
        <p:txBody>
          <a:bodyPr wrap="square" lIns="0" tIns="0" rIns="0" bIns="0" rtlCol="0" anchor="t"/>
          <a:lstStyle/>
          <a:p>
            <a:pPr marL="0" indent="0">
              <a:lnSpc>
                <a:spcPct val="125000"/>
              </a:lnSpc>
              <a:buNone/>
            </a:pPr>
            <a:r>
              <a:rPr lang="en-US" sz="1800" dirty="0">
                <a:solidFill>
                  <a:srgbClr val="F3F5F6"/>
                </a:solidFill>
                <a:latin typeface="Mulish" pitchFamily="34" charset="0"/>
                <a:ea typeface="Mulish" pitchFamily="34" charset="-122"/>
                <a:cs typeface="Mulish" pitchFamily="34" charset="-120"/>
              </a:rPr>
              <a:t>The December School of Excellence only invites students in Year 11 or below, and only its invitees can go on to the IOI team.</a:t>
            </a:r>
            <a:endParaRPr lang="en-US" sz="1800" dirty="0"/>
          </a:p>
        </p:txBody>
      </p:sp>
      <p:sp>
        <p:nvSpPr>
          <p:cNvPr id="5" name="Text 3"/>
          <p:cNvSpPr txBox="1"/>
          <p:nvPr/>
        </p:nvSpPr>
        <p:spPr>
          <a:xfrm>
            <a:off x="812800" y="4318000"/>
            <a:ext cx="8255000" cy="635000"/>
          </a:xfrm>
          <a:prstGeom prst="rect">
            <a:avLst/>
          </a:prstGeom>
          <a:noFill/>
          <a:ln/>
        </p:spPr>
        <p:txBody>
          <a:bodyPr wrap="square" lIns="0" tIns="0" rIns="0" bIns="0" rtlCol="0" anchor="t"/>
          <a:lstStyle/>
          <a:p>
            <a:pPr marL="0" indent="0">
              <a:lnSpc>
                <a:spcPct val="125000"/>
              </a:lnSpc>
              <a:buNone/>
            </a:pPr>
            <a:r>
              <a:rPr lang="en-US" sz="1500" dirty="0">
                <a:solidFill>
                  <a:srgbClr val="C9D6DC"/>
                </a:solidFill>
                <a:latin typeface="Mulish" pitchFamily="34" charset="0"/>
                <a:ea typeface="Mulish" pitchFamily="34" charset="-122"/>
                <a:cs typeface="Mulish" pitchFamily="34" charset="-120"/>
              </a:rPr>
              <a:t>The 2026 Selection School had students from Year 8 to Year 12. Start early and you get more than one try.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1 OF 4 · OPEN TO ALL</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AIO</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The Australian Informatics Olympiad: the only stage anyone can enter.</a:t>
            </a:r>
            <a:endParaRPr lang="en-US" sz="1700" dirty="0"/>
          </a:p>
        </p:txBody>
      </p:sp>
      <p:sp>
        <p:nvSpPr>
          <p:cNvPr id="5" name="Text 3"/>
          <p:cNvSpPr/>
          <p:nvPr/>
        </p:nvSpPr>
        <p:spPr>
          <a:xfrm>
            <a:off x="812800" y="4730750"/>
            <a:ext cx="2590800" cy="393700"/>
          </a:xfrm>
          <a:prstGeom prst="roundRect">
            <a:avLst>
              <a:gd name="adj" fmla="val 116129"/>
            </a:avLst>
          </a:prstGeom>
          <a:solidFill>
            <a:srgbClr val="E6F3F2"/>
          </a:solidFill>
          <a:ln w="19050">
            <a:solidFill>
              <a:srgbClr val="3E9A97"/>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Competition</a:t>
            </a:r>
            <a:r>
              <a:rPr lang="en-US" sz="1400" dirty="0">
                <a:solidFill>
                  <a:srgbClr val="1F2328"/>
                </a:solidFill>
                <a:latin typeface="Mulish" pitchFamily="34" charset="0"/>
                <a:ea typeface="Mulish" pitchFamily="34" charset="-122"/>
                <a:cs typeface="Mulish" pitchFamily="34" charset="-120"/>
              </a:rPr>
              <a:t> · online</a:t>
            </a:r>
            <a:endParaRPr lang="en-US" sz="1400" dirty="0"/>
          </a:p>
        </p:txBody>
      </p:sp>
      <p:sp>
        <p:nvSpPr>
          <p:cNvPr id="6" name="Text 4"/>
          <p:cNvSpPr/>
          <p:nvPr/>
        </p:nvSpPr>
        <p:spPr>
          <a:xfrm>
            <a:off x="3517900" y="4730750"/>
            <a:ext cx="1630680" cy="393700"/>
          </a:xfrm>
          <a:prstGeom prst="roundRect">
            <a:avLst>
              <a:gd name="adj" fmla="val 116129"/>
            </a:avLst>
          </a:prstGeom>
          <a:solidFill>
            <a:srgbClr val="E6F3F2"/>
          </a:solidFill>
          <a:ln w="19050">
            <a:solidFill>
              <a:srgbClr val="3E9A97"/>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Late August</a:t>
            </a:r>
            <a:endParaRPr lang="en-US" sz="1400" dirty="0"/>
          </a:p>
        </p:txBody>
      </p:sp>
      <p:sp>
        <p:nvSpPr>
          <p:cNvPr id="7" name="Text 5"/>
          <p:cNvSpPr/>
          <p:nvPr/>
        </p:nvSpPr>
        <p:spPr>
          <a:xfrm>
            <a:off x="5262880" y="4730750"/>
            <a:ext cx="3870960" cy="393700"/>
          </a:xfrm>
          <a:prstGeom prst="roundRect">
            <a:avLst>
              <a:gd name="adj" fmla="val 116129"/>
            </a:avLst>
          </a:prstGeom>
          <a:solidFill>
            <a:srgbClr val="E6F3F2"/>
          </a:solidFill>
          <a:ln w="19050">
            <a:solidFill>
              <a:srgbClr val="3E9A97"/>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Open entry</a:t>
            </a:r>
            <a:r>
              <a:rPr lang="en-US" sz="1400" dirty="0">
                <a:solidFill>
                  <a:srgbClr val="1F2328"/>
                </a:solidFill>
                <a:latin typeface="Mulish" pitchFamily="34" charset="0"/>
                <a:ea typeface="Mulish" pitchFamily="34" charset="-122"/>
                <a:cs typeface="Mulish" pitchFamily="34" charset="-120"/>
              </a:rPr>
              <a:t> · through your school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1 · AIO</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FORMAT AND SKILLS</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contest</a:t>
            </a:r>
            <a:endParaRPr lang="en-US" sz="1700" dirty="0"/>
          </a:p>
        </p:txBody>
      </p:sp>
      <p:sp>
        <p:nvSpPr>
          <p:cNvPr id="5" name="Text 3"/>
          <p:cNvSpPr txBox="1"/>
          <p:nvPr/>
        </p:nvSpPr>
        <p:spPr>
          <a:xfrm>
            <a:off x="8128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27 August 2026, sat online at school</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6 problems in 3 hours, each worth 100 points in subtasks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C, C++, Java or Python</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One paper; Intermediate (to Year 10) and Senior divisions for awards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Gold: top 10% · Silver: next 15% · Bronze: next 25%</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What you need</a:t>
            </a:r>
            <a:endParaRPr lang="en-US" sz="1700" dirty="0"/>
          </a:p>
        </p:txBody>
      </p:sp>
      <p:sp>
        <p:nvSpPr>
          <p:cNvPr id="7" name="Text 5"/>
          <p:cNvSpPr txBox="1"/>
          <p:nvPr/>
        </p:nvSpPr>
        <p:spPr>
          <a:xfrm>
            <a:off x="57785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P1–3: simulation, enumeration, careful case handling</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P4–6: sorting, greedy, binary search (on the answer), prefix sums, two pointers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Sometimes: BFS, simple DP, sparse tables, parity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Brute force first: it wins the small subtasks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Read the limits: is O(N²) fast enough, or do you need O(N log N)?</a:t>
            </a:r>
            <a:endParaRPr lang="en-US" sz="1400" dirty="0"/>
          </a:p>
        </p:txBody>
      </p:sp>
      <p:sp>
        <p:nvSpPr>
          <p:cNvPr id="8" name="Text 6"/>
          <p:cNvSpPr txBox="1"/>
          <p:nvPr/>
        </p:nvSpPr>
        <p:spPr>
          <a:xfrm>
            <a:off x="812800" y="5461000"/>
            <a:ext cx="10566400" cy="365760"/>
          </a:xfrm>
          <a:prstGeom prst="rect">
            <a:avLst/>
          </a:prstGeom>
          <a:noFill/>
          <a:ln/>
        </p:spPr>
        <p:txBody>
          <a:bodyPr wrap="square" lIns="0" tIns="0" rIns="0" bIns="0" rtlCol="0" anchor="t"/>
          <a:lstStyle/>
          <a:p>
            <a:pPr marL="0" indent="0">
              <a:buNone/>
            </a:pPr>
            <a:r>
              <a:rPr lang="en-US" sz="1500" b="1" dirty="0">
                <a:solidFill>
                  <a:srgbClr val="0A4054"/>
                </a:solidFill>
                <a:latin typeface="Mulish" pitchFamily="34" charset="0"/>
                <a:ea typeface="Mulish" pitchFamily="34" charset="-122"/>
                <a:cs typeface="Mulish" pitchFamily="34" charset="-120"/>
              </a:rPr>
              <a:t>Our four P6 lessons cover the P4–6 list.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2 OF 4 · BY INVITATION</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SCHOOL OF EXCELLENCE</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About ten days in December where students first meet university-level algorithms.</a:t>
            </a:r>
            <a:endParaRPr lang="en-US" sz="1700" dirty="0"/>
          </a:p>
        </p:txBody>
      </p:sp>
      <p:sp>
        <p:nvSpPr>
          <p:cNvPr id="5" name="Text 3"/>
          <p:cNvSpPr/>
          <p:nvPr/>
        </p:nvSpPr>
        <p:spPr>
          <a:xfrm>
            <a:off x="812800" y="4730750"/>
            <a:ext cx="3124200" cy="393700"/>
          </a:xfrm>
          <a:prstGeom prst="roundRect">
            <a:avLst>
              <a:gd name="adj" fmla="val 116129"/>
            </a:avLst>
          </a:prstGeom>
          <a:solidFill>
            <a:srgbClr val="FEF3DC"/>
          </a:solidFill>
          <a:ln w="19050">
            <a:solidFill>
              <a:srgbClr val="E0960F"/>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Training school</a:t>
            </a:r>
            <a:r>
              <a:rPr lang="en-US" sz="1400" dirty="0">
                <a:solidFill>
                  <a:srgbClr val="1F2328"/>
                </a:solidFill>
                <a:latin typeface="Mulish" pitchFamily="34" charset="0"/>
                <a:ea typeface="Mulish" pitchFamily="34" charset="-122"/>
                <a:cs typeface="Mulish" pitchFamily="34" charset="-120"/>
              </a:rPr>
              <a:t> · live-in</a:t>
            </a:r>
            <a:endParaRPr lang="en-US" sz="1400" dirty="0"/>
          </a:p>
        </p:txBody>
      </p:sp>
      <p:sp>
        <p:nvSpPr>
          <p:cNvPr id="6" name="Text 4"/>
          <p:cNvSpPr/>
          <p:nvPr/>
        </p:nvSpPr>
        <p:spPr>
          <a:xfrm>
            <a:off x="4051300" y="4730750"/>
            <a:ext cx="1310640" cy="393700"/>
          </a:xfrm>
          <a:prstGeom prst="roundRect">
            <a:avLst>
              <a:gd name="adj" fmla="val 116129"/>
            </a:avLst>
          </a:prstGeom>
          <a:solidFill>
            <a:srgbClr val="FEF3DC"/>
          </a:solidFill>
          <a:ln w="19050">
            <a:solidFill>
              <a:srgbClr val="E0960F"/>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December</a:t>
            </a:r>
            <a:endParaRPr lang="en-US" sz="1400" dirty="0"/>
          </a:p>
        </p:txBody>
      </p:sp>
      <p:sp>
        <p:nvSpPr>
          <p:cNvPr id="7" name="Text 5"/>
          <p:cNvSpPr/>
          <p:nvPr/>
        </p:nvSpPr>
        <p:spPr>
          <a:xfrm>
            <a:off x="5476240" y="4730750"/>
            <a:ext cx="2164080" cy="393700"/>
          </a:xfrm>
          <a:prstGeom prst="roundRect">
            <a:avLst>
              <a:gd name="adj" fmla="val 116129"/>
            </a:avLst>
          </a:prstGeom>
          <a:solidFill>
            <a:srgbClr val="FEF3DC"/>
          </a:solidFill>
          <a:ln w="19050">
            <a:solidFill>
              <a:srgbClr val="E0960F"/>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Year 11 or below</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2 · SCHOOL OF EXCELLENCE</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FORMAT AND WHAT YOU WILL LEARN</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school</a:t>
            </a:r>
            <a:endParaRPr lang="en-US" sz="1700" dirty="0"/>
          </a:p>
        </p:txBody>
      </p:sp>
      <p:sp>
        <p:nvSpPr>
          <p:cNvPr id="5" name="Text 3"/>
          <p:cNvSpPr txBox="1"/>
          <p:nvPr/>
        </p:nvSpPr>
        <p:spPr>
          <a:xfrm>
            <a:off x="8128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December, about ten days; ANU, Canberra in 2025</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Invited on AIO results, Year 11 or below</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Lectures, labs and practice contests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No public syllabus: "second- or third-year university" level</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The AIIO says most of its points need only the school's Alpha stream</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Topics to expect</a:t>
            </a:r>
            <a:endParaRPr lang="en-US" sz="1700" dirty="0"/>
          </a:p>
        </p:txBody>
      </p:sp>
      <p:sp>
        <p:nvSpPr>
          <p:cNvPr id="7" name="Text 5"/>
          <p:cNvSpPr txBox="1"/>
          <p:nvPr/>
        </p:nvSpPr>
        <p:spPr>
          <a:xfrm>
            <a:off x="57785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Graphs: BFS, DFS, Dijkstra, spanning trees, union-find</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Dynamic programming: the standard patterns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Data structures: heaps, Fenwick trees, segment trees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Trees: lowest common ancestor, binary lifting</a:t>
            </a:r>
            <a:endParaRPr lang="en-US" sz="1400" dirty="0"/>
          </a:p>
        </p:txBody>
      </p:sp>
      <p:sp>
        <p:nvSpPr>
          <p:cNvPr id="8" name="Text 6"/>
          <p:cNvSpPr txBox="1"/>
          <p:nvPr/>
        </p:nvSpPr>
        <p:spPr>
          <a:xfrm>
            <a:off x="812800" y="5461000"/>
            <a:ext cx="10566400" cy="32004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Topic list worked out from what the AIIO and IOI expect. AMT does not publish the course outline.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3 OF 4 · BY INVITATION</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AIIO AND FARIO</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Two contests in February and March that decide who goes to the Selection School.</a:t>
            </a:r>
            <a:endParaRPr lang="en-US" sz="1700" dirty="0"/>
          </a:p>
        </p:txBody>
      </p:sp>
      <p:sp>
        <p:nvSpPr>
          <p:cNvPr id="5" name="Text 3"/>
          <p:cNvSpPr/>
          <p:nvPr/>
        </p:nvSpPr>
        <p:spPr>
          <a:xfrm>
            <a:off x="812800" y="4730750"/>
            <a:ext cx="2270760" cy="393700"/>
          </a:xfrm>
          <a:prstGeom prst="roundRect">
            <a:avLst>
              <a:gd name="adj" fmla="val 116129"/>
            </a:avLst>
          </a:prstGeom>
          <a:solidFill>
            <a:srgbClr val="FCE9E8"/>
          </a:solidFill>
          <a:ln w="19050">
            <a:solidFill>
              <a:srgbClr val="E46F6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Competition</a:t>
            </a:r>
            <a:r>
              <a:rPr lang="en-US" sz="1400" dirty="0">
                <a:solidFill>
                  <a:srgbClr val="1F2328"/>
                </a:solidFill>
                <a:latin typeface="Mulish" pitchFamily="34" charset="0"/>
                <a:ea typeface="Mulish" pitchFamily="34" charset="-122"/>
                <a:cs typeface="Mulish" pitchFamily="34" charset="-120"/>
              </a:rPr>
              <a:t> · × 2</a:t>
            </a:r>
            <a:endParaRPr lang="en-US" sz="1400" dirty="0"/>
          </a:p>
        </p:txBody>
      </p:sp>
      <p:sp>
        <p:nvSpPr>
          <p:cNvPr id="6" name="Text 4"/>
          <p:cNvSpPr/>
          <p:nvPr/>
        </p:nvSpPr>
        <p:spPr>
          <a:xfrm>
            <a:off x="3197860" y="4730750"/>
            <a:ext cx="1417320" cy="393700"/>
          </a:xfrm>
          <a:prstGeom prst="roundRect">
            <a:avLst>
              <a:gd name="adj" fmla="val 116129"/>
            </a:avLst>
          </a:prstGeom>
          <a:solidFill>
            <a:srgbClr val="FCE9E8"/>
          </a:solidFill>
          <a:ln w="19050">
            <a:solidFill>
              <a:srgbClr val="E46F6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Feb – Mar</a:t>
            </a:r>
            <a:endParaRPr lang="en-US" sz="1400" dirty="0"/>
          </a:p>
        </p:txBody>
      </p:sp>
      <p:sp>
        <p:nvSpPr>
          <p:cNvPr id="7" name="Text 5"/>
          <p:cNvSpPr/>
          <p:nvPr/>
        </p:nvSpPr>
        <p:spPr>
          <a:xfrm>
            <a:off x="4729480" y="4730750"/>
            <a:ext cx="1310640" cy="393700"/>
          </a:xfrm>
          <a:prstGeom prst="roundRect">
            <a:avLst>
              <a:gd name="adj" fmla="val 116129"/>
            </a:avLst>
          </a:prstGeom>
          <a:solidFill>
            <a:srgbClr val="FCE9E8"/>
          </a:solidFill>
          <a:ln w="19050">
            <a:solidFill>
              <a:srgbClr val="E46F6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 only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3 · TWO CONTESTS</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AIIO AND FARIO SIDE BY SIDE</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914400"/>
        </p:xfrm>
        <a:graphic>
          <a:graphicData uri="http://schemas.openxmlformats.org/drawingml/2006/table">
            <a:tbl>
              <a:tblPr/>
              <a:tblGrid>
                <a:gridCol w="1690624">
                  <a:extLst>
                    <a:ext uri="{9D8B030D-6E8A-4147-A177-3AD203B41FA5}">
                      <a16:colId xmlns:a16="http://schemas.microsoft.com/office/drawing/2014/main" val="20000"/>
                    </a:ext>
                  </a:extLst>
                </a:gridCol>
                <a:gridCol w="4437888">
                  <a:extLst>
                    <a:ext uri="{9D8B030D-6E8A-4147-A177-3AD203B41FA5}">
                      <a16:colId xmlns:a16="http://schemas.microsoft.com/office/drawing/2014/main" val="20001"/>
                    </a:ext>
                  </a:extLst>
                </a:gridCol>
                <a:gridCol w="4437888">
                  <a:extLst>
                    <a:ext uri="{9D8B030D-6E8A-4147-A177-3AD203B41FA5}">
                      <a16:colId xmlns:a16="http://schemas.microsoft.com/office/drawing/2014/main" val="20002"/>
                    </a:ext>
                  </a:extLst>
                </a:gridCol>
              </a:tblGrid>
              <a:tr h="0">
                <a:tc>
                  <a:txBody>
                    <a:bodyPr/>
                    <a:lstStyle/>
                    <a:p>
                      <a:pPr marL="0" indent="0">
                        <a:buNone/>
                      </a:pP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AIIO</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FARIO</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Date</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12 February 2026</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6 March 2026</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Who</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About 40 invited, Australia and New Zealand</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IOI candidates from France, Australia, NZ and Belgium</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Format</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4 problems · 4 hours · C++ · supervised at school; printed notes and cppreference allowed, no AI</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Same format and rules for Australian students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Picks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With FARIO: Selection School invitees. Also: the EGOI team of 4</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With AIIO: Selection School invitees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Syllabus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Mostly what the School of Excellence "Alpha stream" teaches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None; the IOI Syllabus is suggested as a guide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3 · AIIO PAPERS 2023–2025</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TOPICS IN RECENT PAPERS</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914400"/>
        </p:xfrm>
        <a:graphic>
          <a:graphicData uri="http://schemas.openxmlformats.org/drawingml/2006/table">
            <a:tbl>
              <a:tblPr/>
              <a:tblGrid>
                <a:gridCol w="5283200">
                  <a:extLst>
                    <a:ext uri="{9D8B030D-6E8A-4147-A177-3AD203B41FA5}">
                      <a16:colId xmlns:a16="http://schemas.microsoft.com/office/drawing/2014/main" val="20000"/>
                    </a:ext>
                  </a:extLst>
                </a:gridCol>
                <a:gridCol w="528320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Topic</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300" b="1" dirty="0">
                          <a:solidFill>
                            <a:srgbClr val="1F2328"/>
                          </a:solidFill>
                          <a:latin typeface="Mulish" pitchFamily="34" charset="0"/>
                          <a:ea typeface="Mulish" pitchFamily="34" charset="-122"/>
                          <a:cs typeface="Mulish" pitchFamily="34" charset="-120"/>
                        </a:rPr>
                        <a:t>Example problems</a:t>
                      </a:r>
                      <a:endParaRPr lang="en-US" sz="13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Prefix sums, counting arrays, prefix max and min</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2025 P1 Buildings · 2023 P1 Sculpture III</a:t>
                      </a:r>
                      <a:endParaRPr lang="en-US" sz="13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extLst>
                  <a:ext uri="{0D108BD9-81ED-4DB2-BD59-A6C34878D82A}">
                    <a16:rowId xmlns:a16="http://schemas.microsoft.com/office/drawing/2014/main" val="10001"/>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Monotonic stack, sparse table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P3 Pinnacle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E6F3F2"/>
                    </a:solidFill>
                  </a:tcPr>
                </a:tc>
                <a:extLst>
                  <a:ext uri="{0D108BD9-81ED-4DB2-BD59-A6C34878D82A}">
                    <a16:rowId xmlns:a16="http://schemas.microsoft.com/office/drawing/2014/main" val="10002"/>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BFS, multi-source BFS, BFS from every node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P2 Electrical Fault · 2025 P3 Amazing Game II</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Dijkstra with a heap</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P2 Electrical Fault · 2024 P2 Overcycle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Segment tree: point update, range max and min</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2024 P1 Speed Friending</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Dynamic programming, 0/1 knapsack</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2023 P1 Sculpture III · 2025 P2 Retail Empire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Permutation cycles and constructions</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2024 P3 Curator Catastrophe</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buNone/>
                      </a:pPr>
                      <a:r>
                        <a:rPr lang="en-US" sz="1300" dirty="0">
                          <a:solidFill>
                            <a:srgbClr val="1F2328"/>
                          </a:solidFill>
                          <a:latin typeface="Mulish" pitchFamily="34" charset="0"/>
                          <a:ea typeface="Mulish" pitchFamily="34" charset="-122"/>
                          <a:cs typeface="Mulish" pitchFamily="34" charset="-120"/>
                        </a:rPr>
                        <a:t>Interactive task with a query budget</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300" dirty="0">
                          <a:solidFill>
                            <a:srgbClr val="1F2328"/>
                          </a:solidFill>
                          <a:latin typeface="Mulish" pitchFamily="34" charset="0"/>
                          <a:ea typeface="Mulish" pitchFamily="34" charset="-122"/>
                          <a:cs typeface="Mulish" pitchFamily="34" charset="-120"/>
                        </a:rPr>
                        <a:t>2025 P4 Kth Number</a:t>
                      </a:r>
                      <a:endParaRPr lang="en-US" sz="13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Text 2"/>
          <p:cNvSpPr txBox="1"/>
          <p:nvPr/>
        </p:nvSpPr>
        <p:spPr>
          <a:xfrm>
            <a:off x="812800" y="5588000"/>
            <a:ext cx="10566400" cy="32004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Highlighted rows use techniques from our four lessons.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3 · BEYOND THE TOPICS</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WHAT THE AIIO REWARDS</a:t>
            </a:r>
            <a:endParaRPr lang="en-US" sz="2600" dirty="0"/>
          </a:p>
        </p:txBody>
      </p:sp>
      <p:sp>
        <p:nvSpPr>
          <p:cNvPr id="4" name="Shape 2"/>
          <p:cNvSpPr/>
          <p:nvPr/>
        </p:nvSpPr>
        <p:spPr>
          <a:xfrm>
            <a:off x="812800" y="1638300"/>
            <a:ext cx="5207000" cy="1079500"/>
          </a:xfrm>
          <a:prstGeom prst="rect">
            <a:avLst/>
          </a:prstGeom>
          <a:solidFill>
            <a:srgbClr val="FFFFFF"/>
          </a:solidFill>
          <a:ln w="9525">
            <a:solidFill>
              <a:srgbClr val="DADDE0"/>
            </a:solidFill>
            <a:prstDash val="solid"/>
          </a:ln>
        </p:spPr>
        <p:txBody>
          <a:bodyPr/>
          <a:lstStyle/>
          <a:p>
            <a:endParaRPr lang="en-AU"/>
          </a:p>
        </p:txBody>
      </p:sp>
      <p:sp>
        <p:nvSpPr>
          <p:cNvPr id="5" name="Shape 3"/>
          <p:cNvSpPr/>
          <p:nvPr/>
        </p:nvSpPr>
        <p:spPr>
          <a:xfrm>
            <a:off x="812800" y="1638300"/>
            <a:ext cx="63500" cy="1079500"/>
          </a:xfrm>
          <a:prstGeom prst="rect">
            <a:avLst/>
          </a:prstGeom>
          <a:solidFill>
            <a:srgbClr val="E46F69"/>
          </a:solidFill>
          <a:ln w="12700">
            <a:solidFill>
              <a:srgbClr val="E46F69"/>
            </a:solidFill>
            <a:prstDash val="solid"/>
          </a:ln>
        </p:spPr>
        <p:txBody>
          <a:bodyPr/>
          <a:lstStyle/>
          <a:p>
            <a:endParaRPr lang="en-AU"/>
          </a:p>
        </p:txBody>
      </p:sp>
      <p:sp>
        <p:nvSpPr>
          <p:cNvPr id="6" name="Text 4"/>
          <p:cNvSpPr txBox="1"/>
          <p:nvPr/>
        </p:nvSpPr>
        <p:spPr>
          <a:xfrm>
            <a:off x="1079500" y="18034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The key observation</a:t>
            </a:r>
            <a:endParaRPr lang="en-US" sz="1600" dirty="0"/>
          </a:p>
        </p:txBody>
      </p:sp>
      <p:sp>
        <p:nvSpPr>
          <p:cNvPr id="7" name="Text 5"/>
          <p:cNvSpPr txBox="1"/>
          <p:nvPr/>
        </p:nvSpPr>
        <p:spPr>
          <a:xfrm>
            <a:off x="1079500" y="21336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Reduce the problem until a standard technique fits</a:t>
            </a:r>
            <a:endParaRPr lang="en-US" sz="1300" dirty="0"/>
          </a:p>
        </p:txBody>
      </p:sp>
      <p:sp>
        <p:nvSpPr>
          <p:cNvPr id="8" name="Shape 6"/>
          <p:cNvSpPr/>
          <p:nvPr/>
        </p:nvSpPr>
        <p:spPr>
          <a:xfrm>
            <a:off x="6172200" y="1638300"/>
            <a:ext cx="5207000" cy="1079500"/>
          </a:xfrm>
          <a:prstGeom prst="rect">
            <a:avLst/>
          </a:prstGeom>
          <a:solidFill>
            <a:srgbClr val="FFFFFF"/>
          </a:solidFill>
          <a:ln w="9525">
            <a:solidFill>
              <a:srgbClr val="DADDE0"/>
            </a:solidFill>
            <a:prstDash val="solid"/>
          </a:ln>
        </p:spPr>
        <p:txBody>
          <a:bodyPr/>
          <a:lstStyle/>
          <a:p>
            <a:endParaRPr lang="en-AU"/>
          </a:p>
        </p:txBody>
      </p:sp>
      <p:sp>
        <p:nvSpPr>
          <p:cNvPr id="9" name="Shape 7"/>
          <p:cNvSpPr/>
          <p:nvPr/>
        </p:nvSpPr>
        <p:spPr>
          <a:xfrm>
            <a:off x="6172200" y="1638300"/>
            <a:ext cx="63500" cy="1079500"/>
          </a:xfrm>
          <a:prstGeom prst="rect">
            <a:avLst/>
          </a:prstGeom>
          <a:solidFill>
            <a:srgbClr val="E46F69"/>
          </a:solidFill>
          <a:ln w="12700">
            <a:solidFill>
              <a:srgbClr val="E46F69"/>
            </a:solidFill>
            <a:prstDash val="solid"/>
          </a:ln>
        </p:spPr>
        <p:txBody>
          <a:bodyPr/>
          <a:lstStyle/>
          <a:p>
            <a:endParaRPr lang="en-AU"/>
          </a:p>
        </p:txBody>
      </p:sp>
      <p:sp>
        <p:nvSpPr>
          <p:cNvPr id="10" name="Text 8"/>
          <p:cNvSpPr txBox="1"/>
          <p:nvPr/>
        </p:nvSpPr>
        <p:spPr>
          <a:xfrm>
            <a:off x="6438900" y="18034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Partial scores</a:t>
            </a:r>
            <a:endParaRPr lang="en-US" sz="1600" dirty="0"/>
          </a:p>
        </p:txBody>
      </p:sp>
      <p:sp>
        <p:nvSpPr>
          <p:cNvPr id="11" name="Text 9"/>
          <p:cNvSpPr txBox="1"/>
          <p:nvPr/>
        </p:nvSpPr>
        <p:spPr>
          <a:xfrm>
            <a:off x="6438900" y="21336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Amazing Game II gives 30% just for deciding whether the answer is zero</a:t>
            </a:r>
            <a:endParaRPr lang="en-US" sz="1300" dirty="0"/>
          </a:p>
        </p:txBody>
      </p:sp>
      <p:sp>
        <p:nvSpPr>
          <p:cNvPr id="12" name="Shape 10"/>
          <p:cNvSpPr/>
          <p:nvPr/>
        </p:nvSpPr>
        <p:spPr>
          <a:xfrm>
            <a:off x="812800" y="2870200"/>
            <a:ext cx="5207000" cy="1079500"/>
          </a:xfrm>
          <a:prstGeom prst="rect">
            <a:avLst/>
          </a:prstGeom>
          <a:solidFill>
            <a:srgbClr val="FFFFFF"/>
          </a:solidFill>
          <a:ln w="9525">
            <a:solidFill>
              <a:srgbClr val="DADDE0"/>
            </a:solidFill>
            <a:prstDash val="solid"/>
          </a:ln>
        </p:spPr>
        <p:txBody>
          <a:bodyPr/>
          <a:lstStyle/>
          <a:p>
            <a:endParaRPr lang="en-AU"/>
          </a:p>
        </p:txBody>
      </p:sp>
      <p:sp>
        <p:nvSpPr>
          <p:cNvPr id="13" name="Shape 11"/>
          <p:cNvSpPr/>
          <p:nvPr/>
        </p:nvSpPr>
        <p:spPr>
          <a:xfrm>
            <a:off x="812800" y="2870200"/>
            <a:ext cx="63500" cy="1079500"/>
          </a:xfrm>
          <a:prstGeom prst="rect">
            <a:avLst/>
          </a:prstGeom>
          <a:solidFill>
            <a:srgbClr val="E46F69"/>
          </a:solidFill>
          <a:ln w="12700">
            <a:solidFill>
              <a:srgbClr val="E46F69"/>
            </a:solidFill>
            <a:prstDash val="solid"/>
          </a:ln>
        </p:spPr>
        <p:txBody>
          <a:bodyPr/>
          <a:lstStyle/>
          <a:p>
            <a:endParaRPr lang="en-AU"/>
          </a:p>
        </p:txBody>
      </p:sp>
      <p:sp>
        <p:nvSpPr>
          <p:cNvPr id="14" name="Text 12"/>
          <p:cNvSpPr txBox="1"/>
          <p:nvPr/>
        </p:nvSpPr>
        <p:spPr>
          <a:xfrm>
            <a:off x="1079500" y="30353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Constructions</a:t>
            </a:r>
            <a:endParaRPr lang="en-US" sz="1600" dirty="0"/>
          </a:p>
        </p:txBody>
      </p:sp>
      <p:sp>
        <p:nvSpPr>
          <p:cNvPr id="15" name="Text 13"/>
          <p:cNvSpPr txBox="1"/>
          <p:nvPr/>
        </p:nvSpPr>
        <p:spPr>
          <a:xfrm>
            <a:off x="1079500" y="33655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Curator Catastrophe gives 50% for the count; full marks need the swaps</a:t>
            </a:r>
            <a:endParaRPr lang="en-US" sz="1300" dirty="0"/>
          </a:p>
        </p:txBody>
      </p:sp>
      <p:sp>
        <p:nvSpPr>
          <p:cNvPr id="16" name="Shape 14"/>
          <p:cNvSpPr/>
          <p:nvPr/>
        </p:nvSpPr>
        <p:spPr>
          <a:xfrm>
            <a:off x="6172200" y="2870200"/>
            <a:ext cx="5207000" cy="1079500"/>
          </a:xfrm>
          <a:prstGeom prst="rect">
            <a:avLst/>
          </a:prstGeom>
          <a:solidFill>
            <a:srgbClr val="FFFFFF"/>
          </a:solidFill>
          <a:ln w="9525">
            <a:solidFill>
              <a:srgbClr val="DADDE0"/>
            </a:solidFill>
            <a:prstDash val="solid"/>
          </a:ln>
        </p:spPr>
        <p:txBody>
          <a:bodyPr/>
          <a:lstStyle/>
          <a:p>
            <a:endParaRPr lang="en-AU"/>
          </a:p>
        </p:txBody>
      </p:sp>
      <p:sp>
        <p:nvSpPr>
          <p:cNvPr id="17" name="Shape 15"/>
          <p:cNvSpPr/>
          <p:nvPr/>
        </p:nvSpPr>
        <p:spPr>
          <a:xfrm>
            <a:off x="6172200" y="2870200"/>
            <a:ext cx="63500" cy="1079500"/>
          </a:xfrm>
          <a:prstGeom prst="rect">
            <a:avLst/>
          </a:prstGeom>
          <a:solidFill>
            <a:srgbClr val="E46F69"/>
          </a:solidFill>
          <a:ln w="12700">
            <a:solidFill>
              <a:srgbClr val="E46F69"/>
            </a:solidFill>
            <a:prstDash val="solid"/>
          </a:ln>
        </p:spPr>
        <p:txBody>
          <a:bodyPr/>
          <a:lstStyle/>
          <a:p>
            <a:endParaRPr lang="en-AU"/>
          </a:p>
        </p:txBody>
      </p:sp>
      <p:sp>
        <p:nvSpPr>
          <p:cNvPr id="18" name="Text 16"/>
          <p:cNvSpPr txBox="1"/>
          <p:nvPr/>
        </p:nvSpPr>
        <p:spPr>
          <a:xfrm>
            <a:off x="6438900" y="30353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Speed</a:t>
            </a:r>
            <a:endParaRPr lang="en-US" sz="1600" dirty="0"/>
          </a:p>
        </p:txBody>
      </p:sp>
      <p:sp>
        <p:nvSpPr>
          <p:cNvPr id="19" name="Text 17"/>
          <p:cNvSpPr txBox="1"/>
          <p:nvPr/>
        </p:nvSpPr>
        <p:spPr>
          <a:xfrm>
            <a:off x="6438900" y="33655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Most limits are N, Q ≤ 200 000: aim for about O(N log N)</a:t>
            </a:r>
            <a:endParaRPr lang="en-US" sz="1300" dirty="0"/>
          </a:p>
        </p:txBody>
      </p:sp>
      <p:sp>
        <p:nvSpPr>
          <p:cNvPr id="20" name="Shape 18"/>
          <p:cNvSpPr/>
          <p:nvPr/>
        </p:nvSpPr>
        <p:spPr>
          <a:xfrm>
            <a:off x="812800" y="4102100"/>
            <a:ext cx="5207000" cy="1079500"/>
          </a:xfrm>
          <a:prstGeom prst="rect">
            <a:avLst/>
          </a:prstGeom>
          <a:solidFill>
            <a:srgbClr val="FFFFFF"/>
          </a:solidFill>
          <a:ln w="9525">
            <a:solidFill>
              <a:srgbClr val="DADDE0"/>
            </a:solidFill>
            <a:prstDash val="solid"/>
          </a:ln>
        </p:spPr>
        <p:txBody>
          <a:bodyPr/>
          <a:lstStyle/>
          <a:p>
            <a:endParaRPr lang="en-AU"/>
          </a:p>
        </p:txBody>
      </p:sp>
      <p:sp>
        <p:nvSpPr>
          <p:cNvPr id="21" name="Shape 19"/>
          <p:cNvSpPr/>
          <p:nvPr/>
        </p:nvSpPr>
        <p:spPr>
          <a:xfrm>
            <a:off x="812800" y="4102100"/>
            <a:ext cx="63500" cy="1079500"/>
          </a:xfrm>
          <a:prstGeom prst="rect">
            <a:avLst/>
          </a:prstGeom>
          <a:solidFill>
            <a:srgbClr val="E46F69"/>
          </a:solidFill>
          <a:ln w="12700">
            <a:solidFill>
              <a:srgbClr val="E46F69"/>
            </a:solidFill>
            <a:prstDash val="solid"/>
          </a:ln>
        </p:spPr>
        <p:txBody>
          <a:bodyPr/>
          <a:lstStyle/>
          <a:p>
            <a:endParaRPr lang="en-AU"/>
          </a:p>
        </p:txBody>
      </p:sp>
      <p:sp>
        <p:nvSpPr>
          <p:cNvPr id="22" name="Text 20"/>
          <p:cNvSpPr txBox="1"/>
          <p:nvPr/>
        </p:nvSpPr>
        <p:spPr>
          <a:xfrm>
            <a:off x="1079500" y="42672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64-bit integers</a:t>
            </a:r>
            <a:endParaRPr lang="en-US" sz="1600" dirty="0"/>
          </a:p>
        </p:txBody>
      </p:sp>
      <p:sp>
        <p:nvSpPr>
          <p:cNvPr id="23" name="Text 21"/>
          <p:cNvSpPr txBox="1"/>
          <p:nvPr/>
        </p:nvSpPr>
        <p:spPr>
          <a:xfrm>
            <a:off x="1079500" y="45974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Pinnacle and Overcycle both warn that answers overflow int</a:t>
            </a:r>
            <a:endParaRPr lang="en-US" sz="1300" dirty="0"/>
          </a:p>
        </p:txBody>
      </p:sp>
      <p:sp>
        <p:nvSpPr>
          <p:cNvPr id="24" name="Shape 22"/>
          <p:cNvSpPr/>
          <p:nvPr/>
        </p:nvSpPr>
        <p:spPr>
          <a:xfrm>
            <a:off x="6172200" y="4102100"/>
            <a:ext cx="5207000" cy="1079500"/>
          </a:xfrm>
          <a:prstGeom prst="rect">
            <a:avLst/>
          </a:prstGeom>
          <a:solidFill>
            <a:srgbClr val="FFFFFF"/>
          </a:solidFill>
          <a:ln w="9525">
            <a:solidFill>
              <a:srgbClr val="DADDE0"/>
            </a:solidFill>
            <a:prstDash val="solid"/>
          </a:ln>
        </p:spPr>
        <p:txBody>
          <a:bodyPr/>
          <a:lstStyle/>
          <a:p>
            <a:endParaRPr lang="en-AU"/>
          </a:p>
        </p:txBody>
      </p:sp>
      <p:sp>
        <p:nvSpPr>
          <p:cNvPr id="25" name="Shape 23"/>
          <p:cNvSpPr/>
          <p:nvPr/>
        </p:nvSpPr>
        <p:spPr>
          <a:xfrm>
            <a:off x="6172200" y="4102100"/>
            <a:ext cx="63500" cy="1079500"/>
          </a:xfrm>
          <a:prstGeom prst="rect">
            <a:avLst/>
          </a:prstGeom>
          <a:solidFill>
            <a:srgbClr val="E46F69"/>
          </a:solidFill>
          <a:ln w="12700">
            <a:solidFill>
              <a:srgbClr val="E46F69"/>
            </a:solidFill>
            <a:prstDash val="solid"/>
          </a:ln>
        </p:spPr>
        <p:txBody>
          <a:bodyPr/>
          <a:lstStyle/>
          <a:p>
            <a:endParaRPr lang="en-AU"/>
          </a:p>
        </p:txBody>
      </p:sp>
      <p:sp>
        <p:nvSpPr>
          <p:cNvPr id="26" name="Text 24"/>
          <p:cNvSpPr txBox="1"/>
          <p:nvPr/>
        </p:nvSpPr>
        <p:spPr>
          <a:xfrm>
            <a:off x="6438900" y="4267200"/>
            <a:ext cx="4762500" cy="320040"/>
          </a:xfrm>
          <a:prstGeom prst="rect">
            <a:avLst/>
          </a:prstGeom>
          <a:noFill/>
          <a:ln/>
        </p:spPr>
        <p:txBody>
          <a:bodyPr wrap="square" lIns="0" tIns="0" rIns="0" bIns="0" rtlCol="0" anchor="t"/>
          <a:lstStyle/>
          <a:p>
            <a:pPr marL="0" indent="0">
              <a:buNone/>
            </a:pPr>
            <a:r>
              <a:rPr lang="en-US" sz="1600" b="1" dirty="0">
                <a:solidFill>
                  <a:srgbClr val="1F2328"/>
                </a:solidFill>
                <a:latin typeface="Jost" pitchFamily="34" charset="0"/>
                <a:ea typeface="Jost" pitchFamily="34" charset="-122"/>
                <a:cs typeface="Jost" pitchFamily="34" charset="-120"/>
              </a:rPr>
              <a:t>Your own testing</a:t>
            </a:r>
            <a:endParaRPr lang="en-US" sz="1600" dirty="0"/>
          </a:p>
        </p:txBody>
      </p:sp>
      <p:sp>
        <p:nvSpPr>
          <p:cNvPr id="27" name="Text 25"/>
          <p:cNvSpPr txBox="1"/>
          <p:nvPr/>
        </p:nvSpPr>
        <p:spPr>
          <a:xfrm>
            <a:off x="6438900" y="4597400"/>
            <a:ext cx="4762500" cy="508000"/>
          </a:xfrm>
          <a:prstGeom prst="rect">
            <a:avLst/>
          </a:prstGeom>
          <a:noFill/>
          <a:ln/>
        </p:spPr>
        <p:txBody>
          <a:bodyPr wrap="square" lIns="0" tIns="0" rIns="0" bIns="0" rtlCol="0" anchor="t"/>
          <a:lstStyle/>
          <a:p>
            <a:pPr marL="0" indent="0">
              <a:buNone/>
            </a:pPr>
            <a:r>
              <a:rPr lang="en-US" sz="1300" dirty="0">
                <a:solidFill>
                  <a:srgbClr val="4D5560"/>
                </a:solidFill>
                <a:latin typeface="Mulish" pitchFamily="34" charset="0"/>
                <a:ea typeface="Mulish" pitchFamily="34" charset="-122"/>
                <a:cs typeface="Mulish" pitchFamily="34" charset="-120"/>
              </a:rPr>
              <a:t>No saved code allowed in: write a brute force and compare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STAGE 4 OF 4 · BY INVITATION</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SELECTION SCHOOL</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Nine days in April. At the end, the four-student IOI team is announced.</a:t>
            </a:r>
            <a:endParaRPr lang="en-US" sz="1700" dirty="0"/>
          </a:p>
        </p:txBody>
      </p:sp>
      <p:sp>
        <p:nvSpPr>
          <p:cNvPr id="5" name="Text 3"/>
          <p:cNvSpPr/>
          <p:nvPr/>
        </p:nvSpPr>
        <p:spPr>
          <a:xfrm>
            <a:off x="812800" y="4730750"/>
            <a:ext cx="3444240" cy="393700"/>
          </a:xfrm>
          <a:prstGeom prst="roundRect">
            <a:avLst>
              <a:gd name="adj" fmla="val 116129"/>
            </a:avLst>
          </a:prstGeom>
          <a:solidFill>
            <a:srgbClr val="DFE8EC"/>
          </a:solidFill>
          <a:ln w="19050">
            <a:solidFill>
              <a:srgbClr val="0A4054"/>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Training school</a:t>
            </a:r>
            <a:r>
              <a:rPr lang="en-US" sz="1400" dirty="0">
                <a:solidFill>
                  <a:srgbClr val="1F2328"/>
                </a:solidFill>
                <a:latin typeface="Mulish" pitchFamily="34" charset="0"/>
                <a:ea typeface="Mulish" pitchFamily="34" charset="-122"/>
                <a:cs typeface="Mulish" pitchFamily="34" charset="-120"/>
              </a:rPr>
              <a:t> · with exams</a:t>
            </a:r>
            <a:endParaRPr lang="en-US" sz="1400" dirty="0"/>
          </a:p>
        </p:txBody>
      </p:sp>
      <p:sp>
        <p:nvSpPr>
          <p:cNvPr id="6" name="Text 4"/>
          <p:cNvSpPr/>
          <p:nvPr/>
        </p:nvSpPr>
        <p:spPr>
          <a:xfrm>
            <a:off x="4371340" y="4730750"/>
            <a:ext cx="1524000" cy="393700"/>
          </a:xfrm>
          <a:prstGeom prst="roundRect">
            <a:avLst>
              <a:gd name="adj" fmla="val 116129"/>
            </a:avLst>
          </a:prstGeom>
          <a:solidFill>
            <a:srgbClr val="DFE8EC"/>
          </a:solidFill>
          <a:ln w="19050">
            <a:solidFill>
              <a:srgbClr val="0A4054"/>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Late April</a:t>
            </a:r>
            <a:endParaRPr lang="en-US" sz="1400" dirty="0"/>
          </a:p>
        </p:txBody>
      </p:sp>
      <p:sp>
        <p:nvSpPr>
          <p:cNvPr id="7" name="Text 5"/>
          <p:cNvSpPr/>
          <p:nvPr/>
        </p:nvSpPr>
        <p:spPr>
          <a:xfrm>
            <a:off x="6009640" y="4730750"/>
            <a:ext cx="2590800" cy="393700"/>
          </a:xfrm>
          <a:prstGeom prst="roundRect">
            <a:avLst>
              <a:gd name="adj" fmla="val 116129"/>
            </a:avLst>
          </a:prstGeom>
          <a:solidFill>
            <a:srgbClr val="DFE8EC"/>
          </a:solidFill>
          <a:ln w="19050">
            <a:solidFill>
              <a:srgbClr val="0A4054"/>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19 invited</a:t>
            </a:r>
            <a:r>
              <a:rPr lang="en-US" sz="1400" dirty="0">
                <a:solidFill>
                  <a:srgbClr val="1F2328"/>
                </a:solidFill>
                <a:latin typeface="Mulish" pitchFamily="34" charset="0"/>
                <a:ea typeface="Mulish" pitchFamily="34" charset="-122"/>
                <a:cs typeface="Mulish" pitchFamily="34" charset="-120"/>
              </a:rPr>
              <a:t> · in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STAGE 4 · SELECTION SCHOOL</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FORMAT AND SKILLS</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school</a:t>
            </a:r>
            <a:endParaRPr lang="en-US" sz="1700" dirty="0"/>
          </a:p>
        </p:txBody>
      </p:sp>
      <p:sp>
        <p:nvSpPr>
          <p:cNvPr id="5" name="Text 3"/>
          <p:cNvSpPr txBox="1"/>
          <p:nvPr/>
        </p:nvSpPr>
        <p:spPr>
          <a:xfrm>
            <a:off x="8128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23 April – 1 May 2026, UNSW Sydney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19 students in Years 8–12, invited on AIIO and FARIO results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Training plus IOI-style selection exams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Team of 4 announced at the end; the weighting is not published</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What you need</a:t>
            </a:r>
            <a:endParaRPr lang="en-US" sz="1700" dirty="0"/>
          </a:p>
        </p:txBody>
      </p:sp>
      <p:sp>
        <p:nvSpPr>
          <p:cNvPr id="7" name="Text 5"/>
          <p:cNvSpPr txBox="1"/>
          <p:nvPr/>
        </p:nvSpPr>
        <p:spPr>
          <a:xfrm>
            <a:off x="5778500" y="2095500"/>
            <a:ext cx="4559300" cy="32918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Everything from the School of Excellence and the AIIO, coded quickly and without bugs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Solving new problems by combining algorithms you already know: few new topics are taught here</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Three new task types: write a function the grader calls; trade questions and answers with the grader (interactive); hand in answer files instead of code (output-only)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Managing a long exam: read every problem first, collect the easy subtask points, move on when stuck</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Doing well in every exam of the week, not just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1" hasCustomPrompt="1"/>
          </p:nvPr>
        </p:nvSpPr>
        <p:spPr>
          <a:xfrm>
            <a:off x="812800" y="2095500"/>
            <a:ext cx="7302500" cy="279400"/>
          </a:xfrm>
          <a:prstGeom prst="rect">
            <a:avLst/>
          </a:prstGeom>
          <a:noFill/>
          <a:ln/>
        </p:spPr>
        <p:txBody>
          <a:bodyPr wrap="square" lIns="0" tIns="0" rIns="0" bIns="0" rtlCol="0"/>
          <a:lstStyle/>
          <a:p>
            <a:pPr marL="0" indent="0">
              <a:buNone/>
            </a:pPr>
            <a:r>
              <a:rPr lang="en-US" sz="1300" b="1" kern="0" spc="300" dirty="0">
                <a:solidFill>
                  <a:srgbClr val="287673"/>
                </a:solidFill>
                <a:latin typeface="Mulish" pitchFamily="34" charset="0"/>
                <a:ea typeface="Mulish" pitchFamily="34" charset="-122"/>
                <a:cs typeface="Mulish" pitchFamily="34" charset="-120"/>
              </a:rPr>
              <a:t>THE FINAL STAGE</a:t>
            </a:r>
            <a:endParaRPr lang="en-US" sz="1300" dirty="0"/>
          </a:p>
        </p:txBody>
      </p:sp>
      <p:sp>
        <p:nvSpPr>
          <p:cNvPr id="3" name="Text 0"/>
          <p:cNvSpPr>
            <a:spLocks noGrp="1"/>
          </p:cNvSpPr>
          <p:nvPr>
            <p:ph type="title" idx="102" hasCustomPrompt="1"/>
          </p:nvPr>
        </p:nvSpPr>
        <p:spPr>
          <a:xfrm>
            <a:off x="812800" y="2476500"/>
            <a:ext cx="7810500" cy="1333500"/>
          </a:xfrm>
          <a:prstGeom prst="rect">
            <a:avLst/>
          </a:prstGeom>
          <a:noFill/>
          <a:ln/>
        </p:spPr>
        <p:txBody>
          <a:bodyPr wrap="square" lIns="0" tIns="0" rIns="0" bIns="0" rtlCol="0" anchor="ctr"/>
          <a:lstStyle/>
          <a:p>
            <a:pPr marL="0" indent="0" algn="l">
              <a:buNone/>
            </a:pPr>
            <a:r>
              <a:rPr lang="en-US" sz="4400" b="1" kern="0" spc="300" dirty="0">
                <a:solidFill>
                  <a:srgbClr val="1F2328"/>
                </a:solidFill>
                <a:latin typeface="Jost" pitchFamily="34" charset="0"/>
                <a:ea typeface="Jost" pitchFamily="34" charset="-122"/>
                <a:cs typeface="Jost" pitchFamily="34" charset="-120"/>
              </a:rPr>
              <a:t>IOI</a:t>
            </a:r>
            <a:endParaRPr lang="en-US" sz="4400" dirty="0"/>
          </a:p>
        </p:txBody>
      </p:sp>
      <p:sp>
        <p:nvSpPr>
          <p:cNvPr id="4" name="Text 2"/>
          <p:cNvSpPr txBox="1"/>
          <p:nvPr/>
        </p:nvSpPr>
        <p:spPr>
          <a:xfrm>
            <a:off x="812800" y="3905250"/>
            <a:ext cx="6985000" cy="698500"/>
          </a:xfrm>
          <a:prstGeom prst="rect">
            <a:avLst/>
          </a:prstGeom>
          <a:noFill/>
          <a:ln/>
        </p:spPr>
        <p:txBody>
          <a:bodyPr wrap="square" lIns="0" tIns="0" rIns="0" bIns="0" rtlCol="0" anchor="t"/>
          <a:lstStyle/>
          <a:p>
            <a:pPr marL="0" indent="0">
              <a:buNone/>
            </a:pPr>
            <a:r>
              <a:rPr lang="en-US" sz="1700" dirty="0">
                <a:solidFill>
                  <a:srgbClr val="4D5560"/>
                </a:solidFill>
                <a:latin typeface="Mulish" pitchFamily="34" charset="0"/>
                <a:ea typeface="Mulish" pitchFamily="34" charset="-122"/>
                <a:cs typeface="Mulish" pitchFamily="34" charset="-120"/>
              </a:rPr>
              <a:t>The International Olympiad in Informatics. In 2026 it was held in Tashkent, Uzbekistan, in August.</a:t>
            </a:r>
            <a:endParaRPr lang="en-US" sz="1700" dirty="0"/>
          </a:p>
        </p:txBody>
      </p:sp>
      <p:sp>
        <p:nvSpPr>
          <p:cNvPr id="5" name="Text 3"/>
          <p:cNvSpPr/>
          <p:nvPr/>
        </p:nvSpPr>
        <p:spPr>
          <a:xfrm>
            <a:off x="812800" y="4730750"/>
            <a:ext cx="3337560" cy="393700"/>
          </a:xfrm>
          <a:prstGeom prst="roundRect">
            <a:avLst>
              <a:gd name="adj" fmla="val 116129"/>
            </a:avLst>
          </a:prstGeom>
          <a:solidFill>
            <a:srgbClr val="FEF3DC"/>
          </a:solidFill>
          <a:ln w="19050">
            <a:solidFill>
              <a:srgbClr val="F9AA1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Competition</a:t>
            </a:r>
            <a:r>
              <a:rPr lang="en-US" sz="1400" dirty="0">
                <a:solidFill>
                  <a:srgbClr val="1F2328"/>
                </a:solidFill>
                <a:latin typeface="Mulish" pitchFamily="34" charset="0"/>
                <a:ea typeface="Mulish" pitchFamily="34" charset="-122"/>
                <a:cs typeface="Mulish" pitchFamily="34" charset="-120"/>
              </a:rPr>
              <a:t> · international</a:t>
            </a:r>
            <a:endParaRPr lang="en-US" sz="1400" dirty="0"/>
          </a:p>
        </p:txBody>
      </p:sp>
      <p:sp>
        <p:nvSpPr>
          <p:cNvPr id="6" name="Text 4"/>
          <p:cNvSpPr/>
          <p:nvPr/>
        </p:nvSpPr>
        <p:spPr>
          <a:xfrm>
            <a:off x="4264660" y="4730750"/>
            <a:ext cx="1950720" cy="393700"/>
          </a:xfrm>
          <a:prstGeom prst="roundRect">
            <a:avLst>
              <a:gd name="adj" fmla="val 116129"/>
            </a:avLst>
          </a:prstGeom>
          <a:solidFill>
            <a:srgbClr val="FEF3DC"/>
          </a:solidFill>
          <a:ln w="19050">
            <a:solidFill>
              <a:srgbClr val="F9AA1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2 contest days</a:t>
            </a:r>
            <a:endParaRPr lang="en-US" sz="1400" dirty="0"/>
          </a:p>
        </p:txBody>
      </p:sp>
      <p:sp>
        <p:nvSpPr>
          <p:cNvPr id="7" name="Text 5"/>
          <p:cNvSpPr/>
          <p:nvPr/>
        </p:nvSpPr>
        <p:spPr>
          <a:xfrm>
            <a:off x="6329680" y="4730750"/>
            <a:ext cx="1417320" cy="393700"/>
          </a:xfrm>
          <a:prstGeom prst="roundRect">
            <a:avLst>
              <a:gd name="adj" fmla="val 116129"/>
            </a:avLst>
          </a:prstGeom>
          <a:solidFill>
            <a:srgbClr val="FEF3DC"/>
          </a:solidFill>
          <a:ln w="19050">
            <a:solidFill>
              <a:srgbClr val="F9AA19"/>
            </a:solidFill>
          </a:ln>
        </p:spPr>
        <p:txBody>
          <a:bodyPr wrap="square" lIns="0" tIns="0" rIns="0" bIns="0" rtlCol="0" anchor="ctr"/>
          <a:lstStyle/>
          <a:p>
            <a:pPr marL="0" indent="0" algn="ctr">
              <a:buNone/>
            </a:pPr>
            <a:r>
              <a:rPr lang="en-US" sz="1400" b="1" dirty="0">
                <a:solidFill>
                  <a:srgbClr val="1F2328"/>
                </a:solidFill>
                <a:latin typeface="Mulish" pitchFamily="34" charset="0"/>
                <a:ea typeface="Mulish" pitchFamily="34" charset="-122"/>
                <a:cs typeface="Mulish" pitchFamily="34" charset="-120"/>
              </a:rPr>
              <a:t>Team of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THE IOI</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THE CONTEST AND THE SYLLABUS</a:t>
            </a:r>
            <a:endParaRPr lang="en-US" sz="2600" dirty="0"/>
          </a:p>
        </p:txBody>
      </p:sp>
      <p:sp>
        <p:nvSpPr>
          <p:cNvPr id="4" name="Text 2"/>
          <p:cNvSpPr txBox="1"/>
          <p:nvPr/>
        </p:nvSpPr>
        <p:spPr>
          <a:xfrm>
            <a:off x="8128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The contest</a:t>
            </a:r>
            <a:endParaRPr lang="en-US" sz="1700" dirty="0"/>
          </a:p>
        </p:txBody>
      </p:sp>
      <p:sp>
        <p:nvSpPr>
          <p:cNvPr id="5" name="Text 3"/>
          <p:cNvSpPr txBox="1"/>
          <p:nvPr/>
        </p:nvSpPr>
        <p:spPr>
          <a:xfrm>
            <a:off x="812800" y="2095500"/>
            <a:ext cx="4559300" cy="23774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2 contest days, 3 tasks a day, 5 hours a day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C++ only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Up to 4 secondary-school students per country</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Topics set by the official IOI Syllabus (2025 edition is the latest)</a:t>
            </a:r>
            <a:endParaRPr lang="en-US" sz="1400" dirty="0"/>
          </a:p>
        </p:txBody>
      </p:sp>
      <p:sp>
        <p:nvSpPr>
          <p:cNvPr id="6" name="Text 4"/>
          <p:cNvSpPr txBox="1"/>
          <p:nvPr/>
        </p:nvSpPr>
        <p:spPr>
          <a:xfrm>
            <a:off x="5778500" y="1638300"/>
            <a:ext cx="4559300" cy="365760"/>
          </a:xfrm>
          <a:prstGeom prst="rect">
            <a:avLst/>
          </a:prstGeom>
          <a:noFill/>
          <a:ln/>
        </p:spPr>
        <p:txBody>
          <a:bodyPr wrap="square" lIns="0" tIns="0" rIns="0" bIns="0" rtlCol="0" anchor="t"/>
          <a:lstStyle/>
          <a:p>
            <a:pPr marL="0" indent="0">
              <a:buNone/>
            </a:pPr>
            <a:r>
              <a:rPr lang="en-US" sz="1700" b="1" dirty="0">
                <a:solidFill>
                  <a:srgbClr val="1F2328"/>
                </a:solidFill>
                <a:latin typeface="Jost" pitchFamily="34" charset="0"/>
                <a:ea typeface="Jost" pitchFamily="34" charset="-122"/>
                <a:cs typeface="Jost" pitchFamily="34" charset="-120"/>
              </a:rPr>
              <a:t>In the syllabus</a:t>
            </a:r>
            <a:endParaRPr lang="en-US" sz="1700" dirty="0"/>
          </a:p>
        </p:txBody>
      </p:sp>
      <p:sp>
        <p:nvSpPr>
          <p:cNvPr id="7" name="Text 5"/>
          <p:cNvSpPr txBox="1"/>
          <p:nvPr/>
        </p:nvSpPr>
        <p:spPr>
          <a:xfrm>
            <a:off x="5778500" y="2095500"/>
            <a:ext cx="4559300" cy="2377440"/>
          </a:xfrm>
          <a:prstGeom prst="rect">
            <a:avLst/>
          </a:prstGeom>
          <a:noFill/>
          <a:ln/>
        </p:spPr>
        <p:txBody>
          <a:bodyPr wrap="square" lIns="0" tIns="0" rIns="0" bIns="0" rtlCol="0" anchor="t"/>
          <a:lstStyle/>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Graphs: BFS, DFS, shortest paths, spanning trees, matching, flow</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Dynamic programming</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Heaps, union-find, segment and Fenwick trees</a:t>
            </a:r>
            <a:endParaRPr lang="en-US" sz="1400" dirty="0"/>
          </a:p>
          <a:p>
            <a:pPr marL="177800" indent="-177800">
              <a:lnSpc>
                <a:spcPct val="115000"/>
              </a:lnSpc>
              <a:spcAft>
                <a:spcPts val="400"/>
              </a:spcAft>
              <a:buSzPct val="100000"/>
              <a:buChar char="•"/>
            </a:pPr>
            <a:r>
              <a:rPr lang="en-US" sz="1400" dirty="0">
                <a:solidFill>
                  <a:srgbClr val="4D5560"/>
                </a:solidFill>
                <a:latin typeface="Mulish" pitchFamily="34" charset="0"/>
                <a:ea typeface="Mulish" pitchFamily="34" charset="-122"/>
                <a:cs typeface="Mulish" pitchFamily="34" charset="-120"/>
              </a:rPr>
              <a:t>Geometry: convex hull, sweep line</a:t>
            </a:r>
            <a:endParaRPr lang="en-US" sz="1400" dirty="0"/>
          </a:p>
        </p:txBody>
      </p:sp>
      <p:sp>
        <p:nvSpPr>
          <p:cNvPr id="8" name="Text 6"/>
          <p:cNvSpPr txBox="1"/>
          <p:nvPr/>
        </p:nvSpPr>
        <p:spPr>
          <a:xfrm>
            <a:off x="812800" y="4826000"/>
            <a:ext cx="10566400" cy="365760"/>
          </a:xfrm>
          <a:prstGeom prst="rect">
            <a:avLst/>
          </a:prstGeom>
          <a:noFill/>
          <a:ln/>
        </p:spPr>
        <p:txBody>
          <a:bodyPr wrap="square" lIns="0" tIns="0" rIns="0" bIns="0" rtlCol="0" anchor="t"/>
          <a:lstStyle/>
          <a:p>
            <a:pPr marL="0" indent="0">
              <a:buNone/>
            </a:pPr>
            <a:r>
              <a:rPr lang="en-US" sz="1400" b="1" dirty="0">
                <a:solidFill>
                  <a:srgbClr val="4D5560"/>
                </a:solidFill>
                <a:latin typeface="Mulish" pitchFamily="34" charset="0"/>
                <a:ea typeface="Mulish" pitchFamily="34" charset="-122"/>
                <a:cs typeface="Mulish" pitchFamily="34" charset="-120"/>
              </a:rPr>
              <a:t>Left out: </a:t>
            </a:r>
            <a:r>
              <a:rPr lang="en-US" sz="1400" dirty="0">
                <a:solidFill>
                  <a:srgbClr val="4D5560"/>
                </a:solidFill>
                <a:latin typeface="Mulish" pitchFamily="34" charset="0"/>
                <a:ea typeface="Mulish" pitchFamily="34" charset="-122"/>
                <a:cs typeface="Mulish" pitchFamily="34" charset="-120"/>
              </a:rPr>
              <a:t>KMP and suffix arrays, hash tables, FFT, modular inverses, Nim and Sprague-Grundy theory.</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WHERE WE ARE</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YOUR TOOLKIT AND WHAT COMES NEXT</a:t>
            </a:r>
            <a:endParaRPr lang="en-US" sz="2600" dirty="0"/>
          </a:p>
        </p:txBody>
      </p:sp>
      <p:sp>
        <p:nvSpPr>
          <p:cNvPr id="4" name="Shape 2"/>
          <p:cNvSpPr/>
          <p:nvPr/>
        </p:nvSpPr>
        <p:spPr>
          <a:xfrm>
            <a:off x="812800" y="1638300"/>
            <a:ext cx="5181600" cy="2984500"/>
          </a:xfrm>
          <a:prstGeom prst="rect">
            <a:avLst/>
          </a:prstGeom>
          <a:solidFill>
            <a:srgbClr val="FFFFFF"/>
          </a:solidFill>
          <a:ln w="9525">
            <a:solidFill>
              <a:srgbClr val="DADDE0"/>
            </a:solidFill>
            <a:prstDash val="solid"/>
          </a:ln>
        </p:spPr>
        <p:txBody>
          <a:bodyPr/>
          <a:lstStyle/>
          <a:p>
            <a:endParaRPr lang="en-AU"/>
          </a:p>
        </p:txBody>
      </p:sp>
      <p:sp>
        <p:nvSpPr>
          <p:cNvPr id="5" name="Shape 3"/>
          <p:cNvSpPr/>
          <p:nvPr/>
        </p:nvSpPr>
        <p:spPr>
          <a:xfrm>
            <a:off x="812800" y="1638300"/>
            <a:ext cx="63500" cy="2984500"/>
          </a:xfrm>
          <a:prstGeom prst="rect">
            <a:avLst/>
          </a:prstGeom>
          <a:solidFill>
            <a:srgbClr val="3E9A97"/>
          </a:solidFill>
          <a:ln w="12700">
            <a:solidFill>
              <a:srgbClr val="3E9A97"/>
            </a:solidFill>
            <a:prstDash val="solid"/>
          </a:ln>
        </p:spPr>
        <p:txBody>
          <a:bodyPr/>
          <a:lstStyle/>
          <a:p>
            <a:endParaRPr lang="en-AU"/>
          </a:p>
        </p:txBody>
      </p:sp>
      <p:sp>
        <p:nvSpPr>
          <p:cNvPr id="6" name="Text 4"/>
          <p:cNvSpPr txBox="1"/>
          <p:nvPr/>
        </p:nvSpPr>
        <p:spPr>
          <a:xfrm>
            <a:off x="1079500" y="1841500"/>
            <a:ext cx="4711700" cy="365760"/>
          </a:xfrm>
          <a:prstGeom prst="rect">
            <a:avLst/>
          </a:prstGeom>
          <a:noFill/>
          <a:ln/>
        </p:spPr>
        <p:txBody>
          <a:bodyPr wrap="square" lIns="0" tIns="0" rIns="0" bIns="0" rtlCol="0" anchor="t"/>
          <a:lstStyle/>
          <a:p>
            <a:pPr marL="0" indent="0">
              <a:buNone/>
            </a:pPr>
            <a:r>
              <a:rPr lang="en-US" sz="1900" b="1" dirty="0">
                <a:solidFill>
                  <a:srgbClr val="1F2328"/>
                </a:solidFill>
                <a:latin typeface="Jost" pitchFamily="34" charset="0"/>
                <a:ea typeface="Jost" pitchFamily="34" charset="-122"/>
                <a:cs typeface="Jost" pitchFamily="34" charset="-120"/>
              </a:rPr>
              <a:t>Already in your toolkit</a:t>
            </a:r>
            <a:endParaRPr lang="en-US" sz="1900" dirty="0"/>
          </a:p>
        </p:txBody>
      </p:sp>
      <p:sp>
        <p:nvSpPr>
          <p:cNvPr id="7" name="Text 5"/>
          <p:cNvSpPr txBox="1"/>
          <p:nvPr/>
        </p:nvSpPr>
        <p:spPr>
          <a:xfrm>
            <a:off x="1079500" y="2273300"/>
            <a:ext cx="4711700" cy="184150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Prefix sum</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Binary search</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Two pointers</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Greedy</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Sparse table</a:t>
            </a:r>
            <a:endParaRPr lang="en-US" sz="1500" dirty="0"/>
          </a:p>
        </p:txBody>
      </p:sp>
      <p:sp>
        <p:nvSpPr>
          <p:cNvPr id="8" name="Text 6"/>
          <p:cNvSpPr txBox="1"/>
          <p:nvPr/>
        </p:nvSpPr>
        <p:spPr>
          <a:xfrm>
            <a:off x="1079500" y="4178300"/>
            <a:ext cx="4711700" cy="320040"/>
          </a:xfrm>
          <a:prstGeom prst="rect">
            <a:avLst/>
          </a:prstGeom>
          <a:noFill/>
          <a:ln/>
        </p:spPr>
        <p:txBody>
          <a:bodyPr wrap="square" lIns="0" tIns="0" rIns="0" bIns="0" rtlCol="0" anchor="t"/>
          <a:lstStyle/>
          <a:p>
            <a:pPr marL="0" indent="0">
              <a:buNone/>
            </a:pPr>
            <a:r>
              <a:rPr lang="en-US" sz="1300" b="1" dirty="0">
                <a:solidFill>
                  <a:srgbClr val="287673"/>
                </a:solidFill>
                <a:latin typeface="Mulish" pitchFamily="34" charset="0"/>
                <a:ea typeface="Mulish" pitchFamily="34" charset="-122"/>
                <a:cs typeface="Mulish" pitchFamily="34" charset="-120"/>
              </a:rPr>
              <a:t>Enough for AIO Problems 4–6</a:t>
            </a:r>
            <a:endParaRPr lang="en-US" sz="1300" dirty="0"/>
          </a:p>
        </p:txBody>
      </p:sp>
      <p:sp>
        <p:nvSpPr>
          <p:cNvPr id="9" name="Shape 7"/>
          <p:cNvSpPr/>
          <p:nvPr/>
        </p:nvSpPr>
        <p:spPr>
          <a:xfrm>
            <a:off x="6197600" y="1638300"/>
            <a:ext cx="5181600" cy="2984500"/>
          </a:xfrm>
          <a:prstGeom prst="rect">
            <a:avLst/>
          </a:prstGeom>
          <a:solidFill>
            <a:srgbClr val="FFFFFF"/>
          </a:solidFill>
          <a:ln w="9525">
            <a:solidFill>
              <a:srgbClr val="DADDE0"/>
            </a:solidFill>
            <a:prstDash val="solid"/>
          </a:ln>
        </p:spPr>
        <p:txBody>
          <a:bodyPr/>
          <a:lstStyle/>
          <a:p>
            <a:endParaRPr lang="en-AU"/>
          </a:p>
        </p:txBody>
      </p:sp>
      <p:sp>
        <p:nvSpPr>
          <p:cNvPr id="10" name="Shape 8"/>
          <p:cNvSpPr/>
          <p:nvPr/>
        </p:nvSpPr>
        <p:spPr>
          <a:xfrm>
            <a:off x="6197600" y="1638300"/>
            <a:ext cx="63500" cy="2984500"/>
          </a:xfrm>
          <a:prstGeom prst="rect">
            <a:avLst/>
          </a:prstGeom>
          <a:solidFill>
            <a:srgbClr val="E46F69"/>
          </a:solidFill>
          <a:ln w="12700">
            <a:solidFill>
              <a:srgbClr val="E46F69"/>
            </a:solidFill>
            <a:prstDash val="solid"/>
          </a:ln>
        </p:spPr>
        <p:txBody>
          <a:bodyPr/>
          <a:lstStyle/>
          <a:p>
            <a:endParaRPr lang="en-AU"/>
          </a:p>
        </p:txBody>
      </p:sp>
      <p:sp>
        <p:nvSpPr>
          <p:cNvPr id="11" name="Text 9"/>
          <p:cNvSpPr txBox="1"/>
          <p:nvPr/>
        </p:nvSpPr>
        <p:spPr>
          <a:xfrm>
            <a:off x="6464300" y="1841500"/>
            <a:ext cx="4711700" cy="365760"/>
          </a:xfrm>
          <a:prstGeom prst="rect">
            <a:avLst/>
          </a:prstGeom>
          <a:noFill/>
          <a:ln/>
        </p:spPr>
        <p:txBody>
          <a:bodyPr wrap="square" lIns="0" tIns="0" rIns="0" bIns="0" rtlCol="0" anchor="t"/>
          <a:lstStyle/>
          <a:p>
            <a:pPr marL="0" indent="0">
              <a:buNone/>
            </a:pPr>
            <a:r>
              <a:rPr lang="en-US" sz="1900" b="1" dirty="0">
                <a:solidFill>
                  <a:srgbClr val="1F2328"/>
                </a:solidFill>
                <a:latin typeface="Jost" pitchFamily="34" charset="0"/>
                <a:ea typeface="Jost" pitchFamily="34" charset="-122"/>
                <a:cs typeface="Jost" pitchFamily="34" charset="-120"/>
              </a:rPr>
              <a:t>Next, for the AIIO</a:t>
            </a:r>
            <a:endParaRPr lang="en-US" sz="1900" dirty="0"/>
          </a:p>
        </p:txBody>
      </p:sp>
      <p:sp>
        <p:nvSpPr>
          <p:cNvPr id="12" name="Text 10"/>
          <p:cNvSpPr txBox="1"/>
          <p:nvPr/>
        </p:nvSpPr>
        <p:spPr>
          <a:xfrm>
            <a:off x="6464300" y="2273300"/>
            <a:ext cx="4711700" cy="1841500"/>
          </a:xfrm>
          <a:prstGeom prst="rect">
            <a:avLst/>
          </a:prstGeom>
          <a:noFill/>
          <a:ln/>
        </p:spPr>
        <p:txBody>
          <a:bodyPr wrap="square" lIns="0" tIns="0" rIns="0" bIns="0" rtlCol="0" anchor="t"/>
          <a:lstStyle/>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BFS and graphs</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Dijkstra with a heap</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Dynamic programming</a:t>
            </a:r>
            <a:endParaRPr lang="en-US" sz="1500" dirty="0"/>
          </a:p>
          <a:p>
            <a:pPr marL="177800" indent="-177800">
              <a:spcAft>
                <a:spcPts val="400"/>
              </a:spcAft>
              <a:buSzPct val="100000"/>
              <a:buChar char="•"/>
            </a:pPr>
            <a:r>
              <a:rPr lang="en-US" sz="1500" dirty="0">
                <a:solidFill>
                  <a:srgbClr val="4D5560"/>
                </a:solidFill>
                <a:latin typeface="Mulish" pitchFamily="34" charset="0"/>
                <a:ea typeface="Mulish" pitchFamily="34" charset="-122"/>
                <a:cs typeface="Mulish" pitchFamily="34" charset="-120"/>
              </a:rPr>
              <a:t>Segment trees</a:t>
            </a:r>
            <a:endParaRPr lang="en-US" sz="1500" dirty="0"/>
          </a:p>
        </p:txBody>
      </p:sp>
      <p:sp>
        <p:nvSpPr>
          <p:cNvPr id="13" name="Text 11"/>
          <p:cNvSpPr txBox="1"/>
          <p:nvPr/>
        </p:nvSpPr>
        <p:spPr>
          <a:xfrm>
            <a:off x="6464300" y="4178300"/>
            <a:ext cx="4711700" cy="320040"/>
          </a:xfrm>
          <a:prstGeom prst="rect">
            <a:avLst/>
          </a:prstGeom>
          <a:noFill/>
          <a:ln/>
        </p:spPr>
        <p:txBody>
          <a:bodyPr wrap="square" lIns="0" tIns="0" rIns="0" bIns="0" rtlCol="0" anchor="t"/>
          <a:lstStyle/>
          <a:p>
            <a:pPr marL="0" indent="0">
              <a:buNone/>
            </a:pPr>
            <a:r>
              <a:rPr lang="en-US" sz="1300" b="1" dirty="0">
                <a:solidFill>
                  <a:srgbClr val="B0453F"/>
                </a:solidFill>
                <a:latin typeface="Mulish" pitchFamily="34" charset="0"/>
                <a:ea typeface="Mulish" pitchFamily="34" charset="-122"/>
                <a:cs typeface="Mulish" pitchFamily="34" charset="-120"/>
              </a:rPr>
              <a:t>Every one appears in the 2023–2025 AIIO papers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RECAP</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THREE THINGS TO REMEMBER</a:t>
            </a:r>
            <a:endParaRPr lang="en-US" sz="2600" dirty="0"/>
          </a:p>
        </p:txBody>
      </p:sp>
      <p:sp>
        <p:nvSpPr>
          <p:cNvPr id="4" name="Text 2"/>
          <p:cNvSpPr txBox="1"/>
          <p:nvPr/>
        </p:nvSpPr>
        <p:spPr>
          <a:xfrm>
            <a:off x="812800" y="1638300"/>
            <a:ext cx="7620000" cy="355600"/>
          </a:xfrm>
          <a:prstGeom prst="rect">
            <a:avLst/>
          </a:prstGeom>
          <a:noFill/>
          <a:ln/>
        </p:spPr>
        <p:txBody>
          <a:bodyPr wrap="square" lIns="0" tIns="0" rIns="0" bIns="0" rtlCol="0" anchor="t"/>
          <a:lstStyle/>
          <a:p>
            <a:pPr marL="0" indent="0">
              <a:buNone/>
            </a:pPr>
            <a:r>
              <a:rPr lang="en-US" sz="1800" b="1" dirty="0">
                <a:solidFill>
                  <a:srgbClr val="1F2328"/>
                </a:solidFill>
                <a:latin typeface="Mulish" pitchFamily="34" charset="0"/>
                <a:ea typeface="Mulish" pitchFamily="34" charset="-122"/>
                <a:cs typeface="Mulish" pitchFamily="34" charset="-120"/>
              </a:rPr>
              <a:t>1. Only the AIO is open.</a:t>
            </a:r>
            <a:endParaRPr lang="en-US" sz="1800" dirty="0"/>
          </a:p>
        </p:txBody>
      </p:sp>
      <p:sp>
        <p:nvSpPr>
          <p:cNvPr id="5" name="Text 3"/>
          <p:cNvSpPr txBox="1"/>
          <p:nvPr/>
        </p:nvSpPr>
        <p:spPr>
          <a:xfrm>
            <a:off x="812800" y="2057400"/>
            <a:ext cx="7620000" cy="31750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Every later stage is by invitation, earned at the stage before.</a:t>
            </a:r>
            <a:endParaRPr lang="en-US" sz="1400" dirty="0"/>
          </a:p>
        </p:txBody>
      </p:sp>
      <p:sp>
        <p:nvSpPr>
          <p:cNvPr id="6" name="Text 4"/>
          <p:cNvSpPr txBox="1"/>
          <p:nvPr/>
        </p:nvSpPr>
        <p:spPr>
          <a:xfrm>
            <a:off x="812800" y="2717800"/>
            <a:ext cx="7620000" cy="355600"/>
          </a:xfrm>
          <a:prstGeom prst="rect">
            <a:avLst/>
          </a:prstGeom>
          <a:noFill/>
          <a:ln/>
        </p:spPr>
        <p:txBody>
          <a:bodyPr wrap="square" lIns="0" tIns="0" rIns="0" bIns="0" rtlCol="0" anchor="t"/>
          <a:lstStyle/>
          <a:p>
            <a:pPr marL="0" indent="0">
              <a:buNone/>
            </a:pPr>
            <a:r>
              <a:rPr lang="en-US" sz="1800" b="1" dirty="0">
                <a:solidFill>
                  <a:srgbClr val="1F2328"/>
                </a:solidFill>
                <a:latin typeface="Mulish" pitchFamily="34" charset="0"/>
                <a:ea typeface="Mulish" pitchFamily="34" charset="-122"/>
                <a:cs typeface="Mulish" pitchFamily="34" charset="-120"/>
              </a:rPr>
              <a:t>2. Year 11 is the cut-off.</a:t>
            </a:r>
            <a:endParaRPr lang="en-US" sz="1800" dirty="0"/>
          </a:p>
        </p:txBody>
      </p:sp>
      <p:sp>
        <p:nvSpPr>
          <p:cNvPr id="7" name="Text 5"/>
          <p:cNvSpPr txBox="1"/>
          <p:nvPr/>
        </p:nvSpPr>
        <p:spPr>
          <a:xfrm>
            <a:off x="812800" y="3136900"/>
            <a:ext cx="7620000" cy="31750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Reach the December School of Excellence by Year 11 at the latest.</a:t>
            </a:r>
            <a:endParaRPr lang="en-US" sz="1400" dirty="0"/>
          </a:p>
        </p:txBody>
      </p:sp>
      <p:sp>
        <p:nvSpPr>
          <p:cNvPr id="8" name="Text 6"/>
          <p:cNvSpPr txBox="1"/>
          <p:nvPr/>
        </p:nvSpPr>
        <p:spPr>
          <a:xfrm>
            <a:off x="812800" y="3797300"/>
            <a:ext cx="7620000" cy="355600"/>
          </a:xfrm>
          <a:prstGeom prst="rect">
            <a:avLst/>
          </a:prstGeom>
          <a:noFill/>
          <a:ln/>
        </p:spPr>
        <p:txBody>
          <a:bodyPr wrap="square" lIns="0" tIns="0" rIns="0" bIns="0" rtlCol="0" anchor="t"/>
          <a:lstStyle/>
          <a:p>
            <a:pPr marL="0" indent="0">
              <a:buNone/>
            </a:pPr>
            <a:r>
              <a:rPr lang="en-US" sz="1800" b="1" dirty="0">
                <a:solidFill>
                  <a:srgbClr val="1F2328"/>
                </a:solidFill>
                <a:latin typeface="Mulish" pitchFamily="34" charset="0"/>
                <a:ea typeface="Mulish" pitchFamily="34" charset="-122"/>
                <a:cs typeface="Mulish" pitchFamily="34" charset="-120"/>
              </a:rPr>
              <a:t>3. Each stage builds on the last.</a:t>
            </a:r>
            <a:endParaRPr lang="en-US" sz="1800" dirty="0"/>
          </a:p>
        </p:txBody>
      </p:sp>
      <p:sp>
        <p:nvSpPr>
          <p:cNvPr id="9" name="Text 7"/>
          <p:cNvSpPr txBox="1"/>
          <p:nvPr/>
        </p:nvSpPr>
        <p:spPr>
          <a:xfrm>
            <a:off x="812800" y="4216400"/>
            <a:ext cx="7620000" cy="31750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AIO: the four techniques. AIIO: graphs, DP, data structures. IOI: all of it, used in new ways.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ADDENDUM · IOI SYLLABUS 2025 · 1 OF 3</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HOW THE SYLLABUS LABELS TOPICS</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2389632"/>
        </p:xfrm>
        <a:graphic>
          <a:graphicData uri="http://schemas.openxmlformats.org/drawingml/2006/table">
            <a:tbl>
              <a:tblPr/>
              <a:tblGrid>
                <a:gridCol w="1056640">
                  <a:extLst>
                    <a:ext uri="{9D8B030D-6E8A-4147-A177-3AD203B41FA5}">
                      <a16:colId xmlns:a16="http://schemas.microsoft.com/office/drawing/2014/main" val="20000"/>
                    </a:ext>
                  </a:extLst>
                </a:gridCol>
                <a:gridCol w="3381248">
                  <a:extLst>
                    <a:ext uri="{9D8B030D-6E8A-4147-A177-3AD203B41FA5}">
                      <a16:colId xmlns:a16="http://schemas.microsoft.com/office/drawing/2014/main" val="20001"/>
                    </a:ext>
                  </a:extLst>
                </a:gridCol>
                <a:gridCol w="6128512">
                  <a:extLst>
                    <a:ext uri="{9D8B030D-6E8A-4147-A177-3AD203B41FA5}">
                      <a16:colId xmlns:a16="http://schemas.microsoft.com/office/drawing/2014/main" val="20002"/>
                    </a:ext>
                  </a:extLst>
                </a:gridCol>
              </a:tblGrid>
              <a:tr h="0">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Marker</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Level</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400" b="1" dirty="0">
                          <a:solidFill>
                            <a:srgbClr val="1F2328"/>
                          </a:solidFill>
                          <a:latin typeface="Mulish" pitchFamily="34" charset="0"/>
                          <a:ea typeface="Mulish" pitchFamily="34" charset="-122"/>
                          <a:cs typeface="Mulish" pitchFamily="34" charset="-120"/>
                        </a:rPr>
                        <a:t>Meaning</a:t>
                      </a:r>
                      <a:endParaRPr lang="en-US" sz="14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Included, unlimited</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Basic knowledge; can appear in a task without explanation</a:t>
                      </a:r>
                      <a:endParaRPr lang="en-US" sz="14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✓q</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Included, to be defined</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Can appear, but the task statement must define it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✓p</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Included, not for task description</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Needed to solve tasks, but not named in statements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Outside of focus</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Not expected; a task may use it only if it can be solved without prior knowledge</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Excluded, open to discussion</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Excluded for now, under review</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buNone/>
                      </a:pPr>
                      <a:r>
                        <a:rPr lang="en-US" sz="1400" dirty="0">
                          <a:solidFill>
                            <a:srgbClr val="1F2328"/>
                          </a:solidFill>
                          <a:latin typeface="Mulish" pitchFamily="34" charset="0"/>
                          <a:ea typeface="Mulish" pitchFamily="34" charset="-122"/>
                          <a:cs typeface="Mulish" pitchFamily="34" charset="-120"/>
                        </a:rPr>
                        <a:t>✗</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Explicitly excluded</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400" dirty="0">
                          <a:solidFill>
                            <a:srgbClr val="1F2328"/>
                          </a:solidFill>
                          <a:latin typeface="Mulish" pitchFamily="34" charset="0"/>
                          <a:ea typeface="Mulish" pitchFamily="34" charset="-122"/>
                          <a:cs typeface="Mulish" pitchFamily="34" charset="-120"/>
                        </a:rPr>
                        <a:t>Will not be needed; knowing it gives no advantage</a:t>
                      </a:r>
                      <a:endParaRPr lang="en-US" sz="14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812800" y="5080000"/>
            <a:ext cx="10566400" cy="548640"/>
          </a:xfrm>
          <a:prstGeom prst="rect">
            <a:avLst/>
          </a:prstGeom>
          <a:noFill/>
          <a:ln/>
        </p:spPr>
        <p:txBody>
          <a:bodyPr wrap="square" lIns="0" tIns="0" rIns="0" bIns="0" rtlCol="0" anchor="t"/>
          <a:lstStyle/>
          <a:p>
            <a:pPr marL="0" indent="0">
              <a:buNone/>
            </a:pPr>
            <a:r>
              <a:rPr lang="en-US" sz="1400" dirty="0">
                <a:solidFill>
                  <a:srgbClr val="4D5560"/>
                </a:solidFill>
                <a:latin typeface="Mulish" pitchFamily="34" charset="0"/>
                <a:ea typeface="Mulish" pitchFamily="34" charset="-122"/>
                <a:cs typeface="Mulish" pitchFamily="34" charset="-120"/>
              </a:rPr>
              <a:t>The IOI Syllabus (2025 edition, the latest published) focuses on graphs, dynamic programming and data structures. It rules out string-matching algorithms, hash tables, FFT and most advanced mathematics.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ADDENDUM · IOI SYLLABUS 2025 · 2 OF 3</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MATHS, PROGRAMMING AND STRATEGIES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3200400"/>
        </p:xfrm>
        <a:graphic>
          <a:graphicData uri="http://schemas.openxmlformats.org/drawingml/2006/table">
            <a:tbl>
              <a:tblPr/>
              <a:tblGrid>
                <a:gridCol w="1584960">
                  <a:extLst>
                    <a:ext uri="{9D8B030D-6E8A-4147-A177-3AD203B41FA5}">
                      <a16:colId xmlns:a16="http://schemas.microsoft.com/office/drawing/2014/main" val="20000"/>
                    </a:ext>
                  </a:extLst>
                </a:gridCol>
                <a:gridCol w="4226560">
                  <a:extLst>
                    <a:ext uri="{9D8B030D-6E8A-4147-A177-3AD203B41FA5}">
                      <a16:colId xmlns:a16="http://schemas.microsoft.com/office/drawing/2014/main" val="20001"/>
                    </a:ext>
                  </a:extLst>
                </a:gridCol>
                <a:gridCol w="1796288">
                  <a:extLst>
                    <a:ext uri="{9D8B030D-6E8A-4147-A177-3AD203B41FA5}">
                      <a16:colId xmlns:a16="http://schemas.microsoft.com/office/drawing/2014/main" val="20002"/>
                    </a:ext>
                  </a:extLst>
                </a:gridCol>
                <a:gridCol w="2958592">
                  <a:extLst>
                    <a:ext uri="{9D8B030D-6E8A-4147-A177-3AD203B41FA5}">
                      <a16:colId xmlns:a16="http://schemas.microsoft.com/office/drawing/2014/main" val="20003"/>
                    </a:ext>
                  </a:extLst>
                </a:gridCol>
              </a:tblGrid>
              <a:tr h="0">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Area</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Included (✓, ✓q, ✓p)</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Outside of focus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Excluded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Arithmetic and geometry</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Integers, parity, divisibility; modular addition, subtraction, multiplication; fractions; points, vectors, polygons in the plane; primes; Euclidean distance; Pythagoras</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3D geometry; floating-point precision work; modular division and inverses; complex numbers; conics; trigonometry</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Discrete maths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Functions, relations, sets; basic logic; proofs including induction; counting (permutations, combinations, binomial coefficients, inclusion-exclusion, pigeonhole); graph and tree vocabulary; centroids; planar graphs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Discrete probability (finite cases)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Solving recurrences; Burnside lemma; hypergraphs; treewidth; linear algebra and FFT; calculus; statistics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Programming</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Language basics, arrays, strings, recursion, divide and conquer, backtracking, linked structures, pointers, simple floating point; interactive tasks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Memory representation; heap allocation; exact fractions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Non-trivial floating-point calculations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Analysis and strategies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Big O; amortized analysis; brute force; greedy; divide and conquer; branch and bound; dynamic programming</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Heuristics; randomized and approximation algorithms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Average-case analysis; recurrence-based analysis; clustering; numerical optimization</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812800" y="609600"/>
            <a:ext cx="10566400" cy="279400"/>
          </a:xfrm>
          <a:prstGeom prst="rect">
            <a:avLst/>
          </a:prstGeom>
          <a:noFill/>
          <a:ln/>
        </p:spPr>
        <p:txBody>
          <a:bodyPr wrap="square" lIns="0" tIns="0" rIns="0" bIns="0" rtlCol="0" anchor="t"/>
          <a:lstStyle/>
          <a:p>
            <a:pPr marL="0" indent="0">
              <a:buNone/>
            </a:pPr>
            <a:r>
              <a:rPr lang="en-US" sz="1200" b="1" kern="0" spc="200" dirty="0">
                <a:solidFill>
                  <a:srgbClr val="287673"/>
                </a:solidFill>
                <a:latin typeface="Mulish" pitchFamily="34" charset="0"/>
                <a:ea typeface="Mulish" pitchFamily="34" charset="-122"/>
                <a:cs typeface="Mulish" pitchFamily="34" charset="-120"/>
              </a:rPr>
              <a:t>ADDENDUM · IOI SYLLABUS 2025 · 3 OF 3</a:t>
            </a:r>
            <a:endParaRPr lang="en-US" sz="1200" dirty="0"/>
          </a:p>
        </p:txBody>
      </p:sp>
      <p:sp>
        <p:nvSpPr>
          <p:cNvPr id="3" name="Text 1"/>
          <p:cNvSpPr>
            <a:spLocks noGrp="1"/>
          </p:cNvSpPr>
          <p:nvPr>
            <p:ph type="title" idx="102" hasCustomPrompt="1"/>
          </p:nvPr>
        </p:nvSpPr>
        <p:spPr>
          <a:xfrm>
            <a:off x="812800" y="952500"/>
            <a:ext cx="10566400" cy="482600"/>
          </a:xfrm>
          <a:prstGeom prst="rect">
            <a:avLst/>
          </a:prstGeom>
          <a:noFill/>
          <a:ln/>
        </p:spPr>
        <p:txBody>
          <a:bodyPr wrap="square" lIns="0" tIns="0" rIns="0" bIns="0" rtlCol="0" anchor="t"/>
          <a:lstStyle/>
          <a:p>
            <a:pPr marL="0" indent="0" algn="l">
              <a:buNone/>
            </a:pPr>
            <a:r>
              <a:rPr lang="en-US" sz="2600" b="1" kern="0" spc="200" dirty="0">
                <a:solidFill>
                  <a:srgbClr val="1F2328"/>
                </a:solidFill>
                <a:latin typeface="Jost" pitchFamily="34" charset="0"/>
                <a:ea typeface="Jost" pitchFamily="34" charset="-122"/>
                <a:cs typeface="Jost" pitchFamily="34" charset="-120"/>
              </a:rPr>
              <a:t>ALGORITHMS AND DATA STRUCTURES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12800" y="1638300"/>
          <a:ext cx="10566400" cy="3749040"/>
        </p:xfrm>
        <a:graphic>
          <a:graphicData uri="http://schemas.openxmlformats.org/drawingml/2006/table">
            <a:tbl>
              <a:tblPr/>
              <a:tblGrid>
                <a:gridCol w="1584960">
                  <a:extLst>
                    <a:ext uri="{9D8B030D-6E8A-4147-A177-3AD203B41FA5}">
                      <a16:colId xmlns:a16="http://schemas.microsoft.com/office/drawing/2014/main" val="20000"/>
                    </a:ext>
                  </a:extLst>
                </a:gridCol>
                <a:gridCol w="4226560">
                  <a:extLst>
                    <a:ext uri="{9D8B030D-6E8A-4147-A177-3AD203B41FA5}">
                      <a16:colId xmlns:a16="http://schemas.microsoft.com/office/drawing/2014/main" val="20001"/>
                    </a:ext>
                  </a:extLst>
                </a:gridCol>
                <a:gridCol w="1796288">
                  <a:extLst>
                    <a:ext uri="{9D8B030D-6E8A-4147-A177-3AD203B41FA5}">
                      <a16:colId xmlns:a16="http://schemas.microsoft.com/office/drawing/2014/main" val="20002"/>
                    </a:ext>
                  </a:extLst>
                </a:gridCol>
                <a:gridCol w="2958592">
                  <a:extLst>
                    <a:ext uri="{9D8B030D-6E8A-4147-A177-3AD203B41FA5}">
                      <a16:colId xmlns:a16="http://schemas.microsoft.com/office/drawing/2014/main" val="20003"/>
                    </a:ext>
                  </a:extLst>
                </a:gridCol>
              </a:tblGrid>
              <a:tr h="0">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Area</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Included (✓, ✓q, ✓p)</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Outside of focus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tc>
                  <a:txBody>
                    <a:bodyPr/>
                    <a:lstStyle/>
                    <a:p>
                      <a:pPr marL="0" indent="0">
                        <a:buNone/>
                      </a:pPr>
                      <a:r>
                        <a:rPr lang="en-US" sz="1200" b="1" dirty="0">
                          <a:solidFill>
                            <a:srgbClr val="1F2328"/>
                          </a:solidFill>
                          <a:latin typeface="Mulish" pitchFamily="34" charset="0"/>
                          <a:ea typeface="Mulish" pitchFamily="34" charset="-122"/>
                          <a:cs typeface="Mulish" pitchFamily="34" charset="-120"/>
                        </a:rPr>
                        <a:t>Excluded (✗)</a:t>
                      </a:r>
                      <a:endParaRPr lang="en-US" sz="1200" dirty="0">
                        <a:latin typeface="Mulish" charset="0"/>
                        <a:ea typeface="Mulish" charset="0"/>
                        <a:cs typeface="Mulish" charset="0"/>
                      </a:endParaRPr>
                    </a:p>
                  </a:txBody>
                  <a:tcPr marT="64008" marB="64008">
                    <a:lnL w="0" cap="flat" cmpd="sng" algn="ctr">
                      <a:noFill/>
                    </a:lnL>
                    <a:lnR w="0" cap="flat" cmpd="sng" algn="ctr">
                      <a:noFill/>
                    </a:lnR>
                    <a:lnT w="0" cap="flat" cmpd="sng" algn="ctr">
                      <a:noFill/>
                    </a:lnT>
                    <a:lnB w="19050" cap="flat" cmpd="sng" algn="ctr">
                      <a:solidFill>
                        <a:srgbClr val="1F2328"/>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Algorithms</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Binary search; quickselect; O(n log n) sorting; simple string algorithms; big integers; DFS and BFS; connected components; transitive closure; shortest paths; minimum spanning trees; bipartite matching; maximum flow; biconnectivity; strongly connected components; basic game analysis</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Faster matching and flow implementations; general-graph matching; min-cost flow; matroids; alpha-beta pruning; Nim and Sprague-Grundy theory</a:t>
                      </a:r>
                      <a:endParaRPr lang="en-US" sz="1200" dirty="0">
                        <a:latin typeface="Mulish" charset="0"/>
                        <a:ea typeface="Mulish" charset="0"/>
                        <a:cs typeface="Mulish" charset="0"/>
                      </a:endParaRPr>
                    </a:p>
                  </a:txBody>
                  <a:tcPr marT="64008" marB="64008">
                    <a:lnL w="0" cap="flat" cmpd="sng" algn="ctr">
                      <a:noFill/>
                    </a:lnL>
                    <a:lnR w="0" cap="flat" cmpd="sng" algn="ctr">
                      <a:noFill/>
                    </a:lnR>
                    <a:lnT w="19050" cap="flat" cmpd="sng" algn="ctr">
                      <a:solidFill>
                        <a:srgbClr val="1F2328"/>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Data structures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Stacks, queues; binary heaps; union-find; balanced, statically balanced and augmented binary search trees (covers segment trees and Fenwick trees); LCA in O(log n); tree decomposition; persistent structures; tries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KMP, Rabin-Karp, suffix arrays and trees, Aho-Corasick; hash tables; complex heap variants; 2D tree structures; structures for changing trees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Geometry</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Points, vectors, lines; collinearity and clockwise turns; line intersection; polygon area; point in polygon; coordinate compression; convex hull; sweep line</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Point-line duality; Voronoi and Delaunay; circle intersections; 3D linear programming</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1200" dirty="0">
                          <a:solidFill>
                            <a:srgbClr val="1F2328"/>
                          </a:solidFill>
                          <a:latin typeface="Mulish" pitchFamily="34" charset="0"/>
                          <a:ea typeface="Mulish" pitchFamily="34" charset="-122"/>
                          <a:cs typeface="Mulish" pitchFamily="34" charset="-120"/>
                        </a:rPr>
                        <a:t>Other</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Software engineering basics: APIs, testing, debugging, using an IDE</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Distributed, parallel and cryptographic algorithms; automata and regular expressions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tc>
                  <a:txBody>
                    <a:bodyPr/>
                    <a:lstStyle/>
                    <a:p>
                      <a:pPr marL="0" indent="0">
                        <a:buNone/>
                      </a:pPr>
                      <a:r>
                        <a:rPr lang="en-US" sz="1200" dirty="0">
                          <a:solidFill>
                            <a:srgbClr val="1F2328"/>
                          </a:solidFill>
                          <a:latin typeface="Mulish" pitchFamily="34" charset="0"/>
                          <a:ea typeface="Mulish" pitchFamily="34" charset="-122"/>
                          <a:cs typeface="Mulish" pitchFamily="34" charset="-120"/>
                        </a:rPr>
                        <a:t>Computability; NP-hardness proofs</a:t>
                      </a:r>
                      <a:endParaRPr lang="en-US" sz="1200" dirty="0">
                        <a:latin typeface="Mulish" charset="0"/>
                        <a:ea typeface="Mulish" charset="0"/>
                        <a:cs typeface="Mulish" charset="0"/>
                      </a:endParaRPr>
                    </a:p>
                  </a:txBody>
                  <a:tcPr marT="64008" marB="64008">
                    <a:lnL w="0" cap="flat" cmpd="sng" algn="ctr">
                      <a:noFill/>
                    </a:lnL>
                    <a:lnR w="0" cap="flat" cmpd="sng" algn="ctr">
                      <a:noFill/>
                    </a:lnR>
                    <a:lnT w="9525" cap="flat" cmpd="sng" algn="ctr">
                      <a:solidFill>
                        <a:srgbClr val="DADDE0"/>
                      </a:solidFill>
                      <a:prstDash val="solid"/>
                      <a:round/>
                      <a:headEnd type="none" w="med" len="med"/>
                      <a:tailEnd type="none" w="med" len="med"/>
                    </a:lnT>
                    <a:lnB w="9525" cap="flat" cmpd="sng" algn="ctr">
                      <a:solidFill>
                        <a:srgbClr val="DADD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theme/theme1.xml><?xml version="1.0" encoding="utf-8"?>
<a:theme xmlns:a="http://schemas.openxmlformats.org/drawingml/2006/main" name="AIO Lessons">
  <a:themeElements>
    <a:clrScheme name="AIO Lessons">
      <a:dk1>
        <a:srgbClr val="1F2328"/>
      </a:dk1>
      <a:lt1>
        <a:srgbClr val="FFFFFF"/>
      </a:lt1>
      <a:dk2>
        <a:srgbClr val="0A4054"/>
      </a:dk2>
      <a:lt2>
        <a:srgbClr val="E6F3F2"/>
      </a:lt2>
      <a:accent1>
        <a:srgbClr val="3E9A97"/>
      </a:accent1>
      <a:accent2>
        <a:srgbClr val="E0960F"/>
      </a:accent2>
      <a:accent3>
        <a:srgbClr val="E46F69"/>
      </a:accent3>
      <a:accent4>
        <a:srgbClr val="0A4054"/>
      </a:accent4>
      <a:accent5>
        <a:srgbClr val="F9AA19"/>
      </a:accent5>
      <a:accent6>
        <a:srgbClr val="287673"/>
      </a:accent6>
      <a:hlink>
        <a:srgbClr val="287673"/>
      </a:hlink>
      <a:folHlink>
        <a:srgbClr val="4D5560"/>
      </a:folHlink>
    </a:clrScheme>
    <a:fontScheme name="AIO Lessons">
      <a:majorFont>
        <a:latin typeface="Jos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ulish"/>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2949</Words>
  <Application>Microsoft Office PowerPoint</Application>
  <PresentationFormat>Widescreen</PresentationFormat>
  <Paragraphs>337</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AIO Lessons</vt:lpstr>
      <vt:lpstr>PowerPoint Presentation</vt:lpstr>
      <vt:lpstr>FOUR STAGES TO THE IOI TEAM</vt:lpstr>
      <vt:lpstr>THE YEAR AT A GLANCE</vt:lpstr>
      <vt:lpstr>PowerPoint Presentation</vt:lpstr>
      <vt:lpstr>AIO</vt:lpstr>
      <vt:lpstr>FORMAT AND SKILLS</vt:lpstr>
      <vt:lpstr>SCHOOL OF EXCELLENCE</vt:lpstr>
      <vt:lpstr>FORMAT AND WHAT YOU WILL LEARN</vt:lpstr>
      <vt:lpstr>AIIO AND FARIO</vt:lpstr>
      <vt:lpstr>AIIO AND FARIO SIDE BY SIDE</vt:lpstr>
      <vt:lpstr>TOPICS IN RECENT PAPERS</vt:lpstr>
      <vt:lpstr>WHAT THE AIIO REWARDS</vt:lpstr>
      <vt:lpstr>SELECTION SCHOOL</vt:lpstr>
      <vt:lpstr>FORMAT AND SKILLS</vt:lpstr>
      <vt:lpstr>IOI</vt:lpstr>
      <vt:lpstr>THE CONTEST AND THE SYLLABUS</vt:lpstr>
      <vt:lpstr>YOUR TOOLKIT AND WHAT COMES NEXT</vt:lpstr>
      <vt:lpstr>THREE THINGS TO REMEMBER</vt:lpstr>
      <vt:lpstr>HOW THE SYLLABUS LABELS TOPICS</vt:lpstr>
      <vt:lpstr>MATHS, PROGRAMMING AND STRATEGIES</vt:lpstr>
      <vt:lpstr>ALGORITHMS AND DATA STRUCTURES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Selection Journey: AIO to IOI</dc:title>
  <dc:subject>PptxGenJS Presentation</dc:subject>
  <dc:creator>PptxGenJS</dc:creator>
  <cp:lastModifiedBy>Bryan Sun</cp:lastModifiedBy>
  <cp:revision>2</cp:revision>
  <dcterms:created xsi:type="dcterms:W3CDTF">2026-10-02T09:51:43Z</dcterms:created>
  <dcterms:modified xsi:type="dcterms:W3CDTF">2026-10-02T22:59:52Z</dcterms:modified>
</cp:coreProperties>
</file>