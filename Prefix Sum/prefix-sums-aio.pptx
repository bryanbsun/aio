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1-hour session, includes two short in-class exercises. Goal: master prefix sums and the related scan-based tricks so you can score on AIO interval problems. We'll start from a real AIO problem (Mansion).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expectations. Two exercise blocks. Keep pace tight so the exercises survive.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Precomputation is the umbrella concept (matches ORAC). Prefix sums are the first concrete instance. Stress the query-count intuition.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Paraphrased problem. Give students 60 seconds to think how they'd solve it before showing brute force.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inner loop is the culprit. This sets up prefix sums as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lesson. Point out overlap cancellation. Colours mirror ORAC's red/green/blue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verify s by hand. Push 1-indexing hard: it removes the l=1 edge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formula + template. This is the slide students should memorise.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payoff. Mention the two-pointers alternative briefly; don't teach it in full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work 6-7 min. Circulate. Most will see the prefix count immediately; the point is to reinforce s[r]-s[l-1] on a non-obvious quantity.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Generalise: prefix sums total any additive quantity. This unlocks lots of AIO problems (counts of events, etc.).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Difference array = inverse of prefix sum. Prefix sum totals; difference records changes. Pair them mentally.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Grids are common in AIO. The recurrence and query are both inclusion-exclusion. Full code is in the handout.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scan skeleton, different combine operation. These pair with prefix sums in 'best to the left / right'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conceptual point. Explains when prefix technique suffices vs when you need advanced structures they'll learn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Combines prefix sum with the total. Students should get O(n). Watch the boundary: a[i] itself is excluded from both sides.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the split pattern; it recurs in many problems (balance points, partitions).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Quick-fire. long long is the #1 real cause of lost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slide. Encourage a screenshot / handout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Homework. The single best way to improve is solving past AIO problems — say this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Wrap-up. Tie prefix-sum thinking forward to DP. Thank them and point to the handout + ORAC.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1510589" cy="329184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15105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1-HOUR SESSION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Prefix Sums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powerful building block for the Australian Informatics Olympiad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 a[i]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279392"/>
            <a:ext cx="658368" cy="566928"/>
          </a:xfrm>
          <a:prstGeom prst="roundRect">
            <a:avLst>
              <a:gd name="adj" fmla="val 8065"/>
            </a:avLst>
          </a:prstGeom>
          <a:solidFill>
            <a:srgbClr val="16414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27939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61872" y="4279392"/>
            <a:ext cx="658368" cy="566928"/>
          </a:xfrm>
          <a:prstGeom prst="roundRect">
            <a:avLst>
              <a:gd name="adj" fmla="val 8065"/>
            </a:avLst>
          </a:prstGeom>
          <a:solidFill>
            <a:srgbClr val="16414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427939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75104" y="4279392"/>
            <a:ext cx="658368" cy="566928"/>
          </a:xfrm>
          <a:prstGeom prst="roundRect">
            <a:avLst>
              <a:gd name="adj" fmla="val 8065"/>
            </a:avLst>
          </a:prstGeom>
          <a:solidFill>
            <a:srgbClr val="16414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5104" y="427939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88336" y="4279392"/>
            <a:ext cx="658368" cy="566928"/>
          </a:xfrm>
          <a:prstGeom prst="roundRect">
            <a:avLst>
              <a:gd name="adj" fmla="val 8065"/>
            </a:avLst>
          </a:prstGeom>
          <a:solidFill>
            <a:srgbClr val="16414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88336" y="427939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01568" y="4279392"/>
            <a:ext cx="658368" cy="566928"/>
          </a:xfrm>
          <a:prstGeom prst="roundRect">
            <a:avLst>
              <a:gd name="adj" fmla="val 8065"/>
            </a:avLst>
          </a:prstGeom>
          <a:solidFill>
            <a:srgbClr val="16414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427939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074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 s[i]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376672"/>
            <a:ext cx="658368" cy="566928"/>
          </a:xfrm>
          <a:prstGeom prst="roundRect">
            <a:avLst>
              <a:gd name="adj" fmla="val 8065"/>
            </a:avLst>
          </a:prstGeom>
          <a:solidFill>
            <a:srgbClr val="0E7C8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37667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61872" y="5376672"/>
            <a:ext cx="658368" cy="566928"/>
          </a:xfrm>
          <a:prstGeom prst="roundRect">
            <a:avLst>
              <a:gd name="adj" fmla="val 8065"/>
            </a:avLst>
          </a:prstGeom>
          <a:solidFill>
            <a:srgbClr val="0E7C8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537667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975104" y="5376672"/>
            <a:ext cx="658368" cy="566928"/>
          </a:xfrm>
          <a:prstGeom prst="roundRect">
            <a:avLst>
              <a:gd name="adj" fmla="val 8065"/>
            </a:avLst>
          </a:prstGeom>
          <a:solidFill>
            <a:srgbClr val="0E7C8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75104" y="537667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688336" y="5376672"/>
            <a:ext cx="658368" cy="566928"/>
          </a:xfrm>
          <a:prstGeom prst="roundRect">
            <a:avLst>
              <a:gd name="adj" fmla="val 8065"/>
            </a:avLst>
          </a:prstGeom>
          <a:solidFill>
            <a:srgbClr val="0E7C8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88336" y="537667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01568" y="5376672"/>
            <a:ext cx="658368" cy="566928"/>
          </a:xfrm>
          <a:prstGeom prst="roundRect">
            <a:avLst>
              <a:gd name="adj" fmla="val 8065"/>
            </a:avLst>
          </a:prstGeom>
          <a:solidFill>
            <a:srgbClr val="0E7C8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537667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0" y="44348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s[i] = s[i-1] + a[i]</a:t>
            </a:r>
            <a:endParaRPr lang="en-US" sz="16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sum(l, r) = s[r] − s[l-1]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83310" cy="329184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833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spend the hour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46504"/>
            <a:ext cx="11091672" cy="603504"/>
          </a:xfrm>
          <a:prstGeom prst="roundRect">
            <a:avLst>
              <a:gd name="adj" fmla="val 15152"/>
            </a:avLst>
          </a:prstGeom>
          <a:solidFill>
            <a:srgbClr val="F1F6F7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828800"/>
            <a:ext cx="841248" cy="420624"/>
          </a:xfrm>
          <a:prstGeom prst="roundRect">
            <a:avLst>
              <a:gd name="adj" fmla="val 17391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28800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176479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precomputation &amp; Mansion (AIO 2007)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691640" y="206654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brute force is too slow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2487168"/>
            <a:ext cx="841248" cy="420624"/>
          </a:xfrm>
          <a:prstGeom prst="roundRect">
            <a:avLst>
              <a:gd name="adj" fmla="val 17391"/>
            </a:avLst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48716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24231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sums: the core idea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91640" y="27249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O(n), query any interval in O(1)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11091672" cy="603504"/>
          </a:xfrm>
          <a:prstGeom prst="roundRect">
            <a:avLst>
              <a:gd name="adj" fmla="val 15152"/>
            </a:avLst>
          </a:prstGeom>
          <a:solidFill>
            <a:srgbClr val="F1F6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3145536"/>
            <a:ext cx="841248" cy="420624"/>
          </a:xfrm>
          <a:prstGeom prst="roundRect">
            <a:avLst>
              <a:gd name="adj" fmla="val 17391"/>
            </a:avLst>
          </a:prstGeom>
          <a:solidFill>
            <a:srgbClr val="E89B4C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14553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308152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9C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— Count the ones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91640" y="338328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practice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" y="3803904"/>
            <a:ext cx="841248" cy="420624"/>
          </a:xfrm>
          <a:prstGeom prst="roundRect">
            <a:avLst>
              <a:gd name="adj" fmla="val 17391"/>
            </a:avLst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80390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91640" y="373989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arrays &amp; 2D prefix sums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691640" y="404164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inverse, and grids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379976"/>
            <a:ext cx="11091672" cy="603504"/>
          </a:xfrm>
          <a:prstGeom prst="roundRect">
            <a:avLst>
              <a:gd name="adj" fmla="val 15152"/>
            </a:avLst>
          </a:prstGeom>
          <a:solidFill>
            <a:srgbClr val="F1F6F7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462272"/>
            <a:ext cx="841248" cy="420624"/>
          </a:xfrm>
          <a:prstGeom prst="roundRect">
            <a:avLst>
              <a:gd name="adj" fmla="val 17391"/>
            </a:avLst>
          </a:prstGeom>
          <a:solidFill>
            <a:srgbClr val="0E7C86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46227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91640" y="439826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sums &amp; prefix/suffix extrema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691640" y="470001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wider family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8368" y="5120640"/>
            <a:ext cx="841248" cy="420624"/>
          </a:xfrm>
          <a:prstGeom prst="roundRect">
            <a:avLst>
              <a:gd name="adj" fmla="val 17391"/>
            </a:avLst>
          </a:prstGeom>
          <a:solidFill>
            <a:srgbClr val="E89B4C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5120640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91640" y="505663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9C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— Equilibrium index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1691640" y="535838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practice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696712"/>
            <a:ext cx="11091672" cy="603504"/>
          </a:xfrm>
          <a:prstGeom prst="roundRect">
            <a:avLst>
              <a:gd name="adj" fmla="val 15152"/>
            </a:avLst>
          </a:prstGeom>
          <a:solidFill>
            <a:srgbClr val="F1F6F7"/>
          </a:solidFill>
          <a:ln/>
        </p:spPr>
      </p:sp>
      <p:sp>
        <p:nvSpPr>
          <p:cNvPr id="33" name="Shape 31"/>
          <p:cNvSpPr/>
          <p:nvPr/>
        </p:nvSpPr>
        <p:spPr>
          <a:xfrm>
            <a:off x="658368" y="5779008"/>
            <a:ext cx="841248" cy="420624"/>
          </a:xfrm>
          <a:prstGeom prst="roundRect">
            <a:avLst>
              <a:gd name="adj" fmla="val 17391"/>
            </a:avLst>
          </a:prstGeom>
          <a:solidFill>
            <a:srgbClr val="0E7C86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577900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691640" y="57150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Pitfalls, cheat sheet &amp; wrap-up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1691640" y="601675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720072" y="1783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min</a:t>
            </a:r>
            <a:endParaRPr lang="en-US" sz="4000" dirty="0"/>
          </a:p>
        </p:txBody>
      </p:sp>
      <p:sp>
        <p:nvSpPr>
          <p:cNvPr id="38" name="Text 36"/>
          <p:cNvSpPr/>
          <p:nvPr/>
        </p:nvSpPr>
        <p:spPr>
          <a:xfrm>
            <a:off x="8897112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C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 of it is hands-on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Sums  ·  AIO Prep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31366" cy="329184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313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Precomputation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part of an algorithm that would normally be slow, and make it fast by doing some </a:t>
            </a:r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work.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852160" cy="2651760"/>
          </a:xfrm>
          <a:prstGeom prst="roundRect">
            <a:avLst>
              <a:gd name="adj" fmla="val 3448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461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problems ask the same question again and again: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0B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is the sum of the interval a[l .. r]?”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9C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each time 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slow, O(n) per query
</a:t>
            </a:r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 once 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O(1) per query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20840" y="1783080"/>
            <a:ext cx="4892040" cy="3886200"/>
          </a:xfrm>
          <a:prstGeom prst="roundRect">
            <a:avLst>
              <a:gd name="adj" fmla="val 2353"/>
            </a:avLst>
          </a:prstGeom>
          <a:solidFill>
            <a:srgbClr val="0E2E3A"/>
          </a:solidFill>
          <a:ln/>
        </p:spPr>
      </p:sp>
      <p:sp>
        <p:nvSpPr>
          <p:cNvPr id="11" name="Text 9"/>
          <p:cNvSpPr/>
          <p:nvPr/>
        </p:nvSpPr>
        <p:spPr>
          <a:xfrm>
            <a:off x="699516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 little setup for fast answers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95160" y="23957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queries on the same array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9516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9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O(n·q)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99516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naive: sum every query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 + q)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32688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95160" y="43434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n, q ≈ 10⁵ that is the difference between 10¹⁰ ops (TLE) and ~10⁵.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Sums  ·  AIO Prep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69034" cy="329184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690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MOTIVATING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Mansion  (AIO 2007)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given an array of </a:t>
            </a:r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integers. Find a contiguous section (a </a:t>
            </a:r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subarray / interval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of exactly </a:t>
            </a:r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elements whose sum is the largest possible. Output that sum.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window of K = 3 consecutive cells is a candidate: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749808" cy="640080"/>
          </a:xfrm>
          <a:prstGeom prst="roundRect">
            <a:avLst>
              <a:gd name="adj" fmla="val 7143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840480"/>
            <a:ext cx="74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53312" y="3840480"/>
            <a:ext cx="749808" cy="640080"/>
          </a:xfrm>
          <a:prstGeom prst="roundRect">
            <a:avLst>
              <a:gd name="adj" fmla="val 7143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3840480"/>
            <a:ext cx="74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57984" y="3840480"/>
            <a:ext cx="749808" cy="640080"/>
          </a:xfrm>
          <a:prstGeom prst="roundRect">
            <a:avLst>
              <a:gd name="adj" fmla="val 7143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57984" y="3840480"/>
            <a:ext cx="74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62656" y="3840480"/>
            <a:ext cx="749808" cy="640080"/>
          </a:xfrm>
          <a:prstGeom prst="roundRect">
            <a:avLst>
              <a:gd name="adj" fmla="val 7143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62656" y="3840480"/>
            <a:ext cx="74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67328" y="3840480"/>
            <a:ext cx="749808" cy="640080"/>
          </a:xfrm>
          <a:prstGeom prst="roundRect">
            <a:avLst>
              <a:gd name="adj" fmla="val 7143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3840480"/>
            <a:ext cx="74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3840480"/>
            <a:ext cx="749808" cy="640080"/>
          </a:xfrm>
          <a:prstGeom prst="roundRect">
            <a:avLst>
              <a:gd name="adj" fmla="val 7143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840480"/>
            <a:ext cx="74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76672" y="3840480"/>
            <a:ext cx="749808" cy="640080"/>
          </a:xfrm>
          <a:prstGeom prst="roundRect">
            <a:avLst>
              <a:gd name="adj" fmla="val 7143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6672" y="3840480"/>
            <a:ext cx="74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907792" y="3767328"/>
            <a:ext cx="2468880" cy="786384"/>
          </a:xfrm>
          <a:prstGeom prst="roundRect">
            <a:avLst>
              <a:gd name="adj" fmla="val 6977"/>
            </a:avLst>
          </a:prstGeom>
          <a:ln w="38100">
            <a:solidFill>
              <a:srgbClr val="E89B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79776" y="4590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= 15  (best)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35240" y="1783080"/>
            <a:ext cx="3977640" cy="2880360"/>
          </a:xfrm>
          <a:prstGeom prst="roundRect">
            <a:avLst>
              <a:gd name="adj" fmla="val 3175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facts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863840" y="2395728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exactly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− K + 1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windows.
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9C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off-by-one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that count!
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orac.amt.edu.au → Mansion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Sums  ·  AIO Prep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20978" cy="329184"/>
          </a:xfrm>
          <a:prstGeom prst="roundRect">
            <a:avLst>
              <a:gd name="adj" fmla="val 50000"/>
            </a:avLst>
          </a:prstGeom>
          <a:solidFill>
            <a:srgbClr val="E89B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4209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ATTEMPT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Brute force: sum every window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309360" cy="3383280"/>
          </a:xfrm>
          <a:prstGeom prst="roundRect">
            <a:avLst>
              <a:gd name="adj" fmla="val 2432"/>
            </a:avLst>
          </a:prstGeom>
          <a:solidFill>
            <a:srgbClr val="0E2E3A"/>
          </a:solidFill>
          <a:ln/>
          <a:effectLst>
            <a:outerShdw sx="100000" sy="100000" kx="0" ky="0" algn="bl" rotWithShape="0" blurRad="114300" dist="38100" dir="5400000">
              <a:srgbClr val="0A2028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929384"/>
            <a:ext cx="5907024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long best = -1;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st = 1; st + k-1 &lt;= n; st++) {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long long cur = 0;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k; i++)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 += a[st+i];          // inner O(k)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(cur &gt; best) best = cur;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79A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total time:  O(n * k)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086600" y="1783080"/>
            <a:ext cx="4526280" cy="3383280"/>
          </a:xfrm>
          <a:prstGeom prst="roundRect">
            <a:avLst>
              <a:gd name="adj" fmla="val 2703"/>
            </a:avLst>
          </a:prstGeom>
          <a:solidFill>
            <a:srgbClr val="0E2E3A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too slow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60920" y="25146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89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 · k)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360920" y="34747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loop re-adds the whole window every time — that's the waste.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60920" y="434340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E89B4C"/>
          </a:solidFill>
          <a:ln/>
        </p:spPr>
      </p:sp>
      <p:sp>
        <p:nvSpPr>
          <p:cNvPr id="12" name="Text 10"/>
          <p:cNvSpPr/>
          <p:nvPr/>
        </p:nvSpPr>
        <p:spPr>
          <a:xfrm>
            <a:off x="7360920" y="43434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50 / 100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5440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0B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avoid recomputing the sum from scratch?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Sums  ·  AIO Prep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241755" cy="32918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2417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E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interval sum = difference of two prefixes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514600"/>
            <a:ext cx="822960" cy="603504"/>
          </a:xfrm>
          <a:prstGeom prst="roundRect">
            <a:avLst>
              <a:gd name="adj" fmla="val 7576"/>
            </a:avLst>
          </a:prstGeom>
          <a:solidFill>
            <a:srgbClr val="16414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92224" y="2514600"/>
            <a:ext cx="822960" cy="603504"/>
          </a:xfrm>
          <a:prstGeom prst="roundRect">
            <a:avLst>
              <a:gd name="adj" fmla="val 7576"/>
            </a:avLst>
          </a:prstGeom>
          <a:solidFill>
            <a:srgbClr val="16414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92224" y="251460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70048" y="2514600"/>
            <a:ext cx="822960" cy="603504"/>
          </a:xfrm>
          <a:prstGeom prst="roundRect">
            <a:avLst>
              <a:gd name="adj" fmla="val 7576"/>
            </a:avLst>
          </a:prstGeom>
          <a:solidFill>
            <a:srgbClr val="16414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0048" y="251460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47872" y="2514600"/>
            <a:ext cx="822960" cy="603504"/>
          </a:xfrm>
          <a:prstGeom prst="roundRect">
            <a:avLst>
              <a:gd name="adj" fmla="val 7576"/>
            </a:avLst>
          </a:prstGeom>
          <a:solidFill>
            <a:srgbClr val="16414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251460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25696" y="2514600"/>
            <a:ext cx="822960" cy="603504"/>
          </a:xfrm>
          <a:prstGeom prst="roundRect">
            <a:avLst>
              <a:gd name="adj" fmla="val 7576"/>
            </a:avLst>
          </a:prstGeom>
          <a:solidFill>
            <a:srgbClr val="16414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25696" y="251460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0" y="2514600"/>
            <a:ext cx="822960" cy="603504"/>
          </a:xfrm>
          <a:prstGeom prst="roundRect">
            <a:avLst>
              <a:gd name="adj" fmla="val 7576"/>
            </a:avLst>
          </a:prstGeom>
          <a:solidFill>
            <a:srgbClr val="16414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251460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81344" y="2514600"/>
            <a:ext cx="822960" cy="603504"/>
          </a:xfrm>
          <a:prstGeom prst="roundRect">
            <a:avLst>
              <a:gd name="adj" fmla="val 7576"/>
            </a:avLst>
          </a:prstGeom>
          <a:solidFill>
            <a:srgbClr val="16414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251460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22037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92224" y="22037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70048" y="22037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47872" y="22037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25696" y="22037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22037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81344" y="22037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" y="3291840"/>
            <a:ext cx="5212080" cy="310896"/>
          </a:xfrm>
          <a:prstGeom prst="roundRect">
            <a:avLst>
              <a:gd name="adj" fmla="val 23529"/>
            </a:avLst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29184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s[r]  = prefix up to r=6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3675888"/>
            <a:ext cx="1700784" cy="310896"/>
          </a:xfrm>
          <a:prstGeom prst="roundRect">
            <a:avLst>
              <a:gd name="adj" fmla="val 23529"/>
            </a:avLst>
          </a:prstGeom>
          <a:solidFill>
            <a:srgbClr val="E89B4C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367588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s[l-1] = prefix up to 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70048" y="4224528"/>
            <a:ext cx="3456432" cy="310896"/>
          </a:xfrm>
          <a:prstGeom prst="roundRect">
            <a:avLst>
              <a:gd name="adj" fmla="val 23529"/>
            </a:avLst>
          </a:prstGeom>
          <a:solidFill>
            <a:srgbClr val="2EC4B6"/>
          </a:solidFill>
          <a:ln/>
        </p:spPr>
      </p:sp>
      <p:sp>
        <p:nvSpPr>
          <p:cNvPr id="31" name="Text 29"/>
          <p:cNvSpPr/>
          <p:nvPr/>
        </p:nvSpPr>
        <p:spPr>
          <a:xfrm>
            <a:off x="2670048" y="4224528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sum(l=3, r=6) = s[r] − s[l-1]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50749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s[r] and s[l-1] are prefixes — they start at index 1 — so both are pre-stored. Subtract, and the overlap cancels, leaving exactly a[l..r].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52144" cy="329184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prefix sum table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B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s[0] = 0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B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s[i] = s[i-1] + a[i]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cumulative sums / partial sums.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a[i]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17320" y="3886200"/>
            <a:ext cx="713232" cy="548640"/>
          </a:xfrm>
          <a:prstGeom prst="roundRect">
            <a:avLst>
              <a:gd name="adj" fmla="val 8333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886200"/>
            <a:ext cx="713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85416" y="3886200"/>
            <a:ext cx="713232" cy="548640"/>
          </a:xfrm>
          <a:prstGeom prst="roundRect">
            <a:avLst>
              <a:gd name="adj" fmla="val 8333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85416" y="3886200"/>
            <a:ext cx="713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53512" y="3886200"/>
            <a:ext cx="713232" cy="548640"/>
          </a:xfrm>
          <a:prstGeom prst="roundRect">
            <a:avLst>
              <a:gd name="adj" fmla="val 8333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53512" y="3886200"/>
            <a:ext cx="713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21608" y="3886200"/>
            <a:ext cx="713232" cy="548640"/>
          </a:xfrm>
          <a:prstGeom prst="roundRect">
            <a:avLst>
              <a:gd name="adj" fmla="val 8333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1608" y="3886200"/>
            <a:ext cx="713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89704" y="3886200"/>
            <a:ext cx="713232" cy="548640"/>
          </a:xfrm>
          <a:prstGeom prst="roundRect">
            <a:avLst>
              <a:gd name="adj" fmla="val 8333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9704" y="3886200"/>
            <a:ext cx="713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6177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s[i]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417320" y="4617720"/>
            <a:ext cx="713232" cy="548640"/>
          </a:xfrm>
          <a:prstGeom prst="roundRect">
            <a:avLst>
              <a:gd name="adj" fmla="val 8333"/>
            </a:avLst>
          </a:prstGeom>
          <a:solidFill>
            <a:srgbClr val="0E7C8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4617720"/>
            <a:ext cx="713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185416" y="4617720"/>
            <a:ext cx="713232" cy="548640"/>
          </a:xfrm>
          <a:prstGeom prst="roundRect">
            <a:avLst>
              <a:gd name="adj" fmla="val 8333"/>
            </a:avLst>
          </a:prstGeom>
          <a:solidFill>
            <a:srgbClr val="0E7C8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4617720"/>
            <a:ext cx="713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953512" y="4617720"/>
            <a:ext cx="713232" cy="548640"/>
          </a:xfrm>
          <a:prstGeom prst="roundRect">
            <a:avLst>
              <a:gd name="adj" fmla="val 8333"/>
            </a:avLst>
          </a:prstGeom>
          <a:solidFill>
            <a:srgbClr val="0E7C8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53512" y="4617720"/>
            <a:ext cx="713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721608" y="4617720"/>
            <a:ext cx="713232" cy="548640"/>
          </a:xfrm>
          <a:prstGeom prst="roundRect">
            <a:avLst>
              <a:gd name="adj" fmla="val 8333"/>
            </a:avLst>
          </a:prstGeom>
          <a:solidFill>
            <a:srgbClr val="0E7C8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21608" y="4617720"/>
            <a:ext cx="713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489704" y="4617720"/>
            <a:ext cx="713232" cy="548640"/>
          </a:xfrm>
          <a:prstGeom prst="roundRect">
            <a:avLst>
              <a:gd name="adj" fmla="val 8333"/>
            </a:avLst>
          </a:prstGeom>
          <a:solidFill>
            <a:srgbClr val="0E7C8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9704" y="4617720"/>
            <a:ext cx="713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17320" y="5257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s[i] just adds a[i] to the running total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766560" y="1783080"/>
            <a:ext cx="4846320" cy="3749040"/>
          </a:xfrm>
          <a:prstGeom prst="roundRect">
            <a:avLst>
              <a:gd name="adj" fmla="val 2439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2011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sentinel s[0] = 0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040880" y="246888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1-indexed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arrays. Then for a query with l = 1 you need s[0], and s[0] = 0 makes it work with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case.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040880" y="397764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arrays in C++ start at 0 automatically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but clear them yourself between test cases.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Sums  ·  AIO Prep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52144" cy="329184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QUERY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any interval in constant time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309360" cy="868680"/>
          </a:xfrm>
          <a:prstGeom prst="roundRect">
            <a:avLst>
              <a:gd name="adj" fmla="val 10526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sum(l, r) = s[r] − s[l-1]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6309360" cy="2651760"/>
          </a:xfrm>
          <a:prstGeom prst="roundRect">
            <a:avLst>
              <a:gd name="adj" fmla="val 3103"/>
            </a:avLst>
          </a:prstGeom>
          <a:solidFill>
            <a:srgbClr val="0E2E3A"/>
          </a:solidFill>
          <a:ln/>
          <a:effectLst>
            <a:outerShdw sx="100000" sy="100000" kx="0" ky="0" algn="bl" rotWithShape="0" blurRad="114300" dist="38100" dir="5400000">
              <a:srgbClr val="0A2028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3026664"/>
            <a:ext cx="590702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s[0] = 0;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n; i++)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s[i] = s[i-1] + a[i];      // build: O(n)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79A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sum of a[l..r], any l,r:  O(1)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long ans = s[r] - s[l-1];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86600" y="1783080"/>
            <a:ext cx="4526280" cy="3749040"/>
          </a:xfrm>
          <a:prstGeom prst="roundRect">
            <a:avLst>
              <a:gd name="adj" fmla="val 2439"/>
            </a:avLst>
          </a:prstGeom>
          <a:solidFill>
            <a:srgbClr val="0E2E3A"/>
          </a:solidFill>
          <a:ln/>
        </p:spPr>
      </p:sp>
      <p:sp>
        <p:nvSpPr>
          <p:cNvPr id="10" name="Text 8"/>
          <p:cNvSpPr/>
          <p:nvPr/>
        </p:nvSpPr>
        <p:spPr>
          <a:xfrm>
            <a:off x="736092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phases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60920" y="256032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73609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  </a:t>
            </a:r>
            <a:pPr algn="l"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60920" y="324612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73609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5528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each query  </a:t>
            </a:r>
            <a:pPr algn="l"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60920" y="397764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sum is essentially a tiny data structure: O(n) to build, O(1) to query any interval. It becomes a building block inside bigger algorithms.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Sums  ·  AIO Prep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MANSION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points  →  100 points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492240" cy="3383280"/>
          </a:xfrm>
          <a:prstGeom prst="roundRect">
            <a:avLst>
              <a:gd name="adj" fmla="val 2432"/>
            </a:avLst>
          </a:prstGeom>
          <a:solidFill>
            <a:srgbClr val="0E2E3A"/>
          </a:solidFill>
          <a:ln/>
          <a:effectLst>
            <a:outerShdw sx="100000" sy="100000" kx="0" ky="0" algn="bl" rotWithShape="0" blurRad="114300" dist="38100" dir="5400000">
              <a:srgbClr val="0A2028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929384"/>
            <a:ext cx="6089904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n; i++)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s[i] = s[i-1] + a[i];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long best = -1;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k; i &lt;= n; i++) {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long long w = s[i] - s[i-k];  // a[i-k+1..i]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(best == -1 || w &gt; best) best = w;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69480" y="1783080"/>
            <a:ext cx="4343400" cy="3383280"/>
          </a:xfrm>
          <a:prstGeom prst="roundRect">
            <a:avLst>
              <a:gd name="adj" fmla="val 2703"/>
            </a:avLst>
          </a:prstGeom>
          <a:solidFill>
            <a:srgbClr val="0E2E3A"/>
          </a:solidFill>
          <a:ln/>
        </p:spPr>
      </p:sp>
      <p:sp>
        <p:nvSpPr>
          <p:cNvPr id="8" name="Text 6"/>
          <p:cNvSpPr/>
          <p:nvPr/>
        </p:nvSpPr>
        <p:spPr>
          <a:xfrm>
            <a:off x="754380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ending at 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43800" y="2423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covers a[i-k+1 .. i]
</a:t>
            </a:r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= s[i] − s[i-k]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43800" y="33832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7543800" y="4206240"/>
            <a:ext cx="2468880" cy="548640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7543800" y="4206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100 / 100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also solves it via a sliding window (see ORAC's Two Pointers) — subtract the leaving element, add the entering one.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Sums  ·  AIO Prep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152144" cy="329184"/>
          </a:xfrm>
          <a:prstGeom prst="roundRect">
            <a:avLst>
              <a:gd name="adj" fmla="val 50000"/>
            </a:avLst>
          </a:prstGeom>
          <a:solidFill>
            <a:srgbClr val="E89B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E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the ones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811512" y="1188720"/>
            <a:ext cx="1828800" cy="640080"/>
          </a:xfrm>
          <a:prstGeom prst="roundRect">
            <a:avLst>
              <a:gd name="adj" fmla="val 17143"/>
            </a:avLst>
          </a:prstGeom>
          <a:solidFill>
            <a:srgbClr val="E89B4C"/>
          </a:solidFill>
          <a:ln/>
        </p:spPr>
      </p:sp>
      <p:sp>
        <p:nvSpPr>
          <p:cNvPr id="6" name="Text 4"/>
          <p:cNvSpPr/>
          <p:nvPr/>
        </p:nvSpPr>
        <p:spPr>
          <a:xfrm>
            <a:off x="9811512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8 min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given an array of </a:t>
            </a:r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values, each </a:t>
            </a:r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or 1</a:t>
            </a:r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queries. Each query gives (l, r) and asks: how many 1s are in a[l .. r]?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5394960" cy="2468880"/>
          </a:xfrm>
          <a:prstGeom prst="roundRect">
            <a:avLst>
              <a:gd name="adj" fmla="val 3704"/>
            </a:avLst>
          </a:prstGeom>
          <a:solidFill>
            <a:srgbClr val="16414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Answer all Q queries fast (each in O(1)).
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N, Q can be up to 10⁵.
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Naive scanning is O(N·Q) — too slow.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3520440"/>
            <a:ext cx="5394960" cy="2468880"/>
          </a:xfrm>
          <a:prstGeom prst="roundRect">
            <a:avLst>
              <a:gd name="adj" fmla="val 3704"/>
            </a:avLst>
          </a:prstGeom>
          <a:solidFill>
            <a:srgbClr val="16414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9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41148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sum of a 0/1 array counts something.
</a:t>
            </a:r>
            <a:pPr algn="l" indent="0" marL="0">
              <a:lnSpc>
                <a:spcPct val="135000"/>
              </a:lnSpc>
              <a:buNone/>
            </a:pPr>
            <a:r>
              <a:rPr lang="en-US" sz="15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s[r] − s[l-1] equal when every a[i] is 0 or 1?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37867" cy="329184"/>
          </a:xfrm>
          <a:prstGeom prst="roundRect">
            <a:avLst>
              <a:gd name="adj" fmla="val 50000"/>
            </a:avLst>
          </a:prstGeom>
          <a:solidFill>
            <a:srgbClr val="E89B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378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·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just a prefix sum of 0s and 1s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309360" cy="2743200"/>
          </a:xfrm>
          <a:prstGeom prst="roundRect">
            <a:avLst>
              <a:gd name="adj" fmla="val 3000"/>
            </a:avLst>
          </a:prstGeom>
          <a:solidFill>
            <a:srgbClr val="0E2E3A"/>
          </a:solidFill>
          <a:ln/>
          <a:effectLst>
            <a:outerShdw sx="100000" sy="100000" kx="0" ky="0" algn="bl" rotWithShape="0" blurRad="114300" dist="38100" dir="5400000">
              <a:srgbClr val="0A2028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929384"/>
            <a:ext cx="590702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79A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cnt[i] = number of 1s in a[1..i]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n; i++)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cnt[i] = cnt[i-1] + a[i];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79A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ones in [l..r]: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ones = cnt[r] - cnt[l-1];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086600" y="1783080"/>
            <a:ext cx="4526280" cy="2743200"/>
          </a:xfrm>
          <a:prstGeom prst="roundRect">
            <a:avLst>
              <a:gd name="adj" fmla="val 3333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092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works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60920" y="237744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 a 0/1 array = counting the 1s.
</a:t>
            </a:r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same subtraction </a:t>
            </a:r>
            <a:pPr algn="l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B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cnt[r] − cnt[l-1]</a:t>
            </a:r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gives the count for any interval, in O(1).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9C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sum can total ANY additive quantity — counts, weights, costs — not just the raw values.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Sums  ·  AIO Prep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41755" cy="329184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2417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INVERSE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Difference arrays: many range updates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problem: apply many </a:t>
            </a:r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v to a[l..r]”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updates, then read the array once at the end.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6309360" cy="2926080"/>
          </a:xfrm>
          <a:prstGeom prst="roundRect">
            <a:avLst>
              <a:gd name="adj" fmla="val 2813"/>
            </a:avLst>
          </a:prstGeom>
          <a:solidFill>
            <a:srgbClr val="0E2E3A"/>
          </a:solidFill>
          <a:ln/>
          <a:effectLst>
            <a:outerShdw sx="100000" sy="100000" kx="0" ky="0" algn="bl" rotWithShape="0" blurRad="114300" dist="38100" dir="5400000">
              <a:srgbClr val="0A2028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752344"/>
            <a:ext cx="590702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79A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each update is O(1):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diff[l]   += v;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diff[r+1] -= v;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79A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prefix sum rebuilds the array: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long cur = 0;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n; i++) {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 += diff[i];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a[i] = cur;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086600" y="2606040"/>
            <a:ext cx="4526280" cy="2926080"/>
          </a:xfrm>
          <a:prstGeom prst="roundRect">
            <a:avLst>
              <a:gd name="adj" fmla="val 3125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2788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Prefix sum, run backwards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60920" y="320040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B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diff[l] += v  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effect on at l
</a:t>
            </a:r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9C5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diff[r+1] -= v  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it off after r
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Prefix-summing diff accumulates every still-active update at each position.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Sums  ·  AIO Prep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prefix sums: subrectangle sums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400800" cy="914400"/>
          </a:xfrm>
          <a:prstGeom prst="roundRect">
            <a:avLst>
              <a:gd name="adj" fmla="val 9000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7A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build:  </a:t>
            </a:r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s[i][j] = s[i-1][j] + s[i][j-1] − s[i-1][j-1] + a[i][j]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61488"/>
            <a:ext cx="6400800" cy="914400"/>
          </a:xfrm>
          <a:prstGeom prst="roundRect">
            <a:avLst>
              <a:gd name="adj" fmla="val 9000"/>
            </a:avLst>
          </a:prstGeom>
          <a:solidFill>
            <a:srgbClr val="0E2E3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61488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(r1,c1)-(r2,c2):
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s[r2][c2] − s[r1-1][c2] − s[r2][c1-1] + s[r1-1][c1-1]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trick, one dimension up — </a:t>
            </a:r>
            <a:pPr algn="l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inclusion–exclusion</a:t>
            </a:r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add the two overlapping rectangles, subtract the part counted twice, add back the corner.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772400" y="1920240"/>
            <a:ext cx="658368" cy="658368"/>
          </a:xfrm>
          <a:prstGeom prst="rect">
            <a:avLst/>
          </a:prstGeom>
          <a:solidFill>
            <a:srgbClr val="D7EFE9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30768" y="1920240"/>
            <a:ext cx="658368" cy="658368"/>
          </a:xfrm>
          <a:prstGeom prst="rect">
            <a:avLst/>
          </a:prstGeom>
          <a:solidFill>
            <a:srgbClr val="D7EFE9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89136" y="1920240"/>
            <a:ext cx="658368" cy="658368"/>
          </a:xfrm>
          <a:prstGeom prst="rect">
            <a:avLst/>
          </a:prstGeom>
          <a:solidFill>
            <a:srgbClr val="D7EFE9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47504" y="1920240"/>
            <a:ext cx="658368" cy="658368"/>
          </a:xfrm>
          <a:prstGeom prst="rect">
            <a:avLst/>
          </a:prstGeom>
          <a:solidFill>
            <a:srgbClr val="F3F7F8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2578608"/>
            <a:ext cx="658368" cy="658368"/>
          </a:xfrm>
          <a:prstGeom prst="rect">
            <a:avLst/>
          </a:prstGeom>
          <a:solidFill>
            <a:srgbClr val="D7EFE9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0768" y="2578608"/>
            <a:ext cx="658368" cy="658368"/>
          </a:xfrm>
          <a:prstGeom prst="rect">
            <a:avLst/>
          </a:prstGeom>
          <a:solidFill>
            <a:srgbClr val="D7EFE9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89136" y="2578608"/>
            <a:ext cx="658368" cy="658368"/>
          </a:xfrm>
          <a:prstGeom prst="rect">
            <a:avLst/>
          </a:prstGeom>
          <a:solidFill>
            <a:srgbClr val="D7EFE9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47504" y="2578608"/>
            <a:ext cx="658368" cy="658368"/>
          </a:xfrm>
          <a:prstGeom prst="rect">
            <a:avLst/>
          </a:prstGeom>
          <a:solidFill>
            <a:srgbClr val="F3F7F8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3236976"/>
            <a:ext cx="658368" cy="658368"/>
          </a:xfrm>
          <a:prstGeom prst="rect">
            <a:avLst/>
          </a:prstGeom>
          <a:solidFill>
            <a:srgbClr val="D7EFE9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3236976"/>
            <a:ext cx="658368" cy="658368"/>
          </a:xfrm>
          <a:prstGeom prst="rect">
            <a:avLst/>
          </a:prstGeom>
          <a:solidFill>
            <a:srgbClr val="D7EFE9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89136" y="3236976"/>
            <a:ext cx="658368" cy="658368"/>
          </a:xfrm>
          <a:prstGeom prst="rect">
            <a:avLst/>
          </a:prstGeom>
          <a:solidFill>
            <a:srgbClr val="D7EFE9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47504" y="3236976"/>
            <a:ext cx="658368" cy="658368"/>
          </a:xfrm>
          <a:prstGeom prst="rect">
            <a:avLst/>
          </a:prstGeom>
          <a:solidFill>
            <a:srgbClr val="F3F7F8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3895344"/>
            <a:ext cx="658368" cy="658368"/>
          </a:xfrm>
          <a:prstGeom prst="rect">
            <a:avLst/>
          </a:prstGeom>
          <a:solidFill>
            <a:srgbClr val="F3F7F8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30768" y="3895344"/>
            <a:ext cx="658368" cy="658368"/>
          </a:xfrm>
          <a:prstGeom prst="rect">
            <a:avLst/>
          </a:prstGeom>
          <a:solidFill>
            <a:srgbClr val="F3F7F8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89136" y="3895344"/>
            <a:ext cx="658368" cy="658368"/>
          </a:xfrm>
          <a:prstGeom prst="rect">
            <a:avLst/>
          </a:prstGeom>
          <a:solidFill>
            <a:srgbClr val="F3F7F8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47504" y="3895344"/>
            <a:ext cx="658368" cy="658368"/>
          </a:xfrm>
          <a:prstGeom prst="rect">
            <a:avLst/>
          </a:prstGeom>
          <a:solidFill>
            <a:srgbClr val="F3F7F8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0" y="1920240"/>
            <a:ext cx="1975104" cy="1975104"/>
          </a:xfrm>
          <a:prstGeom prst="rect">
            <a:avLst/>
          </a:prstGeom>
          <a:ln w="3810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1627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034272" y="3511296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(r2,c2)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80960" y="47183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s[i][j] = sum of the rectangle from (1,1) to (i, j).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Sums  ·  AIO Prep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89811" cy="329184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89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WIDER FAMILY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once, store the running result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77840" cy="1737360"/>
          </a:xfrm>
          <a:prstGeom prst="roundRect">
            <a:avLst>
              <a:gd name="adj" fmla="val 5263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11680"/>
            <a:ext cx="128016" cy="1280160"/>
          </a:xfrm>
          <a:prstGeom prst="roundRect">
            <a:avLst>
              <a:gd name="adj" fmla="val 42857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9842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Suffix sum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2441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B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suf[i] = suf[i+1] + a[i]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91693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from i to the end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5577840" cy="1737360"/>
          </a:xfrm>
          <a:prstGeom prst="roundRect">
            <a:avLst>
              <a:gd name="adj" fmla="val 5263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2011680"/>
            <a:ext cx="128016" cy="1280160"/>
          </a:xfrm>
          <a:prstGeom prst="roundRect">
            <a:avLst>
              <a:gd name="adj" fmla="val 42857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19842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Prefix maxima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03720" y="2441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B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pmax[i] = max(pmax[i-1], a[i])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03720" y="291693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 from the start to 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5577840" cy="1737360"/>
          </a:xfrm>
          <a:prstGeom prst="roundRect">
            <a:avLst>
              <a:gd name="adj" fmla="val 5263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023360"/>
            <a:ext cx="128016" cy="1280160"/>
          </a:xfrm>
          <a:prstGeom prst="roundRect">
            <a:avLst>
              <a:gd name="adj" fmla="val 42857"/>
            </a:avLst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959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Suffix maxima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51560" y="4453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B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smax[i] = max(smax[i+1], a[i])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92861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 from i to the end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3794760"/>
            <a:ext cx="5577840" cy="1737360"/>
          </a:xfrm>
          <a:prstGeom prst="roundRect">
            <a:avLst>
              <a:gd name="adj" fmla="val 5263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9400" y="4023360"/>
            <a:ext cx="128016" cy="1280160"/>
          </a:xfrm>
          <a:prstGeom prst="roundRect">
            <a:avLst>
              <a:gd name="adj" fmla="val 42857"/>
            </a:avLst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39959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Prefix / suffix minima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903720" y="4453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B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 max → min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492861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scan, keep the smallest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Sums  ·  AIO Prep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37867" cy="329184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378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DISTINCTION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sums query any interval — but max/min don't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E7F4F1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103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Invertible: sum, XOR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has an inverse (subtraction), so we can strip off the unwanted prefix:
</a:t>
            </a:r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sum(l, r) = s[r] − s[l-1]
</a:t>
            </a:r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ANY interval, in O(1).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FBEFE1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2103120"/>
            <a:ext cx="548640" cy="548640"/>
          </a:xfrm>
          <a:prstGeom prst="ellipse">
            <a:avLst/>
          </a:prstGeom>
          <a:solidFill>
            <a:srgbClr val="E89B4C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2103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C5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invertible: max, min, gcd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37960" y="283464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“un-max.” You can't remove max(a[1..l-1]) from max(a[1..r]).
</a:t>
            </a:r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Prefix/suffix arrays only answer ranges with a fixed end (from the start, or to the end).
</a:t>
            </a:r>
            <a:pPr algn="l"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9C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Arbitrary-range max/min → Sparse Table / Segment Tree (later).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Sums  ·  AIO Prep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152144" cy="329184"/>
          </a:xfrm>
          <a:prstGeom prst="roundRect">
            <a:avLst>
              <a:gd name="adj" fmla="val 50000"/>
            </a:avLst>
          </a:prstGeom>
          <a:solidFill>
            <a:srgbClr val="E89B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E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Equilibrium index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811512" y="1188720"/>
            <a:ext cx="1828800" cy="640080"/>
          </a:xfrm>
          <a:prstGeom prst="roundRect">
            <a:avLst>
              <a:gd name="adj" fmla="val 17143"/>
            </a:avLst>
          </a:prstGeom>
          <a:solidFill>
            <a:srgbClr val="E89B4C"/>
          </a:solidFill>
          <a:ln/>
        </p:spPr>
      </p:sp>
      <p:sp>
        <p:nvSpPr>
          <p:cNvPr id="6" name="Text 4"/>
          <p:cNvSpPr/>
          <p:nvPr/>
        </p:nvSpPr>
        <p:spPr>
          <a:xfrm>
            <a:off x="9811512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7 min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 index </a:t>
            </a:r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the sum of everything to its </a:t>
            </a:r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equals the sum of everything to its </a:t>
            </a:r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(Left of i means a[1..i-1]; right means a[i+1..n].)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5394960" cy="2423160"/>
          </a:xfrm>
          <a:prstGeom prst="roundRect">
            <a:avLst>
              <a:gd name="adj" fmla="val 3774"/>
            </a:avLst>
          </a:prstGeom>
          <a:solidFill>
            <a:srgbClr val="16414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7307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603504" cy="512064"/>
          </a:xfrm>
          <a:prstGeom prst="roundRect">
            <a:avLst>
              <a:gd name="adj" fmla="val 8929"/>
            </a:avLst>
          </a:prstGeom>
          <a:solidFill>
            <a:srgbClr val="0E2E3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60520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481328" y="4160520"/>
            <a:ext cx="603504" cy="512064"/>
          </a:xfrm>
          <a:prstGeom prst="roundRect">
            <a:avLst>
              <a:gd name="adj" fmla="val 8929"/>
            </a:avLst>
          </a:prstGeom>
          <a:solidFill>
            <a:srgbClr val="0E2E3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81328" y="4160520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39696" y="4160520"/>
            <a:ext cx="603504" cy="512064"/>
          </a:xfrm>
          <a:prstGeom prst="roundRect">
            <a:avLst>
              <a:gd name="adj" fmla="val 8929"/>
            </a:avLst>
          </a:prstGeom>
          <a:solidFill>
            <a:srgbClr val="0E2E3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39696" y="4160520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98064" y="4160520"/>
            <a:ext cx="603504" cy="512064"/>
          </a:xfrm>
          <a:prstGeom prst="roundRect">
            <a:avLst>
              <a:gd name="adj" fmla="val 8929"/>
            </a:avLst>
          </a:prstGeom>
          <a:solidFill>
            <a:srgbClr val="0E2E3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98064" y="4160520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56432" y="4160520"/>
            <a:ext cx="603504" cy="512064"/>
          </a:xfrm>
          <a:prstGeom prst="roundRect">
            <a:avLst>
              <a:gd name="adj" fmla="val 8929"/>
            </a:avLst>
          </a:prstGeom>
          <a:solidFill>
            <a:srgbClr val="0E2E3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4160520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800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3 works: 1+3 = 4 = 2+2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166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(value a[3]=5 is not counted on either side)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3566160"/>
            <a:ext cx="5394960" cy="2423160"/>
          </a:xfrm>
          <a:prstGeom prst="roundRect">
            <a:avLst>
              <a:gd name="adj" fmla="val 3774"/>
            </a:avLst>
          </a:prstGeom>
          <a:solidFill>
            <a:srgbClr val="16414F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7307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9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41605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sum  = s[i-1]
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sum = total − s[i]
</a:t>
            </a:r>
            <a:pPr algn="l" indent="0" marL="0">
              <a:lnSpc>
                <a:spcPct val="130000"/>
              </a:lnSpc>
              <a:buNone/>
            </a:pPr>
            <a:endParaRPr lang="en-US" sz="14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 once and compare. O(n) total.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37867" cy="329184"/>
          </a:xfrm>
          <a:prstGeom prst="roundRect">
            <a:avLst>
              <a:gd name="adj" fmla="val 50000"/>
            </a:avLst>
          </a:prstGeom>
          <a:solidFill>
            <a:srgbClr val="E89B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378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·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= s[i-1],  Right = total − s[i]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400800" cy="3200400"/>
          </a:xfrm>
          <a:prstGeom prst="roundRect">
            <a:avLst>
              <a:gd name="adj" fmla="val 2571"/>
            </a:avLst>
          </a:prstGeom>
          <a:solidFill>
            <a:srgbClr val="0E2E3A"/>
          </a:solidFill>
          <a:ln/>
          <a:effectLst>
            <a:outerShdw sx="100000" sy="100000" kx="0" ky="0" algn="bl" rotWithShape="0" blurRad="114300" dist="38100" dir="5400000">
              <a:srgbClr val="0A2028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929384"/>
            <a:ext cx="599846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n; i++)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s[i] = s[i-1] + a[i];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long total = s[n];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n; i++) {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long long left  = s[i-1];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long long right = total - s[i];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(left == right) { /* i is one */ }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A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178040" y="1783080"/>
            <a:ext cx="4434840" cy="3200400"/>
          </a:xfrm>
          <a:prstGeom prst="roundRect">
            <a:avLst>
              <a:gd name="adj" fmla="val 2857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5236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boundaries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52360" y="2377440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s[i-1]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a[1..i-1] (left).
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− s[i]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a[i+1..n] (right).
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a[i] sits in s[i] but not in s[i-1], so it is excluded from both sides — exactly what we want.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257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C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to keep: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“left part” and “right part” of a split are both prefix-sum expressions.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Sums  ·  AIO Prep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41755" cy="329184"/>
          </a:xfrm>
          <a:prstGeom prst="roundRect">
            <a:avLst>
              <a:gd name="adj" fmla="val 50000"/>
            </a:avLst>
          </a:prstGeom>
          <a:solidFill>
            <a:srgbClr val="E89B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2417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pitfalls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1F6F7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92808"/>
            <a:ext cx="530352" cy="530352"/>
          </a:xfrm>
          <a:prstGeom prst="ellipse">
            <a:avLst/>
          </a:prstGeom>
          <a:solidFill>
            <a:srgbClr val="E89B4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92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80136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Overflow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801368"/>
            <a:ext cx="6885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sums grow fast — declare them long long, not int.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15768"/>
            <a:ext cx="530352" cy="530352"/>
          </a:xfrm>
          <a:prstGeom prst="ellipse">
            <a:avLst/>
          </a:prstGeom>
          <a:solidFill>
            <a:srgbClr val="E89B4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157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62432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Off-by-one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624328"/>
            <a:ext cx="6885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1-indexed; the query is s[r] − s[l-1], not s[l].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401568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1F6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538728"/>
            <a:ext cx="530352" cy="530352"/>
          </a:xfrm>
          <a:prstGeom prst="ellipse">
            <a:avLst/>
          </a:prstGeom>
          <a:solidFill>
            <a:srgbClr val="E89B4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538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44728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Forgetting the sentinel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3447288"/>
            <a:ext cx="6885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s[0] = 0, and clear arrays between test cases.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4361688"/>
            <a:ext cx="530352" cy="530352"/>
          </a:xfrm>
          <a:prstGeom prst="ellipse">
            <a:avLst/>
          </a:prstGeom>
          <a:solidFill>
            <a:srgbClr val="E89B4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3616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427024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bounds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0" y="4270248"/>
            <a:ext cx="6885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needs index r+1; 2D needs row 0 and column 0.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047488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1F6F7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5184648"/>
            <a:ext cx="530352" cy="53035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51846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17320" y="509320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tool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0" y="5093208"/>
            <a:ext cx="6885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range queries → prefix sum.  Range updates → difference array.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Sums  ·  AIO Prep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41755" cy="329184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2417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at a glance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1672" cy="749808"/>
          </a:xfrm>
          <a:prstGeom prst="rect">
            <a:avLst/>
          </a:prstGeom>
          <a:solidFill>
            <a:srgbClr val="0E2E3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69080" y="187452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72200" y="187452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/ Update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49640" y="1874520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for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24328"/>
            <a:ext cx="11091672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2432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prefix sum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069080" y="262432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B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72200" y="262432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B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 query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549640" y="2624328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any interval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374136"/>
            <a:ext cx="11091672" cy="749808"/>
          </a:xfrm>
          <a:prstGeom prst="rect">
            <a:avLst/>
          </a:prstGeom>
          <a:solidFill>
            <a:srgbClr val="F1F6F7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7413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array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069080" y="337413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B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 / update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72200" y="3374136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B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 rebuild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549640" y="3374136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range add updates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123944"/>
            <a:ext cx="11091672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123944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prefix sum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069080" y="412394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B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O(n·m)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172200" y="4123944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B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 query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549640" y="4123944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subrectangle sums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4873752"/>
            <a:ext cx="11091672" cy="749808"/>
          </a:xfrm>
          <a:prstGeom prst="rect">
            <a:avLst/>
          </a:prstGeom>
          <a:solidFill>
            <a:srgbClr val="F1F6F7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873752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/ suffix extrema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069080" y="487375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B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172200" y="487375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B5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 query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549640" y="4873752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 with a fixed end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48640" y="1874520"/>
            <a:ext cx="11091672" cy="3749040"/>
          </a:xfrm>
          <a:prstGeom prst="rect">
            <a:avLst/>
          </a:prstGeom>
          <a:ln w="12700">
            <a:solidFill>
              <a:srgbClr val="D6E3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interval sum is O(n) per query → O(n·q) overall. Prefix sums make it O(n + q).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Sums  ·  AIO Prep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27478" cy="329184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274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PRACTISING (ORAC)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next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77840" cy="1691640"/>
          </a:xfrm>
          <a:prstGeom prst="roundRect">
            <a:avLst>
              <a:gd name="adj" fmla="val 5405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39112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391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 2007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20025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prefix-sum warm-up.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5577840" cy="1691640"/>
          </a:xfrm>
          <a:prstGeom prst="roundRect">
            <a:avLst>
              <a:gd name="adj" fmla="val 5405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56832" y="2039112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89B4C"/>
          </a:solidFill>
          <a:ln/>
        </p:spPr>
      </p:sp>
      <p:sp>
        <p:nvSpPr>
          <p:cNvPr id="12" name="Text 10"/>
          <p:cNvSpPr/>
          <p:nvPr/>
        </p:nvSpPr>
        <p:spPr>
          <a:xfrm>
            <a:off x="6656832" y="20391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 2011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83880" y="20025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2606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the input, then it's like Mansion.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5577840" cy="1691640"/>
          </a:xfrm>
          <a:prstGeom prst="roundRect">
            <a:avLst>
              <a:gd name="adj" fmla="val 5405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959352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9593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 tutorial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39227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Pointers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45262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Sliding-window solution to compare.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0" y="3703320"/>
            <a:ext cx="5577840" cy="1691640"/>
          </a:xfrm>
          <a:prstGeom prst="roundRect">
            <a:avLst>
              <a:gd name="adj" fmla="val 5405"/>
            </a:avLst>
          </a:prstGeom>
          <a:solidFill>
            <a:srgbClr val="F1F6F7"/>
          </a:solidFill>
          <a:ln w="12700">
            <a:solidFill>
              <a:srgbClr val="D6E3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56832" y="3959352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89B4C"/>
          </a:solidFill>
          <a:ln/>
        </p:spPr>
      </p:sp>
      <p:sp>
        <p:nvSpPr>
          <p:cNvPr id="22" name="Text 20"/>
          <p:cNvSpPr/>
          <p:nvPr/>
        </p:nvSpPr>
        <p:spPr>
          <a:xfrm>
            <a:off x="6656832" y="39593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 2024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83880" y="39227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Backpacking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75120" y="45262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sums inside a bigger algorithm.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5623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B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  orac.amt.edu.au/hub/train/aio   ·   full worked notes are in the handout.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Sums  ·  AIO Prep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1672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77240"/>
            <a:ext cx="972922" cy="32918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77240"/>
            <a:ext cx="9729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E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Precompute once, answer instantly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07008" y="24688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interval sum = s[r] − s[l-1]  — build O(n), query O(1).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48640" y="317296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07008" y="312724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sums total any additive quantity: values, counts, weights.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48640" y="383133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07008" y="3785616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arrays are the inverse — for many range updates.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48640" y="448970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4443984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prefix sums = inclusion–exclusion for subrectangles.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07008" y="5102352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is invertible (any range); max / min are not (fixed-end only).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“store the running result” thinking reappears everywhere — including in the DP you'll learn next.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2026-08-17T03:55:25Z</dcterms:created>
  <dcterms:modified xsi:type="dcterms:W3CDTF">2026-08-17T03:55:25Z</dcterms:modified>
</cp:coreProperties>
</file>