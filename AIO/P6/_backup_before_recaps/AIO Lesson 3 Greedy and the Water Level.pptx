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: Greedy, exchange arguments and the water-level picture" id="{b6af70e9-2aee-b273-4e8a-3617d1ad62a4}">
          <p14:sldIdLst>
            <p14:sldId id="256"/>
            <p14:sldId id="257"/>
            <p14:sldId id="258"/>
            <p14:sldId id="259"/>
          </p14:sldIdLst>
        </p14:section>
        <p14:section name="2026 P6 Mundane Square: row-by-row greedy with water-filling" id="{a2b4e55d-9b6a-d8a7-65c4-e1a6fae3e05a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2023 P5 Wheeling and Dealing: cut the peaks, try every level" id="{c212c383-07e3-f873-1e65-6083a3d620f3}">
          <p14:sldIdLst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2026 P5 Prime Minister: fill the valleys, binary search the level" id="{9d140a3a-0bf4-497e-02bf-19653f035357}">
          <p14:sldIdLst>
            <p14:sldId id="276"/>
            <p14:sldId id="277"/>
            <p14:sldId id="278"/>
            <p14:sldId id="279"/>
            <p14:sldId id="280"/>
            <p14:sldId id="281"/>
          </p14:sldIdLst>
        </p14:section>
        <p14:section name="Live coding, recap and homework" id="{44621deb-896f-ef79-48b0-9a96993650b8}">
          <p14:sldIdLst>
            <p14:sldId id="282"/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3 次课：三道题画出来是同一幅图，一排柱子和一条水平线。两道题削掉线上方的峰（cut the peaks），一道题填平线下方的谷（fill the valleys）。其中两道用 Binary Search 找这条线，第三道枚举每一个值。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Wheeling and Dealing 的完整解法需要 Fenwick tree（BIT）。课上讲思路和手算即可，BIT 的实现作为选读。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没有第 3 步的 Greedy 规则只是猜测。AIO 的题通常猜规则很容易，证明才是真正的工作。整节课把第 3 步留在黑板上。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整节课都把这幅图留在黑板上。每道题都问：柱子是什么？这条线代表什么？
参考：Mundane Square：柱子 = 每列还缺的数量，线 = λ（削峰）；Wheeling and Dealing：柱子 = 每个对手的票数，线 = k − 1（削峰）；Prime Minister：柱子 = 右半边每个人的财富，线 = x（填谷）。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35 分钟。这是本次课的核心题，另外两道都拿来和它比较。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在黑板上写样例 1：K = 4，R = 6 8 3，C = 5 5 7。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提到 max-flow 只是让较强的学生知道这题在理论上属于哪一类，课上不讲。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 Greedy 三步法的第 1 步：猜规则。下一页是第 3 步：exchange argument。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在右侧画一个 2×2 的子网格：当前行和第 r 行、第 i 列和第 j 列，四个格子分别标 +1/−1。K = 1 时这就是 Gale–Ryser 定理背后的构造。这份解答也用 max-flow 暴力对拍验证过。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指回水位线图的左半边：这就是"削峰"。上限 K 表示每一格最多削 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2 步常被误解：capacity 是这一行最多能发出多少（每格 ≤ K，也不超过该列还缺的数量）。如果连这个都小于 R[i]，这一行就填不满；如果 ≥ R[i]，说明有余量，由 λ 决定少发多少。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答案：λ = 3：2 2 4 = 8 &gt; 6。λ = 4：1 1 3 = 5 ≤ 6。所以 λ = 4，零头 leftover = 1，给第 1 列（5 − 1 = 4 = λ，且 1 &lt; K）。第 1 行 = 2 1 3，rem = 3 4 4。
第 2 行（发 8）：λ = 0 得 11，λ = 1 得 2 3 3 = 8 → 第 2 行 = 2 3 3，rem = 1 1 1。
第 3 行（发 3）：1 1 1。输出 YES / 2 1 3 / 2 3 3 / 1 1 1（和样例输出不同，但题目接受任何合法的矩阵）。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 从 0 开始，r 取 rem[j] 的最大值。N 行 × 约 30 次二分 × N 列 ≈ 3×10^7，没问题。最多要输出 10^6 个数：每行结束时用一次 endl，不要每个数都 endl。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提问：如果每个格子有自己的上限 K[i][j]，Greedy 还成立吗？
答案：不一定，这时需要真正的 max-flow。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20 分钟。注意这里不用 Binary Search：花费关于水位线不单调，这是和 Mundane Square 最主要的区别。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所以唯一的问题是：买哪些选民？
参考：让被买的选民都改投 1 号（对手少一票、1 号多一票），一定不比改投别人差。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Exchange argument：如果买了某个对手较贵的选民，却没买他更便宜的选民，换成便宜的，票数结果相同，花费更少。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答案（自编例子，已用解答程序验证）：
k = 1：两个对手都削到 0：1+2+5+9 + 3+3 = 23，我方 7 票。
k = 2：2 号削到 1（1+2+5），3 号削到 1（3）= 11，我方 5 票。
k = 3：2 号削到 2（1+2）= 3，我方 3 票。最优。
k = 4：2 号削到 3（1），我方 2 票，再补买剩下最便宜的 2 个（2+3）= 6。
k = 5：不用削，补买最便宜的 4 个（1+2+3+3）= 9。
花费依次是 23、11、3、6、9：两头都贵，关于 k 不单调，所以不能二分，只能枚举每个 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提问：为什么 Mundane 可以二分水位线，而 Wheeling 不行？
答案：指着花费 23、11、3、6、9：Wheeling 的花费关于 k 不单调；Mundane 中"这一行发出的总量"关于 λ 单调不增。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Fenwick tree 超出了本课程的核心内容。Subtask 1–2（每个花费都是 $1）只需要计数；subtask 3（N, M ≤ 100）可以对每个 k 直接重算。和 Codeforces 1019A "Elections" 是同一类题。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约 20 分钟，之后这道题就是现场编码题。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在黑板上写样例 1：N = 5，K = 4，A = 1 2 5 6 9。答案 7。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搜索范围：[A[md], A[md] + K]。
提问：为什么 A[md] + K 是安全的上界？
答案：中位数要 ≥ x，至少要让 A[md] 这个人达到 x；就算把 K 全给他，也只能到 A[md] + K。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答案：md = 3，右半边 5 6 9，搜索范围 [5, 9]。
x = 6：要补 1 0 0 → 1，可以。x = 7：2 1 0 → 3，可以。x = 8：3 2 0 → 5，不行。答案 7（找最后一个可行值 → 输出 r）。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和全班一起填这张表，一次填一列。
参考答案就是表中内容：柱子分别是右半边的财富 / 每列还缺的数量 / 每个对手的票数；动作分别是填谷 / 削峰（每格 ≤ K）/ 削峰；找水位线的方法分别是二分（最后一个 x）/ 二分（第一个 λ）/ 枚举每个 k；目标分别是最优化 / 判断有没有解并构造 / 最优化。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提问：两个函数分别朝哪个方向单调？分别找第一个还是最后一个可行值？
答案：Prime Minister：x 越大 cost 越大，找最后一个可行的 x（→ r）。Mundane：λ 越小 give 越大，找第一个满足 give(λ) ≤ R[i] 的 λ（→ l）。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常见 bug：给整个数组补钱，而不是只补右半边；int 溢出（A[md] + K 可达 2×10^9）；输出 l 而不是 r。
样例答案：7、6、2。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指出：到目前为止 9 道题中有 6 道用了 Binary Search。下次课会加一个新工具 Sparse Table，以及整个课程最难的题。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下次课：Sparse Table、Robot Writing 和 Beach Umbrellas。
第 3 题参考答案：如果每格上限 K[i][j] 不同，"优先给需求最大的列"就不一定对了（某些列在某些行的上限很小），一般需要 max-flow。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orac2.info/problem/1751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https://orac2.info/problem/1747/" TargetMode="External"/><Relationship Id="rId2" Type="http://schemas.openxmlformats.org/officeDocument/2006/relationships/hyperlink" Target="https://orac2.info/problem/1298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2DE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5968" y="1778000"/>
            <a:ext cx="4523232" cy="595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340"/>
              </a:lnSpc>
              <a:buNone/>
            </a:pPr>
            <a:r>
              <a:rPr lang="en-US" sz="1950" b="1" spc="150" kern="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AIO PROBLEMS 5 &amp; 6 · LESSON 3 OF 4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6855968" y="2514600"/>
            <a:ext cx="4523232" cy="203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5093"/>
              </a:lnSpc>
              <a:buNone/>
            </a:pPr>
            <a:r>
              <a:rPr lang="en-US" sz="4850" b="1" spc="100" kern="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 AND THE WATER LEVEL</a:t>
            </a:r>
            <a:endParaRPr lang="en-US" sz="4850" dirty="0"/>
          </a:p>
        </p:txBody>
      </p:sp>
      <p:sp>
        <p:nvSpPr>
          <p:cNvPr id="5" name="Text 2"/>
          <p:cNvSpPr txBox="1"/>
          <p:nvPr/>
        </p:nvSpPr>
        <p:spPr>
          <a:xfrm>
            <a:off x="6855968" y="4632523"/>
            <a:ext cx="4523232" cy="1414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(2026 P6)</a:t>
            </a:r>
            <a:endParaRPr lang="en-US" sz="2250" dirty="0"/>
          </a:p>
          <a:p>
            <a:pPr algn="r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(2023 P5)</a:t>
            </a:r>
            <a:endParaRPr lang="en-US" sz="2250" dirty="0"/>
          </a:p>
          <a:p>
            <a:pPr algn="r" indent="0" marL="0">
              <a:lnSpc>
                <a:spcPts val="3600"/>
              </a:lnSpc>
              <a:buNone/>
            </a:pPr>
            <a:r>
              <a:rPr lang="en-US" sz="2250" dirty="0">
                <a:solidFill>
                  <a:srgbClr val="1423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 (2026 P5)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3 · 2 HOURS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3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914400"/>
        </p:xfrm>
        <a:graphic>
          <a:graphicData uri="http://schemas.openxmlformats.org/drawingml/2006/table">
            <a:tbl>
              <a:tblPr/>
              <a:tblGrid>
                <a:gridCol w="2113260"/>
                <a:gridCol w="4754860"/>
                <a:gridCol w="3698280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Technique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69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0:00–0:15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Greedy, exchange arguments, the water level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0:15–0:50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P6 Mundane Square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+ Binary Search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0:50–1:10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2023 P5 Wheeling and Dealing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+ try every level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3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1:10–1:30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 P5 Prime Minister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on the answer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1:30–1:55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coding: Prime Minister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program + samples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DC"/>
                    </a:solidFill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1:55–2:00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Recap and homework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CORE TECHNIQUES · GREEDY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 A RULE, THEN PROVE IT IS SAFE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Guess the rule from small cases.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499916"/>
            <a:ext cx="112003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Take any best answer that breaks the rule.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096816"/>
            <a:ext cx="112003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Swap one piece so it follows the rule. If the answer is no worse, the rule is safe: an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argument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214416"/>
            <a:ext cx="11200384" cy="89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1: step towards the median. Today: serve the tallest column first · buy each rival's cheapest voters · top up the poorest person.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PICTURE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AND A WATER LEVEL</a:t>
            </a:r>
            <a:endParaRPr lang="en-US" sz="3900" dirty="0"/>
          </a:p>
        </p:txBody>
      </p:sp>
      <p:pic>
        <p:nvPicPr>
          <p:cNvPr id="4" name="Image 0" descr="Diagra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903016"/>
            <a:ext cx="10566400" cy="31922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2800" y="5298480"/>
            <a:ext cx="5292038" cy="78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 the peaks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above the line</a:t>
            </a:r>
            <a:endParaRPr lang="en-US" sz="2100" dirty="0"/>
          </a:p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Wheeling and Dealing</a:t>
            </a:r>
            <a:endParaRPr lang="en-US" sz="2100" dirty="0"/>
          </a:p>
        </p:txBody>
      </p:sp>
      <p:sp>
        <p:nvSpPr>
          <p:cNvPr id="6" name="Text 3"/>
          <p:cNvSpPr txBox="1"/>
          <p:nvPr/>
        </p:nvSpPr>
        <p:spPr>
          <a:xfrm>
            <a:off x="7075289" y="5298480"/>
            <a:ext cx="4562146" cy="78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valleys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 to the line</a:t>
            </a:r>
            <a:endParaRPr lang="en-US" sz="2100" dirty="0"/>
          </a:p>
          <a:p>
            <a:pPr algn="l" indent="0" marL="0">
              <a:lnSpc>
                <a:spcPts val="294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627783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spc="15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 · 2026 AIO PROBLEM 6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135783"/>
            <a:ext cx="11200384" cy="976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765"/>
              </a:lnSpc>
              <a:buNone/>
            </a:pPr>
            <a:r>
              <a:rPr lang="en-US" sz="6150" b="1" spc="15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</a:t>
            </a:r>
            <a:endParaRPr lang="en-US" sz="615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223518"/>
            <a:ext cx="8077200" cy="7978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grid with given row and column sums, every cell between 0 and K.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201418"/>
            <a:ext cx="2064445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2800" y="4201418"/>
            <a:ext cx="206444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991545" y="4201418"/>
            <a:ext cx="3250605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91545" y="4201418"/>
            <a:ext cx="325060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356449" y="4201418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6356449" y="4201418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800" y="4772918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812800" y="4772918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an N×N grid of integers in [0, K] whose row i sums to R[i] and column j sums to C[j]. Print YES and the grid, or NO.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1000, K, R[i], C[j] ≤ 10⁹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431977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as shipping: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row i sends R[i] units, column j needs C[j] units, and each (row, column) pair carries at most K.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EASY NOs FIRST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NECESSARY, BUT NOT ENOUGH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ΣR = ΣC.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Sample 3: 7+0+3 = 10 but 6+2+3 = 11 → NO.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515096"/>
            <a:ext cx="11200384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R[i], C[j] ≤ N·K.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Sample 4: K = 1, N = 4, R[2] = 5 &gt; 4 → NO.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127177"/>
            <a:ext cx="11200384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general this is a max-flow problem, but N = 1000 means 10⁶ edges with capacities up to 10⁹. Too heavy, and outside AIO.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211638"/>
            <a:ext cx="11200384" cy="55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953"/>
              </a:lnSpc>
              <a:buNone/>
            </a:pPr>
            <a:r>
              <a:rPr lang="en-US" sz="2550" b="1" dirty="0">
                <a:solidFill>
                  <a:srgbClr val="C83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 a greedy rule.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KEY OBSERVATION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5"/>
              </a:lnSpc>
              <a:buNone/>
            </a:pPr>
            <a:r>
              <a:rPr lang="en-US" sz="35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ROW BY ROW: TALLEST COLUMN FIRST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812800" y="1844675"/>
            <a:ext cx="11200384" cy="1225550"/>
          </a:xfrm>
          <a:prstGeom prst="roundRect">
            <a:avLst>
              <a:gd name="adj" fmla="val 4145"/>
            </a:avLst>
          </a:prstGeom>
          <a:solidFill>
            <a:srgbClr val="EEF3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16000" y="1971675"/>
            <a:ext cx="10793984" cy="1020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25"/>
              </a:lnSpc>
              <a:buNone/>
            </a:pP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each row's units to the columns that still need the </a:t>
            </a: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</a:t>
            </a: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at most K per cell.</a:t>
            </a:r>
            <a:endParaRPr lang="en-US" sz="25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209925"/>
            <a:ext cx="11200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Why: a column that still needs a lot is the hardest to satisfy. Every later row can give it at most K, and rows are running out. Columns that need little are easy to top up later.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WHY IT IS SAFE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EXCHANGE ARGUMENT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1061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Suppose a valid grid gives this row's unit to column j (needs less) instead of column i (needs more, not yet at K).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28541"/>
            <a:ext cx="1110615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i needs more, so some later row r gave i more than j.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11153"/>
            <a:ext cx="11106150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Swap: this row moves one unit j → i; row r moves one unit i → j. All row and column sums stay the same.</a:t>
            </a:r>
            <a:endParaRPr lang="en-US" sz="225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536678"/>
            <a:ext cx="1110615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0A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if any answer exists, the greedy finds one.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MAKING IT FAST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25"/>
              </a:lnSpc>
              <a:buNone/>
            </a:pPr>
            <a:r>
              <a:rPr lang="en-US" sz="35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WATER-FILLING: BINARY SEARCH THE LEVEL</a:t>
            </a:r>
            <a:endParaRPr lang="en-US" sz="35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44675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unit at a time is too slow (R[i] up to 10⁹). Treat rem[j] (what column j still needs) as column heights and cut everything above a level λ: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12800" y="2870200"/>
            <a:ext cx="11200384" cy="577850"/>
          </a:xfrm>
          <a:prstGeom prst="roundRect">
            <a:avLst>
              <a:gd name="adj" fmla="val 8791"/>
            </a:avLst>
          </a:prstGeom>
          <a:solidFill>
            <a:srgbClr val="EEF3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6000" y="2971800"/>
            <a:ext cx="10793984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x[j] = min(K, max(0, rem[j] − λ))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587750"/>
            <a:ext cx="11200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λ → more units sent: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monotone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Binary search the smallest λ with Σ x[j] ≤ R[i]. Hand the few leftover units, one each, to columns sitting exactly at λ that are still below K.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ALGORITHM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ROW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91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ΣR ≠ ΣC: NO. Start with rem[j] = C[j].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 startAt="1"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check: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Σ min(K, rem[j]) is the most this row can send. If it is less than R[i]: NO.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the smallest λ with give(λ) ≤ R[i].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x[j]; hand out the leftover; subtract from rem.</a:t>
            </a:r>
            <a:endParaRPr lang="en-US" sz="2250" dirty="0"/>
          </a:p>
          <a:p>
            <a:pPr marL="371475" indent="-371475">
              <a:lnSpc>
                <a:spcPts val="3713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end every rem[j] must be 0, else NO.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1, ROW 1 (SEND 6)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4　R = 6 8 3　C = 5 5 7　→ rem = 5 5 7</a:t>
            </a:r>
            <a:endParaRPr lang="en-US" sz="22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1016"/>
          <a:ext cx="10566400" cy="914400"/>
        </p:xfrm>
        <a:graphic>
          <a:graphicData uri="http://schemas.openxmlformats.org/drawingml/2006/table">
            <a:tbl>
              <a:tblPr/>
              <a:tblGrid>
                <a:gridCol w="1690588"/>
                <a:gridCol w="1690588"/>
                <a:gridCol w="1690588"/>
                <a:gridCol w="1690588"/>
                <a:gridCol w="1690588"/>
                <a:gridCol w="2113459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λ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 1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 2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 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6?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3985816"/>
            <a:ext cx="11200384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= ___　leftover = ___ → goes to column ___　row 1 = ___ ___ ___　new rem = ___ ___ ___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CORE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GIVE(Λ) AND THE SEARCH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812800" y="1903016"/>
            <a:ext cx="5676900" cy="3746500"/>
          </a:xfrm>
          <a:prstGeom prst="roundRect">
            <a:avLst>
              <a:gd name="adj" fmla="val 1356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2350" y="2061766"/>
            <a:ext cx="5888736" cy="2028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units this row sends at level lam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give(long long lam){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sum = 0;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j = 1; j &lt;= n; j ++)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sum += min(K, max(0LL, rem[j] - lam));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sum;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43700" y="1903016"/>
            <a:ext cx="4635500" cy="3746500"/>
          </a:xfrm>
          <a:prstGeom prst="roundRect">
            <a:avLst>
              <a:gd name="adj" fmla="val 1356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953250" y="2061766"/>
            <a:ext cx="4722368" cy="3457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if (give(0) &lt; R[i]){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cout &lt;&lt; "NO" &lt;&lt; endl;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0;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5D667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// first lam with give &lt;= R[i] → l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while (l &lt;= r){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mid = (l + r) / 2;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if (give(mid) &lt;= R[i])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r = mid - 1;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else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l = mid + 1;</a:t>
            </a:r>
            <a:endParaRPr lang="en-US" sz="1500" dirty="0"/>
          </a:p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 · SCORING ROUTE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SUBTASKS AND COMMON MISTAKES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Subtask ladder</a:t>
            </a:r>
            <a:endParaRPr lang="en-US" sz="25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379266"/>
            <a:ext cx="5334000" cy="2639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R[i] = 1, K huge: one unit per row, any column still short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huge: fill in order; ΣR = ΣC is enough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1: 0/1 grid, tallest columns first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values: greedy one unit at a time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Full: water-filling + binary search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6299200" y="1903016"/>
            <a:ext cx="53848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mistakes</a:t>
            </a:r>
            <a:endParaRPr lang="en-US" sz="2550" dirty="0"/>
          </a:p>
        </p:txBody>
      </p:sp>
      <p:sp>
        <p:nvSpPr>
          <p:cNvPr id="7" name="Text 5"/>
          <p:cNvSpPr txBox="1"/>
          <p:nvPr/>
        </p:nvSpPr>
        <p:spPr>
          <a:xfrm>
            <a:off x="6299200" y="2379266"/>
            <a:ext cx="5334000" cy="2213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Forgetting ΣR = ΣC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Filling columns in index order when K is small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Serving the column that needs the least</a:t>
            </a:r>
            <a:endParaRPr lang="en-US" sz="2100" dirty="0"/>
          </a:p>
          <a:p>
            <a:pPr marL="293370" indent="-293370">
              <a:lnSpc>
                <a:spcPts val="3360"/>
              </a:lnSpc>
              <a:buSzPct val="100000"/>
              <a:buChar char="•"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unit at a time on the full data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92345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spc="15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PROBLEM 5 · 2023 AIO PROBLEM 5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431455"/>
            <a:ext cx="11200384" cy="730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600" b="1" spc="15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30259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picture: cut the tallest rivals down to a level.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3905845"/>
            <a:ext cx="2064445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2800" y="3905845"/>
            <a:ext cx="206444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2991545" y="3905845"/>
            <a:ext cx="4613672" cy="457200"/>
          </a:xfrm>
          <a:prstGeom prst="roundRect">
            <a:avLst>
              <a:gd name="adj" fmla="val 50000"/>
            </a:avLst>
          </a:prstGeom>
          <a:solidFill>
            <a:srgbClr val="E6F3F2"/>
          </a:solidFill>
          <a:ln w="12700">
            <a:solidFill>
              <a:srgbClr val="3E9A9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91545" y="3905845"/>
            <a:ext cx="461367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 (Fenwick tree)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12800" y="4477345"/>
            <a:ext cx="200531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812800" y="4477345"/>
            <a:ext cx="20053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2932410" y="4477345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2932410" y="4477345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candidates, M voters. Voter i plans to vote for V[i]; paying P[i] makes them vote for anyone you like.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minimum cost so candidate 1 gets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strictly more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votes than every other candidate.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071938"/>
            <a:ext cx="10601325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N, M ≤ 100 000, P[i] ≤ 10 000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4516438"/>
            <a:ext cx="10601325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simplification: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bought voter should always switch to candidate 1. That takes a vote from a rival </a:t>
            </a:r>
            <a:r>
              <a:rPr lang="en-US" sz="2400" i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adds one to us.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KEY OBSERVATION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OUR FINAL VOTE COUNT 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water level is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− 1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Every rival above it must be cut down to k − 1: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12800" y="2485628"/>
            <a:ext cx="11200384" cy="552450"/>
          </a:xfrm>
          <a:prstGeom prst="roundRect">
            <a:avLst>
              <a:gd name="adj" fmla="val 9195"/>
            </a:avLst>
          </a:prstGeom>
          <a:solidFill>
            <a:srgbClr val="EEF3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16000" y="2587228"/>
            <a:ext cx="10793984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rival with c votes loses at least c − k + 1: buy their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cheapest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voters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12800" y="3177778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short of k? Top up with the cheapest voters left anywhere.</a:t>
            </a:r>
            <a:endParaRPr lang="en-US" sz="225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3760391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every k and keep the cheapest total.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0795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EXAMPLE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01416"/>
            <a:ext cx="11200384" cy="700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1: 1 vote　Candidate 2: 4 votes, costs 1 2 5 9　Candidate 3: 2 votes, costs 3 3</a:t>
            </a:r>
            <a:endParaRPr lang="en-US" sz="2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614216"/>
          <a:ext cx="10566400" cy="914400"/>
        </p:xfrm>
        <a:graphic>
          <a:graphicData uri="http://schemas.openxmlformats.org/drawingml/2006/table">
            <a:tbl>
              <a:tblPr/>
              <a:tblGrid>
                <a:gridCol w="1056580"/>
                <a:gridCol w="3169841"/>
                <a:gridCol w="1690588"/>
                <a:gridCol w="2958505"/>
                <a:gridCol w="1690886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Forced buys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Our votes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Top-up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PAIR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PICTURE, DIFFERENT SEARCH</a:t>
            </a:r>
            <a:endParaRPr lang="en-US" sz="3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914400"/>
        </p:xfrm>
        <a:graphic>
          <a:graphicData uri="http://schemas.openxmlformats.org/drawingml/2006/table">
            <a:tbl>
              <a:tblPr/>
              <a:tblGrid>
                <a:gridCol w="2535932"/>
                <a:gridCol w="4015184"/>
                <a:gridCol w="4015284"/>
              </a:tblGrid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Wheeling and Dealing (P5)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Mundane Square (P6)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13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Minimum cost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a grid exist? Build it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rival's votes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each column still needs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level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 every k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cost is not 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λ</a:t>
                      </a: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: total is monotone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 choice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rival's cheapest voters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Columns that need the most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Sorting, Fenwick tree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210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search, a scan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· MAKING IT FAST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SWEEP K FROM HIGH TO LOW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Forced buys only grow.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Each time k drops by 1, every rival with ≥ k votes gives up one more voter, their next cheapest. At most M buys in total.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28541"/>
            <a:ext cx="112003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"Cheapest t voters left":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costs are ≤ 10 000, so keep a Fenwick tree indexed by cost holding counts and sums. Remove forced buys from it; walk down the tree to sum the cheapest t.</a:t>
            </a:r>
            <a:endParaRPr lang="en-US" sz="225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396978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O(M log 10 000). Optional reading: </a:t>
            </a:r>
            <a:r>
              <a:rPr lang="en-US" sz="2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2023_P5_Wheeling_and_Dealing.cpp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ity illustra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3000" y="736600"/>
            <a:ext cx="3429000" cy="61214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2800" y="1783755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b="1" spc="15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PROBLEM 5 · 2026 AIO PROBLEM 5</a:t>
            </a:r>
            <a:endParaRPr lang="en-US" sz="1950" dirty="0"/>
          </a:p>
        </p:txBody>
      </p:sp>
      <p:sp>
        <p:nvSpPr>
          <p:cNvPr id="4" name="Text 1"/>
          <p:cNvSpPr txBox="1"/>
          <p:nvPr/>
        </p:nvSpPr>
        <p:spPr>
          <a:xfrm>
            <a:off x="812800" y="2291755"/>
            <a:ext cx="11200384" cy="104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60"/>
              </a:lnSpc>
              <a:buNone/>
            </a:pPr>
            <a:r>
              <a:rPr lang="en-US" sz="6600" b="1" spc="15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</a:t>
            </a:r>
            <a:endParaRPr lang="en-US" sz="6600" dirty="0"/>
          </a:p>
        </p:txBody>
      </p:sp>
      <p:sp>
        <p:nvSpPr>
          <p:cNvPr id="5" name="Text 2"/>
          <p:cNvSpPr txBox="1"/>
          <p:nvPr/>
        </p:nvSpPr>
        <p:spPr>
          <a:xfrm>
            <a:off x="812800" y="3442295"/>
            <a:ext cx="8077200" cy="423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the picture: fill the valleys up to a level.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812800" y="4045545"/>
            <a:ext cx="2939058" cy="457200"/>
          </a:xfrm>
          <a:prstGeom prst="roundRect">
            <a:avLst>
              <a:gd name="adj" fmla="val 50000"/>
            </a:avLst>
          </a:prstGeom>
          <a:solidFill>
            <a:srgbClr val="FDF0D6"/>
          </a:solidFill>
          <a:ln w="12700">
            <a:solidFill>
              <a:srgbClr val="E0960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2800" y="4045545"/>
            <a:ext cx="293905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main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3866158" y="4045545"/>
            <a:ext cx="2375991" cy="457200"/>
          </a:xfrm>
          <a:prstGeom prst="roundRect">
            <a:avLst>
              <a:gd name="adj" fmla="val 50000"/>
            </a:avLst>
          </a:prstGeom>
          <a:solidFill>
            <a:srgbClr val="DFE8EC"/>
          </a:solidFill>
          <a:ln w="12700">
            <a:solidFill>
              <a:srgbClr val="0A405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866158" y="4045545"/>
            <a:ext cx="237599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r>
              <a:rPr lang="en-US" sz="21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support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6356449" y="4045545"/>
            <a:ext cx="163443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1" name="Text 8"/>
          <p:cNvSpPr txBox="1"/>
          <p:nvPr/>
        </p:nvSpPr>
        <p:spPr>
          <a:xfrm>
            <a:off x="6356449" y="4045545"/>
            <a:ext cx="16344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Sum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812800" y="4617045"/>
            <a:ext cx="1871861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4BAC0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812800" y="4617045"/>
            <a:ext cx="1871861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Pointers</a:t>
            </a:r>
            <a:endParaRPr lang="en-US" sz="2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0096500" cy="9904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people (N odd) have wealth A[1] ≤ … ≤ A[N]. Hand out K dollars (non-negative whole amounts each).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987477"/>
            <a:ext cx="10096500" cy="518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2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</a:t>
            </a:r>
            <a:r>
              <a:rPr lang="en-US" sz="240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</a:t>
            </a: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wealth as large as possible.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3599557"/>
            <a:ext cx="10096500" cy="344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≤ 200 000, K, A[i] ≤ 10⁹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 · KEY OBSERVATION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THE MEDIAN REACH X?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Median ≥ x ⇔ at least (N+1)/2 people have ≥ x.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422128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Cheapest way (Greedy): raise the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richest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(N+1)/2 people, A[md..N] with md = (N+1)/2. Money for the left half never helps.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812800" y="3434953"/>
            <a:ext cx="11200384" cy="552450"/>
          </a:xfrm>
          <a:prstGeom prst="roundRect">
            <a:avLst>
              <a:gd name="adj" fmla="val 9195"/>
            </a:avLst>
          </a:prstGeom>
          <a:solidFill>
            <a:srgbClr val="FFFAF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16000" y="3536553"/>
            <a:ext cx="10793984" cy="394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cost(x) = Σ over i = md..N of max(0, x − A[i]) ≤ K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4114403"/>
            <a:ext cx="11200384" cy="928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88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Bigger x costs more: monotone → </a:t>
            </a: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on the answer</a:t>
            </a: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last x that passes.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 · WORK IT BY HAND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1: K = 4, A = 1 2 5 6 9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52216"/>
            <a:ext cx="11200384" cy="42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= ___　right half = ___ ___ ___　search range = [___, ___]</a:t>
            </a:r>
            <a:endParaRPr lang="en-US" sz="22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11016"/>
          <a:ext cx="10566400" cy="914400"/>
        </p:xfrm>
        <a:graphic>
          <a:graphicData uri="http://schemas.openxmlformats.org/drawingml/2006/table">
            <a:tbl>
              <a:tblPr/>
              <a:tblGrid>
                <a:gridCol w="1479252"/>
                <a:gridCol w="1690588"/>
                <a:gridCol w="1690588"/>
                <a:gridCol w="1690588"/>
                <a:gridCol w="1901924"/>
                <a:gridCol w="2113459"/>
              </a:tblGrid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up 5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up 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up 9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4?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67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635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700"/>
                        </a:lnSpc>
                        <a:buNone/>
                      </a:pPr>
                      <a:r>
                        <a:rPr lang="en-US" sz="22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2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12800" y="4449366"/>
            <a:ext cx="11200384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= ___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ALL THREE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USES OF THE WATER LEVEL</a:t>
            </a:r>
            <a:endParaRPr lang="en-US" sz="3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903016"/>
          <a:ext cx="10566400" cy="914400"/>
        </p:xfrm>
        <a:graphic>
          <a:graphicData uri="http://schemas.openxmlformats.org/drawingml/2006/table">
            <a:tbl>
              <a:tblPr/>
              <a:tblGrid>
                <a:gridCol w="2007592"/>
                <a:gridCol w="2852837"/>
                <a:gridCol w="2852837"/>
                <a:gridCol w="2853134"/>
              </a:tblGrid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 Minister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Mundane Square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Wheeling and Dealing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half's wealth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each column needs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Each rival's votes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1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Fill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below x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above λ, ≤ K per cell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Cut</a:t>
                      </a: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above k − 1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Find the level by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(last x)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 (first λ)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Trying every k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Goal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Exists? Build it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Optimise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VS CUT IN CODE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MIN, ONE MAX APART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5371338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 Minister: fill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12800" y="2309416"/>
            <a:ext cx="5067300" cy="2698750"/>
          </a:xfrm>
          <a:prstGeom prst="roundRect">
            <a:avLst>
              <a:gd name="adj" fmla="val 1882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2350" y="2468166"/>
            <a:ext cx="5205984" cy="2405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bool check(long long x){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cost = 0;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i = md; i &lt;= n; i ++)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if (a[i] &lt; x){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cost += x - a[i];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if (cost &gt; K)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      return false;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}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true;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134100" y="1903016"/>
            <a:ext cx="5371338" cy="37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Square: cut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6134100" y="2309416"/>
            <a:ext cx="5067300" cy="1984375"/>
          </a:xfrm>
          <a:prstGeom prst="roundRect">
            <a:avLst>
              <a:gd name="adj" fmla="val 2560"/>
            </a:avLst>
          </a:prstGeom>
          <a:solidFill>
            <a:srgbClr val="F6F7F7"/>
          </a:solidFill>
          <a:ln w="6350">
            <a:solidFill>
              <a:srgbClr val="DADD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43650" y="2468166"/>
            <a:ext cx="5205984" cy="1690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long long give(long long lam){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long long sum = 0;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for (int j = 1; j &lt;= n; j ++)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sum += min(K,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    max(0LL, rem[j] - lam));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return sum;</a:t>
            </a:r>
            <a:endParaRPr lang="en-US" sz="1250" dirty="0"/>
          </a:p>
          <a:p>
            <a:pPr algn="l" indent="0" marL="0">
              <a:lnSpc>
                <a:spcPts val="1875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E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8A5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CODING · 25 MINUTES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PRIME MINISTER FROM SCRATCH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N, K and A[1..N] (long long); md = (N+1)/2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check(x): top up A[md..N] to x, stop early once cost &gt; K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search x in [A[md], A[md] + K] for the last value that passes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r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the samples: expect 7, 6, 2</a:t>
            </a:r>
            <a:endParaRPr lang="en-US" sz="225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4535091"/>
            <a:ext cx="11200384" cy="64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Write the slow version for subtask 3: give $1 at a time to the poorest of the right half. Compare answers.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5347891"/>
            <a:ext cx="11200384" cy="316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950" dirty="0">
                <a:solidFill>
                  <a:srgbClr val="4D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Submit: </a:t>
            </a:r>
            <a:r>
              <a:rPr lang="en-US" sz="19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orac2.info/problem/1751</a:t>
            </a:r>
            <a:endParaRPr lang="en-US" sz="1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049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USED SO FAR</a:t>
            </a:r>
            <a:endParaRPr lang="en-US" sz="3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52216"/>
          <a:ext cx="10566400" cy="914400"/>
        </p:xfrm>
        <a:graphic>
          <a:graphicData uri="http://schemas.openxmlformats.org/drawingml/2006/table">
            <a:tbl>
              <a:tblPr/>
              <a:tblGrid>
                <a:gridCol w="2958505"/>
                <a:gridCol w="1901924"/>
                <a:gridCol w="1901924"/>
                <a:gridCol w="1901924"/>
                <a:gridCol w="1902123"/>
              </a:tblGrid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Problem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Sum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Binary Search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Two Pointers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b="1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Greedy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762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F232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Spaceship Shuffle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Tennis Robot II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Twin Rivers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bridges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Laser Cutter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Space Mission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prefix min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Lollipops II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counting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Mundane Square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level λ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Wheeling and Dealing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Fenwick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Prime Minister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main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40"/>
                        </a:lnSpc>
                        <a:buNone/>
                      </a:pPr>
                      <a:r>
                        <a:rPr lang="en-US" sz="1950" dirty="0">
                          <a:solidFill>
                            <a:srgbClr val="1F23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right half</a:t>
                      </a:r>
                      <a:endParaRPr lang="en-US" sz="1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1600" marR="101600" marT="63500" marB="6985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ADD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660400"/>
            <a:ext cx="11200384" cy="300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spc="100" kern="0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LESSON 4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30300"/>
            <a:ext cx="11200384" cy="6438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b="1" spc="100" kern="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</a:t>
            </a:r>
            <a:endParaRPr lang="en-US" sz="39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3016"/>
            <a:ext cx="11094720" cy="2028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Mundane Square: full program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orac2.info/problem/1747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Wheeling and Dealing subtasks 1–3 (no Fenwick tree needed) · </a:t>
            </a:r>
            <a:r>
              <a:rPr lang="en-US" sz="2250" u="sng" dirty="0">
                <a:solidFill>
                  <a:srgbClr val="287673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orac2.info/problem/1298</a:t>
            </a:r>
            <a:endParaRPr lang="en-US" sz="2250" dirty="0"/>
          </a:p>
          <a:p>
            <a:pPr marL="371475" indent="-371475">
              <a:lnSpc>
                <a:spcPts val="3825"/>
              </a:lnSpc>
              <a:buSzPct val="100000"/>
              <a:buFont typeface="+mj-lt"/>
              <a:buAutoNum type="arabicPeriod" startAt="1"/>
            </a:pPr>
            <a:r>
              <a:rPr lang="en-US" sz="2250" dirty="0">
                <a:solidFill>
                  <a:srgbClr val="1F2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in Mundane Square, what goes wrong if each cell has its own cap K[i][j]?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0" y="6705600"/>
            <a:ext cx="952500" cy="152400"/>
          </a:xfrm>
          <a:prstGeom prst="rect">
            <a:avLst/>
          </a:prstGeom>
          <a:solidFill>
            <a:srgbClr val="F9AA1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AIO Lessons">
  <a:themeElements>
    <a:clrScheme name="AIO Lessons">
      <a:dk1>
        <a:srgbClr val="1F2328"/>
      </a:dk1>
      <a:lt1>
        <a:srgbClr val="FFFFFF"/>
      </a:lt1>
      <a:dk2>
        <a:srgbClr val="0A4054"/>
      </a:dk2>
      <a:lt2>
        <a:srgbClr val="F6F7F7"/>
      </a:lt2>
      <a:accent1>
        <a:srgbClr val="66B2B0"/>
      </a:accent1>
      <a:accent2>
        <a:srgbClr val="F2494C"/>
      </a:accent2>
      <a:accent3>
        <a:srgbClr val="F9AA19"/>
      </a:accent3>
      <a:accent4>
        <a:srgbClr val="F9C996"/>
      </a:accent4>
      <a:accent5>
        <a:srgbClr val="3E9A97"/>
      </a:accent5>
      <a:accent6>
        <a:srgbClr val="9FD1D0"/>
      </a:accent6>
      <a:hlink>
        <a:srgbClr val="287673"/>
      </a:hlink>
      <a:folHlink>
        <a:srgbClr val="0A4054"/>
      </a:folHlink>
    </a:clrScheme>
    <a:fontScheme name="AIO Lesson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AIO Lesson 3: Greedy and the Water Level</dc:title>
  <dc:subject>PptxGenJS Presentation</dc:subject>
  <dc:creator>Bryan</dc:creator>
  <cp:lastModifiedBy>Bryan</cp:lastModifiedBy>
  <cp:revision>1</cp:revision>
  <dcterms:created xsi:type="dcterms:W3CDTF">2026-10-02T13:29:14Z</dcterms:created>
  <dcterms:modified xsi:type="dcterms:W3CDTF">2026-10-02T13:29:14Z</dcterms:modified>
</cp:coreProperties>
</file>