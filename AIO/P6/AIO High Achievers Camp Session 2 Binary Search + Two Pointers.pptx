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87" r:id="rId5"/>
    <p:sldId id="286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90" r:id="rId42"/>
    <p:sldId id="268" r:id="rId16"/>
    <p:sldId id="269" r:id="rId17"/>
    <p:sldId id="270" r:id="rId18"/>
    <p:sldId id="271" r:id="rId19"/>
    <p:sldId id="272" r:id="rId20"/>
    <p:sldId id="273" r:id="rId21"/>
    <p:sldId id="289" r:id="rId41"/>
    <p:sldId id="274" r:id="rId22"/>
    <p:sldId id="275" r:id="rId23"/>
    <p:sldId id="276" r:id="rId24"/>
    <p:sldId id="277" r:id="rId25"/>
    <p:sldId id="278" r:id="rId26"/>
    <p:sldId id="279" r:id="rId27"/>
    <p:sldId id="295" r:id="rId47"/>
    <p:sldId id="294" r:id="rId46"/>
    <p:sldId id="293" r:id="rId45"/>
    <p:sldId id="292" r:id="rId44"/>
    <p:sldId id="291" r:id="rId43"/>
    <p:sldId id="280" r:id="rId28"/>
    <p:sldId id="281" r:id="rId29"/>
    <p:sldId id="288" r:id="rId40"/>
    <p:sldId id="282" r:id="rId30"/>
    <p:sldId id="283" r:id="rId31"/>
    <p:sldId id="284" r:id="rId32"/>
    <p:sldId id="285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: the binary search template" id="{CCB859BC-A6BD-2ECD-DAC9-0BE4929069A7}">
          <p14:sldIdLst>
            <p14:sldId id="256"/>
            <p14:sldId id="257"/>
            <p14:sldId id="258"/>
            <p14:sldId id="287"/>
            <p14:sldId id="286"/>
            <p14:sldId id="259"/>
          </p14:sldIdLst>
        </p14:section>
        <p14:section name="2021 P6 Laser Cutter: binary search on the answer" id="{2BA587EA-6398-66CB-0454-198935A24BB1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90"/>
          </p14:sldIdLst>
        </p14:section>
        <p14:section name="2021 P5 Space Mission: build monotonicity with a prefix minimum" id="{80D78653-E9B9-548C-3C2F-21A0339399BC}">
          <p14:sldIdLst>
            <p14:sldId id="268"/>
            <p14:sldId id="269"/>
            <p14:sldId id="270"/>
            <p14:sldId id="271"/>
            <p14:sldId id="272"/>
            <p14:sldId id="273"/>
            <p14:sldId id="289"/>
          </p14:sldIdLst>
        </p14:section>
        <p14:section name="2019 P6 Lollipops II: a monotone sum plus two pointers" id="{CB3204A7-A7E6-EDAC-31F6-B8CC1390A458}">
          <p14:sldIdLst>
            <p14:sldId id="274"/>
            <p14:sldId id="275"/>
            <p14:sldId id="276"/>
            <p14:sldId id="277"/>
            <p14:sldId id="278"/>
            <p14:sldId id="279"/>
            <p14:sldId id="295"/>
            <p14:sldId id="294"/>
            <p14:sldId id="293"/>
            <p14:sldId id="292"/>
            <p14:sldId id="291"/>
            <p14:sldId id="280"/>
            <p14:sldId id="281"/>
            <p14:sldId id="288"/>
          </p14:sldIdLst>
        </p14:section>
        <p14:section name="Where monotonicity comes from, live coding, recap and homework" id="{B3E5A533-C7E4-F04E-592F-6FB3C49ACD83}">
          <p14:sldIdLst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917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184" y="10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  <Relationship Id="rId44" Type="http://schemas.openxmlformats.org/officeDocument/2006/relationships/slide" Target="slides/slide37.xml"/>
  <Relationship Id="rId45" Type="http://schemas.openxmlformats.org/officeDocument/2006/relationships/slide" Target="slides/slide38.xml"/>
  <Relationship Id="rId46" Type="http://schemas.openxmlformats.org/officeDocument/2006/relationships/slide" Target="slides/slide39.xml"/>
  <Relationship Id="rId47" Type="http://schemas.openxmlformats.org/officeDocument/2006/relationships/slide" Target="slides/slide40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DF0C224-3A3E-55A6-A8D1-F8F2208D385B}"/>
    <pc:docChg chg="modSld">
      <pc:chgData name="Bryan Sun" userId="851caa7714272873" providerId="LiveId" clId="{1DF0C224-3A3E-55A6-A8D1-F8F2208D385B}" dt="2026-10-03T13:49:55.136" v="82" actId="1038"/>
      <pc:docMkLst>
        <pc:docMk/>
      </pc:docMkLst>
      <pc:sldChg chg="modSp mod">
        <pc:chgData name="Bryan Sun" userId="851caa7714272873" providerId="LiveId" clId="{1DF0C224-3A3E-55A6-A8D1-F8F2208D385B}" dt="2026-10-02T13:41:03.978" v="4" actId="242"/>
        <pc:sldMkLst>
          <pc:docMk/>
          <pc:sldMk cId="0" sldId="256"/>
        </pc:sldMkLst>
        <pc:spChg chg="mod">
          <ac:chgData name="Bryan Sun" userId="851caa7714272873" providerId="LiveId" clId="{1DF0C224-3A3E-55A6-A8D1-F8F2208D385B}" dt="2026-10-02T13:41:03.978" v="4" actId="242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3T07:02:59.135" v="19" actId="20577"/>
        <pc:sldMkLst>
          <pc:docMk/>
          <pc:sldMk cId="0" sldId="258"/>
        </pc:sldMkLst>
        <pc:spChg chg="mod">
          <ac:chgData name="Bryan Sun" userId="851caa7714272873" providerId="LiveId" clId="{1DF0C224-3A3E-55A6-A8D1-F8F2208D385B}" dt="2026-10-03T07:02:55.288" v="12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10-03T07:02:59.135" v="19" actId="20577"/>
          <ac:spMkLst>
            <pc:docMk/>
            <pc:sldMk cId="0" sldId="258"/>
            <ac:spMk id="19" creationId="{00000000-0000-0000-0000-000000000000}"/>
          </ac:spMkLst>
        </pc:spChg>
      </pc:sldChg>
      <pc:sldChg chg="modAnim">
        <pc:chgData name="Bryan Sun" userId="851caa7714272873" providerId="LiveId" clId="{1DF0C224-3A3E-55A6-A8D1-F8F2208D385B}" dt="2026-10-03T13:47:10.613" v="41"/>
        <pc:sldMkLst>
          <pc:docMk/>
          <pc:sldMk cId="0" sldId="265"/>
        </pc:sldMkLst>
      </pc:sldChg>
      <pc:sldChg chg="modSp mod modAnim">
        <pc:chgData name="Bryan Sun" userId="851caa7714272873" providerId="LiveId" clId="{1DF0C224-3A3E-55A6-A8D1-F8F2208D385B}" dt="2026-10-03T13:49:55.136" v="82" actId="1038"/>
        <pc:sldMkLst>
          <pc:docMk/>
          <pc:sldMk cId="0" sldId="271"/>
        </pc:sldMkLst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9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6-10-03T13:49:55.136" v="82" actId="1038"/>
          <ac:spMkLst>
            <pc:docMk/>
            <pc:sldMk cId="0" sldId="271"/>
            <ac:spMk id="12" creationId="{00000000-0000-0000-0000-000000000000}"/>
          </ac:spMkLst>
        </pc:spChg>
        <pc:graphicFrameChg chg="modGraphic">
          <ac:chgData name="Bryan Sun" userId="851caa7714272873" providerId="LiveId" clId="{1DF0C224-3A3E-55A6-A8D1-F8F2208D385B}" dt="2026-10-03T13:49:39.673" v="67" actId="122"/>
          <ac:graphicFrameMkLst>
            <pc:docMk/>
            <pc:sldMk cId="0" sldId="271"/>
            <ac:graphicFrameMk id="19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94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次课的主题是单调性（monotonicity）：它从哪里来，Binary Search 和 Two Pointers 怎样利用它。今天有三种来源：题目直接给的（Laser Cutter）、用前缀最小值造出来的（Space Mission）、用总和造出来的（Lollipops II）。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先用 5 分钟讲上次的作业（Tennis Robot II）：谁的轮数除法公式写对了？</a:t>
            </a:r>
          </a:p>
          <a:p>
            <a:r>
              <a:rPr lang="zh-CN" altLang="en-US" dirty="0"/>
              <a:t>参考：t = (s − 1) / (−d[i]) + 1，其中 s = X[i] + mn[i]；s &lt; 1 时 t = 0；d[i] ≥ 0 时跳过。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今天每道题都问同一个问题：单调性从哪里来？是题目给的，还是我们自己造出来的？</a:t>
            </a:r>
          </a:p>
          <a:p>
            <a:r>
              <a:rPr lang="zh-CN" altLang="en-US" dirty="0"/>
              <a:t>接下来两页先不看具体题目，而是从"解空间的形状"讲起：什么样的形状可以二分，二分的循环到底在做什么。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从解空间（solution space，也叫 search space）讲起：把所有可能的答案 x 从小到大排成一行，对每个 x 问一次 check(x)：行（✓）还是不行（✗）。然后看这一行 ✓ / ✗ 的"形状"。</a:t>
            </a:r>
          </a:p>
          <a:p>
            <a:r>
              <a:rPr lang="zh-CN" altLang="en-US" dirty="0"/>
              <a:t>单调（monotone）= 只有一条分界线：✗✗✗✓✓✓ 或 ✓✓✓✗✗✗。这时随便查中间的一个 mid，就知道分界线在它左边还是右边，可以扔掉一半 → Binary Search。</a:t>
            </a:r>
          </a:p>
          <a:p>
            <a:r>
              <a:rPr lang="zh-CN" altLang="en-US" dirty="0"/>
              <a:t>不单调：✓ 和 ✗ 交错。查到一个 ✗，不知道 ✓ 在左边还是右边 → 不能二分。要么全部检查，要么换一个单调的量（今天的 Lollipops II 就是这样）。</a:t>
            </a:r>
          </a:p>
          <a:p>
            <a:r>
              <a:rPr lang="zh-CN" altLang="en-US" dirty="0"/>
              <a:t>提问：第 1 次课哪道题也有这种形状？参考答案：Tennis Robot II，"箱子 i 能撑过 r 轮吗？"随 r 增大是 ✓✓✓✗✗。那里我们用除法直接算出了分界线。</a:t>
            </a:r>
          </a:p>
          <a:p>
            <a:r>
              <a:rPr lang="zh-CN" altLang="en-US" dirty="0"/>
              <a:t>一句话总结：二分找的不是答案本身，而是 ✗ 和 ✓ 的分界线。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用左边那个模板（check 为真 → r = mid − 1，否则 l = mid + 1）一步一步走这张表。第一行是"真实的"✓ / ✗，但程序看不到，只能一次查一个 mid。</a:t>
            </a:r>
          </a:p>
          <a:p>
            <a:r>
              <a:rPr lang="zh-CN" altLang="en-US" dirty="0"/>
              <a:t>答案就是表格：mid = 5 是 ✗ → 分界线在右边，l = 6；mid = 8 是 ✓ → 分界线在左边，r = 7；mid = 6 是 ✗ → l = 7；mid = 7 是 ✓ → r = 6，l &gt; r，循环结束。</a:t>
            </a:r>
          </a:p>
          <a:p>
            <a:r>
              <a:rPr lang="zh-CN" altLang="en-US" dirty="0"/>
              <a:t>结束时 r = 6 是最后一个 ✗，l = 7 是第一个 ✓，而且 l = r + 1 总是成立。所以：要第一个 ✓（形状 ✗✗✓✓）输出 l；要最后一个 ✓（形状 ✓✓✗✗）用另一个写法，输出 r。</a:t>
            </a:r>
          </a:p>
          <a:p>
            <a:r>
              <a:rPr lang="zh-CN" altLang="en-US" dirty="0"/>
              <a:t>每次扔掉一半：N 个候选只要约 log₂N 次 check。10 个 → 4 次，10^9 个 → 约 30 次。</a:t>
            </a:r>
          </a:p>
          <a:p>
            <a:r>
              <a:rPr lang="zh-CN" altLang="en-US" dirty="0"/>
              <a:t>提问：如果整行都是 ✗，循环结束时 l 是多少？答案：l = N + 1（越界），表示没有可行值，要特判。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这和课程里 timber、expense 题用的是同一个模板。</a:t>
            </a:r>
          </a:p>
          <a:p>
            <a:r>
              <a:rPr lang="zh-CN" altLang="en-US" dirty="0"/>
              <a:t>提问："能放下的最大正方形"用哪个写法？答案：找最后一个可行值 → 输出 r。</a:t>
            </a:r>
          </a:p>
          <a:p>
            <a:r>
              <a:rPr lang="zh-CN" altLang="en-US" dirty="0"/>
              <a:t>"总和达到 S 的最小半径"用哪个写法？答案：找第一个可行值 → 输出 l。</a:t>
            </a:r>
          </a:p>
          <a:p>
            <a:r>
              <a:rPr lang="zh-CN" altLang="en-US" dirty="0"/>
              <a:t>两种形状对应两种写法：✗✗✗✓✓✓ 找第一个 ✓，输出 l；✓✓✓✗✗✗ 找最后一个 ✓，输出 r。和上一页的表格对照：循环结束时 r 停在最后一个 ✗，l 停在第一个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30 分钟。这里的单调性是题目直接给的：两条切割线都是阶梯（staircase）。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在右侧画样例 2：A = DDDDDDRRRRRR（先下后右），B = RDRRDDDRRRDD。答案是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Brute force 仍然值得写：它能拿 N ≤ 10 和 N ≤ 1000 的 subtask 分，之后还能当对拍用的 checker。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单调性就是从这里来的，而且是题目直接给的。画一列，标出 yb 和 ya。</a:t>
            </a:r>
          </a:p>
          <a:p>
            <a:r>
              <a:rPr lang="zh-CN" altLang="en-US" dirty="0"/>
              <a:t>参考（样例 2）：ya = 6 6 6 6 6 6，yb = 0 1 1 4 4 4，两者都单调不减。</a:t>
            </a:r>
          </a:p>
          <a:p>
            <a:r>
              <a:rPr lang="zh-CN" altLang="en-US" dirty="0"/>
              <a:t>右图是新编的例子（N = 8，不是样例，免得提前给出第 12 页的答案）：紫线是上边界 B，橙线是下边界 A，青色格子是两条切割线之间的形状。每次切割线向右走过第 x 列时，记下当时的行号：yb = 0 0 1 2 2 4 6 7，ya = 3 5 6 6 7 8 8 8。红色虚线框是第 3 列：它占第 yb[3] = 1 行到第 ya[3] − 1 = 5 行。两行数字都从左到右单调不减，这就是"阶梯"（staircase）。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常见错误：在同一列里同时检查上下边界。画图说明：最右一列限制顶边，最左一列限制底边（因为 yb、ya 都单调不减）。</a:t>
            </a:r>
          </a:p>
          <a:p>
            <a:r>
              <a:rPr lang="zh-CN" altLang="en-US" dirty="0"/>
              <a:t>解空间：s = 1, 2, 3, … 时 check(s) 的形状是 ✓✓✓✓✗✗（放得下的边长越小越容易），所以找最后一个 ✓ → 输出 r。</a:t>
            </a:r>
          </a:p>
          <a:p>
            <a:r>
              <a:rPr lang="zh-CN" altLang="en-US" dirty="0"/>
              <a:t>右图沿用上一页的例子，放一个 3 × 3 的正方形在第 2–4 列（x = 2，s = 3）。顶边受三列中最低的顶部限制：yb 单调不减，所以是最右一列 yb[4] = 2；底边受最高的底部限制：ya 单调不减，所以是最左一列 ya[2] = 5（两条红线）。5 − 2 = 3 ≥ 3，放得下。</a:t>
            </a:r>
          </a:p>
          <a:p>
            <a:r>
              <a:rPr lang="zh-CN" altLang="en-US" dirty="0"/>
              <a:t>提问：这个例子里最大能放多大的正方形？答案：3。s = 4 时每个 x 都放不下：x = 1：3 − 2 = 1；x = 2：5 − 2 = 3；x = 3：6 − 4 = 2；x = 4：6 − 6 = 0；x = 5：7 − 7 = 0，都 &lt; 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放映时按键（或点击）逐步显示红色答案，共 5 下：① ya 行 ② yb 行 ③ s = 3 那一行 ④ s = 4 那一行 ⑤ Answer。先让学生在纸上填，再一下一下揭晓。</a:t>
            </a:r>
          </a:p>
          <a:p>
            <a:r>
              <a:rPr lang="zh-CN" altLang="en-US" dirty="0"/>
              <a:t>答案：ya = 6 6 6 6 6 6，yb = 0 1 1 4 4 4。</a:t>
            </a:r>
          </a:p>
          <a:p>
            <a:r>
              <a:rPr lang="zh-CN" altLang="en-US" dirty="0"/>
              <a:t>s = 3，x = 1：6 − yb[3] = 6 − 1 = 5 ≥ 3，放得下。</a:t>
            </a:r>
          </a:p>
          <a:p>
            <a:r>
              <a:rPr lang="zh-CN" altLang="en-US" dirty="0"/>
              <a:t>s = 4：x = 1：6 − yb[4] = 2；x = 2：6 − yb[5] = 2；x = 3：6 − yb[6] = 2。都放不下。答案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复杂度 O(N log N)。二分就是模板页右侧"找最后一个可行值"的写法，l = 1，r = n，输出 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挑战：能不能不用 Binary Search？
答案：设 g(x) 为从第 x 列开始能放下的最大正方形边长，可以证明 g(x+1) ≥ g(x) − 1，所以用一个只往前走的指针就能在 O(N) 内求出所有 g(x)。这就是 Two Pointers 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分钟。和 Laser Cutter 对比：那里的阶梯是题目给的；这里要自己造出单调性。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提问：固定返回日 j，我们想要哪个出发日？
答案：最靠左的 i，满足 C[i] ≤ F − C[j]。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前缀最小值（prefix minimum）是 prefix sum 的"min 版本"：两者都是把前 i 个数合起来。这时可以强调"单调性是我们自己造出来的"。</a:t>
            </a:r>
          </a:p>
          <a:p>
            <a:r>
              <a:rPr lang="zh-CN" altLang="en-US" dirty="0"/>
              <a:t>解空间：t = 1 … j−1 时"pm[t] ≤ need"的形状是 ✗✗✓✓✓（pm 只会变小），所以找第一个 ✓ → 输出 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放映时按键（或点击）逐步显示红色答案，共 5 下：① pm 行 ② j = 6 那一行 ③ j = 7 那一行 ④ j = 4 那一行 ⑤ Answer。先让学生在纸上填，再一下一下揭晓。</a:t>
            </a:r>
          </a:p>
          <a:p>
            <a:r>
              <a:rPr lang="zh-CN" altLang="en-US" dirty="0"/>
              <a:t>答案：pm = 12 8 2 2 2 2 2。</a:t>
            </a:r>
          </a:p>
          <a:p>
            <a:r>
              <a:rPr lang="zh-CN" altLang="en-US" dirty="0"/>
              <a:t>j = 6：need = 8 → 第一个 pm ≤ 8 的是 i = 2 → 5 天。</a:t>
            </a:r>
          </a:p>
          <a:p>
            <a:r>
              <a:rPr lang="zh-CN" altLang="en-US" dirty="0"/>
              <a:t>j = 7：need = 4 → i = 3 → 5 天。</a:t>
            </a:r>
          </a:p>
          <a:p>
            <a:r>
              <a:rPr lang="zh-CN" altLang="en-US" dirty="0"/>
              <a:t>j = 4：need = −2 → 找不到。</a:t>
            </a:r>
          </a:p>
          <a:p>
            <a:r>
              <a:rPr lang="zh-CN" altLang="en-US" dirty="0"/>
              <a:t>答案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 初始化为 −1。复杂度 O(N log N)。这是后面的现场编码题，先不要发代码。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挑战：Space Mission 能不能用 Two Pointers 做到 O(N)？
答案：最优的出发日 i 一定是"前缀最小值创新低"的那一天，最优的返回日 j 一定是"后缀最小值"的那一天。把这两组位置分别列出来：i 往右走时 C[i] 变小，允许的 C[j] 上限 F − C[i] 变大，能用的最远 j 只会往右移，所以一个指针扫一遍即可，O(N)。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30 分钟。今天最难的"自己造单调性"。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在数轴上画样例 1：商店 1 5 8 9，房子 3 6 8 10 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Subtask 2–4：只有商店和房子之间的距离会改变某个计数，所以只有约 N·M 个"有意义的"R，逐个检查就能拿这些 subtask。</a:t>
            </a:r>
          </a:p>
          <a:p>
            <a:r>
              <a:rPr lang="zh-CN" altLang="en-US" dirty="0"/>
              <a:t>解空间："排序后的计数等于 s"随 R 变化的形状是 ✗✗✗✓✓✗✗✗：✓ 是中间的一段（因为每个计数随 R 单调不减，所以 ✓ 一定连成一段）。查到一个 ✗ 时，不知道 ✓ 段在它左边还是右边，所以不能二分。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观察 2 是一个很好的小证明：如果每个数都不变小，那么排序后第 k 小的数也不会变小。</a:t>
            </a:r>
          </a:p>
          <a:p>
            <a:r>
              <a:rPr lang="zh-CN" altLang="en-US" dirty="0"/>
              <a:t>观察 3 的证明（页面上的提示）：取 R₁ &lt; R₂，总和都是 S。由观察 2，每个位置的差 v(R₂)[k] − v(R₁)[k] ≥ 0；这些差加起来等于 S − S = 0。几个非负数的和是 0，只能每个都是 0，所以两个向量完全相同。</a:t>
            </a:r>
          </a:p>
          <a:p>
            <a:r>
              <a:rPr lang="zh-CN" altLang="en-US" dirty="0"/>
              <a:t>提问：如果 R₁ &lt; R₂ 且 sum(v(R₂)) &gt; sum(v(R₁))，能说明什么？答案：至少有一个位置严格变大，两个向量一定不同。</a:t>
            </a:r>
          </a:p>
          <a:p>
            <a:r>
              <a:rPr lang="zh-CN" altLang="en-US" dirty="0"/>
              <a:t>解空间："sum(v(R)) ≥ S"随 R 的形状是 ✗✗✗✓✓✓✓，单调 → 二分找第一个 ✓。然后只检查这一个 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这就是"先用总和过滤"的想法。样例 2 很好地说明了这一点：总和从 3 直接跳到 5，永远等不到 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下方的图是样例 1、R = 3 的完整过程，从这一页开始连续 6 页（起点 + 每栋房子一页），每翻一页处理一栋房子。</a:t>
            </a:r>
          </a:p>
          <a:p>
            <a:r>
              <a:rPr lang="zh-CN" altLang="en-US" dirty="0"/>
              <a:t>注意：lo 和 hi 是商店数组 sh[] 的下标（1 开始），不是位置。图中圆圈里的数字就是下标 i，圆圈画在位置 sh[i] 上；箭头指向"下标为 lo / hi 的那家商店"。n + 1 = 5 表示已经越过最后一家商店。</a:t>
            </a:r>
          </a:p>
          <a:p>
            <a:r>
              <a:rPr lang="zh-CN" altLang="en-US" dirty="0"/>
              <a:t>实线箭头是指针的新值，虚线是上一步的值。让学生先预测指针会不会动、动几步，再翻页。</a:t>
            </a:r>
          </a:p>
          <a:p>
            <a:r>
              <a:rPr lang="zh-CN" altLang="en-US" dirty="0"/>
              <a:t>关键点：两个指针都只往右走，五栋房子一共只走了 lo 4 步、hi 4 步（都到了 n + 1），而不是每栋房子重新数一遍。</a:t>
            </a:r>
          </a:p>
          <a:p>
            <a:r>
              <a:rPr lang="zh-CN" altLang="en-US" dirty="0"/>
              <a:t>参考（样例 1，R = 3，sh = [1, 5, 8, 9]）：计数依次为 2、3、3、2、0，总和 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放映时按键（或点击）逐步显示红色答案，共 5 下：① R = 2 行 ② R = 3 行 ③ 最小的 R ④ 排序后是否等于 s ⑤ Answer。先让学生在纸上填，再一下一下揭晓。</a:t>
            </a:r>
          </a:p>
          <a:p>
            <a:r>
              <a:rPr lang="zh-CN" altLang="en-US" dirty="0"/>
              <a:t>答案：R = 2：2 2 2 2 0，总和 8。R = 3：2 3 3 2 0，总和 10。最小的 R 是 3；排序后 0 2 2 3 3 = s；答案 3（R = 4 得到同样的向量，也被接受，正好印证观察 3）。</a:t>
            </a:r>
          </a:p>
          <a:p>
            <a:r>
              <a:rPr lang="zh-CN" altLang="en-US" dirty="0"/>
              <a:t>样例 2：商店 1 3 5，房子 2 6，s = 1 3（S = 4）。R = 2 总和 3，R = 3 总和 5：总和永远不等于 4，输出 −1。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注意边界：&lt;= ho[i] + R，但 &lt; ho[i] − R，一个等号写错就会出错。总和用 long long（最大 M × N = 10^10）。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先让学生填右边一列，再显示答案。</a:t>
            </a:r>
          </a:p>
          <a:p>
            <a:r>
              <a:rPr lang="zh-CN" altLang="en-US" dirty="0"/>
              <a:t>参考答案：Laser Cutter：本身就是单调的阶梯，题目给的；Space Mission：花费数组 C 不单调 → 前缀最小值 pm 单调，我们造的；Lollipops II："排序后的计数等于 s"不单调 → 计数总和单调，我们造的。</a:t>
            </a:r>
          </a:p>
          <a:p>
            <a:r>
              <a:rPr lang="zh-CN" altLang="en-US" dirty="0"/>
              <a:t>最后一列：三道题的解空间形状。Laser Cutter 找最后一个 ✓（输出 r），另外两道找第一个 ✓（输出 l）。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常见 bug：在 pm[1..j] 上搜索，而不是 pm[1..j−1]（出发日和返回日必须不同）；忘了输出 −1；F − C[j] 用 int 不会溢出，但为了保险还是用 long long。
样例答案：样例 1 = 4，样例 2 = 5，样例 3 = −1。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这张表每次课都会变长。Greedy 那一列现在还几乎是空的：那是第 3 次课的内容。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下次课：Greedy 和水位线（water level）。提醒学生把 binary search 模板留在手边，下次每道题都会用到。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复杂度回顾（N, M ≤ 10⁵，L ≤ 10⁹）：</a:t>
            </a:r>
          </a:p>
          <a:p>
            <a:r>
              <a:rPr lang="zh-CN" altLang="en-US" dirty="0"/>
              <a:t>最朴素：枚举每个 R，再对每栋房子扫一遍所有商店，O(L·N·M) ≈ 10¹⁹。</a:t>
            </a:r>
          </a:p>
          <a:p>
            <a:r>
              <a:rPr lang="zh-CN" altLang="en-US" dirty="0"/>
              <a:t>只用 Two Pointers：每个 R 的计数降到 O(N + M)，但 R 有 10⁹ 个，仍是 2×10¹⁴。</a:t>
            </a:r>
          </a:p>
          <a:p>
            <a:r>
              <a:rPr lang="zh-CN" altLang="en-US" dirty="0"/>
              <a:t>再加 Binary Search：真正单调的是计数总和，二分 R 只要约 log₂(10⁹) ≈ 30 次，每次 O(N + M)，共 ≈ 6×10⁶；最后对找到的 R 排序比较一次，O(M log M)。</a:t>
            </a:r>
          </a:p>
          <a:p>
            <a:r>
              <a:rPr lang="zh-CN" altLang="en-US" dirty="0"/>
              <a:t>提问：两个技巧各自省掉了什么？答案：Binary Search 省掉"尝试多少个 R"（10⁹ → 30），Two Pointers 省掉"每次计数的代价"（N·M → N + M）。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复杂度回顾（N = 100 000）：</a:t>
            </a:r>
          </a:p>
          <a:p>
            <a:r>
              <a:rPr lang="zh-CN" altLang="en-US" dirty="0"/>
              <a:t>暴力：枚举每一对 (i, j)，O(N²) = 10¹⁰。</a:t>
            </a:r>
          </a:p>
          <a:p>
            <a:r>
              <a:rPr lang="zh-CN" altLang="en-US" dirty="0"/>
              <a:t>关键：C 本身没有顺序，不能二分；先花 O(N) 造出前缀最小值 pm，它只会变小（单调），于是对每个 j 二分找第一个 pm[t] ≤ F − C[j]，每个 j 只要约 log₂(10⁵) ≈ 17 次比较，总共 O(N log N) ≈ 1.7×10⁶。</a:t>
            </a:r>
          </a:p>
          <a:p>
            <a:r>
              <a:rPr lang="zh-CN" altLang="en-US" dirty="0"/>
              <a:t>选做：j 增大时答案的位置也有单调性，可以用双指针做到 O(N)。</a:t>
            </a:r>
          </a:p>
          <a:p>
            <a:r>
              <a:rPr lang="zh-CN" altLang="en-US" dirty="0"/>
              <a:t>提问：如果直接在 C 上二分会怎样？答案：C 不单调，二分会跳过正确答案，结果错误。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复杂度回顾（N = 200 000）：</a:t>
            </a:r>
          </a:p>
          <a:p>
            <a:r>
              <a:rPr lang="zh-CN" altLang="en-US" dirty="0"/>
              <a:t>暴力：每个左上角、每个边长，用二维前缀和检查，O(N³) ≈ 8×10¹⁵，而且 N×N 的格子根本存不下。</a:t>
            </a:r>
          </a:p>
          <a:p>
            <a:r>
              <a:rPr lang="zh-CN" altLang="en-US" dirty="0"/>
              <a:t>第一步化简：用两条阶梯 yb、ya 描述形状，一次检查 O(N)；如果逐个尝试 s，是 O(N²) ≈ 4×10¹⁰，仍然太慢。</a:t>
            </a:r>
          </a:p>
          <a:p>
            <a:r>
              <a:rPr lang="zh-CN" altLang="en-US" dirty="0"/>
              <a:t>第二步：因为"放得下"关于 s 单调，二分 s，只要约 log₂(2×10⁵) ≈ 18 次检查，O(N log N) ≈ 3.6×10⁶。</a:t>
            </a:r>
          </a:p>
          <a:p>
            <a:r>
              <a:rPr lang="zh-CN" altLang="en-US" dirty="0"/>
              <a:t>选做：用一个只往前走的指针可以做到 O(N)（见作业的挑战题）。</a:t>
            </a:r>
          </a:p>
          <a:p>
            <a:r>
              <a:rPr lang="zh-CN" altLang="en-US" dirty="0"/>
              <a:t>提问：二分本身省掉了什么？答案：省掉的是"尝试多少个 s"（从 N 个变成 log N 个），每次检查的 O(N) 没有变。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两指针演示第 5 / 5 步。房子 14 → 窗口 [11, 17]：lo 从 3 走到 5 = n + 1（sh[3] = 8、sh[4] = 9 都 &lt; 11）；hi 不动。计数 = 5 − 5 = 0。五栋房子的总和 10。</a:t>
            </a:r>
          </a:p>
          <a:p>
            <a:r>
              <a:rPr lang="zh-CN" altLang="en-US" dirty="0"/>
              <a:t>总结：两个指针都只往右走，全程 lo 4 步、hi 4 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两指针演示第 4 / 5 步。房子 10 → 窗口 [7, 13]：lo 从 2 走到 3（sh[2] = 5 &lt; 7，sh[3] = 8 ≥ 7 停下）；hi 不动。计数 = 5 − 3 = 2。</a:t>
            </a:r>
          </a:p>
          <a:p>
            <a:r>
              <a:rPr lang="zh-CN" altLang="en-US" dirty="0"/>
              <a:t>翻页前先问学生：下一步 lo 和 hi 会动吗？动几格？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两指针演示第 3 / 5 步。房子 8 → 窗口 [5, 11]：hi 已是 n + 1；lo 仍为 2（sh[2] = 5 ≥ 5）。计数 = 5 − 2 = 3。</a:t>
            </a:r>
          </a:p>
          <a:p>
            <a:r>
              <a:rPr lang="zh-CN" altLang="en-US" dirty="0"/>
              <a:t>翻页前先问学生：下一步 lo 和 hi 会动吗？动几格？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两指针演示第 2 / 5 步。房子 6 → 窗口 [3, 9]：hi 从 3 走到 5 = n + 1（sh[3] = 8、sh[4] = 9 都 ≤ 9）；lo 从 1 走到 2（sh[1] = 1 &lt; 3，sh[2] = 5 ≥ 3 停下）。计数 = 5 − 2 = 3。</a:t>
            </a:r>
          </a:p>
          <a:p>
            <a:r>
              <a:rPr lang="zh-CN" altLang="en-US" dirty="0"/>
              <a:t>翻页前先问学生：下一步 lo 和 hi 会动吗？动几格？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两指针演示第 1 / 5 步。房子 3 → 窗口 [0, 6]：hi 从 1 走到 3（sh[1] = 1、sh[2] = 5 都 ≤ 6，sh[3] = 8 &gt; 6 停下）；lo 仍为 1。计数 = 3 − 1 = 2。</a:t>
            </a:r>
          </a:p>
          <a:p>
            <a:r>
              <a:rPr lang="zh-CN" altLang="en-US" dirty="0"/>
              <a:t>翻页前先问学生：下一步 lo 和 hi 会动吗？动几格？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p_slide28_image-28-1.png"/><Relationship Id="rId4" Type="http://schemas.openxmlformats.org/officeDocument/2006/relationships/image" Target="../media/p_slide28_image-28-2.png"/><Relationship Id="rId5" Type="http://schemas.openxmlformats.org/officeDocument/2006/relationships/image" Target="../media/p_slide28_image-28-3.png"/><Relationship Id="rId6" Type="http://schemas.openxmlformats.org/officeDocument/2006/relationships/image" Target="../media/p_slide28_image-28-4.png"/><Relationship Id="rId7" Type="http://schemas.openxmlformats.org/officeDocument/2006/relationships/image" Target="../media/p_slide28_image-28-5.png"/><Relationship Id="rId8" Type="http://schemas.openxmlformats.org/officeDocument/2006/relationships/image" Target="../media/p_slide28_image-28-1.png"/><Relationship Id="rId9" Type="http://schemas.openxmlformats.org/officeDocument/2006/relationships/image" Target="../media/p_slide28_image-28-2.png"/></Relationships>
</file>

<file path=ppt/slides/_rels/slide2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1101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1100/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orac2.info/problem/147/" TargetMode="Externa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p_slide28_image-28-1.png"/><Relationship Id="rId4" Type="http://schemas.openxmlformats.org/officeDocument/2006/relationships/image" Target="../media/p_slide28_image-28-2.png"/><Relationship Id="rId5" Type="http://schemas.openxmlformats.org/officeDocument/2006/relationships/image" Target="../media/p_slide28_image-28-3.png"/><Relationship Id="rId6" Type="http://schemas.openxmlformats.org/officeDocument/2006/relationships/image" Target="../media/p_slide28_image-28-4.png"/><Relationship Id="rId7" Type="http://schemas.openxmlformats.org/officeDocument/2006/relationships/image" Target="../media/p_slide28_image-28-5.png"/><Relationship Id="rId10" Type="http://schemas.openxmlformats.org/officeDocument/2006/relationships/notesSlide" Target="../notesSlides/notesSlide36.xml"/><Relationship Id="rId11" Type="http://schemas.openxmlformats.org/officeDocument/2006/relationships/image" Target="../media/p_slide33_image-33-1.png"/><Relationship Id="rId12" Type="http://schemas.openxmlformats.org/officeDocument/2006/relationships/image" Target="../media/p_slide33_image-33-2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p_slide28_image-28-1.png"/><Relationship Id="rId4" Type="http://schemas.openxmlformats.org/officeDocument/2006/relationships/image" Target="../media/p_slide28_image-28-2.png"/><Relationship Id="rId5" Type="http://schemas.openxmlformats.org/officeDocument/2006/relationships/image" Target="../media/p_slide28_image-28-3.png"/><Relationship Id="rId6" Type="http://schemas.openxmlformats.org/officeDocument/2006/relationships/image" Target="../media/p_slide28_image-28-4.png"/><Relationship Id="rId7" Type="http://schemas.openxmlformats.org/officeDocument/2006/relationships/image" Target="../media/p_slide28_image-28-5.png"/><Relationship Id="rId10" Type="http://schemas.openxmlformats.org/officeDocument/2006/relationships/notesSlide" Target="../notesSlides/notesSlide37.xml"/><Relationship Id="rId11" Type="http://schemas.openxmlformats.org/officeDocument/2006/relationships/image" Target="../media/p_slide32_image-32-1.png"/><Relationship Id="rId12" Type="http://schemas.openxmlformats.org/officeDocument/2006/relationships/image" Target="../media/p_slide32_image-32-2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p_slide28_image-28-1.png"/><Relationship Id="rId4" Type="http://schemas.openxmlformats.org/officeDocument/2006/relationships/image" Target="../media/p_slide28_image-28-2.png"/><Relationship Id="rId5" Type="http://schemas.openxmlformats.org/officeDocument/2006/relationships/image" Target="../media/p_slide28_image-28-3.png"/><Relationship Id="rId6" Type="http://schemas.openxmlformats.org/officeDocument/2006/relationships/image" Target="../media/p_slide28_image-28-4.png"/><Relationship Id="rId7" Type="http://schemas.openxmlformats.org/officeDocument/2006/relationships/image" Target="../media/p_slide28_image-28-5.png"/><Relationship Id="rId10" Type="http://schemas.openxmlformats.org/officeDocument/2006/relationships/notesSlide" Target="../notesSlides/notesSlide38.xml"/><Relationship Id="rId11" Type="http://schemas.openxmlformats.org/officeDocument/2006/relationships/image" Target="../media/p_slide31_image-31-1.png"/><Relationship Id="rId12" Type="http://schemas.openxmlformats.org/officeDocument/2006/relationships/image" Target="../media/p_slide31_image-31-2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p_slide28_image-28-1.png"/><Relationship Id="rId4" Type="http://schemas.openxmlformats.org/officeDocument/2006/relationships/image" Target="../media/p_slide28_image-28-2.png"/><Relationship Id="rId5" Type="http://schemas.openxmlformats.org/officeDocument/2006/relationships/image" Target="../media/p_slide28_image-28-3.png"/><Relationship Id="rId6" Type="http://schemas.openxmlformats.org/officeDocument/2006/relationships/image" Target="../media/p_slide28_image-28-4.png"/><Relationship Id="rId7" Type="http://schemas.openxmlformats.org/officeDocument/2006/relationships/image" Target="../media/p_slide28_image-28-5.png"/><Relationship Id="rId10" Type="http://schemas.openxmlformats.org/officeDocument/2006/relationships/notesSlide" Target="../notesSlides/notesSlide39.xml"/><Relationship Id="rId11" Type="http://schemas.openxmlformats.org/officeDocument/2006/relationships/image" Target="../media/p_slide30_image-30-1.png"/><Relationship Id="rId12" Type="http://schemas.openxmlformats.org/officeDocument/2006/relationships/image" Target="../media/p_slide30_image-30-2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p_slide28_image-28-1.png"/><Relationship Id="rId4" Type="http://schemas.openxmlformats.org/officeDocument/2006/relationships/image" Target="../media/p_slide28_image-28-2.png"/><Relationship Id="rId5" Type="http://schemas.openxmlformats.org/officeDocument/2006/relationships/image" Target="../media/p_slide28_image-28-3.png"/><Relationship Id="rId6" Type="http://schemas.openxmlformats.org/officeDocument/2006/relationships/image" Target="../media/p_slide28_image-28-4.png"/><Relationship Id="rId7" Type="http://schemas.openxmlformats.org/officeDocument/2006/relationships/image" Target="../media/p_slide28_image-28-5.png"/><Relationship Id="rId10" Type="http://schemas.openxmlformats.org/officeDocument/2006/relationships/notesSlide" Target="../notesSlides/notesSlide40.xml"/><Relationship Id="rId11" Type="http://schemas.openxmlformats.org/officeDocument/2006/relationships/image" Target="../media/p_slide29_image-29-1.png"/><Relationship Id="rId12" Type="http://schemas.openxmlformats.org/officeDocument/2006/relationships/image" Target="../media/p_slide29_image-29-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2D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5968" y="1778000"/>
            <a:ext cx="4523232" cy="5959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ts val="2340"/>
              </a:lnSpc>
              <a:buNone/>
            </a:pPr>
            <a:r>
              <a:rPr lang="en-US" sz="12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AIO HIGH ACHIEVERS CAMP · SESSION 2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855968" y="2514600"/>
            <a:ext cx="4523232" cy="35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6720"/>
              </a:lnSpc>
              <a:buNone/>
            </a:pPr>
            <a:r>
              <a:rPr lang="en-US" sz="6400" b="1" kern="0" spc="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+ TWO POINTERS</a:t>
            </a:r>
            <a:endParaRPr lang="en-US" sz="6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 · 2 HOURS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PLAN</a:t>
            </a:r>
            <a:endParaRPr lang="en-US" sz="3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44675"/>
          <a:ext cx="10566400" cy="4711700"/>
        </p:xfrm>
        <a:graphic>
          <a:graphicData uri="http://schemas.openxmlformats.org/drawingml/2006/table">
            <a:tbl>
              <a:tblPr/>
              <a:tblGrid>
                <a:gridCol w="21132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Technique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69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0:00–0:10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Recap, the solution space, the template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0:10–0:40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 P6 Laser Cutter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on the answer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0:40–1:00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 P5 Space Mission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minimum + Binary Search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1:00–1:30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 P6 Lollipops II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+ Two Pointers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1:30–1:55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coding: Space Mission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program + samples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1:55–2:00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Recap and homework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CORE TECHNIQUES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THE MONOTONE PAIR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812800" y="1903016"/>
            <a:ext cx="5194300" cy="1663700"/>
          </a:xfrm>
          <a:prstGeom prst="roundRect">
            <a:avLst>
              <a:gd name="adj" fmla="val 3053"/>
            </a:avLst>
          </a:prstGeom>
          <a:noFill/>
          <a:ln w="6350">
            <a:solidFill>
              <a:srgbClr val="EBECE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812800" y="1903016"/>
            <a:ext cx="63500" cy="1663700"/>
          </a:xfrm>
          <a:prstGeom prst="rect">
            <a:avLst/>
          </a:prstGeom>
          <a:solidFill>
            <a:srgbClr val="95C7C6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79500" y="2087166"/>
            <a:ext cx="5001133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8486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850" dirty="0"/>
          </a:p>
        </p:txBody>
      </p:sp>
      <p:sp>
        <p:nvSpPr>
          <p:cNvPr id="7" name="Text 5"/>
          <p:cNvSpPr txBox="1"/>
          <p:nvPr/>
        </p:nvSpPr>
        <p:spPr>
          <a:xfrm>
            <a:off x="1079500" y="2569766"/>
            <a:ext cx="5001133" cy="84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100" dirty="0">
                <a:solidFill>
                  <a:srgbClr val="9DA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</a:t>
            </a:r>
            <a:r>
              <a:rPr lang="en-US" altLang="zh-CN" sz="2100" dirty="0">
                <a:solidFill>
                  <a:srgbClr val="9DA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</a:t>
            </a:r>
            <a:r>
              <a:rPr lang="en-US" sz="2100" dirty="0">
                <a:solidFill>
                  <a:srgbClr val="9DA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1: running totals, net change per round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184900" y="1903016"/>
            <a:ext cx="5194300" cy="1663700"/>
          </a:xfrm>
          <a:prstGeom prst="roundRect">
            <a:avLst>
              <a:gd name="adj" fmla="val 3053"/>
            </a:avLst>
          </a:prstGeom>
          <a:solidFill>
            <a:srgbClr val="FFFAF0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6184900" y="1903016"/>
            <a:ext cx="63500" cy="1663700"/>
          </a:xfrm>
          <a:prstGeom prst="rect">
            <a:avLst/>
          </a:prstGeom>
          <a:solidFill>
            <a:srgbClr val="E0960F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 txBox="1"/>
          <p:nvPr/>
        </p:nvSpPr>
        <p:spPr>
          <a:xfrm>
            <a:off x="6451600" y="2093516"/>
            <a:ext cx="4994402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endParaRPr lang="en-US" sz="2850" dirty="0"/>
          </a:p>
        </p:txBody>
      </p:sp>
      <p:sp>
        <p:nvSpPr>
          <p:cNvPr id="11" name="Text 9"/>
          <p:cNvSpPr txBox="1"/>
          <p:nvPr/>
        </p:nvSpPr>
        <p:spPr>
          <a:xfrm>
            <a:off x="6451600" y="2576116"/>
            <a:ext cx="4994402" cy="84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 a check that flips from "no" to "yes" exactly once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12800" y="3744516"/>
            <a:ext cx="5194300" cy="1663700"/>
          </a:xfrm>
          <a:prstGeom prst="roundRect">
            <a:avLst>
              <a:gd name="adj" fmla="val 3053"/>
            </a:avLst>
          </a:prstGeom>
          <a:solidFill>
            <a:srgbClr val="FFF6F5"/>
          </a:solidFill>
          <a:ln w="12700">
            <a:solidFill>
              <a:srgbClr val="E46F6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812800" y="3744516"/>
            <a:ext cx="63500" cy="1663700"/>
          </a:xfrm>
          <a:prstGeom prst="rect">
            <a:avLst/>
          </a:prstGeom>
          <a:solidFill>
            <a:srgbClr val="E46F6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 txBox="1"/>
          <p:nvPr/>
        </p:nvSpPr>
        <p:spPr>
          <a:xfrm>
            <a:off x="1079500" y="3935016"/>
            <a:ext cx="4994402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1079500" y="4417616"/>
            <a:ext cx="4994402" cy="84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 both ends of a window only ever move forward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184900" y="3744516"/>
            <a:ext cx="5194300" cy="1663700"/>
          </a:xfrm>
          <a:prstGeom prst="roundRect">
            <a:avLst>
              <a:gd name="adj" fmla="val 3053"/>
            </a:avLst>
          </a:prstGeom>
          <a:noFill/>
          <a:ln w="6350">
            <a:solidFill>
              <a:srgbClr val="EBECE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6184900" y="3744516"/>
            <a:ext cx="63500" cy="1663700"/>
          </a:xfrm>
          <a:prstGeom prst="rect">
            <a:avLst/>
          </a:prstGeom>
          <a:solidFill>
            <a:srgbClr val="7896A1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 txBox="1"/>
          <p:nvPr/>
        </p:nvSpPr>
        <p:spPr>
          <a:xfrm>
            <a:off x="6451600" y="3928666"/>
            <a:ext cx="5001133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8486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850" dirty="0"/>
          </a:p>
        </p:txBody>
      </p:sp>
      <p:sp>
        <p:nvSpPr>
          <p:cNvPr id="19" name="Text 17"/>
          <p:cNvSpPr txBox="1"/>
          <p:nvPr/>
        </p:nvSpPr>
        <p:spPr>
          <a:xfrm>
            <a:off x="6451600" y="4411266"/>
            <a:ext cx="5001133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altLang="zh-CN" sz="2100" dirty="0">
                <a:solidFill>
                  <a:srgbClr val="9DA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r>
              <a:rPr lang="en-US" sz="2100" dirty="0">
                <a:solidFill>
                  <a:srgbClr val="9DA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3: the water-level idea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12800" y="5611416"/>
            <a:ext cx="11200384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need the same thing: something monotone.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· START FROM THE SOLUTION SPACE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38"/>
              </a:lnSpc>
              <a:buNone/>
            </a:pPr>
            <a:r>
              <a:rPr lang="en-US" sz="325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THE SOLUTION SPACE LOOK LIKE?</a:t>
            </a:r>
            <a:endParaRPr lang="en-US" sz="325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757363"/>
            <a:ext cx="11200384" cy="84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up every candidate answer x in order and ask check(x): yes ✓ or no ✗. The row of answers has a </a:t>
            </a: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35263"/>
          <a:ext cx="10566404" cy="1809750"/>
        </p:xfrm>
        <a:graphic>
          <a:graphicData uri="http://schemas.openxmlformats.org/drawingml/2006/table">
            <a:tbl>
              <a:tblPr/>
              <a:tblGrid>
                <a:gridCol w="2084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1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1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11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11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11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11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11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112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112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183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9315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check(x)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Monotone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4D55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boundary → binary search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Monotone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4D55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boundary → binary search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monotone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4D55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boundary → check them all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00" y="4691063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does not look for the answer. It looks for the boundary between ✗ and ✓.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· HOW THE LOOP USES THE SHAPE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CHECK THROWS AWAY HALF THE ROW</a:t>
            </a:r>
            <a:endParaRPr lang="en-US" sz="3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93875"/>
          <a:ext cx="10566401" cy="3292475"/>
        </p:xfrm>
        <a:graphic>
          <a:graphicData uri="http://schemas.openxmlformats.org/drawingml/2006/table">
            <a:tbl>
              <a:tblPr/>
              <a:tblGrid>
                <a:gridCol w="20965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24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40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040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04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0403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8240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673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47493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0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check(x)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4D55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hidden from us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 l = 1, r = 10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0650" marR="120650" marT="82550" marB="8255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 = 5: ✗ → l = 6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2: l = 6, r = 10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0650" marR="120650" marT="82550" marB="8255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 = 8: ✓ → r = 7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3: l = 6, r = 7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8A92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0650" marR="120650" marT="82550" marB="8255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B4BA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 = 6: ✗ → l = 7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4: l = 7, r = 7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6F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0650" marR="120650" marT="82550" marB="8255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 = 7: ✓ → r = 6, stop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E096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= last ✗, l = first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5140325"/>
            <a:ext cx="11200384" cy="84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always ends with l = r + 1. 10 candidates need 4 checks; 10⁹ candidates need about 30.</a:t>
            </a:r>
            <a:endParaRPr lang="en-US" sz="2100" dirty="0"/>
          </a:p>
        </p:txBody>
      </p:sp>
      <p:sp>
        <p:nvSpPr>
          <p:cNvPr id="4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TEMPLATE FOR THE WHOLE COURSE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WHILE (L &lt;= R) TEMPLATE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5418455" cy="394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value that passes → 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353866"/>
            <a:ext cx="5418455" cy="379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</a:t>
            </a:r>
            <a:r>
              <a:rPr lang="en-US" sz="2250" b="1" kern="0" spc="100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812800" y="2792016"/>
            <a:ext cx="5111750" cy="2603500"/>
          </a:xfrm>
          <a:prstGeom prst="roundRect">
            <a:avLst>
              <a:gd name="adj" fmla="val 1951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1022350" y="2950766"/>
            <a:ext cx="5255768" cy="231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while (l &lt;= r){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mid = (l + r) / 2;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(check(mid))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 = mid - 1;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else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 = mid + 1;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answer: 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29350" y="1903016"/>
            <a:ext cx="5418455" cy="394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value that passes → 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229350" y="2353866"/>
            <a:ext cx="5418455" cy="379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</a:t>
            </a:r>
            <a:r>
              <a:rPr lang="en-US" sz="225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kern="0" spc="100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6229350" y="2792016"/>
            <a:ext cx="5111750" cy="2603500"/>
          </a:xfrm>
          <a:prstGeom prst="roundRect">
            <a:avLst>
              <a:gd name="adj" fmla="val 1951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 txBox="1"/>
          <p:nvPr/>
        </p:nvSpPr>
        <p:spPr>
          <a:xfrm>
            <a:off x="6438900" y="2950766"/>
            <a:ext cx="5255768" cy="231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while (l &lt;= r){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mid = (l + r) / 2;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(check(mid))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 = mid + 1;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else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 = mid - 1;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answer: 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596430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AIO PROBLEM 6</a:t>
            </a:r>
            <a:endParaRPr lang="en-US" sz="195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2104430"/>
            <a:ext cx="11200384" cy="1047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3254970"/>
            <a:ext cx="8077200" cy="79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square that fits between two staircase cuts.</a:t>
            </a:r>
            <a:endParaRPr lang="en-US" sz="2550" dirty="0"/>
          </a:p>
        </p:txBody>
      </p:sp>
      <p:sp>
        <p:nvSpPr>
          <p:cNvPr id="6" name="Shape 3"/>
          <p:cNvSpPr/>
          <p:nvPr/>
        </p:nvSpPr>
        <p:spPr>
          <a:xfrm>
            <a:off x="812800" y="4232870"/>
            <a:ext cx="2939058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232870"/>
            <a:ext cx="293905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3866158" y="4232870"/>
            <a:ext cx="3156148" cy="457200"/>
          </a:xfrm>
          <a:prstGeom prst="roundRect">
            <a:avLst>
              <a:gd name="adj" fmla="val 50000"/>
            </a:avLst>
          </a:prstGeom>
          <a:solidFill>
            <a:srgbClr val="FCE7E5"/>
          </a:solidFill>
          <a:ln w="12700">
            <a:solidFill>
              <a:srgbClr val="E46F6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866158" y="4232870"/>
            <a:ext cx="315614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optional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812800" y="4804370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804370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2561530" y="4804370"/>
            <a:ext cx="1204813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2561530" y="4804370"/>
            <a:ext cx="120481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N×N board. Two cuts run from the top-left corner to the bottom-right corner, using only R (right) and D (down).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987477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A is the lower boundary, cut B the upper one. Find the side of the largest axis-aligned square that fits between them.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4071938"/>
            <a:ext cx="10096500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≤ 200 000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QUESTION 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FORCE, AND WHY IT FAILS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10615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every cell inside the shape, then try every top-left corner and every size: O(N⁴), or O(N³) with a 2D prefix sum.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987477"/>
            <a:ext cx="1110615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N = 200 000 means 4×10¹⁰ cells. We cannot even store the grid.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599557"/>
            <a:ext cx="11106150" cy="55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53"/>
              </a:lnSpc>
              <a:buNone/>
            </a:pPr>
            <a:r>
              <a:rPr lang="en-US" sz="25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must use the special shape of the cuts.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KEY OBSERVATION 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SHAPE COLUMN BY COLUMN</a:t>
            </a:r>
            <a:endParaRPr lang="en-US" sz="35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44675"/>
            <a:ext cx="6980047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each cut. Each time it steps right through column x, record the current row: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12800" y="2929136"/>
            <a:ext cx="6980047" cy="1147961"/>
          </a:xfrm>
          <a:prstGeom prst="roundRect">
            <a:avLst>
              <a:gd name="adj" fmla="val 4425"/>
            </a:avLst>
          </a:prstGeom>
          <a:solidFill>
            <a:srgbClr val="FFFAF0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16000" y="3030736"/>
            <a:ext cx="6573647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yb[x] = top of column x</a:t>
            </a:r>
            <a:endParaRPr lang="en-US" sz="2400" dirty="0"/>
          </a:p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ya[x] = bottom of column x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216797"/>
            <a:ext cx="6980047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x holds rows yb[x] … ya[x] − 1.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828877"/>
            <a:ext cx="6980047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arrays never decrease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cuts only go right and down): a staircase.</a:t>
            </a:r>
            <a:endParaRPr lang="en-US" sz="2400" dirty="0"/>
          </a:p>
        </p:txBody>
      </p:sp>
      <p:pic>
        <p:nvPicPr>
          <p:cNvPr id="9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2550" y="1844675"/>
            <a:ext cx="3676650" cy="41338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976394" y="6029325"/>
            <a:ext cx="3128963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5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example (N = 8), not a sample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KEY OBSERVATION 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AN S×S SQUARE FIT AT COLUMNS X … X+S−1?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771650"/>
            <a:ext cx="6849108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edge: below every column's top → the strictest is the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rightmost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column, yb[x+s−1].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797175"/>
            <a:ext cx="6849108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edge: above every column's bottom → the strictest is the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leftmost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column, ya[x].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812800" y="3822700"/>
            <a:ext cx="6849108" cy="577850"/>
          </a:xfrm>
          <a:prstGeom prst="roundRect">
            <a:avLst>
              <a:gd name="adj" fmla="val 8791"/>
            </a:avLst>
          </a:prstGeom>
          <a:solidFill>
            <a:srgbClr val="FFFAF0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1016000" y="3924300"/>
            <a:ext cx="6442708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⇔ ya[x] − yb[x+s−1] ≥ s</a:t>
            </a:r>
            <a:endParaRPr lang="en-US" sz="255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540250"/>
            <a:ext cx="6849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 fits, s−1 fits too. Solution space s = 1, 2, 3, …: </a:t>
            </a:r>
            <a:r>
              <a:rPr lang="en-US" sz="225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for the last ✓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each check O(N).</a:t>
            </a:r>
            <a:endParaRPr lang="en-US" sz="2250" dirty="0"/>
          </a:p>
        </p:txBody>
      </p:sp>
      <p:pic>
        <p:nvPicPr>
          <p:cNvPr id="9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0737" y="1771650"/>
            <a:ext cx="3676650" cy="41338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79023" y="5956300"/>
            <a:ext cx="3800177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5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board: x = 2, s = 3 → 5 − 2 = 3 ≥ 3, fits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2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52216"/>
            <a:ext cx="11200384" cy="40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 = 6　A = DDDDDDRRRRRR　B = RDRRDDDRRRDD</a:t>
            </a:r>
            <a:endParaRPr lang="en-US" sz="2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391966"/>
          <a:ext cx="10566400" cy="914400"/>
        </p:xfrm>
        <a:graphic>
          <a:graphicData uri="http://schemas.openxmlformats.org/drawingml/2006/table">
            <a:tbl>
              <a:tblPr/>
              <a:tblGrid>
                <a:gridCol w="1690588"/>
                <a:gridCol w="1479252"/>
                <a:gridCol w="1479252"/>
                <a:gridCol w="1479252"/>
                <a:gridCol w="1479252"/>
                <a:gridCol w="1479252"/>
                <a:gridCol w="1479550"/>
              </a:tblGrid>
              <a:tr h="4635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ya[x]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35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yb[x]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00" y="3966766"/>
            <a:ext cx="11200384" cy="1128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75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3: try x = ___ → ya − yb = ___ → fits? ____</a:t>
            </a:r>
            <a:endParaRPr lang="en-US" sz="2250" dirty="0"/>
          </a:p>
          <a:p>
            <a:pPr algn="l" indent="0" marL="0">
              <a:lnSpc>
                <a:spcPts val="4275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4: x = 1, 2, 3 → ___, ___, ___ → fits? ____      Answer = ___</a:t>
            </a:r>
            <a:endParaRPr lang="en-US" sz="2250" dirty="0"/>
          </a:p>
        </p:txBody>
      </p:sp>
      <p:sp>
        <p:nvSpPr>
          <p:cNvPr id="7" name="Text 4"/>
          <p:cNvSpPr txBox="1"/>
          <p:nvPr/>
        </p:nvSpPr>
        <p:spPr>
          <a:xfrm>
            <a:off x="250190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398145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 dirty="0"/>
          </a:p>
        </p:txBody>
      </p:sp>
      <p:sp>
        <p:nvSpPr>
          <p:cNvPr id="9" name="Text 6"/>
          <p:cNvSpPr txBox="1"/>
          <p:nvPr/>
        </p:nvSpPr>
        <p:spPr>
          <a:xfrm>
            <a:off x="546100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694055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842010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 dirty="0"/>
          </a:p>
        </p:txBody>
      </p:sp>
      <p:sp>
        <p:nvSpPr>
          <p:cNvPr id="12" name="Text 9"/>
          <p:cNvSpPr txBox="1"/>
          <p:nvPr/>
        </p:nvSpPr>
        <p:spPr>
          <a:xfrm>
            <a:off x="9899650" y="29273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 dirty="0"/>
          </a:p>
        </p:txBody>
      </p:sp>
      <p:sp>
        <p:nvSpPr>
          <p:cNvPr id="13" name="Text 10"/>
          <p:cNvSpPr txBox="1"/>
          <p:nvPr/>
        </p:nvSpPr>
        <p:spPr>
          <a:xfrm>
            <a:off x="250190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14" name="Text 11"/>
          <p:cNvSpPr txBox="1"/>
          <p:nvPr/>
        </p:nvSpPr>
        <p:spPr>
          <a:xfrm>
            <a:off x="398145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15" name="Text 12"/>
          <p:cNvSpPr txBox="1"/>
          <p:nvPr/>
        </p:nvSpPr>
        <p:spPr>
          <a:xfrm>
            <a:off x="546100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16" name="Text 13"/>
          <p:cNvSpPr txBox="1"/>
          <p:nvPr/>
        </p:nvSpPr>
        <p:spPr>
          <a:xfrm>
            <a:off x="694055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7" name="Text 14"/>
          <p:cNvSpPr txBox="1"/>
          <p:nvPr/>
        </p:nvSpPr>
        <p:spPr>
          <a:xfrm>
            <a:off x="842010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9899650" y="33909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2311400" y="392430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4489450" y="392430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21" name="Text 18"/>
          <p:cNvSpPr txBox="1"/>
          <p:nvPr/>
        </p:nvSpPr>
        <p:spPr>
          <a:xfrm>
            <a:off x="6013450" y="3924300"/>
            <a:ext cx="93980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22" name="Text 19"/>
          <p:cNvSpPr txBox="1"/>
          <p:nvPr/>
        </p:nvSpPr>
        <p:spPr>
          <a:xfrm>
            <a:off x="3155950" y="44640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23" name="Text 20"/>
          <p:cNvSpPr txBox="1"/>
          <p:nvPr/>
        </p:nvSpPr>
        <p:spPr>
          <a:xfrm>
            <a:off x="3790950" y="44640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24" name="Text 21"/>
          <p:cNvSpPr txBox="1"/>
          <p:nvPr/>
        </p:nvSpPr>
        <p:spPr>
          <a:xfrm>
            <a:off x="4425950" y="44640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2"/>
          <p:cNvSpPr txBox="1"/>
          <p:nvPr/>
        </p:nvSpPr>
        <p:spPr>
          <a:xfrm>
            <a:off x="5949950" y="4464050"/>
            <a:ext cx="93980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 dirty="0"/>
          </a:p>
        </p:txBody>
      </p:sp>
      <p:sp>
        <p:nvSpPr>
          <p:cNvPr id="26" name="Text 23"/>
          <p:cNvSpPr txBox="1"/>
          <p:nvPr/>
        </p:nvSpPr>
        <p:spPr>
          <a:xfrm>
            <a:off x="8337550" y="44640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27" name="Shape 2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CORE CODE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TRACE() AND CHECK(S)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812800" y="1903016"/>
            <a:ext cx="4946650" cy="3975100"/>
          </a:xfrm>
          <a:prstGeom prst="roundRect">
            <a:avLst>
              <a:gd name="adj" fmla="val 1278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2061766"/>
            <a:ext cx="5070856" cy="3688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record the row at each R step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void trace(char p[], int y[]){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row = 0, col = 1;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i = 0; i &lt; 2 * n; i ++){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(p[i] == 'D')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row ++;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else{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y[col] = row;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col ++;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}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13450" y="1903016"/>
            <a:ext cx="5365750" cy="3975100"/>
          </a:xfrm>
          <a:prstGeom prst="roundRect">
            <a:avLst>
              <a:gd name="adj" fmla="val 1278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6223000" y="2061766"/>
            <a:ext cx="5540248" cy="2773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 check(int s){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x = 1; x + s - 1 &lt;= n; x ++)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(ya[x] - yb[x + s - 1] &gt;= s)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return true;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false;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largest s that fits: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"last value that passes" → 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SCORING ROUTE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SUBTASKS AND COMMON MISTAKES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 ladder</a:t>
            </a:r>
            <a:endParaRPr lang="en-US" sz="25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379266"/>
            <a:ext cx="5334000" cy="2213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goes all the way down first: ya is all N, only the top matters</a:t>
            </a:r>
            <a:endParaRPr lang="en-US" sz="2100" dirty="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≤ 10, N ≤ 1000: brute force / 2D prefix sums</a:t>
            </a:r>
            <a:endParaRPr lang="en-US" sz="2100" dirty="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Full: binary search on 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2992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</a:t>
            </a:r>
            <a:endParaRPr lang="en-US" sz="2550" dirty="0"/>
          </a:p>
        </p:txBody>
      </p:sp>
      <p:sp>
        <p:nvSpPr>
          <p:cNvPr id="7" name="Text 5"/>
          <p:cNvSpPr txBox="1"/>
          <p:nvPr/>
        </p:nvSpPr>
        <p:spPr>
          <a:xfrm>
            <a:off x="6299200" y="2379266"/>
            <a:ext cx="5334000" cy="2213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Swapping which cut is the upper boundary</a:t>
            </a:r>
            <a:endParaRPr lang="en-US" sz="2100" dirty="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top and bottom in the same column</a:t>
            </a:r>
            <a:endParaRPr lang="en-US" sz="2100" dirty="0"/>
          </a:p>
          <a:p>
            <a:pPr marL="293370" indent="-293370">
              <a:lnSpc>
                <a:spcPts val="3360"/>
              </a:lnSpc>
              <a:buSzPct val="100000"/>
              <a:buChar char="•"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l instead of r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78375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AIO PROBLEM 5</a:t>
            </a:r>
            <a:endParaRPr lang="en-US" sz="195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2291755"/>
            <a:ext cx="11200384" cy="1047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3442295"/>
            <a:ext cx="80772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array is not monotone. Make one that is.</a:t>
            </a:r>
            <a:endParaRPr lang="en-US" sz="2550" dirty="0"/>
          </a:p>
        </p:txBody>
      </p:sp>
      <p:sp>
        <p:nvSpPr>
          <p:cNvPr id="6" name="Shape 3"/>
          <p:cNvSpPr/>
          <p:nvPr/>
        </p:nvSpPr>
        <p:spPr>
          <a:xfrm>
            <a:off x="812800" y="4045545"/>
            <a:ext cx="2939058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045545"/>
            <a:ext cx="293905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3866158" y="4045545"/>
            <a:ext cx="4257873" cy="457200"/>
          </a:xfrm>
          <a:prstGeom prst="roundRect">
            <a:avLst>
              <a:gd name="adj" fmla="val 50000"/>
            </a:avLst>
          </a:prstGeom>
          <a:solidFill>
            <a:srgbClr val="E6F3F2"/>
          </a:solidFill>
          <a:ln w="12700">
            <a:solidFill>
              <a:srgbClr val="3E9A9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866158" y="4045545"/>
            <a:ext cx="425787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 (prefix min)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812800" y="4617045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617045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2798961" y="4617045"/>
            <a:ext cx="1204813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2798961" y="4617045"/>
            <a:ext cx="120481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009650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the portal on day i costs C[i] fuel. Pick a launch day i and a return day j (i &lt; j) with C[i] + C[j] ≤ F.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987477"/>
            <a:ext cx="1009650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Maximise the number of days j − i + 1. Print −1 if impossible.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599557"/>
            <a:ext cx="10096500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≤ 100 000, F, C[i] ≤ 10⁹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044057"/>
            <a:ext cx="1009650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force: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pair (i, j), O(N²). Subtask 1 only.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 · KEY OBSERVATION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MONOTONE QUESTION INSTEAD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j. We want the leftmost i with C[i] ≤ need = F − C[j]. C itself has no order, so we cannot binary search it.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928541"/>
            <a:ext cx="11200384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"some day among the first t costs ≤ need" can only switch from no to yes as t grows. It is the same as: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812800" y="3954066"/>
            <a:ext cx="11200384" cy="641350"/>
          </a:xfrm>
          <a:prstGeom prst="roundRect">
            <a:avLst>
              <a:gd name="adj" fmla="val 7921"/>
            </a:avLst>
          </a:prstGeom>
          <a:solidFill>
            <a:srgbClr val="FFFAF0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1016000" y="4055666"/>
            <a:ext cx="10793984" cy="486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pm[t] ≤ need,　where pm[t] = min(C[1..t])</a:t>
            </a:r>
            <a:endParaRPr lang="en-US" sz="255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4735116"/>
            <a:ext cx="11200384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never increases, so t = 1 … j−1 gives </a:t>
            </a:r>
            <a:r>
              <a:rPr lang="en-US" sz="225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25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for the first ✓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2: F = 14</a:t>
            </a:r>
            <a:endParaRPr lang="en-US" sz="3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52216"/>
          <a:ext cx="10566400" cy="914400"/>
        </p:xfrm>
        <a:graphic>
          <a:graphicData uri="http://schemas.openxmlformats.org/drawingml/2006/table">
            <a:tbl>
              <a:tblPr/>
              <a:tblGrid>
                <a:gridCol w="1690588"/>
                <a:gridCol w="1267916"/>
                <a:gridCol w="1267916"/>
                <a:gridCol w="1267916"/>
                <a:gridCol w="1267916"/>
                <a:gridCol w="1267916"/>
                <a:gridCol w="1267916"/>
                <a:gridCol w="1268313"/>
              </a:tblGrid>
              <a:tr h="482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i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57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C[i]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pm[i]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3484166"/>
            <a:ext cx="11200384" cy="1671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75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 = 6: need = ___ → first i = ___ → days = ___</a:t>
            </a:r>
            <a:endParaRPr lang="en-US" sz="2250" dirty="0"/>
          </a:p>
          <a:p>
            <a:pPr algn="l" indent="0" marL="0">
              <a:lnSpc>
                <a:spcPts val="4275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 = 7: need = ___ → first i = ___ → days = ___</a:t>
            </a:r>
            <a:endParaRPr lang="en-US" sz="2250" dirty="0"/>
          </a:p>
          <a:p>
            <a:pPr algn="l" indent="0" marL="0">
              <a:lnSpc>
                <a:spcPts val="4275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 = 4: need = ____ → _____      Answer = ___</a:t>
            </a:r>
            <a:endParaRPr lang="en-US" sz="2250" dirty="0"/>
          </a:p>
        </p:txBody>
      </p:sp>
      <p:sp>
        <p:nvSpPr>
          <p:cNvPr id="6" name="Text 3"/>
          <p:cNvSpPr txBox="1"/>
          <p:nvPr/>
        </p:nvSpPr>
        <p:spPr>
          <a:xfrm>
            <a:off x="250190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377190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04190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30555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57555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84555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0109200" y="2895600"/>
            <a:ext cx="1270000" cy="382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50"/>
              </a:lnSpc>
              <a:buNone/>
            </a:pPr>
            <a:r>
              <a:rPr lang="en-US" sz="24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2330450" y="344170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50" dirty="0"/>
          </a:p>
        </p:txBody>
      </p:sp>
      <p:sp>
        <p:nvSpPr>
          <p:cNvPr id="14" name="Text 11"/>
          <p:cNvSpPr txBox="1"/>
          <p:nvPr/>
        </p:nvSpPr>
        <p:spPr>
          <a:xfrm>
            <a:off x="4178300" y="344170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5" name="Text 12"/>
          <p:cNvSpPr txBox="1"/>
          <p:nvPr/>
        </p:nvSpPr>
        <p:spPr>
          <a:xfrm>
            <a:off x="6026150" y="344170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16" name="Text 13"/>
          <p:cNvSpPr txBox="1"/>
          <p:nvPr/>
        </p:nvSpPr>
        <p:spPr>
          <a:xfrm>
            <a:off x="2330450" y="39814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7" name="Text 14"/>
          <p:cNvSpPr txBox="1"/>
          <p:nvPr/>
        </p:nvSpPr>
        <p:spPr>
          <a:xfrm>
            <a:off x="4178300" y="39814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6026150" y="39814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2330450" y="4527550"/>
            <a:ext cx="93980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3409950" y="4527550"/>
            <a:ext cx="10985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2250" dirty="0"/>
          </a:p>
        </p:txBody>
      </p:sp>
      <p:sp>
        <p:nvSpPr>
          <p:cNvPr id="21" name="Text 18"/>
          <p:cNvSpPr txBox="1"/>
          <p:nvPr/>
        </p:nvSpPr>
        <p:spPr>
          <a:xfrm>
            <a:off x="5956300" y="4527550"/>
            <a:ext cx="781050" cy="58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3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22" name="Shape 1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 · CORE CODE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98"/>
              </a:lnSpc>
              <a:buNone/>
            </a:pPr>
            <a:r>
              <a:rPr lang="en-US" sz="365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MINIMUM, THEN ONE SEARCH PER J</a:t>
            </a:r>
            <a:endParaRPr lang="en-US" sz="3650" dirty="0"/>
          </a:p>
        </p:txBody>
      </p:sp>
      <p:sp>
        <p:nvSpPr>
          <p:cNvPr id="4" name="Shape 2"/>
          <p:cNvSpPr/>
          <p:nvPr/>
        </p:nvSpPr>
        <p:spPr>
          <a:xfrm>
            <a:off x="812800" y="1866503"/>
            <a:ext cx="10318750" cy="4441627"/>
          </a:xfrm>
          <a:prstGeom prst="roundRect">
            <a:avLst>
              <a:gd name="adj" fmla="val 1144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47750" y="2025253"/>
            <a:ext cx="11017250" cy="4154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pm[1] = c[1];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i = 2; i &lt;= n; i ++)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pm[i] = min(pm[i-1], c[i]);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j = 2; j &lt;= n; j ++){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need = F - c[j];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l = 1, r = j - 1;   </a:t>
            </a:r>
            <a:r>
              <a:rPr lang="en-US" sz="16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first i with pm[i] &lt;= need → l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while (l &lt;= r){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int mid = (l + r) / 2;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(pm[mid] &lt;= need) r = mid - 1;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else l = mid + 1;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(l &lt;= j - 1) ans = max(ans, j - l + 1);</a:t>
            </a:r>
            <a:endParaRPr lang="en-US" sz="1600" dirty="0"/>
          </a:p>
          <a:p>
            <a:pPr marL="0" indent="0" algn="l">
              <a:lnSpc>
                <a:spcPts val="232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PAIR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USE BINARY SEARCH</a:t>
            </a:r>
            <a:endParaRPr lang="en-US" sz="3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03016"/>
          <a:ext cx="10566400" cy="2127250"/>
        </p:xfrm>
        <a:graphic>
          <a:graphicData uri="http://schemas.openxmlformats.org/drawingml/2006/table">
            <a:tbl>
              <a:tblPr/>
              <a:tblGrid>
                <a:gridCol w="27471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95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9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 Mission (P5)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Laser Cutter (P6)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over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index in the array pm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answer (square side)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Monotone because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built it (prefix min)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problem gave it (staircase)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many searches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per j: N searches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search, O(N) check each step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51834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 AIO PROBLEM 6</a:t>
            </a:r>
            <a:endParaRPr lang="en-US" sz="195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2026345"/>
            <a:ext cx="7740650" cy="1551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720"/>
              </a:lnSpc>
              <a:buNone/>
            </a:pPr>
            <a:r>
              <a:rPr lang="en-US" sz="5200" b="1" kern="0" spc="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LOLLIPOPS, SWEETS AND CHOCOLATES II</a:t>
            </a:r>
            <a:endParaRPr lang="en-US" sz="52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3707705"/>
            <a:ext cx="80772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condition is not monotone. Its sum is.</a:t>
            </a:r>
            <a:endParaRPr lang="en-US" sz="2550" dirty="0"/>
          </a:p>
        </p:txBody>
      </p:sp>
      <p:sp>
        <p:nvSpPr>
          <p:cNvPr id="6" name="Shape 3"/>
          <p:cNvSpPr/>
          <p:nvPr/>
        </p:nvSpPr>
        <p:spPr>
          <a:xfrm>
            <a:off x="812800" y="4310955"/>
            <a:ext cx="2939058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310955"/>
            <a:ext cx="293905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3866158" y="4310955"/>
            <a:ext cx="3111500" cy="457200"/>
          </a:xfrm>
          <a:prstGeom prst="roundRect">
            <a:avLst>
              <a:gd name="adj" fmla="val 50000"/>
            </a:avLst>
          </a:prstGeom>
          <a:solidFill>
            <a:srgbClr val="FCE7E5"/>
          </a:solidFill>
          <a:ln w="12700">
            <a:solidFill>
              <a:srgbClr val="E46F6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866158" y="4310955"/>
            <a:ext cx="3111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812800" y="4882455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882455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2561530" y="4882455"/>
            <a:ext cx="1204813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2561530" y="4882455"/>
            <a:ext cx="120481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0601325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shops and M houses on a line. For a radius R, each house counts the shops within distance R.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987477"/>
            <a:ext cx="10601325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given the M counts </a:t>
            </a: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sorted order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matched to houses. Find any R (0 ≤ R ≤ L) that produces exactly these counts, or −1.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4071938"/>
            <a:ext cx="10601325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N, M ≤ 100 000, L ≤ 10⁹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516438"/>
            <a:ext cx="10601325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we compare </a:t>
            </a: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multisets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sort our counts and compare with s.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QUESTION 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VALUES OF R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10615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every R from 0 to L: count, sort, compare. O(L · M log M), and L is 10⁹.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515096"/>
            <a:ext cx="1110615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we binary search R? Only if something is monotone in R.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127177"/>
            <a:ext cx="11106150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0, 1, 2, …: </a:t>
            </a:r>
            <a:r>
              <a:rPr lang="en-US" sz="240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A ✗ at mid could be left </a:t>
            </a:r>
            <a:r>
              <a:rPr lang="en-US" sz="2400" i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right of the ✓ block.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211638"/>
            <a:ext cx="11106150" cy="105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53"/>
              </a:lnSpc>
              <a:buNone/>
            </a:pPr>
            <a:r>
              <a:rPr lang="en-US" sz="25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"Sorted counts equal s" is not monotone. You cannot binary search it directly.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KEY OBSERVATIONS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MONOTONE QUANTITY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52216"/>
            <a:ext cx="11200384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house's count never decreases as R grows.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422128"/>
            <a:ext cx="11200384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 the sorted vector v(R) never decreases in any position.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992041"/>
            <a:ext cx="11200384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Let S = sum of s. If two radii both give sum S, every position must be equal: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radii with sum S give the same vector.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812800" y="4004866"/>
            <a:ext cx="11200384" cy="895350"/>
          </a:xfrm>
          <a:prstGeom prst="roundRect">
            <a:avLst>
              <a:gd name="adj" fmla="val 5674"/>
            </a:avLst>
          </a:prstGeom>
          <a:solidFill>
            <a:srgbClr val="F6F7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0600" y="4081066"/>
            <a:ext cx="10844784" cy="780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b="1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 for 3:</a:t>
            </a:r>
            <a:r>
              <a:rPr lang="en-US" sz="195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R₁ &lt; R₂ with the same sum S. By 2, every difference v(R₂)[k] − v(R₁)[k] is ≥ 0. The differences add up to S − S = 0. What must each one be?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812800" y="5027216"/>
            <a:ext cx="11200384" cy="958850"/>
          </a:xfrm>
          <a:prstGeom prst="roundRect">
            <a:avLst>
              <a:gd name="adj" fmla="val 5298"/>
            </a:avLst>
          </a:prstGeom>
          <a:solidFill>
            <a:srgbClr val="FFFAF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16000" y="5128816"/>
            <a:ext cx="10793984" cy="801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sum(v(R)) ≥ S?　</a:t>
            </a:r>
            <a:r>
              <a:rPr lang="en-US" sz="240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9AA1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 </a:t>
            </a:r>
            <a:r>
              <a:rPr lang="en-US" sz="2400" b="1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binary search the first ✓, then compare once.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WHY ONE CHECK IS ENOUGH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THAT R FAILS, EVERY R FAILS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at the smallest R is already &gt; S: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bigger R give sums &gt; S, smaller R give sums &lt; S. No R reaches exactly S.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928541"/>
            <a:ext cx="11200384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is S but the vector differs: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observation 3 every R with sum S has this same vector. All fail.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3954066"/>
            <a:ext cx="11200384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88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check first: if even R = L gives a sum below S, print −1.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79216"/>
            <a:ext cx="6753296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Houses go left to right, so the window [h − R, h + R] slides right. Both pointers only move forward: at most N steps in total → O(N + M) per R.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15634" y="1979216"/>
            <a:ext cx="3822248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 = first index with sh[hi] &gt; h +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= first index with sh[lo] ≥ h −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= hi − lo</a:t>
            </a:r>
            <a:endParaRPr lang="en-US" sz="195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1: S = 10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52216"/>
            <a:ext cx="11200384" cy="423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Shops 1 5 8 9　Houses 3 6 8 10 14　s = 0 2 2 3 3</a:t>
            </a:r>
            <a:endParaRPr lang="en-US" sz="22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411016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1584920"/>
                <a:gridCol w="1584920"/>
                <a:gridCol w="1584920"/>
                <a:gridCol w="1584920"/>
                <a:gridCol w="1584920"/>
                <a:gridCol w="1585218"/>
              </a:tblGrid>
              <a:tr h="4635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3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6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8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10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14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35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00" y="3985816"/>
            <a:ext cx="11200384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Smallest R with sum ≥ 10: ___   Sorted counts = s? ____   Answer: ___</a:t>
            </a:r>
            <a:endParaRPr lang="en-US" sz="2250" dirty="0"/>
          </a:p>
        </p:txBody>
      </p:sp>
      <p:sp>
        <p:nvSpPr>
          <p:cNvPr id="7" name="Text 4"/>
          <p:cNvSpPr txBox="1"/>
          <p:nvPr/>
        </p:nvSpPr>
        <p:spPr>
          <a:xfrm>
            <a:off x="186690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345440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6"/>
          <p:cNvSpPr txBox="1"/>
          <p:nvPr/>
        </p:nvSpPr>
        <p:spPr>
          <a:xfrm>
            <a:off x="504190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662305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821055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12" name="Text 9"/>
          <p:cNvSpPr txBox="1"/>
          <p:nvPr/>
        </p:nvSpPr>
        <p:spPr>
          <a:xfrm>
            <a:off x="979170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50" dirty="0"/>
          </a:p>
        </p:txBody>
      </p:sp>
      <p:sp>
        <p:nvSpPr>
          <p:cNvPr id="13" name="Text 10"/>
          <p:cNvSpPr txBox="1"/>
          <p:nvPr/>
        </p:nvSpPr>
        <p:spPr>
          <a:xfrm>
            <a:off x="186690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4" name="Text 11"/>
          <p:cNvSpPr txBox="1"/>
          <p:nvPr/>
        </p:nvSpPr>
        <p:spPr>
          <a:xfrm>
            <a:off x="345440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5" name="Text 12"/>
          <p:cNvSpPr txBox="1"/>
          <p:nvPr/>
        </p:nvSpPr>
        <p:spPr>
          <a:xfrm>
            <a:off x="504190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3"/>
          <p:cNvSpPr txBox="1"/>
          <p:nvPr/>
        </p:nvSpPr>
        <p:spPr>
          <a:xfrm>
            <a:off x="662305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7" name="Text 14"/>
          <p:cNvSpPr txBox="1"/>
          <p:nvPr/>
        </p:nvSpPr>
        <p:spPr>
          <a:xfrm>
            <a:off x="821055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979170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403860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7226300" y="3943350"/>
            <a:ext cx="93980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21" name="Text 18"/>
          <p:cNvSpPr txBox="1"/>
          <p:nvPr/>
        </p:nvSpPr>
        <p:spPr>
          <a:xfrm>
            <a:off x="921385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22" name="Shape 1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CORE CODE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TOTAL(R) AND THE SEARCH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812800" y="1903016"/>
            <a:ext cx="5969000" cy="4279900"/>
          </a:xfrm>
          <a:prstGeom prst="roundRect">
            <a:avLst>
              <a:gd name="adj" fmla="val 1187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2061766"/>
            <a:ext cx="6215888" cy="399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total(long long R){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lo = 1, hi = 1;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sum = 0;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i = 1; i &lt;= m; i ++){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while (hi &lt;= n &amp;&amp; sh[hi] &lt;= ho[i] + R)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hi ++;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while (lo &lt;= n &amp;&amp; sh[lo] &lt; ho[i] - R)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lo ++;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cnt[i] = hi - lo;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sum += cnt[i];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sum;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035800" y="1903016"/>
            <a:ext cx="4343400" cy="4279900"/>
          </a:xfrm>
          <a:prstGeom prst="roundRect">
            <a:avLst>
              <a:gd name="adj" fmla="val 1187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7245350" y="2061766"/>
            <a:ext cx="4395216" cy="3688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first R with sum &gt;= S → l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l = 0, r = L;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while (l &lt;= r){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mid = (l + r) / 2;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(total(mid) &gt;= S)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 = mid - 1;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else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 = mid + 1;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total(l);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sort(cnt + 1, cnt + m + 1);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compare cnt with 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BIG IDEA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38"/>
              </a:lnSpc>
              <a:buNone/>
            </a:pPr>
            <a:r>
              <a:rPr lang="en-US" sz="325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THE MONOTONICITY COME FROM?</a:t>
            </a:r>
            <a:endParaRPr lang="en-US" sz="32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08163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98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16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monotone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Monotone instead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Solution space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Laser Cutter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Staircase cuts: given by the problem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s: </a:t>
                      </a:r>
                      <a:r>
                        <a:rPr lang="en-US" sz="1950" b="1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9AA1A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9AA1A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last ✓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2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 Mission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cost array C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minimum pm: we built it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t: </a:t>
                      </a:r>
                      <a:r>
                        <a:rPr lang="en-US" sz="1950" b="1" dirty="0">
                          <a:solidFill>
                            <a:srgbClr val="9AA1A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9AA1A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first ✓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2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Lollipops II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"Sorted counts equal s"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 of counts: we built it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340"/>
                        </a:lnSpc>
                        <a:buNone/>
                      </a:pP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R: </a:t>
                      </a:r>
                      <a:r>
                        <a:rPr lang="en-US" sz="1950" b="1" dirty="0">
                          <a:solidFill>
                            <a:srgbClr val="9AA1A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9AA1A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r>
                        <a:rPr lang="en-US" sz="1950" b="1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r>
                        <a:rPr lang="en-US" sz="1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first ✓</a:t>
                      </a:r>
                      <a:endParaRPr lang="en-US" sz="1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506913"/>
            <a:ext cx="112003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monotone quantity? Look for one you can build: a prefix min, a sum, a count.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EF3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8A5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CODING · 25 MINUTES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SPACE MISSION FROM SCRATCH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09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N, F and C[1..N] (long long)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pm[i] = min(pm[i-1], C[i])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j: binary search the first i in [1, j−1] with pm[i] ≤ F − C[j]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best j − i + 1; start ans at −1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 samples: expect 4, 5, −1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4535091"/>
            <a:ext cx="11200384" cy="649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Write total(R) for Lollipops II and check sample 1 gives sums 8 and 10 for R = 2, 3.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5347891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Submit: </a:t>
            </a:r>
            <a:r>
              <a:rPr lang="en-US" sz="1950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orac2.info/problem/1101</a:t>
            </a:r>
            <a:endParaRPr lang="en-US" sz="1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TECHNIQUES USED SO FAR</a:t>
            </a:r>
            <a:endParaRPr lang="en-US" sz="3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03016"/>
          <a:ext cx="10566400" cy="3479800"/>
        </p:xfrm>
        <a:graphic>
          <a:graphicData uri="http://schemas.openxmlformats.org/drawingml/2006/table">
            <a:tbl>
              <a:tblPr/>
              <a:tblGrid>
                <a:gridCol w="2958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1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19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212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Sum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Pointers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Spaceship Shuffle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Tennis Robot II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Twin Rivers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bridges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Laser Cutter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optional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 Mission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min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Lollipops II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counting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LESSON 3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094720" cy="202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Cutter: full program · </a:t>
            </a:r>
            <a:r>
              <a:rPr lang="en-US" sz="2250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orac2.info/problem/1100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II: full program · </a:t>
            </a:r>
            <a:r>
              <a:rPr lang="en-US" sz="2250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orac2.info/problem/147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Laser Cutter without binary search, using one forward-moving pointer (O(N))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COMPLEXITY RECAP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TECHNIQUES, TWO SPEED-UPS</a:t>
            </a:r>
            <a:endParaRPr lang="en-US" sz="3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52216"/>
          <a:ext cx="10566400" cy="914400"/>
        </p:xfrm>
        <a:graphic>
          <a:graphicData uri="http://schemas.openxmlformats.org/drawingml/2006/table">
            <a:tbl>
              <a:tblPr/>
              <a:tblGrid>
                <a:gridCol w="5494536"/>
                <a:gridCol w="2324596"/>
                <a:gridCol w="2747268"/>
              </a:tblGrid>
              <a:tr h="4381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 every R, count each house by scanning all shops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O(L · N · M)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10¹⁹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Try every R, </a:t>
                      </a: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Pointers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count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O(L · (N + M))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10¹⁴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on R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(the sum is monotone) + Two Pointers count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O((N + M) log L)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6 × 10⁶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Then sort the counts once and compare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O(M log M)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1.7 × 10⁶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849416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cuts 10⁹ radii to about 30. Two Pointers cuts each count from N · M to N + M.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MISSION · COMPLEXITY RECAP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O(N²) TO O(N LOG N)</a:t>
            </a:r>
            <a:endParaRPr lang="en-US" sz="3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52216"/>
          <a:ext cx="10566400" cy="914400"/>
        </p:xfrm>
        <a:graphic>
          <a:graphicData uri="http://schemas.openxmlformats.org/drawingml/2006/table">
            <a:tbl>
              <a:tblPr/>
              <a:tblGrid>
                <a:gridCol w="5494536"/>
                <a:gridCol w="2324596"/>
                <a:gridCol w="2747268"/>
              </a:tblGrid>
              <a:tr h="4381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6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Brute force: every pair (i, j)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O(N²)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10¹⁰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Prefix minimum pm + Binary Search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for each j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 log N)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1.7 × 10⁶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Optional: Two Pointers on pm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10⁵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106466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has no order, so we built one: pm never increases. Then each j needs about 17 checks instead of j.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CUTTER · COMPLEXITY RECAP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O(N³) TO O(N LOG N)</a:t>
            </a:r>
            <a:endParaRPr lang="en-US" sz="3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52216"/>
          <a:ext cx="10566400" cy="914400"/>
        </p:xfrm>
        <a:graphic>
          <a:graphicData uri="http://schemas.openxmlformats.org/drawingml/2006/table">
            <a:tbl>
              <a:tblPr/>
              <a:tblGrid>
                <a:gridCol w="5494536"/>
                <a:gridCol w="2324596"/>
                <a:gridCol w="2747268"/>
              </a:tblGrid>
              <a:tr h="4381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24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Brute force: every corner, every size, 2D prefix sums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O(N³)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× 10¹⁵ ✗ (the grid does not even fit)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Staircase arrays yb, ya; try every s with an O(N) check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O(N²)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C837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× 10¹⁰ ✗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Binary Search on s</a:t>
                      </a: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(fits is monotone)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 log N)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3.6 × 10⁶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3F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Optional: one forward-moving pointer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O(N)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2876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10⁵ ✓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855766"/>
            <a:ext cx="1120038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turns "try all N sizes" into about 18 checks, because "an s × s square fits" is monotone in s.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79216"/>
            <a:ext cx="6753296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Houses go left to right, so the window [h − R, h + R] slides right. Both pointers only move forward: at most N steps in total → O(N + M) per R.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15634" y="1979216"/>
            <a:ext cx="3822248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 = first index with sh[hi] &gt; h +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= first index with sh[lo] ≥ h −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= hi − lo</a:t>
            </a:r>
            <a:endParaRPr lang="en-US" sz="195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79216"/>
            <a:ext cx="6753296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Houses go left to right, so the window [h − R, h + R] slides right. Both pointers only move forward: at most N steps in total → O(N + M) per R.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15634" y="1979216"/>
            <a:ext cx="3822248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 = first index with sh[hi] &gt; h +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= first index with sh[lo] ≥ h −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= hi − lo</a:t>
            </a:r>
            <a:endParaRPr lang="en-US" sz="195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79216"/>
            <a:ext cx="6753296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Houses go left to right, so the window [h − R, h + R] slides right. Both pointers only move forward: at most N steps in total → O(N + M) per R.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15634" y="1979216"/>
            <a:ext cx="3822248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 = first index with sh[hi] &gt; h +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= first index with sh[lo] ≥ h −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= hi − lo</a:t>
            </a:r>
            <a:endParaRPr lang="en-US" sz="195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79216"/>
            <a:ext cx="6753296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Houses go left to right, so the window [h − R, h + R] slides right. Both pointers only move forward: at most N steps in total → O(N + M) per R.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15634" y="1979216"/>
            <a:ext cx="3822248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 = first index with sh[hi] &gt; h +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= first index with sh[lo] ≥ h −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= hi − lo</a:t>
            </a:r>
            <a:endParaRPr lang="en-US" sz="195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100" kern="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LOLLIPOPS II · COUNTING FAST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b="1" spc="10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 FOR EVERY COUNT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79216"/>
            <a:ext cx="6753296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Houses go left to right, so the window [h − R, h + R] slides right. Both pointers only move forward: at most N steps in total → O(N + M) per R.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437834" y="1903016"/>
            <a:ext cx="4177848" cy="1266825"/>
          </a:xfrm>
          <a:prstGeom prst="roundRect">
            <a:avLst>
              <a:gd name="adj" fmla="val 4010"/>
            </a:avLst>
          </a:prstGeom>
          <a:solidFill>
            <a:srgbClr val="FFF6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15634" y="1979216"/>
            <a:ext cx="3822248" cy="1151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 = first index with sh[hi] &gt; h +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= first index with sh[lo] ≥ h − R</a:t>
            </a:r>
            <a:endParaRPr lang="en-US" sz="19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1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= hi − lo</a:t>
            </a:r>
            <a:endParaRPr lang="en-US" sz="195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pic>
        <p:nvPicPr>
          <p:cNvPr id="8" name="Image 1" descr="Diagram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3365500"/>
            <a:ext cx="10566400" cy="2857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AIO Lessons">
  <a:themeElements>
    <a:clrScheme name="AIO Lessons">
      <a:dk1>
        <a:srgbClr val="1F2328"/>
      </a:dk1>
      <a:lt1>
        <a:srgbClr val="FFFFFF"/>
      </a:lt1>
      <a:dk2>
        <a:srgbClr val="0A4054"/>
      </a:dk2>
      <a:lt2>
        <a:srgbClr val="F6F7F7"/>
      </a:lt2>
      <a:accent1>
        <a:srgbClr val="66B2B0"/>
      </a:accent1>
      <a:accent2>
        <a:srgbClr val="F2494C"/>
      </a:accent2>
      <a:accent3>
        <a:srgbClr val="F9AA19"/>
      </a:accent3>
      <a:accent4>
        <a:srgbClr val="F9C996"/>
      </a:accent4>
      <a:accent5>
        <a:srgbClr val="3E9A97"/>
      </a:accent5>
      <a:accent6>
        <a:srgbClr val="9FD1D0"/>
      </a:accent6>
      <a:hlink>
        <a:srgbClr val="287673"/>
      </a:hlink>
      <a:folHlink>
        <a:srgbClr val="0A4054"/>
      </a:folHlink>
    </a:clrScheme>
    <a:fontScheme name="AIO Lesson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A81911F-6933-7B48-A027-13A9248F6186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78154bb8-a5f9-49ee-92e0-3ceb8a4e126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5519</Words>
  <Application>Microsoft Macintosh PowerPoint</Application>
  <PresentationFormat>Widescreen</PresentationFormat>
  <Paragraphs>672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JetBrains Mono</vt:lpstr>
      <vt:lpstr>AIO Lessons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AIO Lesson 2: Binary Search + Two Pointers</dc:title>
  <dc:subject>PptxGenJS Presentation</dc:subject>
  <dc:creator>Bryan</dc:creator>
  <cp:lastModifiedBy>Bryan Sun</cp:lastModifiedBy>
  <cp:revision>1</cp:revision>
  <dcterms:created xsi:type="dcterms:W3CDTF">2026-10-02T13:29:13Z</dcterms:created>
  <dcterms:modified xsi:type="dcterms:W3CDTF">2026-10-03T13:49:59Z</dcterms:modified>
</cp:coreProperties>
</file>