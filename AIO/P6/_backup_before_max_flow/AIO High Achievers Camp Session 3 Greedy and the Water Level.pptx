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7" r:id="rId16"/>
    <p:sldId id="270" r:id="rId17"/>
    <p:sldId id="271" r:id="rId18"/>
    <p:sldId id="272" r:id="rId19"/>
    <p:sldId id="273" r:id="rId20"/>
    <p:sldId id="274" r:id="rId21"/>
    <p:sldId id="275" r:id="rId22"/>
    <p:sldId id="286" r:id="rId23"/>
    <p:sldId id="276" r:id="rId24"/>
    <p:sldId id="277" r:id="rId25"/>
    <p:sldId id="278" r:id="rId26"/>
    <p:sldId id="279" r:id="rId27"/>
    <p:sldId id="280" r:id="rId28"/>
    <p:sldId id="281" r:id="rId29"/>
    <p:sldId id="285" r:id="rId30"/>
    <p:sldId id="282" r:id="rId31"/>
    <p:sldId id="283" r:id="rId32"/>
    <p:sldId id="284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Greedy, exchange arguments and the water-level picture" id="{B6AF70E9-2AEE-B273-4E8A-3617D1AD62A4}">
          <p14:sldIdLst>
            <p14:sldId id="256"/>
            <p14:sldId id="257"/>
            <p14:sldId id="258"/>
            <p14:sldId id="259"/>
          </p14:sldIdLst>
        </p14:section>
        <p14:section name="2026 P6 Mundane Square: row-by-row greedy with water-filling" id="{A2B4E55D-9B6A-D8A7-65C4-E1A6FAE3E05A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87"/>
          </p14:sldIdLst>
        </p14:section>
        <p14:section name="2023 P5 Wheeling and Dealing: cut the peaks, try every level" id="{C212C383-07E3-F873-1E65-6083A3D620F3}">
          <p14:sldIdLst>
            <p14:sldId id="270"/>
            <p14:sldId id="271"/>
            <p14:sldId id="272"/>
            <p14:sldId id="273"/>
            <p14:sldId id="274"/>
            <p14:sldId id="275"/>
            <p14:sldId id="286"/>
          </p14:sldIdLst>
        </p14:section>
        <p14:section name="2026 P5 Prime Minister: fill the valleys, binary search the level" id="{9D140A3A-0BF4-497E-02BF-19653F035357}">
          <p14:sldIdLst>
            <p14:sldId id="276"/>
            <p14:sldId id="277"/>
            <p14:sldId id="278"/>
            <p14:sldId id="279"/>
            <p14:sldId id="280"/>
            <p14:sldId id="281"/>
            <p14:sldId id="285"/>
          </p14:sldIdLst>
        </p14:section>
        <p14:section name="Live coding, recap and homework" id="{44621DEB-896F-EF79-48B0-9A96993650B8}">
          <p14:sldIdLst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custSel modSld">
      <pc:chgData name="Bryan Sun" userId="851caa7714272873" providerId="LiveId" clId="{1DF0C224-3A3E-55A6-A8D1-F8F2208D385B}" dt="2026-10-06T10:57:53.069" v="44" actId="6549"/>
      <pc:docMkLst>
        <pc:docMk/>
      </pc:docMkLst>
      <pc:sldChg chg="delSp modSp mod">
        <pc:chgData name="Bryan Sun" userId="851caa7714272873" providerId="LiveId" clId="{1DF0C224-3A3E-55A6-A8D1-F8F2208D385B}" dt="2026-10-06T10:56:33.938" v="40" actId="478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10-06T10:56:29.899" v="39" actId="242"/>
          <ac:spMkLst>
            <pc:docMk/>
            <pc:sldMk cId="0" sldId="256"/>
            <ac:spMk id="3" creationId="{00000000-0000-0000-0000-000000000000}"/>
          </ac:spMkLst>
        </pc:spChg>
        <pc:spChg chg="del">
          <ac:chgData name="Bryan Sun" userId="851caa7714272873" providerId="LiveId" clId="{1DF0C224-3A3E-55A6-A8D1-F8F2208D385B}" dt="2026-10-06T10:56:33.938" v="40" actId="478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6T10:57:28.163" v="43" actId="6549"/>
        <pc:sldMkLst>
          <pc:docMk/>
          <pc:sldMk cId="0" sldId="258"/>
        </pc:sldMkLst>
        <pc:spChg chg="mod">
          <ac:chgData name="Bryan Sun" userId="851caa7714272873" providerId="LiveId" clId="{1DF0C224-3A3E-55A6-A8D1-F8F2208D385B}" dt="2026-10-06T10:57:28.163" v="43" actId="6549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6T10:57:53.069" v="44" actId="6549"/>
        <pc:sldMkLst>
          <pc:docMk/>
          <pc:sldMk cId="0" sldId="260"/>
        </pc:sldMkLst>
        <pc:spChg chg="mod">
          <ac:chgData name="Bryan Sun" userId="851caa7714272873" providerId="LiveId" clId="{1DF0C224-3A3E-55A6-A8D1-F8F2208D385B}" dt="2026-10-06T10:57:53.069" v="44" actId="6549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465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次课：三道题画出来是同一幅图，一排柱子和一条水平线。两道题削掉线上方的峰（cut the peaks），一道题填平线下方的谷（fill the valleys）。其中两道用 Binary Search 找这条线，第三道枚举每一个值。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Wheeling and Dealing 的完整解法需要 Fenwick tree（BIT）。课上讲思路和手算即可，BIT 的实现作为选读。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没有第 3 步的 Greedy 规则只是猜测。AIO 的题通常猜规则很容易，证明才是真正的工作。整节课把第 3 步留在黑板上。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整节课都把这幅图留在黑板上。每道题都问：柱子是什么？这条线代表什么？
参考：Mundane Square：柱子 = 每列还缺的数量，线 = λ（削峰）；Wheeling and Dealing：柱子 = 每个对手的票数，线 = k − 1（削峰）；Prime Minister：柱子 = 右半边每个人的财富，线 = x（填谷）。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35 分钟。这是本次课的核心题，另外两道都拿来和它比较。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在黑板上写样例 1：K = 4，R = 6 8 3，C = 5 5 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提到 max-flow 只是让较强的学生知道这题在理论上属于哪一类，课上不讲。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Greedy 三步法的第 1 步：猜规则。下一页是第 3 步：exchange argument。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在右侧画一个 2×2 的子网格：当前行和第 r 行、第 i 列和第 j 列，四个格子分别标 +1/−1。K = 1 时这就是 Gale–Ryser 定理背后的构造。这份解答也用 max-flow 暴力对拍验证过。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指回水位线图的左半边：这就是"削峰"。上限 K 表示每一格最多削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步常被误解：capacity 是这一行最多能发出多少（每格 ≤ K，也不超过该列还缺的数量）。如果连这个都小于 R[i]，这一行就填不满；如果 ≥ R[i]，说明有余量，由 λ 决定少发多少。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放映时按键（或点击）逐步显示红色答案：①λ = 3 行 ②λ = 4 行 ③λ ④零头和给哪一列 ⑤第 1 行 ⑥新的 rem。先让学生在纸上填，再一下一下揭晓。</a:t>
            </a:r>
          </a:p>
          <a:p>
            <a:r>
              <a:rPr lang="zh-CN" altLang="en-US" dirty="0"/>
              <a:t>答案：λ = 3：2 2 4 = 8 &gt; 6。λ = 4：1 1 3 = 5 ≤ 6。所以 λ = 4，零头 leftover = 1，给第 1 列（5 − 1 = 4 = λ，且 1 &lt; K）。第 1 行 = 2 1 3，rem = 3 4 4。</a:t>
            </a:r>
          </a:p>
          <a:p>
            <a:r>
              <a:rPr lang="zh-CN" altLang="en-US" dirty="0"/>
              <a:t>第 2 行（发 8）：λ = 0 得 11，λ = 1 得 2 3 3 = 8 → 第 2 行 = 2 3 3，rem = 1 1 1。</a:t>
            </a:r>
          </a:p>
          <a:p>
            <a:r>
              <a:rPr lang="zh-CN" altLang="en-US" dirty="0"/>
              <a:t>第 3 行（发 3）：1 1 1。输出 YES / 2 1 3 / 2 3 3 / 1 1 1（和样例输出不同，但题目接受任何合法的矩阵）。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 从 0 开始，r 取 rem[j] 的最大值。N 行 × 约 30 次二分 × N 列 ≈ 3×10^7，没问题。最多要输出 10^6 个数：每行结束时用一次 endl，不要每个数都 endl。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提问：如果每个格子有自己的上限 K[i][j]，Greedy 还成立吗？
答案：不一定，这时需要真正的 max-flow。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 ≤ 1000，K, R[i], C[j] ≤ 10⁹）：</a:t>
            </a:r>
          </a:p>
          <a:p>
            <a:r>
              <a:rPr lang="zh-CN" altLang="en-US" dirty="0"/>
              <a:t>理论上这是 max-flow 问题，但 N² 条边、容量到 10⁹，远超 AIO 的范围。</a:t>
            </a:r>
          </a:p>
          <a:p>
            <a:r>
              <a:rPr lang="zh-CN" altLang="en-US" dirty="0"/>
              <a:t>Greedy 规则（每次给最缺的列）是对的，但一个单位一个单位地发，总量 ΣR 可达 10¹⁵ 级别，太慢。</a:t>
            </a:r>
          </a:p>
          <a:p>
            <a:r>
              <a:rPr lang="zh-CN" altLang="en-US" dirty="0"/>
              <a:t>关键：一整行一次发完——水位线 λ 越低发出越多，单调，所以对每一行二分 λ（约 30 次），每次 O(N)：总共 O(N² log V) ≈ 3×10⁷。</a:t>
            </a:r>
          </a:p>
          <a:p>
            <a:r>
              <a:rPr lang="zh-CN" altLang="en-US" dirty="0"/>
              <a:t>提问：Greedy 和 Binary Search 各自解决了什么？答案：Greedy 决定"给谁"，Binary Search 决定"一行给到哪个水位"。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分钟。注意这里不用 Binary Search：花费关于水位线不单调，这是和 Mundane Square 最主要的区别。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所以唯一的问题是：买哪些选民？
参考：让被买的选民都改投 1 号（对手少一票、1 号多一票），一定不比改投别人差。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Exchange argument：如果买了某个对手较贵的选民，却没买他更便宜的选民，换成便宜的，票数结果相同，花费更少。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放映时按键（或点击）逐步显示红色答案：①–⑤ k = 1 到 5 各一行。先让学生在纸上填，再一下一下揭晓。</a:t>
            </a:r>
          </a:p>
          <a:p>
            <a:r>
              <a:rPr lang="zh-CN" altLang="en-US" dirty="0"/>
              <a:t>答案（自编例子，已用解答程序验证）：</a:t>
            </a:r>
          </a:p>
          <a:p>
            <a:r>
              <a:rPr lang="zh-CN" altLang="en-US" dirty="0"/>
              <a:t>k = 1：两个对手都削到 0：1+2+5+9 + 3+3 = 23，我方 7 票。</a:t>
            </a:r>
          </a:p>
          <a:p>
            <a:r>
              <a:rPr lang="zh-CN" altLang="en-US" dirty="0"/>
              <a:t>k = 2：2 号削到 1（1+2+5），3 号削到 1（3）= 11，我方 5 票。</a:t>
            </a:r>
          </a:p>
          <a:p>
            <a:r>
              <a:rPr lang="zh-CN" altLang="en-US" dirty="0"/>
              <a:t>k = 3：2 号削到 2（1+2）= 3，我方 3 票。最优。</a:t>
            </a:r>
          </a:p>
          <a:p>
            <a:r>
              <a:rPr lang="zh-CN" altLang="en-US" dirty="0"/>
              <a:t>k = 4：2 号削到 3（1），我方 2 票，再补买剩下最便宜的 2 个（2+3）= 6。</a:t>
            </a:r>
          </a:p>
          <a:p>
            <a:r>
              <a:rPr lang="zh-CN" altLang="en-US" dirty="0"/>
              <a:t>k = 5：不用削，补买最便宜的 4 个（1+2+3+3）= 9。</a:t>
            </a:r>
          </a:p>
          <a:p>
            <a:r>
              <a:rPr lang="zh-CN" altLang="en-US" dirty="0"/>
              <a:t>花费依次是 23、11、3、6、9：两头都贵，关于 k 不单调，所以不能二分，只能枚举每个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提问：为什么 Mundane 可以二分水位线，而 Wheeling 不行？
答案：指着花费 23、11、3、6、9：Wheeling 的花费关于 k 不单调；Mundane 中"这一行发出的总量"关于 λ 单调不增。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Fenwick tree 超出了本课程的核心内容。Subtask 1–2（每个花费都是 $1）只需要计数；subtask 3（N, M ≤ 100）可以对每个 k 直接重算。和 Codeforces 1019A "Elections" 是同一类题。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复杂度回顾（N, M ≤ 100 000，P[i] ≤ 10 000）：</a:t>
            </a:r>
          </a:p>
          <a:p>
            <a:r>
              <a:rPr lang="zh-CN" altLang="en-US" dirty="0"/>
              <a:t>暴力：枚举买哪些选民，2^M。</a:t>
            </a:r>
          </a:p>
          <a:p>
            <a:r>
              <a:rPr lang="zh-CN" altLang="en-US" dirty="0"/>
              <a:t>固定最终票数 k 之后，Greedy 告诉我们买哪些：每个对手削到 k − 1 票（买他最便宜的），不够再补买全局最便宜的。逐个 k 从头算是 O(M²) ≈ 10¹⁰。</a:t>
            </a:r>
          </a:p>
          <a:p>
            <a:r>
              <a:rPr lang="zh-CN" altLang="en-US" dirty="0"/>
              <a:t>关键：k 从大到小扫，被迫购买只增不减，每个选民最多被买一次；"剩下最便宜的 t 个"用以花费为下标的 Fenwick tree，O(log 10 000)。总共 O(M log 10 000)。</a:t>
            </a:r>
          </a:p>
          <a:p>
            <a:r>
              <a:rPr lang="zh-CN" altLang="en-US" dirty="0"/>
              <a:t>注意：花费关于 k 不单调，所以不能二分，只能扫描每个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分钟，之后这道题就是现场编码题。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在黑板上写样例 1：N = 5，K = 4，A = 1 2 5 6 9。答案 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搜索范围：[A[md], A[md] + K]。
提问：为什么 A[md] + K 是安全的上界？
答案：中位数要 ≥ x，至少要让 A[md] 这个人达到 x；就算把 K 全给他，也只能到 A[md] + 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放映时按键（或点击）逐步显示红色答案：①md ②右半边 ③搜索范围 ④–⑥ x = 6、7、8 各一行 ⑦答案。先让学生在纸上填，再一下一下揭晓。</a:t>
            </a:r>
          </a:p>
          <a:p>
            <a:r>
              <a:rPr lang="zh-CN" altLang="en-US" dirty="0"/>
              <a:t>答案：md = 3，右半边 5 6 9，搜索范围 [5, 9]。</a:t>
            </a:r>
          </a:p>
          <a:p>
            <a:r>
              <a:rPr lang="zh-CN" altLang="en-US" dirty="0"/>
              <a:t>x = 6：要补 1 0 0 → 1，可以。x = 7：2 1 0 → 3，可以。x = 8：3 2 0 → 5，不行。答案 7（找最后一个可行值 → 输出 r）。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和全班一起填这张表，一次填一列。
参考答案就是表中内容：柱子分别是右半边的财富 / 每列还缺的数量 / 每个对手的票数；动作分别是填谷 / 削峰（每格 ≤ K）/ 削峰；找水位线的方法分别是二分（最后一个 x）/ 二分（第一个 λ）/ 枚举每个 k；目标分别是最优化 / 判断有没有解并构造 / 最优化。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提问：两个函数分别朝哪个方向单调？分别找第一个还是最后一个可行值？
答案：Prime Minister：x 越大 cost 越大，找最后一个可行的 x（→ r）。Mundane：λ 越小 give 越大，找第一个满足 give(λ) ≤ R[i] 的 λ（→ l）。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复杂度回顾（N ≤ 200 000，K, A[i] ≤ 10⁹）：</a:t>
            </a:r>
          </a:p>
          <a:p>
            <a:r>
              <a:rPr lang="zh-CN" altLang="en-US" dirty="0"/>
              <a:t>模拟：每次把 $1 给右半边最穷的人，用堆 O(K log N)，K 可达 10⁹。</a:t>
            </a:r>
          </a:p>
          <a:p>
            <a:r>
              <a:rPr lang="zh-CN" altLang="en-US" dirty="0"/>
              <a:t>枚举目标 x：x 最多比 A[md] 大 K，每个 x 检查 O(N)，O(K·N)。</a:t>
            </a:r>
          </a:p>
          <a:p>
            <a:r>
              <a:rPr lang="zh-CN" altLang="en-US" dirty="0"/>
              <a:t>关键：Greedy 说明只需要把右半边补到 x；"中位数能否达到 x"关于 x 单调，二分约 30 次，每次 O(N)：O(N log K) ≈ 6×10⁶。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 bug：给整个数组补钱，而不是只补右半边；int 溢出（A[md] + K 可达 2×10^9）；输出 l 而不是 r。
样例答案：7、6、2。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指出：到目前为止 9 道题中有 6 道用了 Binary Search。下次课会加一个新工具 Sparse Table，以及整个课程最难的题。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下次课：Sparse Table、Robot Writing 和 Beach Umbrellas。
第 3 题参考答案：如果每格上限 K[i][j] 不同，"优先给需求最大的列"就不一定对了（某些列在某些行的上限很小），一般需要 max-flow。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751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747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rac2.info/problem/129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r>
              <a:rPr lang="zh-CN" alt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ACHIEVERS</a:t>
            </a:r>
            <a:r>
              <a:rPr lang="zh-CN" alt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</a:t>
            </a:r>
            <a:r>
              <a:rPr 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r>
              <a:rPr lang="zh-CN" altLang="en-US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zh-CN" sz="14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203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5093"/>
              </a:lnSpc>
              <a:buNone/>
            </a:pPr>
            <a:r>
              <a:rPr lang="en-US" sz="4850" b="1" kern="0" spc="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AND THE WATER LEVEL</a:t>
            </a:r>
            <a:endParaRPr lang="en-US" sz="4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2 HOURS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4025900"/>
        </p:xfrm>
        <a:graphic>
          <a:graphicData uri="http://schemas.openxmlformats.org/drawingml/2006/table">
            <a:tbl>
              <a:tblPr/>
              <a:tblGrid>
                <a:gridCol w="2113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9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0:00–0:15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Greedy, exchange arguments, the water level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0:15–0:50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P6 Mundane Square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+ 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0:50–1:10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 P5 Wheeling and Dealing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+ try every level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1:10–1:30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P5 Prime Minister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on the answer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1:30–1:55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coding: Prime Minister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program + samples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1:55–2:00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 and homework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 · GREEDY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A RULE, THEN PROVE IT IS SAFE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Guess the rule from small cases.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9991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any best answer that breaks the rule.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096816"/>
            <a:ext cx="11200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Swap one piece so it follows the rule. If the answer is no worse, the rule is safe: an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argument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4416"/>
            <a:ext cx="11200384" cy="89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altLang="zh-CN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erve the tallest column first · buy each rival's cheapest voters · top up the poorest person.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PICTURE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AND A WATER LEVEL</a:t>
            </a:r>
            <a:endParaRPr lang="en-US" sz="3900" dirty="0"/>
          </a:p>
        </p:txBody>
      </p:sp>
      <p:pic>
        <p:nvPicPr>
          <p:cNvPr id="4" name="Image 0" descr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903016"/>
            <a:ext cx="10566400" cy="31922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2800" y="5298480"/>
            <a:ext cx="5292038" cy="78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peaks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above the line</a:t>
            </a:r>
            <a:endParaRPr lang="en-US" sz="2100" dirty="0"/>
          </a:p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Wheeling and Dealing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7075289" y="5298480"/>
            <a:ext cx="4562146" cy="78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valleys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 to the line</a:t>
            </a:r>
            <a:endParaRPr lang="en-US" sz="2100" dirty="0"/>
          </a:p>
          <a:p>
            <a:pPr marL="0" indent="0" algn="l">
              <a:lnSpc>
                <a:spcPts val="294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627783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35783"/>
            <a:ext cx="11200384" cy="97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65"/>
              </a:lnSpc>
              <a:buNone/>
            </a:pPr>
            <a:r>
              <a:rPr lang="en-US" sz="615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</a:t>
            </a:r>
            <a:endParaRPr lang="en-US" sz="615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223518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grid with given row and column sums, every cell between 0 and K.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201418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01418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4201418"/>
            <a:ext cx="3250605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2991545" y="4201418"/>
            <a:ext cx="32506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356449" y="4201418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6356449" y="4201418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800" y="4772918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812800" y="4772918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N×N grid of integers in [0, K] whose row i sums to R[i] and column j sums to C[j]. Print YES and the grid, or NO.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1000, K, R[i], C[j] ≤ 10⁹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43197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 shipping: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row i sends R[i] units, column j needs C[j] units, and each (row, column) pair carries at most K.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EASY NOs FIRST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NECESSARY, BUT NOT ENOUGH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ΣR = ΣC.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 3: 7+0+3 = 10 but 6+2+3 = 11 → NO.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R[i], C[j] ≤ N·K.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 4: K = 1, N = 4, R[2] = 5 &gt; 4 → NO.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127177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 this is a max-flow problem, but N = 1000 means 10⁶ edges with capacities up to 10⁹. Too heavy, and outside AIO.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1638"/>
            <a:ext cx="11200384" cy="55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greedy rule.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ROW BY ROW: TALLEST COLUMN FIRST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12800" y="1844675"/>
            <a:ext cx="11200384" cy="1225550"/>
          </a:xfrm>
          <a:prstGeom prst="roundRect">
            <a:avLst>
              <a:gd name="adj" fmla="val 414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16000" y="1971675"/>
            <a:ext cx="10793984" cy="102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825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each row's units to the columns that still need the </a:t>
            </a: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</a:t>
            </a: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at most K per cell.</a:t>
            </a:r>
            <a:endParaRPr lang="en-US" sz="25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209925"/>
            <a:ext cx="11200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 column that still needs a lot is the hardest to satisfy. Every later row can give it at most K, and rows are running out. Columns that need little are easy to top up later.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WHY IT IS SAFE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EXCHANGE ARGUMENT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Suppose a valid grid gives this row's unit to column j (needs less) instead of column i (needs more, not yet at K).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1061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i needs more, so some later row r gave i more than j.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11153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Swap: this row moves one unit j → i; row r moves one unit i → j. All row and column sums stay the same.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536678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if any answer exists, the greedy finds one.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MAKING IT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WATER-FILLING: BINARY SEARCH THE LEVEL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44675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unit at a time is too slow (R[i] up to 10⁹). Treat rem[j] (what column j still needs) as column heights and cut everything above a level λ: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870200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2971800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x[j] = min(K, max(0, rem[j] − λ))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587750"/>
            <a:ext cx="11200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λ → more units sent: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monotone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Binary search the smallest λ with Σ x[j] ≤ R[i]. Hand the few leftover units, one each, to columns sitting exactly at λ that are still below K.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ALGORITHM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ROW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ΣR ≠ ΣC: NO. Start with rem[j] = C[j].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check: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Σ min(K, rem[j]) is the most this row can send. If it is less than R[i]: NO.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the smallest λ with give(λ) ≤ R[i].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x[j]; hand out the leftover; subtract from rem.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end every rem[j] must be 0, else NO.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1, ROW 1 (SEND 6)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4　R = 6 8 3　C = 5 5 7　→ rem = 5 5 7</a:t>
            </a:r>
            <a:endParaRPr lang="en-US" sz="2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914400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134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 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 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 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6?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85816"/>
            <a:ext cx="11200384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___   leftover = ___ → goes to column ___   row 1 = ___ ___ ___</a:t>
            </a:r>
            <a:endParaRPr lang="en-US" sz="2250" dirty="0"/>
          </a:p>
          <a:p>
            <a:pPr marL="0" indent="0" algn="l">
              <a:lnSpc>
                <a:spcPts val="405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rem = ___ ___ ___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250190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419100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588645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7575550" y="29464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9264650" y="29464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250190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10"/>
          <p:cNvSpPr txBox="1"/>
          <p:nvPr/>
        </p:nvSpPr>
        <p:spPr>
          <a:xfrm>
            <a:off x="419100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588645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7575550" y="34099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9264650" y="340995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11303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31051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60452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778510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83375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8896350" y="394335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2082800" y="44577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2635250" y="44577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5" name="Text 22"/>
          <p:cNvSpPr txBox="1"/>
          <p:nvPr/>
        </p:nvSpPr>
        <p:spPr>
          <a:xfrm>
            <a:off x="3194050" y="4457700"/>
            <a:ext cx="781050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GIVE(Λ) AND THE SEARCH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676900" cy="3746500"/>
          </a:xfrm>
          <a:prstGeom prst="roundRect">
            <a:avLst>
              <a:gd name="adj" fmla="val 135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5888736" cy="2028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units this row sends at level lam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give(long long lam){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j = 1; j &lt;= n; j ++)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min(K, max(0LL, rem[j] - lam));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43700" y="1903016"/>
            <a:ext cx="4635500" cy="3746500"/>
          </a:xfrm>
          <a:prstGeom prst="roundRect">
            <a:avLst>
              <a:gd name="adj" fmla="val 135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6953250" y="2061766"/>
            <a:ext cx="4722368" cy="3457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(give(0) &lt; R[i]){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cout &lt;&lt; "NO" &lt;&lt; endl;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0;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lam with give &lt;= R[i] → l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mid = (l + r) / 2;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(give(mid) &lt;= R[i])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SCORING ROUTE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79266"/>
            <a:ext cx="5334000" cy="26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R[i] = 1, K huge: one unit per row, any column still short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huge: fill in order; ΣR = ΣC is enough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1: 0/1 grid, tallest columns first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values: greedy one unit at a time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Full: water-filling + binary search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62992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ΣR = ΣC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Filling columns in index order when K is small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the column that needs the least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unit at a time on the full data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38"/>
              </a:lnSpc>
              <a:buNone/>
            </a:pPr>
            <a:r>
              <a:rPr lang="en-US" sz="32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LEVEL PER ROW, NOT ONE UNIT AT A TIME</a:t>
            </a:r>
            <a:endParaRPr lang="en-US" sz="3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57363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max-flow on the N² row–column edges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 too slow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outside AIO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Greedy, one unit at a time (tallest column first)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O(ΣR · log 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10¹⁵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Greedy, whole row at once: </a:t>
                      </a: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the water level λ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O(N² log V)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3 × 10⁷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608513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greedy rule makes the problem solvable; Binary Search on the level makes each row cost O(N log V) instead of R[i] steps.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9234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PROBLEM 5 · 2023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431455"/>
            <a:ext cx="11200384" cy="73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4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3025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picture: cut the tallest rivals down to a level.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3905845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3905845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3905845"/>
            <a:ext cx="4613672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2991545" y="3905845"/>
            <a:ext cx="46136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(Fenwick tree)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477345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477345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932410" y="44773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932410" y="44773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candidates, M voters. Voter i plans to vote for V[i]; paying P[i] makes them vote for anyone you like.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minimum cost so candidate 1 gets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more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votes than every other candidate.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601325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 M ≤ 100 000, P[i] ≤ 10 000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516438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simplification: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bought voter should always switch to candidate 1. That takes a vote from a rival </a:t>
            </a:r>
            <a:r>
              <a:rPr lang="en-US" sz="2400" i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adds one to us.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OUR FINAL VOTE COUNT 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water level is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− 1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Every rival above it must be cut down to k − 1: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485628"/>
            <a:ext cx="11200384" cy="552450"/>
          </a:xfrm>
          <a:prstGeom prst="roundRect">
            <a:avLst>
              <a:gd name="adj" fmla="val 9195"/>
            </a:avLst>
          </a:prstGeom>
          <a:solidFill>
            <a:srgbClr val="EEF3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2587228"/>
            <a:ext cx="10793984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rival with c votes loses at least c − k + 1: buy their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voters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77778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short of k? Top up with the cheapest voters left anywhere.</a:t>
            </a:r>
            <a:endParaRPr lang="en-US" sz="22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3760391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k and keep the cheapest total.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EXAMPLE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1416"/>
            <a:ext cx="11200384" cy="70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1: 1 vote　Candidate 2: 4 votes, costs 1 2 5 9　Candidate 3: 2 votes, costs 3 3</a:t>
            </a:r>
            <a:endParaRPr lang="en-US" sz="2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614216"/>
          <a:ext cx="10566400" cy="914400"/>
        </p:xfrm>
        <a:graphic>
          <a:graphicData uri="http://schemas.openxmlformats.org/drawingml/2006/table">
            <a:tbl>
              <a:tblPr/>
              <a:tblGrid>
                <a:gridCol w="105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9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8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08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Forced buys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votes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Top-up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866900" y="312420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5041900" y="31242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731000" y="312420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690100" y="31242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1866900" y="356235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5041900" y="35623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731000" y="356235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9690100" y="35623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866900" y="400050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5041900" y="40005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6731000" y="400050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9690100" y="40005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1866900" y="443865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041900" y="44386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5" name="Text 17"/>
          <p:cNvSpPr txBox="1"/>
          <p:nvPr/>
        </p:nvSpPr>
        <p:spPr>
          <a:xfrm>
            <a:off x="6731000" y="443865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9690100" y="443865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1866900" y="4876800"/>
            <a:ext cx="316865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5041900" y="48768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6731000" y="4876800"/>
            <a:ext cx="295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9690100" y="4876800"/>
            <a:ext cx="1689100" cy="338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10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PICTURE, DIFFERENT SEARCH</a:t>
            </a:r>
            <a:endParaRPr lang="en-US" sz="3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Wheeling and Dealing (P5)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 (P6)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cost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a grid exist? Build it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rival's votes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each column still needs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level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k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cost is not 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λ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total is 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choice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rival's cheapest voters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Columns that need the most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Sorting, Fenwick tree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search, a scan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MAKING IT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K FROM HIGH TO LOW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buys only grow.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time k drops by 1, every rival with ≥ k votes gives up one more voter, their next cheapest. At most M buys in total.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"Cheapest t voters left":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costs are ≤ 10 000, so keep a Fenwick tree indexed by cost holding counts and sums. Remove forced buys from it; walk down the tree to sum the cheapest t.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396978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O(M log 10 000). Optional reading: </a:t>
            </a:r>
            <a:r>
              <a:rPr lang="en-US" sz="2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2023_P5_Wheeling_and_Dealing.cpp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2^M TO O(M LOG 10 000)</a:t>
            </a:r>
            <a:endParaRPr lang="en-US" sz="3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set of voters to buy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O(2^M)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k, recompute forced buys and the top-up from scratch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O(M²)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10¹⁰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k, </a:t>
                      </a: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sweep k downwards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Fenwick tree for the cheapest 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O(M log 10 000)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1.4 × 10⁶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40491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fixes what to buy for each k; sweeping k downwards means each voter is bought at most once.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7837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PROBLEM 5 · 2026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291755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4422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the picture: fill the valleys up to a level.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04554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04554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045545"/>
            <a:ext cx="2375991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045545"/>
            <a:ext cx="23759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356449" y="4045545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6356449" y="4045545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800" y="46170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812800" y="46170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people (N odd) have wealth A[1] ≤ … ≤ A[N]. Hand out K dollars (non-negative whole amounts each).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wealth as large as possible.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200 000, K, A[i] ≤ 10⁹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MEDIAN REACH X?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Median ≥ x ⇔ at least (N+1)/2 people have ≥ x.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22128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Cheapest way (Greedy): raise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richest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(N+1)/2 people, A[md..N] with md = (N+1)/2. Money for the left half never helps.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3434953"/>
            <a:ext cx="11200384" cy="552450"/>
          </a:xfrm>
          <a:prstGeom prst="roundRect">
            <a:avLst>
              <a:gd name="adj" fmla="val 9195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1016000" y="3536553"/>
            <a:ext cx="10793984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cost(x) = Σ over i = md..N of max(0, x − A[i]) ≤ K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114403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Bigger x costs more: monotone →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on the answer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last x that passes.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1: K = 4, A = 1 2 5 6 9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= ___   right half = ___ ___ ___   search range = [___, ___]</a:t>
            </a:r>
            <a:endParaRPr lang="en-US" sz="2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60216"/>
          <a:ext cx="10566400" cy="914400"/>
        </p:xfrm>
        <a:graphic>
          <a:graphicData uri="http://schemas.openxmlformats.org/drawingml/2006/table">
            <a:tbl>
              <a:tblPr/>
              <a:tblGrid>
                <a:gridCol w="147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134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up 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up 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up 9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4?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39856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= ___</a:t>
            </a:r>
            <a:endParaRPr lang="en-US" sz="2250" dirty="0"/>
          </a:p>
        </p:txBody>
      </p:sp>
      <p:sp>
        <p:nvSpPr>
          <p:cNvPr id="7" name="Text 4"/>
          <p:cNvSpPr txBox="1"/>
          <p:nvPr/>
        </p:nvSpPr>
        <p:spPr>
          <a:xfrm>
            <a:off x="2292350" y="2895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3981450" y="2895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9" name="Text 6"/>
          <p:cNvSpPr txBox="1"/>
          <p:nvPr/>
        </p:nvSpPr>
        <p:spPr>
          <a:xfrm>
            <a:off x="5670550" y="28956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0" name="Text 7"/>
          <p:cNvSpPr txBox="1"/>
          <p:nvPr/>
        </p:nvSpPr>
        <p:spPr>
          <a:xfrm>
            <a:off x="7366000" y="289560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9264650" y="28956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2" name="Text 9"/>
          <p:cNvSpPr txBox="1"/>
          <p:nvPr/>
        </p:nvSpPr>
        <p:spPr>
          <a:xfrm>
            <a:off x="2292350" y="3359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0"/>
          <p:cNvSpPr txBox="1"/>
          <p:nvPr/>
        </p:nvSpPr>
        <p:spPr>
          <a:xfrm>
            <a:off x="3981450" y="3359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5670550" y="335915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15" name="Text 12"/>
          <p:cNvSpPr txBox="1"/>
          <p:nvPr/>
        </p:nvSpPr>
        <p:spPr>
          <a:xfrm>
            <a:off x="7366000" y="335915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3"/>
          <p:cNvSpPr txBox="1"/>
          <p:nvPr/>
        </p:nvSpPr>
        <p:spPr>
          <a:xfrm>
            <a:off x="9264650" y="335915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2250" dirty="0"/>
          </a:p>
        </p:txBody>
      </p:sp>
      <p:sp>
        <p:nvSpPr>
          <p:cNvPr id="17" name="Text 14"/>
          <p:cNvSpPr txBox="1"/>
          <p:nvPr/>
        </p:nvSpPr>
        <p:spPr>
          <a:xfrm>
            <a:off x="2292350" y="3822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5"/>
          <p:cNvSpPr txBox="1"/>
          <p:nvPr/>
        </p:nvSpPr>
        <p:spPr>
          <a:xfrm>
            <a:off x="3981450" y="3822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9" name="Text 16"/>
          <p:cNvSpPr txBox="1"/>
          <p:nvPr/>
        </p:nvSpPr>
        <p:spPr>
          <a:xfrm>
            <a:off x="5670550" y="3822700"/>
            <a:ext cx="16891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50" dirty="0"/>
          </a:p>
        </p:txBody>
      </p:sp>
      <p:sp>
        <p:nvSpPr>
          <p:cNvPr id="20" name="Text 17"/>
          <p:cNvSpPr txBox="1"/>
          <p:nvPr/>
        </p:nvSpPr>
        <p:spPr>
          <a:xfrm>
            <a:off x="7366000" y="3822700"/>
            <a:ext cx="190500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1" name="Text 18"/>
          <p:cNvSpPr txBox="1"/>
          <p:nvPr/>
        </p:nvSpPr>
        <p:spPr>
          <a:xfrm>
            <a:off x="9264650" y="3822700"/>
            <a:ext cx="2114550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2250" dirty="0"/>
          </a:p>
        </p:txBody>
      </p:sp>
      <p:sp>
        <p:nvSpPr>
          <p:cNvPr id="22" name="Text 19"/>
          <p:cNvSpPr txBox="1"/>
          <p:nvPr/>
        </p:nvSpPr>
        <p:spPr>
          <a:xfrm>
            <a:off x="13843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23" name="Text 20"/>
          <p:cNvSpPr txBox="1"/>
          <p:nvPr/>
        </p:nvSpPr>
        <p:spPr>
          <a:xfrm>
            <a:off x="35179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40767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50" dirty="0"/>
          </a:p>
        </p:txBody>
      </p:sp>
      <p:sp>
        <p:nvSpPr>
          <p:cNvPr id="25" name="Text 22"/>
          <p:cNvSpPr txBox="1"/>
          <p:nvPr/>
        </p:nvSpPr>
        <p:spPr>
          <a:xfrm>
            <a:off x="462915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26" name="Text 23"/>
          <p:cNvSpPr txBox="1"/>
          <p:nvPr/>
        </p:nvSpPr>
        <p:spPr>
          <a:xfrm>
            <a:off x="741680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5" name="Text 24"/>
          <p:cNvSpPr txBox="1"/>
          <p:nvPr/>
        </p:nvSpPr>
        <p:spPr>
          <a:xfrm>
            <a:off x="8058150" y="177165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250" dirty="0"/>
          </a:p>
        </p:txBody>
      </p:sp>
      <p:sp>
        <p:nvSpPr>
          <p:cNvPr id="28" name="Text 25"/>
          <p:cNvSpPr txBox="1"/>
          <p:nvPr/>
        </p:nvSpPr>
        <p:spPr>
          <a:xfrm>
            <a:off x="1936750" y="4318000"/>
            <a:ext cx="781050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50" dirty="0"/>
          </a:p>
        </p:txBody>
      </p:sp>
      <p:sp>
        <p:nvSpPr>
          <p:cNvPr id="29" name="Shape 2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ALL THREE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USES OF THE WATER LEVEL</a:t>
            </a:r>
            <a:endParaRPr lang="en-US" sz="3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007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2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2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3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 Minister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Wheeling and Dealing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half's wealth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each column needs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rival's votes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Fill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below x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above λ, ≤ K per cell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above k − 1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 the level by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(last x)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(first λ)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Trying every k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Exists? Build it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VS CUT IN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MIN, ONE MAX APART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71338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Minister: fill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309416"/>
            <a:ext cx="5067300" cy="2698750"/>
          </a:xfrm>
          <a:prstGeom prst="roundRect">
            <a:avLst>
              <a:gd name="adj" fmla="val 1882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22350" y="2468166"/>
            <a:ext cx="5205984" cy="2405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check(long long x){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cost = 0;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md; i &lt;= n; i ++)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(a[i] &lt; x){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cost += x - a[i];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if (cost &gt; K)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return false;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}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true;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134100" y="1903016"/>
            <a:ext cx="5371338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Square: cut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134100" y="2309416"/>
            <a:ext cx="5067300" cy="1984375"/>
          </a:xfrm>
          <a:prstGeom prst="roundRect">
            <a:avLst>
              <a:gd name="adj" fmla="val 2560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 txBox="1"/>
          <p:nvPr/>
        </p:nvSpPr>
        <p:spPr>
          <a:xfrm>
            <a:off x="6343650" y="2468166"/>
            <a:ext cx="5205984" cy="169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give(long long lam){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j = 1; j &lt;= n; j ++)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min(K,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max(0LL, rem[j] - lam));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· COMPLEXITY 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O(K LOG N) TO O(N LOG K)</a:t>
            </a:r>
            <a:endParaRPr lang="en-US" sz="3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5494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 $1 at a time to the poorest of the right half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O(K log 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1.8 × 10¹⁰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target x from A[md] upwards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O(K · 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10¹⁴ 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on x with an O(N) check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O(N log K)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6 × 10⁶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106466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right half matters (Greedy); "can the median reach x?" is monotone, so about 30 checks replace up to 10⁹ tries.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25 MINUTES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PRIME MINISTER FROM SCRATCH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N, K and A[1..N] (long long); md = (N+1)/2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check(x): top up A[md..N] to x, stop early once cost &gt; K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x in [A[md], A[md] + K] for the last value that passes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r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samples: expect 7, 6, 2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535091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Write the slow version for subtask 3: give $1 at a time to the poorest of the right half. Compare answers.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347891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orac2.info/problem/1751</a:t>
            </a:r>
            <a:endParaRPr lang="en-US" sz="1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USED SO FAR</a:t>
            </a:r>
            <a:endParaRPr lang="en-US" sz="3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295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21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counting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 λ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Wheeling and Dealing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Fenwick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 Minister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half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orac2.info/problem/1747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subtasks 1–3 (no Fenwick tree needed)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orac2.info/problem/1298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in Mundane Square, what goes wrong if each cell has its own cap K[i][j]?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4402</Words>
  <Application>Microsoft Macintosh PowerPoint</Application>
  <PresentationFormat>Widescreen</PresentationFormat>
  <Paragraphs>559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JetBrains Mono</vt:lpstr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3: Greedy and the Water Level</dc:title>
  <dc:subject>PptxGenJS Presentation</dc:subject>
  <dc:creator>Bryan</dc:creator>
  <cp:lastModifiedBy>Bryan Sun</cp:lastModifiedBy>
  <cp:revision>1</cp:revision>
  <dcterms:created xsi:type="dcterms:W3CDTF">2026-10-02T13:29:14Z</dcterms:created>
  <dcterms:modified xsi:type="dcterms:W3CDTF">2026-10-06T10:58:03Z</dcterms:modified>
</cp:coreProperties>
</file>