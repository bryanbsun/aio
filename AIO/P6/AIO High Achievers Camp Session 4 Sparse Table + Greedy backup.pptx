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93" r:id="rId45"/>
    <p:sldId id="259" r:id="rId5"/>
    <p:sldId id="292" r:id="rId44"/>
    <p:sldId id="260" r:id="rId6"/>
    <p:sldId id="291" r:id="rId43"/>
    <p:sldId id="261" r:id="rId7"/>
    <p:sldId id="262" r:id="rId8"/>
    <p:sldId id="263" r:id="rId9"/>
    <p:sldId id="264" r:id="rId10"/>
    <p:sldId id="265" r:id="rId11"/>
    <p:sldId id="266" r:id="rId12"/>
    <p:sldId id="267" r:id="rId13"/>
    <p:sldId id="290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89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8" r:id="rId33"/>
    <p:sldId id="285" r:id="rId34"/>
    <p:sldId id="286" r:id="rId35"/>
    <p:sldId id="287" r:id="rId36"/>
    <p:sldId id="294" r:id="rId4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: the four techniques and a new tool, the Sparse Table" id="{A4011F1E-2501-AA1C-BE28-04CA8F694004}">
          <p14:sldIdLst>
            <p14:sldId id="256"/>
            <p14:sldId id="257"/>
            <p14:sldId id="258"/>
            <p14:sldId id="293"/>
            <p14:sldId id="259"/>
            <p14:sldId id="292"/>
            <p14:sldId id="260"/>
            <p14:sldId id="291"/>
          </p14:sldIdLst>
        </p14:section>
        <p14:section name="2020 P5 Ladybugs II: consecutive windows, separate D, range minimum" id="{96B682BF-215D-C207-FB5B-37AFE3539706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90"/>
          </p14:sldIdLst>
        </p14:section>
        <p14:section name="2025 P6 Robot Writing: the robot carries the maximum, layer by layer" id="{8D96F195-F8E7-5C24-EAFE-84EFEAF4A94A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89"/>
          </p14:sldIdLst>
        </p14:section>
        <p14:section name="2020 P6 Beach Umbrellas: greedy for a fixed start, exchange arguments, subtasks" id="{D82DBF91-7F70-2241-B2B4-2F5C21B5C6AB}">
          <p14:sldIdLst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8"/>
          </p14:sldIdLst>
        </p14:section>
        <p14:section name="Live coding, course recap and homework" id="{E97091BE-BF73-EC5D-F4E7-7B28D5B72B18}">
          <p14:sldIdLst>
            <p14:sldId id="285"/>
            <p14:sldId id="286"/>
            <p14:sldId id="287"/>
          </p14:sldIdLst>
        </p14:section>
        <p14:section name="Extra reading: Sparse Table details" id="{85256729-A59B-43E3-A231-708EC2BA8B98}">
          <p14:sldIdLst>
            <p14:sldId id="2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9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200" y="1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  <Relationship Id="rId43" Type="http://schemas.openxmlformats.org/officeDocument/2006/relationships/slide" Target="slides/slide36.xml"/>
  <Relationship Id="rId44" Type="http://schemas.openxmlformats.org/officeDocument/2006/relationships/slide" Target="slides/slide37.xml"/>
  <Relationship Id="rId45" Type="http://schemas.openxmlformats.org/officeDocument/2006/relationships/slide" Target="slides/slide38.xml"/>
  <Relationship Id="rId46" Type="http://schemas.openxmlformats.org/officeDocument/2006/relationships/slide" Target="slides/slide39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Sun" userId="851caa7714272873" providerId="LiveId" clId="{1DF0C224-3A3E-55A6-A8D1-F8F2208D385B}"/>
    <pc:docChg chg="custSel modSld">
      <pc:chgData name="Bryan Sun" userId="851caa7714272873" providerId="LiveId" clId="{1DF0C224-3A3E-55A6-A8D1-F8F2208D385B}" dt="2026-10-09T12:17:32.606" v="124" actId="122"/>
      <pc:docMkLst>
        <pc:docMk/>
      </pc:docMkLst>
      <pc:sldChg chg="delSp modSp mod">
        <pc:chgData name="Bryan Sun" userId="851caa7714272873" providerId="LiveId" clId="{1DF0C224-3A3E-55A6-A8D1-F8F2208D385B}" dt="2026-10-09T11:54:02.518" v="32" actId="478"/>
        <pc:sldMkLst>
          <pc:docMk/>
          <pc:sldMk cId="0" sldId="256"/>
        </pc:sldMkLst>
        <pc:spChg chg="mod">
          <ac:chgData name="Bryan Sun" userId="851caa7714272873" providerId="LiveId" clId="{1DF0C224-3A3E-55A6-A8D1-F8F2208D385B}" dt="2026-10-09T11:53:58.384" v="31" actId="242"/>
          <ac:spMkLst>
            <pc:docMk/>
            <pc:sldMk cId="0" sldId="256"/>
            <ac:spMk id="3" creationId="{00000000-0000-0000-0000-000000000000}"/>
          </ac:spMkLst>
        </pc:spChg>
        <pc:spChg chg="del">
          <ac:chgData name="Bryan Sun" userId="851caa7714272873" providerId="LiveId" clId="{1DF0C224-3A3E-55A6-A8D1-F8F2208D385B}" dt="2026-10-09T11:54:02.518" v="32" actId="478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6-10-09T12:01:24.251" v="48" actId="1038"/>
        <pc:sldMkLst>
          <pc:docMk/>
          <pc:sldMk cId="0" sldId="259"/>
        </pc:sldMkLst>
        <pc:spChg chg="mod">
          <ac:chgData name="Bryan Sun" userId="851caa7714272873" providerId="LiveId" clId="{1DF0C224-3A3E-55A6-A8D1-F8F2208D385B}" dt="2026-10-09T11:55:06.557" v="33" actId="1076"/>
          <ac:spMkLst>
            <pc:docMk/>
            <pc:sldMk cId="0" sldId="259"/>
            <ac:spMk id="19" creationId="{00000000-0000-0000-0000-000000000000}"/>
          </ac:spMkLst>
        </pc:spChg>
        <pc:spChg chg="mod">
          <ac:chgData name="Bryan Sun" userId="851caa7714272873" providerId="LiveId" clId="{1DF0C224-3A3E-55A6-A8D1-F8F2208D385B}" dt="2026-10-09T12:00:57.630" v="39" actId="1038"/>
          <ac:spMkLst>
            <pc:docMk/>
            <pc:sldMk cId="0" sldId="259"/>
            <ac:spMk id="20" creationId="{00000000-0000-0000-0000-000000000000}"/>
          </ac:spMkLst>
        </pc:spChg>
        <pc:spChg chg="mod">
          <ac:chgData name="Bryan Sun" userId="851caa7714272873" providerId="LiveId" clId="{1DF0C224-3A3E-55A6-A8D1-F8F2208D385B}" dt="2026-10-09T12:01:08.702" v="44" actId="1038"/>
          <ac:spMkLst>
            <pc:docMk/>
            <pc:sldMk cId="0" sldId="259"/>
            <ac:spMk id="21" creationId="{00000000-0000-0000-0000-000000000000}"/>
          </ac:spMkLst>
        </pc:spChg>
        <pc:spChg chg="mod">
          <ac:chgData name="Bryan Sun" userId="851caa7714272873" providerId="LiveId" clId="{1DF0C224-3A3E-55A6-A8D1-F8F2208D385B}" dt="2026-10-09T12:01:24.251" v="48" actId="1038"/>
          <ac:spMkLst>
            <pc:docMk/>
            <pc:sldMk cId="0" sldId="259"/>
            <ac:spMk id="22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6-10-09T12:03:14.978" v="49" actId="20577"/>
        <pc:sldMkLst>
          <pc:docMk/>
          <pc:sldMk cId="0" sldId="261"/>
        </pc:sldMkLst>
        <pc:spChg chg="mod">
          <ac:chgData name="Bryan Sun" userId="851caa7714272873" providerId="LiveId" clId="{1DF0C224-3A3E-55A6-A8D1-F8F2208D385B}" dt="2026-10-09T12:03:14.978" v="49" actId="20577"/>
          <ac:spMkLst>
            <pc:docMk/>
            <pc:sldMk cId="0" sldId="261"/>
            <ac:spMk id="3" creationId="{00000000-0000-0000-0000-000000000000}"/>
          </ac:spMkLst>
        </pc:spChg>
      </pc:sldChg>
      <pc:sldChg chg="modSp">
        <pc:chgData name="Bryan Sun" userId="851caa7714272873" providerId="LiveId" clId="{1DF0C224-3A3E-55A6-A8D1-F8F2208D385B}" dt="2026-10-09T12:04:24.379" v="57" actId="120"/>
        <pc:sldMkLst>
          <pc:docMk/>
          <pc:sldMk cId="0" sldId="264"/>
        </pc:sldMkLst>
        <pc:graphicFrameChg chg="mod">
          <ac:chgData name="Bryan Sun" userId="851caa7714272873" providerId="LiveId" clId="{1DF0C224-3A3E-55A6-A8D1-F8F2208D385B}" dt="2026-10-09T12:04:24.379" v="57" actId="120"/>
          <ac:graphicFrameMkLst>
            <pc:docMk/>
            <pc:sldMk cId="0" sldId="264"/>
            <ac:graphicFrameMk id="10" creationId="{00000000-0000-0000-0000-000000000000}"/>
          </ac:graphicFrameMkLst>
        </pc:graphicFrameChg>
      </pc:sldChg>
      <pc:sldChg chg="modAnim">
        <pc:chgData name="Bryan Sun" userId="851caa7714272873" providerId="LiveId" clId="{1DF0C224-3A3E-55A6-A8D1-F8F2208D385B}" dt="2026-10-09T12:07:56.944" v="75"/>
        <pc:sldMkLst>
          <pc:docMk/>
          <pc:sldMk cId="0" sldId="266"/>
        </pc:sldMkLst>
      </pc:sldChg>
      <pc:sldChg chg="modSp mod">
        <pc:chgData name="Bryan Sun" userId="851caa7714272873" providerId="LiveId" clId="{1DF0C224-3A3E-55A6-A8D1-F8F2208D385B}" dt="2026-10-09T12:09:34.438" v="78" actId="20577"/>
        <pc:sldMkLst>
          <pc:docMk/>
          <pc:sldMk cId="0" sldId="268"/>
        </pc:sldMkLst>
        <pc:spChg chg="mod">
          <ac:chgData name="Bryan Sun" userId="851caa7714272873" providerId="LiveId" clId="{1DF0C224-3A3E-55A6-A8D1-F8F2208D385B}" dt="2026-10-09T12:09:34.438" v="78" actId="20577"/>
          <ac:spMkLst>
            <pc:docMk/>
            <pc:sldMk cId="0" sldId="268"/>
            <ac:spMk id="3" creationId="{00000000-0000-0000-0000-000000000000}"/>
          </ac:spMkLst>
        </pc:spChg>
      </pc:sldChg>
      <pc:sldChg chg="modAnim">
        <pc:chgData name="Bryan Sun" userId="851caa7714272873" providerId="LiveId" clId="{1DF0C224-3A3E-55A6-A8D1-F8F2208D385B}" dt="2026-10-09T12:11:30.538" v="100"/>
        <pc:sldMkLst>
          <pc:docMk/>
          <pc:sldMk cId="0" sldId="270"/>
        </pc:sldMkLst>
      </pc:sldChg>
      <pc:sldChg chg="modSp">
        <pc:chgData name="Bryan Sun" userId="851caa7714272873" providerId="LiveId" clId="{1DF0C224-3A3E-55A6-A8D1-F8F2208D385B}" dt="2026-10-09T12:11:56.781" v="101" actId="120"/>
        <pc:sldMkLst>
          <pc:docMk/>
          <pc:sldMk cId="0" sldId="273"/>
        </pc:sldMkLst>
        <pc:graphicFrameChg chg="mod">
          <ac:chgData name="Bryan Sun" userId="851caa7714272873" providerId="LiveId" clId="{1DF0C224-3A3E-55A6-A8D1-F8F2208D385B}" dt="2026-10-09T12:11:56.781" v="101" actId="120"/>
          <ac:graphicFrameMkLst>
            <pc:docMk/>
            <pc:sldMk cId="0" sldId="273"/>
            <ac:graphicFrameMk id="19" creationId="{00000000-0000-0000-0000-000000000000}"/>
          </ac:graphicFrameMkLst>
        </pc:graphicFrameChg>
      </pc:sldChg>
      <pc:sldChg chg="modAnim">
        <pc:chgData name="Bryan Sun" userId="851caa7714272873" providerId="LiveId" clId="{1DF0C224-3A3E-55A6-A8D1-F8F2208D385B}" dt="2026-10-09T12:13:31.733" v="113"/>
        <pc:sldMkLst>
          <pc:docMk/>
          <pc:sldMk cId="0" sldId="274"/>
        </pc:sldMkLst>
      </pc:sldChg>
      <pc:sldChg chg="modSp mod">
        <pc:chgData name="Bryan Sun" userId="851caa7714272873" providerId="LiveId" clId="{1DF0C224-3A3E-55A6-A8D1-F8F2208D385B}" dt="2026-10-09T12:13:52.936" v="114" actId="20577"/>
        <pc:sldMkLst>
          <pc:docMk/>
          <pc:sldMk cId="0" sldId="276"/>
        </pc:sldMkLst>
        <pc:spChg chg="mod">
          <ac:chgData name="Bryan Sun" userId="851caa7714272873" providerId="LiveId" clId="{1DF0C224-3A3E-55A6-A8D1-F8F2208D385B}" dt="2026-10-09T12:13:52.936" v="114" actId="20577"/>
          <ac:spMkLst>
            <pc:docMk/>
            <pc:sldMk cId="0" sldId="276"/>
            <ac:spMk id="3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6-10-09T12:17:32.606" v="124" actId="122"/>
        <pc:sldMkLst>
          <pc:docMk/>
          <pc:sldMk cId="0" sldId="280"/>
        </pc:sldMkLst>
        <pc:graphicFrameChg chg="modGraphic">
          <ac:chgData name="Bryan Sun" userId="851caa7714272873" providerId="LiveId" clId="{1DF0C224-3A3E-55A6-A8D1-F8F2208D385B}" dt="2026-10-09T12:17:32.606" v="124" actId="122"/>
          <ac:graphicFrameMkLst>
            <pc:docMk/>
            <pc:sldMk cId="0" sldId="280"/>
            <ac:graphicFrameMk id="55" creationId="{00000000-0000-0000-0000-000000000000}"/>
          </ac:graphicFrameMkLst>
        </pc:graphicFrameChg>
      </pc:sldChg>
      <pc:sldChg chg="modSp mod">
        <pc:chgData name="Bryan Sun" userId="851caa7714272873" providerId="LiveId" clId="{1DF0C224-3A3E-55A6-A8D1-F8F2208D385B}" dt="2026-10-09T12:14:59.256" v="121" actId="122"/>
        <pc:sldMkLst>
          <pc:docMk/>
          <pc:sldMk cId="0" sldId="284"/>
        </pc:sldMkLst>
        <pc:graphicFrameChg chg="mod modGraphic">
          <ac:chgData name="Bryan Sun" userId="851caa7714272873" providerId="LiveId" clId="{1DF0C224-3A3E-55A6-A8D1-F8F2208D385B}" dt="2026-10-09T12:14:59.256" v="121" actId="122"/>
          <ac:graphicFrameMkLst>
            <pc:docMk/>
            <pc:sldMk cId="0" sldId="284"/>
            <ac:graphicFrameMk id="30" creationId="{00000000-0000-0000-0000-000000000000}"/>
          </ac:graphicFrameMkLst>
        </pc:graphicFrameChg>
      </pc:sldChg>
      <pc:sldChg chg="modSp">
        <pc:chgData name="Bryan Sun" userId="851caa7714272873" providerId="LiveId" clId="{1DF0C224-3A3E-55A6-A8D1-F8F2208D385B}" dt="2026-10-09T12:15:19.128" v="123" actId="122"/>
        <pc:sldMkLst>
          <pc:docMk/>
          <pc:sldMk cId="0" sldId="288"/>
        </pc:sldMkLst>
        <pc:graphicFrameChg chg="mod">
          <ac:chgData name="Bryan Sun" userId="851caa7714272873" providerId="LiveId" clId="{1DF0C224-3A3E-55A6-A8D1-F8F2208D385B}" dt="2026-10-09T12:15:19.128" v="123" actId="122"/>
          <ac:graphicFrameMkLst>
            <pc:docMk/>
            <pc:sldMk cId="0" sldId="288"/>
            <ac:graphicFrameMk id="33" creationId="{00000000-0000-0000-0000-000000000000}"/>
          </ac:graphicFrameMkLst>
        </pc:graphicFrameChg>
      </pc:sldChg>
      <pc:sldChg chg="modSp mod">
        <pc:chgData name="Bryan Sun" userId="851caa7714272873" providerId="LiveId" clId="{1DF0C224-3A3E-55A6-A8D1-F8F2208D385B}" dt="2026-10-09T12:09:16.764" v="77" actId="122"/>
        <pc:sldMkLst>
          <pc:docMk/>
          <pc:sldMk cId="0" sldId="290"/>
        </pc:sldMkLst>
        <pc:graphicFrameChg chg="mod modGraphic">
          <ac:chgData name="Bryan Sun" userId="851caa7714272873" providerId="LiveId" clId="{1DF0C224-3A3E-55A6-A8D1-F8F2208D385B}" dt="2026-10-09T12:09:16.764" v="77" actId="122"/>
          <ac:graphicFrameMkLst>
            <pc:docMk/>
            <pc:sldMk cId="0" sldId="290"/>
            <ac:graphicFrameMk id="14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244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4 次课，也是最后一次课。一个新工具：Sparse Table（O(1) 求区间 min / max），用在 Ladybugs II 和 Robot Writing。然后是整个课程最难的 Beach Umbrellas，重点讲 Greedy 的想法和 subtask 台阶。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Beach Umbrellas 是整个课程最难的题。今天讲 Greedy 的想法和到 subtask 4 为止的台阶；完整的 binary lifting 解法给强的学生课后阅读。Yet Another Lights（2023 P6）课上不讲：它是奇偶性（parity）构造题，放在作业页作为选读。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这是第 1 次课的"三问"。在给出 key observation 之前，让全班针对今天每道题大声回答。
参考答案：
Ladybugs II：brute force 是每个询问枚举所有窗口 O(QN)；位置已排序 → Binary Search 定位 D；f1、f2 只和窗口有关，可以预处理 → Sparse Table。
Robot Writing：brute force 是枚举起点和每一步方向 2^M；机器人脚下的值单调不减；区域边界可以用 Binary Search + Sparse Table 找。
Beach Umbrellas：brute force 是枚举左端点再 Greedy 模拟 O(N·K)；每把伞的放法可以局部决定（Greedy）；X = 1 时可以用 Two Pointers。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放映时按键（或点击）逐步显示红色答案：①sp[1] 行 ②sp[2] 行 ③k ④两个起点 ⑤答案。先让学生在纸上填，再一下一下揭晓。</a:t>
            </a:r>
          </a:p>
          <a:p>
            <a:r>
              <a:rPr lang="zh-CN" altLang="en-US" dirty="0"/>
              <a:t>答案：sp[1] = 3 4 4 5 9 9 6。sp[2] = 4 5 9 9 9。</a:t>
            </a:r>
          </a:p>
          <a:p>
            <a:r>
              <a:rPr lang="zh-CN" altLang="en-US" dirty="0"/>
              <a:t>查询 [2, 7]：长度 6，k = 2（≤ 6 的最大 2 的幂是 4）。max(sp[2][2], sp[2][4]) = max(5, 9) = 9。</a:t>
            </a:r>
          </a:p>
          <a:p>
            <a:r>
              <a:rPr lang="zh-CN" altLang="en-US" dirty="0"/>
              <a:t>要点：两个长度为 4 的块有重叠（位置 4、5 被算了两次）。对 max 和 min 没关系，但对求和不行：所以求和要用 prefix sum。</a:t>
            </a:r>
          </a:p>
          <a:p>
            <a:r>
              <a:rPr lang="zh-CN" altLang="en-US" dirty="0"/>
              <a:t>预处理 O(N log N)，查询 O(1)。数组不能被修改。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2^17 = 131072 &gt; 10^5，17 层就够了，开 20 层更保险。lg[1] = 0，因为全局数组初始为 0。求区间最小值时把 max 改成 min。和 prefix sum 对比：两者都是"先预处理，再快速回答每个区间问题"。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25 分钟。第一次用 Sparse Table。这里的 Two Pointers 指的是"K 个连续元素组成的滑动窗口"这个想法。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在右侧画数轴，标出 P = 1、4、6（样例 1），K = 2。再标出三个询问 D = 0、5、2。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先问：为什么一定是连续的？让学生在数轴上论证。
答案：在一条线上从最左走到最右，中间的瓢虫都会被经过，签名白拿；所以只要有更远的瓢虫被选上，中间的就可以换进来而不增加时间。
和今天后面的 Beach Umbrellas 呼应：那里的答案也是一整段连续区间。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前两种情况各 O(1)。第三种是难点：每个询问最多 K − 1 个窗口，Q 个询问，K 和 Q 都大时太慢。
提问：有多慢？答案：Q × K，例如 10^10。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这是本题最重要的想法：只和窗口有关的量都可以预处理。和 prefix sum 是同一种思路：把不依赖询问的部分先算好。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放映时按键（或点击）逐步显示红色答案：①–③ D = 0、5、2 各一行。先让学生在纸上填，再一下一下揭晓。</a:t>
            </a:r>
          </a:p>
          <a:p>
            <a:r>
              <a:rPr lang="zh-CN" altLang="en-US" dirty="0"/>
              <a:t>答案：</a:t>
            </a:r>
          </a:p>
          <a:p>
            <a:r>
              <a:rPr lang="zh-CN" altLang="en-US" dirty="0"/>
              <a:t>D = 0：s = 1。全在右边：l = 1，4 − 0 = 4。没有全在左边的，也没有跨过 D 的。答案 4。</a:t>
            </a:r>
          </a:p>
          <a:p>
            <a:r>
              <a:rPr lang="zh-CN" altLang="en-US" dirty="0"/>
              <a:t>D = 5：s = 3。全在右边：无。全在左边：以第 2 只结尾的窗口 [1, 4]，5 − 1 = 4。跨过 D：l = 2（[4, 6]）：2 + min(1, 1) = 3。答案 3。</a:t>
            </a:r>
          </a:p>
          <a:p>
            <a:r>
              <a:rPr lang="zh-CN" altLang="en-US" dirty="0"/>
              <a:t>D = 2：s = 2。全在右边：l = 2，6 − 2 = 4。全在左边：无。跨过 D：l = 1（[1, 4]）：3 + min(1, 2) = 4。答案 4。</a:t>
            </a:r>
          </a:p>
          <a:p>
            <a:r>
              <a:rPr lang="zh-CN" altLang="en-US" dirty="0"/>
              <a:t>期望输出：4 3 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 long long。每个询问：一次 Binary Search O(log N)，加上三种情况各 O(1)。Subtask 台阶：Q = 1 → 枚举所有窗口；K = N → 只有一个窗口；完整 → Binary Search + Sparse Table。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复杂度回顾（N, Q ≤ 100 000）：</a:t>
            </a:r>
          </a:p>
          <a:p>
            <a:r>
              <a:rPr lang="zh-CN" altLang="en-US" dirty="0"/>
              <a:t>先要观察到：K 只瓢虫一定是连续的一段，所以只有 N − K + 1 个窗口；每个询问都试一遍是 O(Q·N) ≈ 10¹⁰。</a:t>
            </a:r>
          </a:p>
          <a:p>
            <a:r>
              <a:rPr lang="zh-CN" altLang="en-US" dirty="0"/>
              <a:t>Binary Search 找到 D 在哪里后，全在左边、全在右边的情况各 O(1)，但跨过 D 的窗口最多 K − 1 个，O(Q·K) 仍可能到 10¹⁰。</a:t>
            </a:r>
          </a:p>
          <a:p>
            <a:r>
              <a:rPr lang="zh-CN" altLang="en-US" dirty="0"/>
              <a:t>关键：把 D 从公式里拿出来，剩下的只和窗口有关，预处理两个 Sparse Table，区间最小值 O(1)：总共 O(N log N + Q log N) ≈ 3.4×10⁶。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30 分钟。这里的 "Greedy" 指的是一个 Greedy 风格的 key observation（机器人最后总是拿着较大的值），而不是我们做的某个贪心选择。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Brute force：枚举起点和每一步的方向，2^M 种，只能过极小的 subtask。我们需要弄清楚交换到底做了什么。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放映时按键（或点击）逐步显示红色答案：①–④ 第 1 到 4 步各一行。先让学生在纸上填，再一下一下揭晓。</a:t>
            </a:r>
          </a:p>
          <a:p>
            <a:r>
              <a:rPr lang="zh-CN" altLang="en-US" dirty="0"/>
              <a:t>答案：</a:t>
            </a:r>
          </a:p>
          <a:p>
            <a:r>
              <a:rPr lang="zh-CN" altLang="en-US" dirty="0"/>
              <a:t>第 1 步：在格子 3，记录 1，移到 4（值 2），2 &gt; 1 不交换，T = 2 3 1 2 3。</a:t>
            </a:r>
          </a:p>
          <a:p>
            <a:r>
              <a:rPr lang="zh-CN" altLang="en-US" dirty="0"/>
              <a:t>第 2 步：在格子 4，记录 2，移到 3（值 1），1 &lt; 2 交换，T = 2 3 2 1 3。</a:t>
            </a:r>
          </a:p>
          <a:p>
            <a:r>
              <a:rPr lang="zh-CN" altLang="en-US" dirty="0"/>
              <a:t>第 3 步：在格子 3，记录 2，移到 2（值 3），不交换，T = 2 3 2 1 3。</a:t>
            </a:r>
          </a:p>
          <a:p>
            <a:r>
              <a:rPr lang="zh-CN" altLang="en-US" dirty="0"/>
              <a:t>第 4 步：在格子 2，记录 3。</a:t>
            </a:r>
          </a:p>
          <a:p>
            <a:r>
              <a:rPr lang="zh-CN" altLang="en-US" dirty="0"/>
              <a:t>记录下来的是 1 2 2 3 = S，所以 YES。</a:t>
            </a:r>
          </a:p>
          <a:p>
            <a:r>
              <a:rPr lang="zh-CN" altLang="en-US" dirty="0"/>
              <a:t>要注意到的规律：机器人脚下的值从来不会变小。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这一行就把题目里所有的交换都消掉了。较小的值被推到机器人身后，之后再也不重要。Greedy 的味道：机器人总是留下较大的那个数。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在右侧把 T 画成柱子，在 v 处画一条水平线：区域就是线下方的那段谷。和第 3 次课的水位线图对比。找左端点：最小的 l 使 max(T[l..p]) ≤ v，这关于 l 单调，所以用 Binary Search + Sparse Table。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这个奇偶性论证在很多网格题里都出现过（2019 P5 Evading Capture 也用到奇偶距离）。
提问：为什么第一次升级之后，区域总是至少有 2 格？
答案：新区域包含原来的区域加上新踩上的那一格。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放映时按键（或点击）逐步显示红色答案：①–③ 值 2、3、4 各一行 ④样例 3。先让学生在纸上填，再一下一下揭晓。</a:t>
            </a:r>
          </a:p>
          <a:p>
            <a:r>
              <a:rPr lang="zh-CN" altLang="en-US" dirty="0"/>
              <a:t>答案（样例 2）：</a:t>
            </a:r>
          </a:p>
          <a:p>
            <a:r>
              <a:rPr lang="zh-CN" altLang="en-US" dirty="0"/>
              <a:t>值 2，第 1 步首次出现：格子 2，区域 [1, 2]（2 格，OK）。</a:t>
            </a:r>
          </a:p>
          <a:p>
            <a:r>
              <a:rPr lang="zh-CN" altLang="en-US" dirty="0"/>
              <a:t>值 3，第 4 步首次出现：目标格子 3（区域右侧，值 3 ✓），d = 1，dt = 3，3 − 1 = 2 是偶数 ✓。区域变成 [1, 3]。</a:t>
            </a:r>
          </a:p>
          <a:p>
            <a:r>
              <a:rPr lang="zh-CN" altLang="en-US" dirty="0"/>
              <a:t>值 4，第 5 步首次出现：目标格子 4（值 4 ✓），d = 1，dt = 1 ✓。</a:t>
            </a:r>
          </a:p>
          <a:p>
            <a:r>
              <a:rPr lang="zh-CN" altLang="en-US" dirty="0"/>
              <a:t>最后一层之后在区域内来回走即可。YES。</a:t>
            </a:r>
          </a:p>
          <a:p>
            <a:r>
              <a:rPr lang="zh-CN" altLang="en-US" dirty="0"/>
              <a:t>样例 3：起点格子 1，区域 [1, 1] 只有 1 格，第 2 步必须离开，记录到 2。NO。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主循环：把 S 分成若干层（值 lv[k]，首次出现的步数 ti[k]；不要叫 tm，会和系统里的名字冲突）。维护当前层所有可能的位置；对每个位置用 extendLeft/extendRight 求出 [l, r]，检查 l − 1 和 r + 1 两个格子，合格的加入下一层（用 mark[] 去重）。每个格子最多出现在一层里，所以总复杂度 O((N + M) log N)。
常见错误：只要目标格子比 v 大就接受；必须恰好等于新的值。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复杂度回顾（N, M ≤ 200 000）：</a:t>
            </a:r>
          </a:p>
          <a:p>
            <a:r>
              <a:rPr lang="zh-CN" altLang="en-US" dirty="0"/>
              <a:t>暴力：枚举起点和每一步的方向，2^M。</a:t>
            </a:r>
          </a:p>
          <a:p>
            <a:r>
              <a:rPr lang="zh-CN" altLang="en-US" dirty="0"/>
              <a:t>关键观察（Greedy 风格）：机器人脚下永远是走过的最大值，交换可以忽略；只要知道每一层能在哪个区域里走动。逐格扫描找区域是 O(N·M) ≈ 4×10¹⁰。</a:t>
            </a:r>
          </a:p>
          <a:p>
            <a:r>
              <a:rPr lang="zh-CN" altLang="en-US" dirty="0"/>
              <a:t>用 Sparse Table 求区间最大值 + Binary Search 找区域的左右端点（extendLeft / extendRight），每个格子最多出现在一层里：总共 O((N + M) log N) ≈ 7×10⁶。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25 分钟。整个课程最难的题。今天的目标：Greedy 的想法、反例，以及一条清楚的通往 subtask 4 的路线。完整解法作为课后阅读。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相邻也要合并：[2, 4] 和 [5, 6] 合并成 [2, 6]。K × X 可达 10^18，要用 long long。Subtask 1（K = 0）就是合并区间后找最长的 block。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放映时按键（或点击）逐步显示红色答案：①第一把伞放 3–5（跨过 block [4]）②第二把伞放 8–10：覆盖 3..10，长度 8。先让学生在纸上填，再一下一下揭晓。</a:t>
            </a:r>
          </a:p>
          <a:p>
            <a:r>
              <a:rPr lang="zh-CN" altLang="en-US" dirty="0"/>
              <a:t>已覆盖的 block 是 [4]、[6, 7]、[9, 10]。让全班在空白行里放 2 把伞。</a:t>
            </a:r>
          </a:p>
          <a:p>
            <a:r>
              <a:rPr lang="zh-CN" altLang="en-US" dirty="0"/>
              <a:t>错误想法：gap {3}、{5}、{8} 各需要 1 把伞；2 把伞最多连起两个 gap，例如 3..7 或 4..10，长度 7。</a:t>
            </a:r>
          </a:p>
          <a:p>
            <a:r>
              <a:rPr lang="zh-CN" altLang="en-US" dirty="0"/>
              <a:t>正确做法：一把伞放 3–5（跨过格子 4，同时盖住 gap 3 和 gap 5），另一把放 8–10。覆盖 3..10，长度 8。</a:t>
            </a:r>
          </a:p>
          <a:p>
            <a:r>
              <a:rPr lang="zh-CN" altLang="en-US" dirty="0"/>
              <a:t>当 X = 1 时（subtask 2），按 gap 分开算是对的：伞不可能跨过任何东西。这就是用 Two Pointers 的 subtask。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这是经典的区间覆盖（interval covering）Greedy。一句话的 exchange argument：把任何一把伞移到左端贴住第一个未覆盖的格子，覆盖段只会变长。这个 brute force 留着做对拍。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放映时按键（或点击）逐步显示红色答案：①l = 4 ②l = 1 ③最优 ④在上面的格子里画出最优放法。先让学生在纸上填，再一下一下揭晓。</a:t>
            </a:r>
          </a:p>
          <a:p>
            <a:r>
              <a:rPr lang="zh-CN" altLang="en-US" dirty="0"/>
              <a:t>答案：</a:t>
            </a:r>
          </a:p>
          <a:p>
            <a:r>
              <a:rPr lang="zh-CN" altLang="en-US" dirty="0"/>
              <a:t>l = 4：伞放 6–7、8–9、10（第三把被海滩尽头截断，只盖 1 格）。4..10，长度 7。</a:t>
            </a:r>
          </a:p>
          <a:p>
            <a:r>
              <a:rPr lang="zh-CN" altLang="en-US" dirty="0"/>
              <a:t>l = 1：伞放 1–2、3，接上 block，再放 6–7。1..7，长度 7。</a:t>
            </a:r>
          </a:p>
          <a:p>
            <a:r>
              <a:rPr lang="zh-CN" altLang="en-US" dirty="0"/>
              <a:t>最优：伞放 2–3、6–7、8–9 → 2..9，长度 8。最优的左端 2 在 gap 的中间！</a:t>
            </a:r>
          </a:p>
          <a:p>
            <a:r>
              <a:rPr lang="zh-CN" altLang="en-US" dirty="0"/>
              <a:t>结论："从 1 或从某个 block 开始"听起来对，其实是错的。右边被海滩尽头浪费了半把伞，不如把它放到左边。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用反例验证：B = [4, 5]，st_B = 4，X = 2，i = 1 得到 l = 2，正是我们找到的最优答案。和第 3 次课一样的 Greedy 三步法：猜规则，取一个违反规则的最优解，平移 / 交换说明它不会更差。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 K 把伞从 B 出发都到不了 N，就全部放右边。第二种方案避免浪费最后那把会在 N 处被截断的伞（正是反例里发生的情况）。这样候选从 O(U · K) 减少到 O(U)。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只给强的学生。第 2 步的做法：从右往左扫描所有 block，用一棵按"模 X 的余数"建的线段树（segment tree），每个 block 覆盖一段余数。Binary lifting 和 Sparse Table 是同一种倍增思想：sp[k] 覆盖 2^k 个格子，up[p] 覆盖 2^p 次跳转。完整代码：P6 文件夹里的 2020_P6_Beach_Umbrellas.cpp。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比赛建议：subtask 1–4 只用到今天讲的想法，而且分值占很大比重。先拿稳它们，再去追完整解法。
常见错误：按 gap 分开算 ceil(g / X)；只尝试 block 的起点；伞超出 N；忘了合并相邻的区间；int 溢出。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复杂度回顾（N, K ≤ 10⁹，U ≤ 100 000）：</a:t>
            </a:r>
          </a:p>
          <a:p>
            <a:r>
              <a:rPr lang="zh-CN" altLang="en-US" dirty="0"/>
              <a:t>暴力：每个左端 l 都用 Greedy 一把一把放伞，O(N·K)，N、K 都可达 10⁹。</a:t>
            </a:r>
          </a:p>
          <a:p>
            <a:r>
              <a:rPr lang="zh-CN" altLang="en-US" dirty="0"/>
              <a:t>subtask 4（K ≤ 5）：exchange argument 说明最优左端只有 O(U·K) 个候选，从每个候选跑一次 Greedy。</a:t>
            </a:r>
          </a:p>
          <a:p>
            <a:r>
              <a:rPr lang="zh-CN" altLang="en-US" dirty="0"/>
              <a:t>完整解法：从一个 gap 的起点开始，一把一把放伞会"跳"到下一个 gap 的起点，形成跳转图；用 binary lifting（和 Sparse Table 同样的倍增思想）存 2^p 次跳转，"j 把伞能走多远"只要 O(log U)：总共 O(U log U)，和 N、K 的大小无关。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常见 bug：跨过 D 的区间 lo/hi 差一（lo = max(1, s − K + 1)，hi = min(s − 1, w)）；忘了 s = N + 1 的情况（D 在所有瓢虫右边）；2 * p 用 int 溢出；sp 数组开小了。
样例答案：4 3 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按列读，而不是按行读：12 道题中 Binary Search 出现 8 次，Greedy 6 次，Prefix Sum 5 次。几乎每道 P6 都要先有一个 key observation，再用一到两个核心技巧。让每个学生选一行，用 30 秒讲清楚。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Yet Another Lights 不用四大技巧中的任何一个：它考的是奇偶性（parity）和不变量（invariant）。适合喜欢数学的学生。完整讲解见教学讲义第 13 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今天三道题都用到 Sparse Table 或它的思想，先给学生一张"地图"，讲每道题时再回到这里。</a:t>
            </a:r>
          </a:p>
          <a:p>
            <a:r>
              <a:rPr lang="zh-CN" altLang="en-US" dirty="0"/>
              <a:t>1. Ladybugs II：最标准的用法。把起点 D 从式子里分离出来以后，f1(l) = P[r] − 2P[l] 和 f2(l) = 2P[r] − P[l] 只和窗口有关，是静态数组。每个询问先二分定位 D，再在一段 l 上求 f1、f2 的最小值。每次扫一遍是 O(N)，乘上 Q 个询问就超时；用 Sparse Table 每个询问 O(log N)（二分）+ O(1)（查最值）。瓶颈是"询问太多"。</a:t>
            </a:r>
          </a:p>
          <a:p>
            <a:r>
              <a:rPr lang="zh-CN" altLang="en-US" dirty="0"/>
              <a:t>2. Robot Writing：二分里套区间最大值。要找"从 p 往左最远到哪，使 T[l..p] 都 ≤ v"，这个条件关于 l 单调，所以二分；二分每一步都要问一次区间最大值。整个算法要做很多次扩展，每次 O(log N)，总计 O((N + M) log N)。这里 Sparse Table 不是唯一选择，单调栈也可以（讲义里的思考题），但 Sparse Table + 二分最直接。</a:t>
            </a:r>
          </a:p>
          <a:p>
            <a:r>
              <a:rPr lang="zh-CN" altLang="en-US" dirty="0"/>
              <a:t>3. Beach Umbrellas：用的是同一个倍增思想，但存的不是区间最大值，而是"从结点 i 跳 2^p 次到哪里、花几把伞"（binary lifting，倍增跳表）。原因是 K 可达 10^9，一步一步模拟"用 j 把伞走到哪"不可能；把 j 写成二进制，最多跳 log 次。瓶颈是"步数太多"。</a:t>
            </a:r>
          </a:p>
          <a:p>
            <a:r>
              <a:rPr lang="zh-CN" altLang="en-US" dirty="0"/>
              <a:t>共同点：只存 2 的幂长度（或 2 的幂步数）的信息，查询时用二进制拆开再拼回去。</a:t>
            </a:r>
          </a:p>
          <a:p>
            <a:r>
              <a:rPr lang="zh-CN" altLang="en-US" dirty="0"/>
              <a:t>提问：Ladybugs 和 Robot Writing 的瓶颈分别是什么？答案：Ladybugs 是询问太多（每个询问都要一个区间最值）；Robot Writing 是扩展次数多，而且每次扩展里的二分要反复问区间最大值。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为什么块长取 2 的幂，而不是别的？</a:t>
            </a:r>
          </a:p>
          <a:p>
            <a:r>
              <a:rPr lang="zh-CN" altLang="en-US" dirty="0"/>
              <a:t>先看查询需要什么：查一个长度为 L 的区间，希望只用两块就盖住它：一块从左端开始，一块在右端结束，两块一样长。要盖满，块长至少要有 L/2。所以条件是：对每一个长度 L，表里都要有一种块长落在 [L/2, L] 之间。</a:t>
            </a:r>
          </a:p>
          <a:p>
            <a:r>
              <a:rPr lang="zh-CN" altLang="en-US" dirty="0"/>
              <a:t>2 的幂刚好满足：取 k = ⌊log₂ L⌋，就有 2^k ≤ L &lt; 2^(k+1)，也就是 L/2 &lt; 2^k ≤ L。</a:t>
            </a:r>
          </a:p>
          <a:p>
            <a:r>
              <a:rPr lang="zh-CN" altLang="en-US" dirty="0"/>
              <a:t>图中例子：查 [2, 14]，L = 13，k = 3，块长 8。两块是 a[2..9] 和 a[7..14]，中间 7..9 重叠，对 max 没关系。</a:t>
            </a:r>
          </a:p>
          <a:p>
            <a:r>
              <a:rPr lang="zh-CN" altLang="en-US" dirty="0"/>
              <a:t>右边的表：存哪些块长？</a:t>
            </a:r>
          </a:p>
          <a:p>
            <a:r>
              <a:rPr lang="zh-CN" altLang="en-US" dirty="0"/>
              <a:t>- 所有长度都存：一块就够，但要 N 层，也就是 O(N²) 个答案，回到"全存"。</a:t>
            </a:r>
          </a:p>
          <a:p>
            <a:r>
              <a:rPr lang="zh-CN" altLang="en-US" dirty="0"/>
              <a:t>- 2 的幂：log₂ N ≈ 17 层，每次查询 2 块。</a:t>
            </a:r>
          </a:p>
          <a:p>
            <a:r>
              <a:rPr lang="zh-CN" altLang="en-US" dirty="0"/>
              <a:t>- 3 的幂：层数少一些（log₃ N ≈ 11），但块长只保证 ≥ L/3，每次查询最多要 3 块。</a:t>
            </a:r>
          </a:p>
          <a:p>
            <a:r>
              <a:rPr lang="zh-CN" altLang="en-US" dirty="0"/>
              <a:t>这本身又是一个折中：底数越大，层数越少，但每次查询要拼的块越多。2 的幂是最自然的选择：相邻两层块长正好翻倍，是"保证每个 L 都有 [L/2, L] 里的块"所需的最少层数。</a:t>
            </a:r>
          </a:p>
          <a:p>
            <a:r>
              <a:rPr lang="zh-CN" altLang="en-US" dirty="0"/>
              <a:t>另一个好处是建表简单：长 2^k 的块正好由两个长 2^(k−1) 的块拼成，sp[k][i] = max(sp[k−1][i], sp[k−1][i + 2^(k−1)])，一次 max 就算完。查询时的 k 用预处理的 lg[] 数组直接取。</a:t>
            </a:r>
          </a:p>
          <a:p>
            <a:r>
              <a:rPr lang="zh-CN" altLang="en-US" dirty="0"/>
              <a:t>提问：查 [5, 5]（L = 1）时 k 是多少？两块是什么？答案：k = 0，两块都是 a[5] 自己。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先讲清楚 Sparse Table 解决什么问题、为什么用它，再讲它怎么做。今天三道题都要用到它（或它的思想），所以开场先把应用场景讲透。</a:t>
            </a:r>
          </a:p>
          <a:p>
            <a:r>
              <a:rPr lang="zh-CN" altLang="en-US" dirty="0"/>
              <a:t>场景：一个固定的数组，N 个数，然后有 Q 个询问"a[l..r] 的最大值是多少"。以 N = Q = 10^5 为例比较四种做法：</a:t>
            </a:r>
          </a:p>
          <a:p>
            <a:r>
              <a:rPr lang="zh-CN" altLang="en-US" dirty="0"/>
              <a:t>1. 每次直接扫：不用预处理，但每次 O(N)，一共 N · Q = 10^10，太慢。</a:t>
            </a:r>
          </a:p>
          <a:p>
            <a:r>
              <a:rPr lang="zh-CN" altLang="en-US" dirty="0"/>
              <a:t>2. 把所有区间的答案都存下来：区间有约 N²/2 = 5 × 10^9 个，光是填表就要这么多时间，内存也放不下。时间和空间同时超。</a:t>
            </a:r>
          </a:p>
          <a:p>
            <a:r>
              <a:rPr lang="zh-CN" altLang="en-US" dirty="0"/>
              <a:t>3. Sparse Table：只存长度是 2 的幂的区间，约 N log N ≈ 1.7 × 10^6 个，查询仍然 O(1)。它正好落在"全存"和"不存"之间，是一个折中，而且是很好的折中。</a:t>
            </a:r>
          </a:p>
          <a:p>
            <a:r>
              <a:rPr lang="zh-CN" altLang="en-US" dirty="0"/>
              <a:t>4. 线段树：O(N) 空间、每次 O(log N)，还支持修改。这几题用线段树也能过；选 Sparse Table 是因为数组不修改、代码最短、查询最快。</a:t>
            </a:r>
          </a:p>
          <a:p>
            <a:r>
              <a:rPr lang="zh-CN" altLang="en-US" dirty="0"/>
              <a:t>所以，"一定要常数时间"并不是必须的，Sparse Table 是"刚好够用、最省事"的选择。</a:t>
            </a:r>
          </a:p>
          <a:p>
            <a:r>
              <a:rPr lang="zh-CN" altLang="en-US" dirty="0"/>
              <a:t>什么时候想到 Sparse Table：三个条件同时满足。① 数组是静态的（读入后不改）；② 询问很多，值得先花 O(N log N) 预处理；③ 运算允许重叠：max、min、gcd 把同一个数算两次不影响结果。求和不行（重叠部分会被算两次），区间和用 prefix sum。</a:t>
            </a:r>
          </a:p>
          <a:p>
            <a:r>
              <a:rPr lang="zh-CN" altLang="en-US" dirty="0"/>
              <a:t>名字的由来：如果把所有区间的答案都存下来，是一张 N × N 的"稠密"（dense）表；Sparse Table 只存其中长度为 2 的幂的那一小部分（约 N log N 个），所以叫"稀疏表"。这个名字一般认为出自 Bender 和 Farach-Colton 2000 年的论文 The LCA Problem Revisited。</a:t>
            </a:r>
          </a:p>
          <a:p>
            <a:r>
              <a:rPr lang="zh-CN" altLang="en-US" dirty="0"/>
              <a:t>提问：如果题目中途会修改数组，还能用 Sparse Table 吗？答案：不能，改一个数要更新 log N 层里很多格子；这时用线段树。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课外读物：为什么 Sparse Table 的代码要自己预处理 lg[]，而不是调用标准库的 log 或 log2？</a:t>
            </a:r>
          </a:p>
          <a:p>
            <a:r>
              <a:rPr lang="zh-CN" altLang="en-US" dirty="0"/>
              <a:t>1. 精度：我们要的是 ⌊log₂ L⌋ 这个整数。log/log2 的结果是浮点数，只要算出 2.9999999… 而不是 3，取整就差 1。实测（GCC，x86）：double 版的 (int)log2(i) 和 (int)(log(i)/log(2)) 在 1 到 2^30 都对，但这是数学库实现得好，C++ 标准并不保证；float 版的 logf 在 31 个 2 的幂里错了 4 个。差 1 的后果：k 小了，两块盖不满区间，答案偶尔错；k 大了，块比区间长，数组越界。而且只在个别长度上出错，样例很难测出来。</a:t>
            </a:r>
          </a:p>
          <a:p>
            <a:r>
              <a:rPr lang="zh-CN" altLang="en-US" dirty="0"/>
              <a:t>2. lg[] 只用整数运算，永远精确：lg[1] = 0，lg[i] = lg[i/2] + 1。道理是 i 和 ⌊i/2⌋ 的二进制只差最后一位，最高位的 1 正好低一位，所以 ⌊log₂ i⌋ = ⌊log₂ ⌊i/2⌋⌋ + 1。建表 O(N)。</a:t>
            </a:r>
          </a:p>
          <a:p>
            <a:r>
              <a:rPr lang="zh-CN" altLang="en-US" dirty="0"/>
              <a:t>3. 附带好处：查表是一次数组访问，比调用 log 快（这几题差别只有几毫秒，不是关键）；而且 log2 是 C++11 才正式进入  的，C++98 只能写 log(x)/log(2)，恰好是最容易出精度问题的写法。</a:t>
            </a:r>
          </a:p>
          <a:p>
            <a:r>
              <a:rPr lang="zh-CN" altLang="en-US" dirty="0"/>
              <a:t>其他精确写法（学生可能在别人代码里见到）：31 − __builtin_clz(L) 和 __lg(L) 是 GCC 内置的，std::bit_width(L) − 1 是 C++20 标准写法。课上统一用 lg[] 最稳妥。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orac2.info/problem/210/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orac2.info/problem/210/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orac2.info/problem/1300/" TargetMode="External"/><Relationship Id="rId5" Type="http://schemas.openxmlformats.org/officeDocument/2006/relationships/hyperlink" Target="https://orac2.info/problem/238/" TargetMode="External"/><Relationship Id="rId4" Type="http://schemas.openxmlformats.org/officeDocument/2006/relationships/hyperlink" Target="https://orac2.info/problem/1620/" TargetMode="Externa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_slide6_image-6-1.png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2D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5968" y="1778000"/>
            <a:ext cx="4523232" cy="5959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ts val="2340"/>
              </a:lnSpc>
              <a:buNone/>
            </a:pPr>
            <a:r>
              <a:rPr lang="en-US" sz="14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 </a:t>
            </a:r>
            <a:r>
              <a:rPr lang="en-US" altLang="zh-CN" sz="14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r>
              <a:rPr lang="zh-CN" altLang="en-US" sz="14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14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ACHIEVERS</a:t>
            </a:r>
            <a:r>
              <a:rPr lang="zh-CN" altLang="en-US" sz="14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14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</a:t>
            </a:r>
            <a:r>
              <a:rPr lang="en-US" sz="14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r>
              <a:rPr lang="en-US" altLang="zh-CN" sz="14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r>
              <a:rPr lang="en-US" sz="14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6855968" y="2514600"/>
            <a:ext cx="4523232" cy="2388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5985"/>
              </a:lnSpc>
              <a:buNone/>
            </a:pPr>
            <a:r>
              <a:rPr lang="en-US" sz="5700" b="1" kern="0" spc="1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TABLE + GREEDY</a:t>
            </a:r>
            <a:endParaRPr lang="en-US" sz="5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4 · 2 HOURS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PLAN</a:t>
            </a:r>
            <a:endParaRPr lang="en-US" sz="3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1903016"/>
              <a:ext cx="10566400" cy="4368800"/>
            </p:xfrm>
            <a:graphic>
              <a:graphicData uri="http://schemas.openxmlformats.org/drawingml/2006/table">
                <a:tbl>
                  <a:tblPr/>
                  <a:tblGrid>
                    <a:gridCol w="21132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7548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9828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63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Time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Content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Technique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672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0:00–0:15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New tool: the Sparse Table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Range min / max in </a:t>
                          </a:r>
                          <a14:m>
                            <m:oMath xmlns:m="http://schemas.openxmlformats.org/officeDocument/2006/math">
                              <m:r>
                                <a:rPr lang="en-US" sz="22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25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5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oMath>
                          </a14:m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937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0:15–0:40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2020 P5 Ladybugs II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Binary Search + Sparse Table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937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0:40–1:10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2025 P6 Robot Writing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Greedy observation + Binary Search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937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1:10–1:35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2020 P6 Beach Umbrellas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Greedy + exchange arguments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63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1:35–1:55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3D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Live coding: Ladybugs II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3D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Full program + samples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3D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63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1:55–2:00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Course recap and homework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1903016"/>
              <a:ext cx="10566400" cy="914400"/>
            </p:xfrm>
            <a:graphic>
              <a:graphicData uri="http://schemas.openxmlformats.org/drawingml/2006/table">
                <a:tbl>
                  <a:tblPr/>
                  <a:tblGrid>
                    <a:gridCol w="2113260"/>
                    <a:gridCol w="4754860"/>
                    <a:gridCol w="3698280"/>
                  </a:tblGrid>
                  <a:tr h="4635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Time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Content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Technique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66725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0:00–0:15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New tool: the Sparse Table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Range min / max in O(1)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937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0:15–0:40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2020 P5 Ladybugs II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Binary Search + Sparse Table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937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0:40–1:10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2025 P6 Robot Writing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Greedy observation + Binary Search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937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1:10–1:35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2020 P6 Beach Umbrellas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Greedy + exchange arguments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635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1:35–1:55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3D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Live coding: Ladybugs II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3D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Full program + samples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3DC"/>
                        </a:solidFill>
                      </a:tcPr>
                    </a:tc>
                  </a:tr>
                  <a:tr h="4635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1:55–2:00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Course recap and homework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CORE TECHNIQUES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ALL FOUR, PLUS ONE TOOL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812800" y="1903016"/>
            <a:ext cx="5194300" cy="1663700"/>
          </a:xfrm>
          <a:prstGeom prst="roundRect">
            <a:avLst>
              <a:gd name="adj" fmla="val 3053"/>
            </a:avLst>
          </a:prstGeom>
          <a:noFill/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812800" y="1903016"/>
            <a:ext cx="63500" cy="1663700"/>
          </a:xfrm>
          <a:prstGeom prst="rect">
            <a:avLst/>
          </a:prstGeom>
          <a:solidFill>
            <a:srgbClr val="3E9A9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 txBox="1"/>
          <p:nvPr/>
        </p:nvSpPr>
        <p:spPr>
          <a:xfrm>
            <a:off x="1079500" y="2087166"/>
            <a:ext cx="5001133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28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 txBox="1"/>
              <p:nvPr/>
            </p:nvSpPr>
            <p:spPr>
              <a:xfrm>
                <a:off x="1079500" y="2569766"/>
                <a:ext cx="5001133" cy="8401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150"/>
                  </a:lnSpc>
                  <a:buNone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Range sums in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The Sparse Table does the same for range min / max.</a:t>
                </a:r>
                <a:endParaRPr lang="en-US" sz="2100" dirty="0"/>
              </a:p>
            </p:txBody>
          </p:sp>
        </mc:Choice>
        <mc:Fallback xmlns="">
          <p:sp>
            <p:nvSpPr>
              <p:cNvPr id="7" name="Text 5"/>
              <p:cNvSpPr txBox="1"/>
              <p:nvPr/>
            </p:nvSpPr>
            <p:spPr>
              <a:xfrm>
                <a:off x="1079500" y="2569766"/>
                <a:ext cx="5001133" cy="8401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150"/>
                  </a:lnSpc>
                  <a:buNone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Range sums in O(1). The Sparse Table does the same for range min / max.</a:t>
                </a:r>
                <a:endParaRPr lang="en-US" sz="2100" dirty="0"/>
              </a:p>
            </p:txBody>
          </p:sp>
        </mc:Fallback>
      </mc:AlternateContent>
      <p:sp>
        <p:nvSpPr>
          <p:cNvPr id="8" name="Shape 6"/>
          <p:cNvSpPr/>
          <p:nvPr/>
        </p:nvSpPr>
        <p:spPr>
          <a:xfrm>
            <a:off x="6184900" y="1903016"/>
            <a:ext cx="5194300" cy="1663700"/>
          </a:xfrm>
          <a:prstGeom prst="roundRect">
            <a:avLst>
              <a:gd name="adj" fmla="val 3053"/>
            </a:avLst>
          </a:prstGeom>
          <a:solidFill>
            <a:srgbClr val="FFFAF0"/>
          </a:solidFill>
          <a:ln w="12700">
            <a:solidFill>
              <a:srgbClr val="E0960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6184900" y="1903016"/>
            <a:ext cx="63500" cy="1663700"/>
          </a:xfrm>
          <a:prstGeom prst="rect">
            <a:avLst/>
          </a:prstGeom>
          <a:solidFill>
            <a:srgbClr val="E0960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 txBox="1"/>
          <p:nvPr/>
        </p:nvSpPr>
        <p:spPr>
          <a:xfrm>
            <a:off x="6451600" y="2093516"/>
            <a:ext cx="4994402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endParaRPr lang="en-US" sz="28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9"/>
              <p:cNvSpPr txBox="1"/>
              <p:nvPr/>
            </p:nvSpPr>
            <p:spPr>
              <a:xfrm>
                <a:off x="6451600" y="2576116"/>
                <a:ext cx="4994402" cy="8401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150"/>
                  </a:lnSpc>
                  <a:buNone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Locate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among the ladybugs · how far can the robot's region reach?</a:t>
                </a:r>
                <a:endParaRPr lang="en-US" sz="2100" dirty="0"/>
              </a:p>
            </p:txBody>
          </p:sp>
        </mc:Choice>
        <mc:Fallback xmlns="">
          <p:sp>
            <p:nvSpPr>
              <p:cNvPr id="11" name="Text 9"/>
              <p:cNvSpPr txBox="1"/>
              <p:nvPr/>
            </p:nvSpPr>
            <p:spPr>
              <a:xfrm>
                <a:off x="6451600" y="2576116"/>
                <a:ext cx="4994402" cy="8401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150"/>
                  </a:lnSpc>
                  <a:buNone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Locate D among the ladybugs · how far can the robot's region reach?</a:t>
                </a:r>
                <a:endParaRPr lang="en-US" sz="2100" dirty="0"/>
              </a:p>
            </p:txBody>
          </p:sp>
        </mc:Fallback>
      </mc:AlternateContent>
      <p:sp>
        <p:nvSpPr>
          <p:cNvPr id="12" name="Shape 10"/>
          <p:cNvSpPr/>
          <p:nvPr/>
        </p:nvSpPr>
        <p:spPr>
          <a:xfrm>
            <a:off x="812800" y="3744516"/>
            <a:ext cx="5194300" cy="1663700"/>
          </a:xfrm>
          <a:prstGeom prst="roundRect">
            <a:avLst>
              <a:gd name="adj" fmla="val 3053"/>
            </a:avLst>
          </a:prstGeom>
          <a:noFill/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812800" y="3744516"/>
            <a:ext cx="63500" cy="1663700"/>
          </a:xfrm>
          <a:prstGeom prst="rect">
            <a:avLst/>
          </a:prstGeom>
          <a:solidFill>
            <a:srgbClr val="E46F6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 txBox="1"/>
          <p:nvPr/>
        </p:nvSpPr>
        <p:spPr>
          <a:xfrm>
            <a:off x="1079500" y="3928666"/>
            <a:ext cx="5001133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8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13"/>
              <p:cNvSpPr txBox="1"/>
              <p:nvPr/>
            </p:nvSpPr>
            <p:spPr>
              <a:xfrm>
                <a:off x="1079500" y="4411266"/>
                <a:ext cx="5001133" cy="8401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150"/>
                  </a:lnSpc>
                  <a:buNone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Windows of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ladybugs · Beach Umbrellas subtask 2</a:t>
                </a:r>
                <a:endParaRPr lang="en-US" sz="2100" dirty="0"/>
              </a:p>
            </p:txBody>
          </p:sp>
        </mc:Choice>
        <mc:Fallback xmlns="">
          <p:sp>
            <p:nvSpPr>
              <p:cNvPr id="15" name="Text 13"/>
              <p:cNvSpPr txBox="1"/>
              <p:nvPr/>
            </p:nvSpPr>
            <p:spPr>
              <a:xfrm>
                <a:off x="1079500" y="4411266"/>
                <a:ext cx="5001133" cy="8401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150"/>
                  </a:lnSpc>
                  <a:buNone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Windows of K ladybugs · Beach Umbrellas subtask 2</a:t>
                </a:r>
                <a:endParaRPr lang="en-US" sz="2100" dirty="0"/>
              </a:p>
            </p:txBody>
          </p:sp>
        </mc:Fallback>
      </mc:AlternateContent>
      <p:sp>
        <p:nvSpPr>
          <p:cNvPr id="16" name="Shape 14"/>
          <p:cNvSpPr/>
          <p:nvPr/>
        </p:nvSpPr>
        <p:spPr>
          <a:xfrm>
            <a:off x="6184900" y="3744516"/>
            <a:ext cx="5194300" cy="1663700"/>
          </a:xfrm>
          <a:prstGeom prst="roundRect">
            <a:avLst>
              <a:gd name="adj" fmla="val 3053"/>
            </a:avLst>
          </a:prstGeom>
          <a:solidFill>
            <a:srgbClr val="F4F7F9"/>
          </a:solidFill>
          <a:ln w="12700">
            <a:solidFill>
              <a:srgbClr val="0A405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6184900" y="3744516"/>
            <a:ext cx="63500" cy="1663700"/>
          </a:xfrm>
          <a:prstGeom prst="rect">
            <a:avLst/>
          </a:prstGeom>
          <a:solidFill>
            <a:srgbClr val="0A405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 txBox="1"/>
          <p:nvPr/>
        </p:nvSpPr>
        <p:spPr>
          <a:xfrm>
            <a:off x="6451600" y="3935016"/>
            <a:ext cx="4994402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endParaRPr lang="en-US" sz="2850" dirty="0"/>
          </a:p>
        </p:txBody>
      </p:sp>
      <p:sp>
        <p:nvSpPr>
          <p:cNvPr id="19" name="Text 17"/>
          <p:cNvSpPr txBox="1"/>
          <p:nvPr/>
        </p:nvSpPr>
        <p:spPr>
          <a:xfrm>
            <a:off x="6451600" y="4417616"/>
            <a:ext cx="4994402" cy="84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robot carries the maximum · where to put each umbrella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812800" y="5611416"/>
            <a:ext cx="11200384" cy="703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every problem: brute force? something monotone? something to add up or decide locally?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TOOL · SPARSE TABLE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1"/>
              <p:cNvSpPr txBox="1"/>
              <p:nvPr/>
            </p:nvSpPr>
            <p:spPr>
              <a:xfrm>
                <a:off x="812800" y="11049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4485"/>
                  </a:lnSpc>
                  <a:buNone/>
                </a:pPr>
                <a:r>
                  <a:rPr lang="en-US" sz="39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MAX OF ANY RANGE IN </a:t>
                </a:r>
                <a14:m>
                  <m:oMath xmlns:m="http://schemas.openxmlformats.org/officeDocument/2006/math">
                    <m:r>
                      <a:rPr lang="en-US" sz="39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sz="3900" dirty="0"/>
              </a:p>
            </p:txBody>
          </p:sp>
        </mc:Choice>
        <mc:Fallback xmlns="">
          <p:sp>
            <p:nvSpPr>
              <p:cNvPr id="3" name="Text 1"/>
              <p:cNvSpPr txBox="1"/>
              <p:nvPr/>
            </p:nvSpPr>
            <p:spPr>
              <a:xfrm>
                <a:off x="812800" y="11049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4485"/>
                  </a:lnSpc>
                  <a:buNone/>
                </a:pPr>
                <a:r>
                  <a:rPr lang="en-US" sz="3900" b="1" spc="100" kern="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MAX OF ANY RANGE IN O(1)</a:t>
                </a:r>
                <a:endParaRPr lang="en-US" sz="39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852216"/>
                <a:ext cx="11200384" cy="9001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375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sp</m:t>
                        </m:r>
                      </m:e>
                      <m:sub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max of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numbers starting at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Each level comes from two halves of the level below.</a:t>
                </a:r>
                <a:endParaRPr lang="en-US" sz="2250" dirty="0"/>
              </a:p>
            </p:txBody>
          </p:sp>
        </mc:Choice>
        <mc:Fallback xmlns="">
          <p:sp>
            <p:nvSpPr>
              <p:cNvPr id="4" name="Text 2"/>
              <p:cNvSpPr txBox="1"/>
              <p:nvPr/>
            </p:nvSpPr>
            <p:spPr>
              <a:xfrm>
                <a:off x="812800" y="1852216"/>
                <a:ext cx="11200384" cy="9001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375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sp[k][i] = max of the 2^k numbers starting at i. Each level comes from two halves of the level below.</a:t>
                </a:r>
                <a:endParaRPr lang="en-US" sz="225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2887266"/>
              <a:ext cx="10566399" cy="1911350"/>
            </p:xfrm>
            <a:graphic>
              <a:graphicData uri="http://schemas.openxmlformats.org/drawingml/2006/table">
                <a:tbl>
                  <a:tblPr/>
                  <a:tblGrid>
                    <a:gridCol w="21132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3394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3394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3394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3394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3394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26097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260971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1261467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</a:tblGrid>
                  <a:tr h="463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250" b="1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5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6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7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8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672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25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250" i="0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2250" i="0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250" i="0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sp</m:t>
                                    </m:r>
                                  </m:e>
                                  <m:sub>
                                    <m:r>
                                      <a:rPr lang="en-US" sz="2250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5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9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6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63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250" i="0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250" i="0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sp</m:t>
                                  </m:r>
                                </m:e>
                                <m:sub>
                                  <m:r>
                                    <a:rPr lang="en-US" sz="225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(len 2)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B4BAC0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63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250" i="0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250" i="0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sp</m:t>
                                  </m:r>
                                </m:e>
                                <m:sub>
                                  <m:r>
                                    <a:rPr lang="en-US" sz="225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(len 4)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B4BAC0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B4BAC0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B4BAC0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2887266"/>
              <a:ext cx="10566400" cy="914400"/>
            </p:xfrm>
            <a:graphic>
              <a:graphicData uri="http://schemas.openxmlformats.org/drawingml/2006/table">
                <a:tbl>
                  <a:tblPr/>
                  <a:tblGrid>
                    <a:gridCol w="2113260"/>
                    <a:gridCol w="933946"/>
                    <a:gridCol w="933946"/>
                    <a:gridCol w="933946"/>
                    <a:gridCol w="933946"/>
                    <a:gridCol w="933946"/>
                    <a:gridCol w="1260971"/>
                    <a:gridCol w="1260971"/>
                    <a:gridCol w="1261467"/>
                  </a:tblGrid>
                  <a:tr h="4635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i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5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6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7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8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66725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 = sp[0]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5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9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6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635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sp[1] (len 2)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B4BAC0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635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sp[2] (len 4)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B4BAC0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B4BAC0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B4BAC0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3"/>
              <p:cNvSpPr txBox="1"/>
              <p:nvPr/>
            </p:nvSpPr>
            <p:spPr>
              <a:xfrm>
                <a:off x="812800" y="4925616"/>
                <a:ext cx="11200384" cy="5000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600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Query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max</m:t>
                    </m:r>
                    <m:d>
                      <m:dPr>
                        <m:ctrlP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5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5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25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25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5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25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length 6,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___, answer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max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sp</m:t>
                        </m:r>
                      </m:e>
                      <m:sub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[___],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sp</m:t>
                        </m:r>
                      </m:e>
                      <m:sub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[___]) = ___</a:t>
                </a:r>
                <a:endParaRPr lang="en-US" sz="2250" dirty="0"/>
              </a:p>
            </p:txBody>
          </p:sp>
        </mc:Choice>
        <mc:Fallback xmlns="">
          <p:sp>
            <p:nvSpPr>
              <p:cNvPr id="6" name="Text 3"/>
              <p:cNvSpPr txBox="1"/>
              <p:nvPr/>
            </p:nvSpPr>
            <p:spPr>
              <a:xfrm>
                <a:off x="812800" y="4925616"/>
                <a:ext cx="11200384" cy="5000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600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Query max(a[2..7]): length 6, k = ___, answer = max(sp[k][___], sp[k][___]) = ___</a:t>
                </a:r>
                <a:endParaRPr lang="en-US" sz="2250" dirty="0"/>
              </a:p>
            </p:txBody>
          </p:sp>
        </mc:Fallback>
      </mc:AlternateContent>
      <p:sp>
        <p:nvSpPr>
          <p:cNvPr id="7" name="Text 4"/>
          <p:cNvSpPr txBox="1"/>
          <p:nvPr/>
        </p:nvSpPr>
        <p:spPr>
          <a:xfrm>
            <a:off x="2927350" y="3886200"/>
            <a:ext cx="9334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8" name="Text 5"/>
          <p:cNvSpPr txBox="1"/>
          <p:nvPr/>
        </p:nvSpPr>
        <p:spPr>
          <a:xfrm>
            <a:off x="3860800" y="3886200"/>
            <a:ext cx="9334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9" name="Text 6"/>
          <p:cNvSpPr txBox="1"/>
          <p:nvPr/>
        </p:nvSpPr>
        <p:spPr>
          <a:xfrm>
            <a:off x="4794250" y="3886200"/>
            <a:ext cx="9334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10" name="Text 7"/>
          <p:cNvSpPr txBox="1"/>
          <p:nvPr/>
        </p:nvSpPr>
        <p:spPr>
          <a:xfrm>
            <a:off x="5727700" y="3886200"/>
            <a:ext cx="9334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50" dirty="0"/>
          </a:p>
        </p:txBody>
      </p:sp>
      <p:sp>
        <p:nvSpPr>
          <p:cNvPr id="11" name="Text 8"/>
          <p:cNvSpPr txBox="1"/>
          <p:nvPr/>
        </p:nvSpPr>
        <p:spPr>
          <a:xfrm>
            <a:off x="6661150" y="3886200"/>
            <a:ext cx="9334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250" dirty="0"/>
          </a:p>
        </p:txBody>
      </p:sp>
      <p:sp>
        <p:nvSpPr>
          <p:cNvPr id="12" name="Text 9"/>
          <p:cNvSpPr txBox="1"/>
          <p:nvPr/>
        </p:nvSpPr>
        <p:spPr>
          <a:xfrm>
            <a:off x="7594600" y="3886200"/>
            <a:ext cx="12636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250" dirty="0"/>
          </a:p>
        </p:txBody>
      </p:sp>
      <p:sp>
        <p:nvSpPr>
          <p:cNvPr id="13" name="Text 10"/>
          <p:cNvSpPr txBox="1"/>
          <p:nvPr/>
        </p:nvSpPr>
        <p:spPr>
          <a:xfrm>
            <a:off x="8858250" y="3886200"/>
            <a:ext cx="12636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50" dirty="0"/>
          </a:p>
        </p:txBody>
      </p:sp>
      <p:sp>
        <p:nvSpPr>
          <p:cNvPr id="14" name="Text 11"/>
          <p:cNvSpPr txBox="1"/>
          <p:nvPr/>
        </p:nvSpPr>
        <p:spPr>
          <a:xfrm>
            <a:off x="2927350" y="4349750"/>
            <a:ext cx="9334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15" name="Text 12"/>
          <p:cNvSpPr txBox="1"/>
          <p:nvPr/>
        </p:nvSpPr>
        <p:spPr>
          <a:xfrm>
            <a:off x="3860800" y="4349750"/>
            <a:ext cx="9334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50" dirty="0"/>
          </a:p>
        </p:txBody>
      </p:sp>
      <p:sp>
        <p:nvSpPr>
          <p:cNvPr id="16" name="Text 13"/>
          <p:cNvSpPr txBox="1"/>
          <p:nvPr/>
        </p:nvSpPr>
        <p:spPr>
          <a:xfrm>
            <a:off x="4794250" y="4349750"/>
            <a:ext cx="9334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250" dirty="0"/>
          </a:p>
        </p:txBody>
      </p:sp>
      <p:sp>
        <p:nvSpPr>
          <p:cNvPr id="17" name="Text 14"/>
          <p:cNvSpPr txBox="1"/>
          <p:nvPr/>
        </p:nvSpPr>
        <p:spPr>
          <a:xfrm>
            <a:off x="5727700" y="4349750"/>
            <a:ext cx="9334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250" dirty="0"/>
          </a:p>
        </p:txBody>
      </p:sp>
      <p:sp>
        <p:nvSpPr>
          <p:cNvPr id="18" name="Text 15"/>
          <p:cNvSpPr txBox="1"/>
          <p:nvPr/>
        </p:nvSpPr>
        <p:spPr>
          <a:xfrm>
            <a:off x="6661150" y="4349750"/>
            <a:ext cx="9334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250" dirty="0"/>
          </a:p>
        </p:txBody>
      </p:sp>
      <p:sp>
        <p:nvSpPr>
          <p:cNvPr id="19" name="Text 16"/>
          <p:cNvSpPr txBox="1"/>
          <p:nvPr/>
        </p:nvSpPr>
        <p:spPr>
          <a:xfrm>
            <a:off x="5167168" y="4908298"/>
            <a:ext cx="781050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20" name="Text 17"/>
          <p:cNvSpPr txBox="1"/>
          <p:nvPr/>
        </p:nvSpPr>
        <p:spPr>
          <a:xfrm>
            <a:off x="8139546" y="4922478"/>
            <a:ext cx="781050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21" name="Text 18"/>
          <p:cNvSpPr txBox="1"/>
          <p:nvPr/>
        </p:nvSpPr>
        <p:spPr>
          <a:xfrm>
            <a:off x="9336879" y="4926626"/>
            <a:ext cx="781050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22" name="Text 19"/>
          <p:cNvSpPr txBox="1"/>
          <p:nvPr/>
        </p:nvSpPr>
        <p:spPr>
          <a:xfrm>
            <a:off x="10315679" y="4908297"/>
            <a:ext cx="781050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250" dirty="0"/>
          </a:p>
        </p:txBody>
      </p:sp>
      <p:sp>
        <p:nvSpPr>
          <p:cNvPr id="23" name="Shape 20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TOOL · SPARSE TABLE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ONCE, ASK MANY TIMES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812800" y="1903016"/>
            <a:ext cx="6094016" cy="3460750"/>
          </a:xfrm>
          <a:prstGeom prst="roundRect">
            <a:avLst>
              <a:gd name="adj" fmla="val 1468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1022350" y="2061766"/>
            <a:ext cx="6355906" cy="3171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 sp[20][100010], lg[100010];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build: O(N log N)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(int i = 2; i &lt;= n; i ++)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lg[i] = lg[i/2] + 1;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(int i = 1; i &lt;= n; i ++)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sp[0][i] = a[i];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(int k = 1; (1 &lt;&lt; k) &lt;= n; k ++)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for (int i = 1; i + (1 &lt;&lt; k) - 1 &lt;= n; i ++)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sp[k][i] = max(sp[k-1][i],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sp[k-1][i + (1 &lt;&lt; (k-1))]);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160816" y="1903016"/>
            <a:ext cx="4218384" cy="3460750"/>
          </a:xfrm>
          <a:prstGeom prst="roundRect">
            <a:avLst>
              <a:gd name="adj" fmla="val 1468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7370366" y="2061766"/>
            <a:ext cx="4255199" cy="1743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query: O(1)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 qmax(int l, int r){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int k = lg[r - l + 1];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max(sp[k][l],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sp[k][r - (1 &lt;&lt; k) + 1]);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596430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kern="0" spc="15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 AIO PROBLEM 5</a:t>
            </a:r>
            <a:endParaRPr lang="en-US" sz="195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2104430"/>
            <a:ext cx="11200384" cy="1047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60"/>
              </a:lnSpc>
              <a:buNone/>
            </a:pPr>
            <a:r>
              <a:rPr lang="en-US" sz="6600" b="1" kern="0" spc="1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LADYBUGS II</a:t>
            </a:r>
            <a:endParaRPr lang="en-US" sz="6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2"/>
              <p:cNvSpPr txBox="1"/>
              <p:nvPr/>
            </p:nvSpPr>
            <p:spPr>
              <a:xfrm>
                <a:off x="812800" y="3254970"/>
                <a:ext cx="8077200" cy="79787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060"/>
                  </a:lnSpc>
                  <a:buNone/>
                </a:pPr>
                <a:r>
                  <a:rPr lang="en-US" sz="255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Visit </a:t>
                </a:r>
                <a14:m>
                  <m:oMath xmlns:m="http://schemas.openxmlformats.org/officeDocument/2006/math">
                    <m:r>
                      <a:rPr lang="en-US" sz="255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55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ladybugs on a branch as fast as possible, for many different starting points.</a:t>
                </a:r>
                <a:endParaRPr lang="en-US" sz="2550" dirty="0"/>
              </a:p>
            </p:txBody>
          </p:sp>
        </mc:Choice>
        <mc:Fallback xmlns="">
          <p:sp>
            <p:nvSpPr>
              <p:cNvPr id="5" name="Text 2"/>
              <p:cNvSpPr txBox="1"/>
              <p:nvPr/>
            </p:nvSpPr>
            <p:spPr>
              <a:xfrm>
                <a:off x="812800" y="3254970"/>
                <a:ext cx="8077200" cy="79787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060"/>
                  </a:lnSpc>
                  <a:buNone/>
                </a:pPr>
                <a:r>
                  <a:rPr lang="en-US" sz="255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Visit K ladybugs on a branch as fast as possible, for many different starting points.</a:t>
                </a:r>
                <a:endParaRPr lang="en-US" sz="2550" dirty="0"/>
              </a:p>
            </p:txBody>
          </p:sp>
        </mc:Fallback>
      </mc:AlternateContent>
      <p:sp>
        <p:nvSpPr>
          <p:cNvPr id="6" name="Shape 3"/>
          <p:cNvSpPr/>
          <p:nvPr/>
        </p:nvSpPr>
        <p:spPr>
          <a:xfrm>
            <a:off x="812800" y="4232870"/>
            <a:ext cx="2939058" cy="457200"/>
          </a:xfrm>
          <a:prstGeom prst="roundRect">
            <a:avLst>
              <a:gd name="adj" fmla="val 50000"/>
            </a:avLst>
          </a:prstGeom>
          <a:solidFill>
            <a:srgbClr val="FDF0D6"/>
          </a:solidFill>
          <a:ln w="12700">
            <a:solidFill>
              <a:srgbClr val="E0960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812800" y="4232870"/>
            <a:ext cx="293905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3866158" y="4232870"/>
            <a:ext cx="3111500" cy="457200"/>
          </a:xfrm>
          <a:prstGeom prst="roundRect">
            <a:avLst>
              <a:gd name="adj" fmla="val 50000"/>
            </a:avLst>
          </a:prstGeom>
          <a:solidFill>
            <a:srgbClr val="FCE7E5"/>
          </a:solidFill>
          <a:ln w="12700">
            <a:solidFill>
              <a:srgbClr val="E46F6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3866158" y="4232870"/>
            <a:ext cx="3111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support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812800" y="4804370"/>
            <a:ext cx="2926854" cy="457200"/>
          </a:xfrm>
          <a:prstGeom prst="roundRect">
            <a:avLst>
              <a:gd name="adj" fmla="val 50000"/>
            </a:avLst>
          </a:prstGeom>
          <a:solidFill>
            <a:srgbClr val="F6F7F7"/>
          </a:solidFill>
          <a:ln w="12700">
            <a:solidFill>
              <a:srgbClr val="5D667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 txBox="1"/>
          <p:nvPr/>
        </p:nvSpPr>
        <p:spPr>
          <a:xfrm>
            <a:off x="812800" y="4804370"/>
            <a:ext cx="2926854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Sparse Table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new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3853954" y="4804370"/>
            <a:ext cx="163443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 txBox="1"/>
          <p:nvPr/>
        </p:nvSpPr>
        <p:spPr>
          <a:xfrm>
            <a:off x="3853954" y="4804370"/>
            <a:ext cx="163443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5602684" y="4804370"/>
            <a:ext cx="1204813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2"/>
          <p:cNvSpPr txBox="1"/>
          <p:nvPr/>
        </p:nvSpPr>
        <p:spPr>
          <a:xfrm>
            <a:off x="5602684" y="4804370"/>
            <a:ext cx="120481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LADYBUGS II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1106150" cy="5181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ladybugs sit on a branch at positions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≤…≤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400" dirty="0"/>
              </a:p>
            </p:txBody>
          </p:sp>
        </mc:Choice>
        <mc:Fallback xmlns="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1106150" cy="5181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N ladybugs sit on a branch at positions P[1] ≤ P[2] ≤ … ≤ P[N].</a:t>
                </a:r>
                <a:endParaRPr lang="en-US" sz="24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 txBox="1"/>
              <p:nvPr/>
            </p:nvSpPr>
            <p:spPr>
              <a:xfrm>
                <a:off x="812800" y="2515096"/>
                <a:ext cx="11106150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You start at position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and walk 1 mm per second. Collect the signatures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ladybugs (just reach them; no need to come back).</a:t>
                </a:r>
                <a:endParaRPr lang="en-US" sz="2400" dirty="0"/>
              </a:p>
            </p:txBody>
          </p:sp>
        </mc:Choice>
        <mc:Fallback xmlns="">
          <p:sp>
            <p:nvSpPr>
              <p:cNvPr id="5" name="Text 3"/>
              <p:cNvSpPr txBox="1"/>
              <p:nvPr/>
            </p:nvSpPr>
            <p:spPr>
              <a:xfrm>
                <a:off x="812800" y="2515096"/>
                <a:ext cx="11106150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You start at position D and walk 1 mm per second. Collect the signatures of K ladybugs (just reach them; no need to come back).</a:t>
                </a:r>
                <a:endParaRPr lang="en-US" sz="24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 txBox="1"/>
              <p:nvPr/>
            </p:nvSpPr>
            <p:spPr>
              <a:xfrm>
                <a:off x="812800" y="3599557"/>
                <a:ext cx="11106150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There are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queries, each with its own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For each one, print the shortest time.</a:t>
                </a:r>
                <a:endParaRPr lang="en-US" sz="2400" dirty="0"/>
              </a:p>
            </p:txBody>
          </p:sp>
        </mc:Choice>
        <mc:Fallback xmlns="">
          <p:sp>
            <p:nvSpPr>
              <p:cNvPr id="6" name="Text 4"/>
              <p:cNvSpPr txBox="1"/>
              <p:nvPr/>
            </p:nvSpPr>
            <p:spPr>
              <a:xfrm>
                <a:off x="812800" y="3599557"/>
                <a:ext cx="11106150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There are Q queries, each with its own D. For each one, print the shortest time.</a:t>
                </a:r>
                <a:endParaRPr lang="en-US" sz="24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 txBox="1"/>
              <p:nvPr/>
            </p:nvSpPr>
            <p:spPr>
              <a:xfrm>
                <a:off x="812800" y="4747518"/>
                <a:ext cx="11106150" cy="7032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700"/>
                  </a:lnSpc>
                  <a:buNone/>
                </a:pPr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Brute force: try every set of </a:t>
                </a:r>
                <a14:m>
                  <m:oMath xmlns:m="http://schemas.openxmlformats.org/officeDocument/2006/math">
                    <m:r>
                      <a:rPr lang="en-US" sz="2250" b="1" i="1">
                        <a:solidFill>
                          <a:srgbClr val="0A4054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ladybugs. Way too slow. What does a best answer look like?</a:t>
                </a:r>
                <a:endParaRPr lang="en-US" sz="2250" dirty="0"/>
              </a:p>
            </p:txBody>
          </p:sp>
        </mc:Choice>
        <mc:Fallback xmlns="">
          <p:sp>
            <p:nvSpPr>
              <p:cNvPr id="7" name="Text 5"/>
              <p:cNvSpPr txBox="1"/>
              <p:nvPr/>
            </p:nvSpPr>
            <p:spPr>
              <a:xfrm>
                <a:off x="812800" y="4747518"/>
                <a:ext cx="11106150" cy="7032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700"/>
                  </a:lnSpc>
                  <a:buNone/>
                </a:pPr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Brute force: try every set of K ladybugs. Way too slow. What does a best answer look like?</a:t>
                </a:r>
                <a:endParaRPr lang="en-US" sz="2250" dirty="0"/>
              </a:p>
            </p:txBody>
          </p:sp>
        </mc:Fallback>
      </mc:AlternateContent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LADYBUGS II · KEY OBSERVATION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1"/>
              <p:cNvSpPr txBox="1"/>
              <p:nvPr/>
            </p:nvSpPr>
            <p:spPr>
              <a:xfrm>
                <a:off x="812800" y="1130300"/>
                <a:ext cx="11200384" cy="56126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910"/>
                  </a:lnSpc>
                  <a:buNone/>
                </a:pPr>
                <a:r>
                  <a:rPr lang="en-US" sz="34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THE </a:t>
                </a:r>
                <a14:m>
                  <m:oMath xmlns:m="http://schemas.openxmlformats.org/officeDocument/2006/math">
                    <m:r>
                      <a:rPr lang="en-US" sz="34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34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LADYBUGS ARE ALWAYS CONSECUTIVE</a:t>
                </a:r>
                <a:endParaRPr lang="en-US" sz="3400" dirty="0"/>
              </a:p>
            </p:txBody>
          </p:sp>
        </mc:Choice>
        <mc:Fallback xmlns="">
          <p:sp>
            <p:nvSpPr>
              <p:cNvPr id="3" name="Text 1"/>
              <p:cNvSpPr txBox="1"/>
              <p:nvPr/>
            </p:nvSpPr>
            <p:spPr>
              <a:xfrm>
                <a:off x="812800" y="1130300"/>
                <a:ext cx="11200384" cy="56126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910"/>
                  </a:lnSpc>
                  <a:buNone/>
                </a:pPr>
                <a:r>
                  <a:rPr lang="en-US" sz="3400" b="1" spc="100" kern="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THE K LADYBUGS ARE ALWAYS CONSECUTIVE</a:t>
                </a:r>
                <a:endParaRPr lang="en-US" sz="3400" dirty="0"/>
              </a:p>
            </p:txBody>
          </p:sp>
        </mc:Fallback>
      </mc:AlternateContent>
      <p:sp>
        <p:nvSpPr>
          <p:cNvPr id="4" name="Text 2"/>
          <p:cNvSpPr txBox="1"/>
          <p:nvPr/>
        </p:nvSpPr>
        <p:spPr>
          <a:xfrm>
            <a:off x="812800" y="1829991"/>
            <a:ext cx="11200384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Walking from the leftmost to the rightmost one, you pass every ladybug in between: their signatures are free.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 txBox="1"/>
              <p:nvPr/>
            </p:nvSpPr>
            <p:spPr>
              <a:xfrm>
                <a:off x="812800" y="2914452"/>
                <a:ext cx="11200384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So choose a </a:t>
                </a:r>
                <a:r>
                  <a:rPr lang="en-US" sz="24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window</a:t>
                </a: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ladybugs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Go to the nearer end first, then to the other end.</a:t>
                </a:r>
                <a:endParaRPr lang="en-US" sz="2400" dirty="0"/>
              </a:p>
            </p:txBody>
          </p:sp>
        </mc:Choice>
        <mc:Fallback xmlns="">
          <p:sp>
            <p:nvSpPr>
              <p:cNvPr id="5" name="Text 3"/>
              <p:cNvSpPr txBox="1"/>
              <p:nvPr/>
            </p:nvSpPr>
            <p:spPr>
              <a:xfrm>
                <a:off x="812800" y="2914452"/>
                <a:ext cx="11200384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So choose a </a:t>
                </a:r>
                <a:r>
                  <a:rPr lang="en-US" sz="24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window</a:t>
                </a: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ladybugs l to r = l + K − 1. Go to the nearer end first, then to the other end.</a:t>
                </a:r>
                <a:endParaRPr lang="en-US" sz="2400" dirty="0"/>
              </a:p>
            </p:txBody>
          </p:sp>
        </mc:Fallback>
      </mc:AlternateContent>
      <p:sp>
        <p:nvSpPr>
          <p:cNvPr id="6" name="Shape 4"/>
          <p:cNvSpPr/>
          <p:nvPr/>
        </p:nvSpPr>
        <p:spPr>
          <a:xfrm>
            <a:off x="812800" y="4062412"/>
            <a:ext cx="10566400" cy="869950"/>
          </a:xfrm>
          <a:prstGeom prst="roundRect">
            <a:avLst>
              <a:gd name="adj" fmla="val 5839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812800" y="4062412"/>
            <a:ext cx="50800" cy="869950"/>
          </a:xfrm>
          <a:prstGeom prst="rect">
            <a:avLst/>
          </a:prstGeom>
          <a:solidFill>
            <a:srgbClr val="0A4054"/>
          </a:solidFill>
          <a:ln/>
        </p:spPr>
        <p:txBody>
          <a:bodyPr/>
          <a:lstStyle/>
          <a:p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 txBox="1"/>
              <p:nvPr/>
            </p:nvSpPr>
            <p:spPr>
              <a:xfrm>
                <a:off x="1092200" y="4240213"/>
                <a:ext cx="10661904" cy="56578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405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700" i="0">
                          <a:solidFill>
                            <a:srgbClr val="1F2328"/>
                          </a:solidFill>
                          <a:latin typeface="Cambria Math" panose="02040503050406030204" pitchFamily="18" charset="0"/>
                        </a:rPr>
                        <m:t>time</m:t>
                      </m:r>
                      <m:d>
                        <m:dPr>
                          <m:ctrlPr>
                            <a:rPr lang="en-US" sz="2700" i="1">
                              <a:solidFill>
                                <a:srgbClr val="1F232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700" i="1">
                              <a:solidFill>
                                <a:srgbClr val="1F2328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en-US" sz="2700" i="0">
                          <a:solidFill>
                            <a:srgbClr val="1F232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700" i="1">
                              <a:solidFill>
                                <a:srgbClr val="1F232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7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7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7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US" sz="2700" i="0">
                              <a:solidFill>
                                <a:srgbClr val="1F2328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7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7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7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  <m:r>
                        <a:rPr lang="en-US" sz="2700" i="0">
                          <a:solidFill>
                            <a:srgbClr val="1F2328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700" i="0">
                          <a:solidFill>
                            <a:srgbClr val="1F2328"/>
                          </a:solidFill>
                          <a:latin typeface="Cambria Math" panose="02040503050406030204" pitchFamily="18" charset="0"/>
                        </a:rPr>
                        <m:t>min</m:t>
                      </m:r>
                      <m:d>
                        <m:dPr>
                          <m:ctrlPr>
                            <a:rPr lang="en-US" sz="2700" i="1">
                              <a:solidFill>
                                <a:srgbClr val="1F232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7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7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sz="270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7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7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7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700" i="0">
                              <a:solidFill>
                                <a:srgbClr val="1F2328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7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7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sz="270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7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7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7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2700" dirty="0"/>
              </a:p>
            </p:txBody>
          </p:sp>
        </mc:Choice>
        <mc:Fallback xmlns="">
          <p:sp>
            <p:nvSpPr>
              <p:cNvPr id="8" name="Text 6"/>
              <p:cNvSpPr txBox="1"/>
              <p:nvPr/>
            </p:nvSpPr>
            <p:spPr>
              <a:xfrm>
                <a:off x="1092200" y="4240213"/>
                <a:ext cx="10661904" cy="56578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4050"/>
                  </a:lnSpc>
                  <a:buNone/>
                </a:pPr>
                <a:r>
                  <a:rPr lang="en-US" sz="27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time(l) = (P[r] − P[l]) + min(|D − P[l]|, |D − P[r]|)</a:t>
                </a:r>
                <a:endParaRPr lang="en-US" sz="27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 txBox="1"/>
              <p:nvPr/>
            </p:nvSpPr>
            <p:spPr>
              <a:xfrm>
                <a:off x="812800" y="5135563"/>
                <a:ext cx="11200384" cy="3448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520"/>
                  </a:lnSpc>
                  <a:buNone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Only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windows. One query in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enough for subtasks with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100" dirty="0"/>
              </a:p>
            </p:txBody>
          </p:sp>
        </mc:Choice>
        <mc:Fallback xmlns="">
          <p:sp>
            <p:nvSpPr>
              <p:cNvPr id="9" name="Text 7"/>
              <p:cNvSpPr txBox="1"/>
              <p:nvPr/>
            </p:nvSpPr>
            <p:spPr>
              <a:xfrm>
                <a:off x="812800" y="5135563"/>
                <a:ext cx="11200384" cy="3448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520"/>
                  </a:lnSpc>
                  <a:buNone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Only N − K + 1 windows. One query in O(N): enough for subtasks with Q = 1.</a:t>
                </a:r>
                <a:endParaRPr lang="en-US" sz="2100" dirty="0"/>
              </a:p>
            </p:txBody>
          </p:sp>
        </mc:Fallback>
      </mc:AlternateContent>
      <p:sp>
        <p:nvSpPr>
          <p:cNvPr id="10" name="Shape 8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0"/>
              <p:cNvSpPr txBox="1"/>
              <p:nvPr/>
            </p:nvSpPr>
            <p:spPr>
              <a:xfrm>
                <a:off x="812800" y="660400"/>
                <a:ext cx="11200384" cy="3009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160"/>
                  </a:lnSpc>
                  <a:buNone/>
                </a:pPr>
                <a:r>
                  <a:rPr lang="en-US" sz="1800" b="1" kern="0" spc="100" dirty="0">
                    <a:solidFill>
                      <a:srgbClr val="287673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LADYBUGS II · BINARY SEARCH TO LOCATE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287673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2" name="Text 0"/>
              <p:cNvSpPr txBox="1"/>
              <p:nvPr/>
            </p:nvSpPr>
            <p:spPr>
              <a:xfrm>
                <a:off x="812800" y="660400"/>
                <a:ext cx="11200384" cy="3009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160"/>
                  </a:lnSpc>
                  <a:buNone/>
                </a:pPr>
                <a:r>
                  <a:rPr lang="en-US" sz="1800" b="1" spc="100" kern="0" dirty="0">
                    <a:solidFill>
                      <a:srgbClr val="287673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LADYBUGS II · BINARY SEARCH TO LOCATE D</a:t>
                </a:r>
                <a:endParaRPr lang="en-US" sz="1800" dirty="0"/>
              </a:p>
            </p:txBody>
          </p:sp>
        </mc:Fallback>
      </mc:AlternateContent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KINDS OF WINDOW</a:t>
            </a:r>
            <a:endParaRPr lang="en-US" sz="3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1200384" cy="3730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7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the first ladybug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(binary search on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).</a:t>
                </a:r>
                <a:endParaRPr lang="en-US" sz="2250" dirty="0"/>
              </a:p>
            </p:txBody>
          </p:sp>
        </mc:Choice>
        <mc:Fallback xmlns="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1200384" cy="3730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700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 = the first ladybug with P[s] ≥ D (binary search on P).</a:t>
                </a:r>
                <a:endParaRPr lang="en-US" sz="225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3554028"/>
                  </p:ext>
                </p:extLst>
              </p:nvPr>
            </p:nvGraphicFramePr>
            <p:xfrm>
              <a:off x="812800" y="2436416"/>
              <a:ext cx="10566400" cy="2127250"/>
            </p:xfrm>
            <a:graphic>
              <a:graphicData uri="http://schemas.openxmlformats.org/drawingml/2006/table">
                <a:tbl>
                  <a:tblPr/>
                  <a:tblGrid>
                    <a:gridCol w="253593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16984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86062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381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Window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Time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Which windows to try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4132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All right of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sSub>
                                  <m:sSubPr>
                                    <m:ctrlPr>
                                      <a:rPr lang="en-US" sz="2100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100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100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  <m:r>
                                  <a:rPr lang="en-US" sz="2100" i="0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10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Only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210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oMath>
                          </a14:m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(leftmost is best)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381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All left of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sz="210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sz="2100" i="0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100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100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100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Only the window ending at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10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429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Straddles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see next slide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oMath>
                          </a14:m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from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10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sz="210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to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10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: up to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sz="210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windows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3554028"/>
                  </p:ext>
                </p:extLst>
              </p:nvPr>
            </p:nvGraphicFramePr>
            <p:xfrm>
              <a:off x="812800" y="2436416"/>
              <a:ext cx="10566400" cy="2127250"/>
            </p:xfrm>
            <a:graphic>
              <a:graphicData uri="http://schemas.openxmlformats.org/drawingml/2006/table">
                <a:tbl>
                  <a:tblPr/>
                  <a:tblGrid>
                    <a:gridCol w="253593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16984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86062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Window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Time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Which windows to try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08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0" t="-102778" r="-316500" b="-28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0723" t="-102778" r="-154217" b="-28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7493" t="-102778" r="-261" b="-288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08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0" t="-202778" r="-316500" b="-18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0723" t="-202778" r="-154217" b="-18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7493" t="-202778" r="-261" b="-188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683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0" t="-178689" r="-316500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see next slide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7493" t="-178689" r="-261" b="-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LADYBUGS II · THE TRICK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1"/>
              <p:cNvSpPr txBox="1"/>
              <p:nvPr/>
            </p:nvSpPr>
            <p:spPr>
              <a:xfrm>
                <a:off x="812800" y="11303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4485"/>
                  </a:lnSpc>
                  <a:buNone/>
                </a:pPr>
                <a:r>
                  <a:rPr lang="en-US" sz="39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PULL </a:t>
                </a:r>
                <a14:m>
                  <m:oMath xmlns:m="http://schemas.openxmlformats.org/officeDocument/2006/math">
                    <m:r>
                      <a:rPr lang="en-US" sz="39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39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OUT OF THE FORMULA</a:t>
                </a:r>
                <a:endParaRPr lang="en-US" sz="3900" dirty="0"/>
              </a:p>
            </p:txBody>
          </p:sp>
        </mc:Choice>
        <mc:Fallback xmlns="">
          <p:sp>
            <p:nvSpPr>
              <p:cNvPr id="3" name="Text 1"/>
              <p:cNvSpPr txBox="1"/>
              <p:nvPr/>
            </p:nvSpPr>
            <p:spPr>
              <a:xfrm>
                <a:off x="812800" y="11303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4485"/>
                  </a:lnSpc>
                  <a:buNone/>
                </a:pPr>
                <a:r>
                  <a:rPr lang="en-US" sz="3900" b="1" spc="100" kern="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PULL D OUT OF THE FORMULA</a:t>
                </a:r>
                <a:endParaRPr lang="en-US" sz="39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1200384" cy="5181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Left first: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sz="24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sz="2400" b="1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1200384" cy="5181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Left first: (D − P[l]) + (P[r] − P[l]) = </a:t>
                </a:r>
                <a:r>
                  <a:rPr lang="en-US" sz="24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(P[r] − 2P[l])</a:t>
                </a: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+ D</a:t>
                </a:r>
                <a:endParaRPr lang="en-US" sz="24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 txBox="1"/>
              <p:nvPr/>
            </p:nvSpPr>
            <p:spPr>
              <a:xfrm>
                <a:off x="812800" y="2527796"/>
                <a:ext cx="11200384" cy="5181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Right first: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sz="24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sz="24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sz="2400" b="1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 3"/>
              <p:cNvSpPr txBox="1"/>
              <p:nvPr/>
            </p:nvSpPr>
            <p:spPr>
              <a:xfrm>
                <a:off x="812800" y="2527796"/>
                <a:ext cx="11200384" cy="5181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Right first: (P[r] − D) + (P[r] − P[l]) = </a:t>
                </a:r>
                <a:r>
                  <a:rPr lang="en-US" sz="24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(2P[r] − P[l])</a:t>
                </a: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− D</a:t>
                </a:r>
                <a:endParaRPr lang="en-US" sz="2400" dirty="0"/>
              </a:p>
            </p:txBody>
          </p:sp>
        </mc:Fallback>
      </mc:AlternateContent>
      <p:sp>
        <p:nvSpPr>
          <p:cNvPr id="6" name="Shape 4"/>
          <p:cNvSpPr/>
          <p:nvPr/>
        </p:nvSpPr>
        <p:spPr>
          <a:xfrm>
            <a:off x="812800" y="3203377"/>
            <a:ext cx="10566400" cy="1803400"/>
          </a:xfrm>
          <a:prstGeom prst="roundRect">
            <a:avLst>
              <a:gd name="adj" fmla="val 2817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812800" y="3203377"/>
            <a:ext cx="50800" cy="1803400"/>
          </a:xfrm>
          <a:prstGeom prst="rect">
            <a:avLst/>
          </a:prstGeom>
          <a:solidFill>
            <a:srgbClr val="0A4054"/>
          </a:solidFill>
          <a:ln/>
        </p:spPr>
        <p:txBody>
          <a:bodyPr/>
          <a:lstStyle/>
          <a:p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 txBox="1"/>
              <p:nvPr/>
            </p:nvSpPr>
            <p:spPr>
              <a:xfrm>
                <a:off x="1092200" y="3381177"/>
                <a:ext cx="10661904" cy="5029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6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　　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　(no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!)</a:t>
                </a:r>
                <a:endParaRPr lang="en-US" sz="2400" dirty="0"/>
              </a:p>
            </p:txBody>
          </p:sp>
        </mc:Choice>
        <mc:Fallback xmlns="">
          <p:sp>
            <p:nvSpPr>
              <p:cNvPr id="8" name="Text 6"/>
              <p:cNvSpPr txBox="1"/>
              <p:nvPr/>
            </p:nvSpPr>
            <p:spPr>
              <a:xfrm>
                <a:off x="1092200" y="3381177"/>
                <a:ext cx="10661904" cy="5029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60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f1(l) = P[r] − 2P[l]　　f2(l) = 2P[r] − P[l]　(no D!)</a:t>
                </a:r>
                <a:endParaRPr lang="en-US" sz="24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 txBox="1"/>
              <p:nvPr/>
            </p:nvSpPr>
            <p:spPr>
              <a:xfrm>
                <a:off x="1092200" y="3914577"/>
                <a:ext cx="10661904" cy="9601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60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Answer for the straddling windows </a:t>
                </a:r>
                <a14:m>
                  <m:oMath xmlns:m="http://schemas.openxmlformats.org/officeDocument/2006/math"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min</m:t>
                    </m:r>
                    <m:d>
                      <m:dPr>
                        <m:ctrlPr>
                          <a:rPr lang="en-US" sz="24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4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over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in a range</a:t>
                </a:r>
                <a:endParaRPr lang="en-US" sz="2400" dirty="0"/>
              </a:p>
            </p:txBody>
          </p:sp>
        </mc:Choice>
        <mc:Fallback xmlns="">
          <p:sp>
            <p:nvSpPr>
              <p:cNvPr id="9" name="Text 7"/>
              <p:cNvSpPr txBox="1"/>
              <p:nvPr/>
            </p:nvSpPr>
            <p:spPr>
              <a:xfrm>
                <a:off x="1092200" y="3914577"/>
                <a:ext cx="10661904" cy="9601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60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Answer for the straddling windows = min( min f1 + D, min f2 − D ) over l in a range</a:t>
                </a:r>
                <a:endParaRPr lang="en-US" sz="24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 txBox="1"/>
              <p:nvPr/>
            </p:nvSpPr>
            <p:spPr>
              <a:xfrm>
                <a:off x="812800" y="5209977"/>
                <a:ext cx="11200384" cy="3730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700"/>
                  </a:lnSpc>
                  <a:buNone/>
                </a:pPr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Range minimum over a fixed array → Sparse Table, </a:t>
                </a:r>
                <a14:m>
                  <m:oMath xmlns:m="http://schemas.openxmlformats.org/officeDocument/2006/math">
                    <m:r>
                      <a:rPr lang="en-US" sz="2250" b="1" i="1">
                        <a:solidFill>
                          <a:srgbClr val="0A4054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250" b="1" i="1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50" b="1" i="1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per query.</a:t>
                </a:r>
                <a:endParaRPr lang="en-US" sz="2250" dirty="0"/>
              </a:p>
            </p:txBody>
          </p:sp>
        </mc:Choice>
        <mc:Fallback xmlns="">
          <p:sp>
            <p:nvSpPr>
              <p:cNvPr id="10" name="Text 8"/>
              <p:cNvSpPr txBox="1"/>
              <p:nvPr/>
            </p:nvSpPr>
            <p:spPr>
              <a:xfrm>
                <a:off x="812800" y="5209977"/>
                <a:ext cx="11200384" cy="3730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700"/>
                  </a:lnSpc>
                  <a:buNone/>
                </a:pPr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Range minimum over a fixed array → Sparse Table, O(1) per query.</a:t>
                </a:r>
                <a:endParaRPr lang="en-US" sz="2250" dirty="0"/>
              </a:p>
            </p:txBody>
          </p:sp>
        </mc:Fallback>
      </mc:AlternateContent>
      <p:sp>
        <p:nvSpPr>
          <p:cNvPr id="11" name="Shape 9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LADYBUGS II · WORK IT BY HAND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1</a:t>
            </a:r>
            <a:endParaRPr lang="en-US" sz="3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852216"/>
                <a:ext cx="11200384" cy="4238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7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1 4 6　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　windows: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) and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)</a:t>
                </a:r>
                <a:endParaRPr lang="en-US" sz="2250" dirty="0"/>
              </a:p>
            </p:txBody>
          </p:sp>
        </mc:Choice>
        <mc:Fallback xmlns="">
          <p:sp>
            <p:nvSpPr>
              <p:cNvPr id="4" name="Text 2"/>
              <p:cNvSpPr txBox="1"/>
              <p:nvPr/>
            </p:nvSpPr>
            <p:spPr>
              <a:xfrm>
                <a:off x="812800" y="1852216"/>
                <a:ext cx="11200384" cy="4238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700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 = 1 4 6　K = 2　windows: [1, 4] (l = 1) and [4, 6] (l = 2)</a:t>
                </a:r>
                <a:endParaRPr lang="en-US" sz="225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2411016"/>
              <a:ext cx="10566399" cy="1911350"/>
            </p:xfrm>
            <a:graphic>
              <a:graphicData uri="http://schemas.openxmlformats.org/drawingml/2006/table">
                <a:tbl>
                  <a:tblPr/>
                  <a:tblGrid>
                    <a:gridCol w="10565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565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1326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11326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6416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585119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463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250" b="1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250" b="1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All right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All left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Straddles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Answer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672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0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63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5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63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2411016"/>
              <a:ext cx="10566400" cy="914400"/>
            </p:xfrm>
            <a:graphic>
              <a:graphicData uri="http://schemas.openxmlformats.org/drawingml/2006/table">
                <a:tbl>
                  <a:tblPr/>
                  <a:tblGrid>
                    <a:gridCol w="1056580"/>
                    <a:gridCol w="1056580"/>
                    <a:gridCol w="2113260"/>
                    <a:gridCol w="2113260"/>
                    <a:gridCol w="2641600"/>
                    <a:gridCol w="1585119"/>
                  </a:tblGrid>
                  <a:tr h="4635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D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All right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All left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Straddles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Answer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66725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0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635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5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635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6" name="Text 3"/>
          <p:cNvSpPr txBox="1"/>
          <p:nvPr/>
        </p:nvSpPr>
        <p:spPr>
          <a:xfrm>
            <a:off x="1866900" y="2946400"/>
            <a:ext cx="1054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7" name="Text 4"/>
          <p:cNvSpPr txBox="1"/>
          <p:nvPr/>
        </p:nvSpPr>
        <p:spPr>
          <a:xfrm>
            <a:off x="2927350" y="2946400"/>
            <a:ext cx="2114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8" name="Text 5"/>
          <p:cNvSpPr txBox="1"/>
          <p:nvPr/>
        </p:nvSpPr>
        <p:spPr>
          <a:xfrm>
            <a:off x="5041900" y="2946400"/>
            <a:ext cx="2114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50" dirty="0"/>
          </a:p>
        </p:txBody>
      </p:sp>
      <p:sp>
        <p:nvSpPr>
          <p:cNvPr id="9" name="Text 6"/>
          <p:cNvSpPr txBox="1"/>
          <p:nvPr/>
        </p:nvSpPr>
        <p:spPr>
          <a:xfrm>
            <a:off x="7150100" y="2946400"/>
            <a:ext cx="26416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50" dirty="0"/>
          </a:p>
        </p:txBody>
      </p:sp>
      <p:sp>
        <p:nvSpPr>
          <p:cNvPr id="10" name="Text 7"/>
          <p:cNvSpPr txBox="1"/>
          <p:nvPr/>
        </p:nvSpPr>
        <p:spPr>
          <a:xfrm>
            <a:off x="9791700" y="2946400"/>
            <a:ext cx="15875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11" name="Text 8"/>
          <p:cNvSpPr txBox="1"/>
          <p:nvPr/>
        </p:nvSpPr>
        <p:spPr>
          <a:xfrm>
            <a:off x="1866900" y="3409950"/>
            <a:ext cx="1054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5" name="Text 9"/>
          <p:cNvSpPr txBox="1"/>
          <p:nvPr/>
        </p:nvSpPr>
        <p:spPr>
          <a:xfrm>
            <a:off x="2927350" y="3409950"/>
            <a:ext cx="2114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50" dirty="0"/>
          </a:p>
        </p:txBody>
      </p:sp>
      <p:sp>
        <p:nvSpPr>
          <p:cNvPr id="13" name="Text 10"/>
          <p:cNvSpPr txBox="1"/>
          <p:nvPr/>
        </p:nvSpPr>
        <p:spPr>
          <a:xfrm>
            <a:off x="5041900" y="3409950"/>
            <a:ext cx="2114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14" name="Text 11"/>
          <p:cNvSpPr txBox="1"/>
          <p:nvPr/>
        </p:nvSpPr>
        <p:spPr>
          <a:xfrm>
            <a:off x="7150100" y="3409950"/>
            <a:ext cx="26416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15" name="Text 12"/>
          <p:cNvSpPr txBox="1"/>
          <p:nvPr/>
        </p:nvSpPr>
        <p:spPr>
          <a:xfrm>
            <a:off x="9791700" y="3409950"/>
            <a:ext cx="15875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16" name="Text 13"/>
          <p:cNvSpPr txBox="1"/>
          <p:nvPr/>
        </p:nvSpPr>
        <p:spPr>
          <a:xfrm>
            <a:off x="1866900" y="3873500"/>
            <a:ext cx="1054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17" name="Text 14"/>
          <p:cNvSpPr txBox="1"/>
          <p:nvPr/>
        </p:nvSpPr>
        <p:spPr>
          <a:xfrm>
            <a:off x="2927350" y="3873500"/>
            <a:ext cx="2114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18" name="Text 15"/>
          <p:cNvSpPr txBox="1"/>
          <p:nvPr/>
        </p:nvSpPr>
        <p:spPr>
          <a:xfrm>
            <a:off x="5041900" y="3873500"/>
            <a:ext cx="2114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50" dirty="0"/>
          </a:p>
        </p:txBody>
      </p:sp>
      <p:sp>
        <p:nvSpPr>
          <p:cNvPr id="19" name="Text 16"/>
          <p:cNvSpPr txBox="1"/>
          <p:nvPr/>
        </p:nvSpPr>
        <p:spPr>
          <a:xfrm>
            <a:off x="7150100" y="3873500"/>
            <a:ext cx="26416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20" name="Text 17"/>
          <p:cNvSpPr txBox="1"/>
          <p:nvPr/>
        </p:nvSpPr>
        <p:spPr>
          <a:xfrm>
            <a:off x="9791700" y="3873500"/>
            <a:ext cx="15875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21" name="Shape 18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5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LADYBUGS II · CORE CODE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PRECOMPUTE, THEN ANSWER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812800" y="1903016"/>
            <a:ext cx="4946650" cy="2451100"/>
          </a:xfrm>
          <a:prstGeom prst="roundRect">
            <a:avLst>
              <a:gd name="adj" fmla="val 2073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1022350" y="2061766"/>
            <a:ext cx="5070856" cy="1859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w = n - K + 1 windows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(int l = 1; l &lt;= w; l ++){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f1[0][l] = p[l+K-1] - 2 * p[l];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f2[0][l] = 2 * p[l+K-1] - p[l];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build both sparse tables (min)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13450" y="1903016"/>
            <a:ext cx="5365750" cy="2451100"/>
          </a:xfrm>
          <a:prstGeom prst="roundRect">
            <a:avLst>
              <a:gd name="adj" fmla="val 2073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6223000" y="2061766"/>
            <a:ext cx="5540248" cy="2164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one query, s found by binary search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 lo = max(1, s - K + 1);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 hi = min(s - 1, w);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 (lo &lt;= hi){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ans = min(ans, qmin(f1, lo, hi) + D);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ans = min(ans, qmin(f2, lo, hi) - D);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LADYBUGS II · COMPLEXITY RECAP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1"/>
              <p:cNvSpPr txBox="1"/>
              <p:nvPr/>
            </p:nvSpPr>
            <p:spPr>
              <a:xfrm>
                <a:off x="812800" y="11049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4485"/>
                  </a:lnSpc>
                  <a:buNone/>
                </a:pPr>
                <a:r>
                  <a:rPr lang="en-US" sz="39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FROM </a:t>
                </a:r>
                <a14:m>
                  <m:oMath xmlns:m="http://schemas.openxmlformats.org/officeDocument/2006/math">
                    <m:r>
                      <a:rPr lang="en-US" sz="39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sz="3900" b="1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</m:oMath>
                </a14:m>
                <a:r>
                  <a:rPr lang="en-US" sz="39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39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390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90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3900" b="1" i="0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390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sz="3900" b="1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endParaRPr lang="en-US" sz="3900" dirty="0"/>
              </a:p>
            </p:txBody>
          </p:sp>
        </mc:Choice>
        <mc:Fallback xmlns="">
          <p:sp>
            <p:nvSpPr>
              <p:cNvPr id="3" name="Text 1"/>
              <p:cNvSpPr txBox="1"/>
              <p:nvPr/>
            </p:nvSpPr>
            <p:spPr>
              <a:xfrm>
                <a:off x="812800" y="11049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4485"/>
                  </a:lnSpc>
                  <a:buNone/>
                </a:pPr>
                <a:r>
                  <a:rPr lang="en-US" sz="3900" b="1" spc="100" kern="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FROM O(Q · K) TO O((N + Q) LOG N)</a:t>
                </a:r>
                <a:endParaRPr lang="en-US" sz="390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62481610"/>
                  </p:ext>
                </p:extLst>
              </p:nvPr>
            </p:nvGraphicFramePr>
            <p:xfrm>
              <a:off x="812800" y="1852216"/>
              <a:ext cx="10566400" cy="2762250"/>
            </p:xfrm>
            <a:graphic>
              <a:graphicData uri="http://schemas.openxmlformats.org/drawingml/2006/table">
                <a:tbl>
                  <a:tblPr/>
                  <a:tblGrid>
                    <a:gridCol w="549453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2459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4726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381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Approach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Time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Operations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4612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Try every window of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consecutive ladybugs, for every query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100" b="1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  <m:r>
                                      <a:rPr lang="en-US" sz="2100" b="1" i="0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100" i="1">
                                      <a:solidFill>
                                        <a:srgbClr val="C8373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100" i="1">
                                      <a:solidFill>
                                        <a:srgbClr val="C8373A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solidFill>
                                        <a:srgbClr val="C8373A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100" dirty="0">
                              <a:solidFill>
                                <a:srgbClr val="C8373A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✗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429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Binary Search</a:t>
                          </a: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for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; one-sided windows in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1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1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; straddling windows one by one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100" b="1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  <m:r>
                                      <a:rPr lang="en-US" sz="2100" b="1" i="0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C8373A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up to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100" i="1">
                                      <a:solidFill>
                                        <a:srgbClr val="C8373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100" i="1">
                                      <a:solidFill>
                                        <a:srgbClr val="C8373A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solidFill>
                                        <a:srgbClr val="C8373A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100" dirty="0">
                              <a:solidFill>
                                <a:srgbClr val="C8373A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✗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429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Pull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out of the formula + </a:t>
                          </a: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Sparse Table</a:t>
                          </a: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range minimum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100" b="1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n-US" sz="2100" b="1" i="1">
                                            <a:solidFill>
                                              <a:srgbClr val="1F232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100" b="1" i="1">
                                            <a:solidFill>
                                              <a:srgbClr val="1F232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en-US" sz="2100" b="1" i="0">
                                            <a:solidFill>
                                              <a:srgbClr val="1F232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100" b="1" i="1">
                                            <a:solidFill>
                                              <a:srgbClr val="1F232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</m:d>
                                    <m:r>
                                      <m:rPr>
                                        <m:sty m:val="p"/>
                                      </m:rPr>
                                      <a:rPr lang="en-US" sz="2100" b="1" i="0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  <m: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100" i="0">
                                  <a:solidFill>
                                    <a:srgbClr val="287673"/>
                                  </a:solidFill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  <m:r>
                                <a:rPr lang="en-US" sz="2100" i="1">
                                  <a:solidFill>
                                    <a:srgbClr val="287673"/>
                                  </a:solidFill>
                                  <a:latin typeface="Cambria Math" panose="02040503050406030204" pitchFamily="18" charset="0"/>
                                </a:rPr>
                                <m:t>3.4</m:t>
                              </m:r>
                              <m:r>
                                <a:rPr lang="en-US" sz="2100" i="0">
                                  <a:solidFill>
                                    <a:srgbClr val="287673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2100" i="1">
                                      <a:solidFill>
                                        <a:srgbClr val="28767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100" i="1">
                                      <a:solidFill>
                                        <a:srgbClr val="287673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solidFill>
                                        <a:srgbClr val="287673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100" dirty="0">
                              <a:solidFill>
                                <a:srgbClr val="287673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✓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62481610"/>
                  </p:ext>
                </p:extLst>
              </p:nvPr>
            </p:nvGraphicFramePr>
            <p:xfrm>
              <a:off x="812800" y="1852216"/>
              <a:ext cx="10566400" cy="2762250"/>
            </p:xfrm>
            <a:graphic>
              <a:graphicData uri="http://schemas.openxmlformats.org/drawingml/2006/table">
                <a:tbl>
                  <a:tblPr/>
                  <a:tblGrid>
                    <a:gridCol w="549453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2459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4726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Approach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Time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Operations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683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" t="-60656" r="-92379" b="-2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7158" t="-60656" r="-118579" b="-2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5648" t="-60656" r="-463" b="-2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683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" t="-160656" r="-92379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7158" t="-160656" r="-118579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5648" t="-160656" r="-463" b="-1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683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" t="-260656" r="-92379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7158" t="-260656" r="-118579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5648" t="-260656" r="-463" b="-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2"/>
              <p:cNvSpPr txBox="1"/>
              <p:nvPr/>
            </p:nvSpPr>
            <p:spPr>
              <a:xfrm>
                <a:off x="812800" y="4703366"/>
                <a:ext cx="11200384" cy="9001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375"/>
                  </a:lnSpc>
                  <a:buNone/>
                </a:pPr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Binary Search finds where </a:t>
                </a:r>
                <a14:m>
                  <m:oMath xmlns:m="http://schemas.openxmlformats.org/officeDocument/2006/math">
                    <m:r>
                      <a:rPr lang="en-US" sz="2250" b="1" i="1">
                        <a:solidFill>
                          <a:srgbClr val="0A4054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sits; the Sparse Table answers "best straddling window" in </a:t>
                </a:r>
                <a14:m>
                  <m:oMath xmlns:m="http://schemas.openxmlformats.org/officeDocument/2006/math">
                    <m:r>
                      <a:rPr lang="en-US" sz="2250" b="1" i="1">
                        <a:solidFill>
                          <a:srgbClr val="0A4054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250" b="1" i="1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50" b="1" i="1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250" dirty="0"/>
              </a:p>
            </p:txBody>
          </p:sp>
        </mc:Choice>
        <mc:Fallback xmlns="">
          <p:sp>
            <p:nvSpPr>
              <p:cNvPr id="5" name="Text 2"/>
              <p:cNvSpPr txBox="1"/>
              <p:nvPr/>
            </p:nvSpPr>
            <p:spPr>
              <a:xfrm>
                <a:off x="812800" y="4703366"/>
                <a:ext cx="11200384" cy="9001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375"/>
                  </a:lnSpc>
                  <a:buNone/>
                </a:pPr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Binary Search finds where D sits; the Sparse Table answers "best straddling window" in O(1).</a:t>
                </a:r>
                <a:endParaRPr lang="en-US" sz="2250" dirty="0"/>
              </a:p>
            </p:txBody>
          </p:sp>
        </mc:Fallback>
      </mc:AlternateContent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596430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kern="0" spc="15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AIO PROBLEM 6</a:t>
            </a:r>
            <a:endParaRPr lang="en-US" sz="195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2104430"/>
            <a:ext cx="11200384" cy="1047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60"/>
              </a:lnSpc>
              <a:buNone/>
            </a:pPr>
            <a:r>
              <a:rPr lang="en-US" sz="6600" b="1" kern="0" spc="1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WRITING</a:t>
            </a:r>
            <a:endParaRPr lang="en-US" sz="6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2"/>
              <p:cNvSpPr txBox="1"/>
              <p:nvPr/>
            </p:nvSpPr>
            <p:spPr>
              <a:xfrm>
                <a:off x="812800" y="3254970"/>
                <a:ext cx="8077200" cy="79787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060"/>
                  </a:lnSpc>
                  <a:buNone/>
                </a:pPr>
                <a:r>
                  <a:rPr lang="en-US" sz="255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 robot walks along a row of numbers, swapping as it goes. Can it write down the sequence </a:t>
                </a:r>
                <a14:m>
                  <m:oMath xmlns:m="http://schemas.openxmlformats.org/officeDocument/2006/math">
                    <m:r>
                      <a:rPr lang="en-US" sz="255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55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?</a:t>
                </a:r>
                <a:endParaRPr lang="en-US" sz="2550" dirty="0"/>
              </a:p>
            </p:txBody>
          </p:sp>
        </mc:Choice>
        <mc:Fallback xmlns="">
          <p:sp>
            <p:nvSpPr>
              <p:cNvPr id="5" name="Text 2"/>
              <p:cNvSpPr txBox="1"/>
              <p:nvPr/>
            </p:nvSpPr>
            <p:spPr>
              <a:xfrm>
                <a:off x="812800" y="3254970"/>
                <a:ext cx="8077200" cy="79787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060"/>
                  </a:lnSpc>
                  <a:buNone/>
                </a:pPr>
                <a:r>
                  <a:rPr lang="en-US" sz="255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 robot walks along a row of numbers, swapping as it goes. Can it write down the sequence S?</a:t>
                </a:r>
                <a:endParaRPr lang="en-US" sz="2550" dirty="0"/>
              </a:p>
            </p:txBody>
          </p:sp>
        </mc:Fallback>
      </mc:AlternateContent>
      <p:sp>
        <p:nvSpPr>
          <p:cNvPr id="6" name="Shape 3"/>
          <p:cNvSpPr/>
          <p:nvPr/>
        </p:nvSpPr>
        <p:spPr>
          <a:xfrm>
            <a:off x="812800" y="4232870"/>
            <a:ext cx="2064445" cy="457200"/>
          </a:xfrm>
          <a:prstGeom prst="roundRect">
            <a:avLst>
              <a:gd name="adj" fmla="val 50000"/>
            </a:avLst>
          </a:prstGeom>
          <a:solidFill>
            <a:srgbClr val="DFE8EC"/>
          </a:solidFill>
          <a:ln w="12700">
            <a:solidFill>
              <a:srgbClr val="0A405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812800" y="4232870"/>
            <a:ext cx="206444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2991545" y="4232870"/>
            <a:ext cx="3250605" cy="457200"/>
          </a:xfrm>
          <a:prstGeom prst="roundRect">
            <a:avLst>
              <a:gd name="adj" fmla="val 50000"/>
            </a:avLst>
          </a:prstGeom>
          <a:solidFill>
            <a:srgbClr val="FDF0D6"/>
          </a:solidFill>
          <a:ln w="12700">
            <a:solidFill>
              <a:srgbClr val="E0960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2991545" y="4232870"/>
            <a:ext cx="325060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support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812800" y="4804370"/>
            <a:ext cx="2200573" cy="457200"/>
          </a:xfrm>
          <a:prstGeom prst="roundRect">
            <a:avLst>
              <a:gd name="adj" fmla="val 50000"/>
            </a:avLst>
          </a:prstGeom>
          <a:solidFill>
            <a:srgbClr val="F6F7F7"/>
          </a:solidFill>
          <a:ln w="12700">
            <a:solidFill>
              <a:srgbClr val="5D667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 txBox="1"/>
          <p:nvPr/>
        </p:nvSpPr>
        <p:spPr>
          <a:xfrm>
            <a:off x="812800" y="4804370"/>
            <a:ext cx="220057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Sparse Table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3127673" y="4804370"/>
            <a:ext cx="163443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 txBox="1"/>
          <p:nvPr/>
        </p:nvSpPr>
        <p:spPr>
          <a:xfrm>
            <a:off x="3127673" y="4804370"/>
            <a:ext cx="163443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4876403" y="4804370"/>
            <a:ext cx="1871861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2"/>
          <p:cNvSpPr txBox="1"/>
          <p:nvPr/>
        </p:nvSpPr>
        <p:spPr>
          <a:xfrm>
            <a:off x="4876403" y="4804370"/>
            <a:ext cx="187186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WRITING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1200384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 row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cells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The robot picks any start cell, then repeats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times:</a:t>
                </a:r>
                <a:endParaRPr lang="en-US" sz="2400" dirty="0"/>
              </a:p>
            </p:txBody>
          </p:sp>
        </mc:Choice>
        <mc:Fallback xmlns="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1200384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 row of N cells T[1] … T[N]. The robot picks any start cell, then repeats M times:</a:t>
                </a:r>
                <a:endParaRPr lang="en-US" sz="2400" dirty="0"/>
              </a:p>
            </p:txBody>
          </p:sp>
        </mc:Fallback>
      </mc:AlternateContent>
      <p:sp>
        <p:nvSpPr>
          <p:cNvPr id="5" name="Text 3"/>
          <p:cNvSpPr txBox="1"/>
          <p:nvPr/>
        </p:nvSpPr>
        <p:spPr>
          <a:xfrm>
            <a:off x="812800" y="2987477"/>
            <a:ext cx="11094720" cy="20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96240" indent="-396240">
              <a:lnSpc>
                <a:spcPts val="3840"/>
              </a:lnSpc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down the number under it.</a:t>
            </a:r>
            <a:endParaRPr lang="en-US" sz="2400" dirty="0"/>
          </a:p>
          <a:p>
            <a:pPr marL="396240" indent="-396240">
              <a:lnSpc>
                <a:spcPts val="3840"/>
              </a:lnSpc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one cell left or right (inwards at the ends).</a:t>
            </a:r>
            <a:endParaRPr lang="en-US" sz="2400" dirty="0"/>
          </a:p>
          <a:p>
            <a:pPr marL="396240" indent="-396240">
              <a:lnSpc>
                <a:spcPts val="3840"/>
              </a:lnSpc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new cell's number is smaller than the cell it just left, swap the two numbers.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 txBox="1"/>
              <p:nvPr/>
            </p:nvSpPr>
            <p:spPr>
              <a:xfrm>
                <a:off x="812800" y="5077817"/>
                <a:ext cx="11200384" cy="5181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Given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(length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): can the robot write exactly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? Print YES or NO.</a:t>
                </a:r>
                <a:endParaRPr lang="en-US" sz="2400" dirty="0"/>
              </a:p>
            </p:txBody>
          </p:sp>
        </mc:Choice>
        <mc:Fallback xmlns="">
          <p:sp>
            <p:nvSpPr>
              <p:cNvPr id="6" name="Text 4"/>
              <p:cNvSpPr txBox="1"/>
              <p:nvPr/>
            </p:nvSpPr>
            <p:spPr>
              <a:xfrm>
                <a:off x="812800" y="5077817"/>
                <a:ext cx="11200384" cy="5181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Given S (length M): can the robot write exactly S? Print YES or NO.</a:t>
                </a:r>
                <a:endParaRPr lang="en-US" sz="2400" dirty="0"/>
              </a:p>
            </p:txBody>
          </p:sp>
        </mc:Fallback>
      </mc:AlternateContent>
      <p:sp>
        <p:nvSpPr>
          <p:cNvPr id="7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WRITING · WORK IT BY HAND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 SAMPLE 1</a:t>
            </a:r>
            <a:endParaRPr lang="en-US" sz="3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852216"/>
                <a:ext cx="11200384" cy="4238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7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2 3 1 2 3　start at cell 3　moves: right, left, left</a:t>
                </a:r>
                <a:endParaRPr lang="en-US" sz="2250" dirty="0"/>
              </a:p>
            </p:txBody>
          </p:sp>
        </mc:Choice>
        <mc:Fallback xmlns="">
          <p:sp>
            <p:nvSpPr>
              <p:cNvPr id="4" name="Text 2"/>
              <p:cNvSpPr txBox="1"/>
              <p:nvPr/>
            </p:nvSpPr>
            <p:spPr>
              <a:xfrm>
                <a:off x="812800" y="1852216"/>
                <a:ext cx="11200384" cy="4238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700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 = 2 3 1 2 3　start at cell 3　moves: right, left, left</a:t>
                </a:r>
                <a:endParaRPr lang="en-US" sz="225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2411016"/>
              <a:ext cx="10566398" cy="2387600"/>
            </p:xfrm>
            <a:graphic>
              <a:graphicData uri="http://schemas.openxmlformats.org/drawingml/2006/table">
                <a:tbl>
                  <a:tblPr/>
                  <a:tblGrid>
                    <a:gridCol w="10565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6791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792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9058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47925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59281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463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Step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Cell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Write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Move to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Swap?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250" b="1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oMath>
                          </a14:m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after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672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63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63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63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B4BAC0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B4BAC0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B4BAC0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2411016"/>
              <a:ext cx="10566400" cy="914400"/>
            </p:xfrm>
            <a:graphic>
              <a:graphicData uri="http://schemas.openxmlformats.org/drawingml/2006/table">
                <a:tbl>
                  <a:tblPr/>
                  <a:tblGrid>
                    <a:gridCol w="1056580"/>
                    <a:gridCol w="1267916"/>
                    <a:gridCol w="1479252"/>
                    <a:gridCol w="1690588"/>
                    <a:gridCol w="1479252"/>
                    <a:gridCol w="3592810"/>
                  </a:tblGrid>
                  <a:tr h="4635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Step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Cell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Write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Move to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Swap?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 after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66725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635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635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635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B4BAC0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B4BAC0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B4BAC0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6" name="Text 3"/>
          <p:cNvSpPr txBox="1"/>
          <p:nvPr/>
        </p:nvSpPr>
        <p:spPr>
          <a:xfrm>
            <a:off x="812800" y="4912916"/>
            <a:ext cx="11200384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the value under the robot after each move. What do you notice?</a:t>
            </a:r>
            <a:endParaRPr lang="en-US" sz="2250" dirty="0"/>
          </a:p>
        </p:txBody>
      </p:sp>
      <p:sp>
        <p:nvSpPr>
          <p:cNvPr id="7" name="Text 4"/>
          <p:cNvSpPr txBox="1"/>
          <p:nvPr/>
        </p:nvSpPr>
        <p:spPr>
          <a:xfrm>
            <a:off x="3136900" y="294640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8" name="Text 5"/>
          <p:cNvSpPr txBox="1"/>
          <p:nvPr/>
        </p:nvSpPr>
        <p:spPr>
          <a:xfrm>
            <a:off x="4616450" y="29464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9" name="Text 6"/>
          <p:cNvSpPr txBox="1"/>
          <p:nvPr/>
        </p:nvSpPr>
        <p:spPr>
          <a:xfrm>
            <a:off x="6305550" y="294640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2250" dirty="0"/>
          </a:p>
        </p:txBody>
      </p:sp>
      <p:sp>
        <p:nvSpPr>
          <p:cNvPr id="10" name="Text 7"/>
          <p:cNvSpPr txBox="1"/>
          <p:nvPr/>
        </p:nvSpPr>
        <p:spPr>
          <a:xfrm>
            <a:off x="7785100" y="2946400"/>
            <a:ext cx="3594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2 3 1 2 3</a:t>
            </a:r>
            <a:endParaRPr lang="en-US" sz="2250" dirty="0"/>
          </a:p>
        </p:txBody>
      </p:sp>
      <p:sp>
        <p:nvSpPr>
          <p:cNvPr id="11" name="Text 8"/>
          <p:cNvSpPr txBox="1"/>
          <p:nvPr/>
        </p:nvSpPr>
        <p:spPr>
          <a:xfrm>
            <a:off x="1866900" y="3409950"/>
            <a:ext cx="12700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12" name="Text 9"/>
          <p:cNvSpPr txBox="1"/>
          <p:nvPr/>
        </p:nvSpPr>
        <p:spPr>
          <a:xfrm>
            <a:off x="3136900" y="340995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13" name="Text 10"/>
          <p:cNvSpPr txBox="1"/>
          <p:nvPr/>
        </p:nvSpPr>
        <p:spPr>
          <a:xfrm>
            <a:off x="4616450" y="340995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14" name="Text 11"/>
          <p:cNvSpPr txBox="1"/>
          <p:nvPr/>
        </p:nvSpPr>
        <p:spPr>
          <a:xfrm>
            <a:off x="6305550" y="340995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2250" dirty="0"/>
          </a:p>
        </p:txBody>
      </p:sp>
      <p:sp>
        <p:nvSpPr>
          <p:cNvPr id="15" name="Text 12"/>
          <p:cNvSpPr txBox="1"/>
          <p:nvPr/>
        </p:nvSpPr>
        <p:spPr>
          <a:xfrm>
            <a:off x="7785100" y="3409950"/>
            <a:ext cx="3594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2 3 2 1 3</a:t>
            </a:r>
            <a:endParaRPr lang="en-US" sz="2250" dirty="0"/>
          </a:p>
        </p:txBody>
      </p:sp>
      <p:sp>
        <p:nvSpPr>
          <p:cNvPr id="16" name="Text 13"/>
          <p:cNvSpPr txBox="1"/>
          <p:nvPr/>
        </p:nvSpPr>
        <p:spPr>
          <a:xfrm>
            <a:off x="1866900" y="3873500"/>
            <a:ext cx="12700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5" name="Text 14"/>
          <p:cNvSpPr txBox="1"/>
          <p:nvPr/>
        </p:nvSpPr>
        <p:spPr>
          <a:xfrm>
            <a:off x="3136900" y="387350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18" name="Text 15"/>
          <p:cNvSpPr txBox="1"/>
          <p:nvPr/>
        </p:nvSpPr>
        <p:spPr>
          <a:xfrm>
            <a:off x="4616450" y="38735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19" name="Text 16"/>
          <p:cNvSpPr txBox="1"/>
          <p:nvPr/>
        </p:nvSpPr>
        <p:spPr>
          <a:xfrm>
            <a:off x="6305550" y="387350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2250" dirty="0"/>
          </a:p>
        </p:txBody>
      </p:sp>
      <p:sp>
        <p:nvSpPr>
          <p:cNvPr id="20" name="Text 17"/>
          <p:cNvSpPr txBox="1"/>
          <p:nvPr/>
        </p:nvSpPr>
        <p:spPr>
          <a:xfrm>
            <a:off x="7785100" y="3873500"/>
            <a:ext cx="3594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2 3 2 1 3</a:t>
            </a:r>
            <a:endParaRPr lang="en-US" sz="2250" dirty="0"/>
          </a:p>
        </p:txBody>
      </p:sp>
      <p:sp>
        <p:nvSpPr>
          <p:cNvPr id="21" name="Text 18"/>
          <p:cNvSpPr txBox="1"/>
          <p:nvPr/>
        </p:nvSpPr>
        <p:spPr>
          <a:xfrm>
            <a:off x="1866900" y="4337050"/>
            <a:ext cx="12700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22" name="Text 19"/>
          <p:cNvSpPr txBox="1"/>
          <p:nvPr/>
        </p:nvSpPr>
        <p:spPr>
          <a:xfrm>
            <a:off x="3136900" y="433705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23" name="Shape 20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5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WRITING · KEY OBSERVATION 1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ROBOT CARRIES THE MAXIMUM</a:t>
            </a:r>
            <a:endParaRPr lang="en-US" sz="3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1200384" cy="5181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The robot stands on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steps onto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400" dirty="0"/>
              </a:p>
            </p:txBody>
          </p:sp>
        </mc:Choice>
        <mc:Fallback xmlns="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1200384" cy="5181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The robot stands on a, steps onto b.</a:t>
                </a:r>
                <a:endParaRPr lang="en-US" sz="24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 txBox="1"/>
              <p:nvPr/>
            </p:nvSpPr>
            <p:spPr>
              <a:xfrm>
                <a:off x="812800" y="2515096"/>
                <a:ext cx="11200384" cy="5181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swap, so it now stands on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　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no swap, it stands on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400" dirty="0"/>
              </a:p>
            </p:txBody>
          </p:sp>
        </mc:Choice>
        <mc:Fallback xmlns="">
          <p:sp>
            <p:nvSpPr>
              <p:cNvPr id="5" name="Text 3"/>
              <p:cNvSpPr txBox="1"/>
              <p:nvPr/>
            </p:nvSpPr>
            <p:spPr>
              <a:xfrm>
                <a:off x="812800" y="2515096"/>
                <a:ext cx="11200384" cy="5181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b &lt; a: swap, so it now stands on a.　b ≥ a: no swap, it stands on b.</a:t>
                </a:r>
                <a:endParaRPr lang="en-US" sz="2400" dirty="0"/>
              </a:p>
            </p:txBody>
          </p:sp>
        </mc:Fallback>
      </mc:AlternateContent>
      <p:sp>
        <p:nvSpPr>
          <p:cNvPr id="6" name="Shape 4"/>
          <p:cNvSpPr/>
          <p:nvPr/>
        </p:nvSpPr>
        <p:spPr>
          <a:xfrm>
            <a:off x="812800" y="3190677"/>
            <a:ext cx="10566400" cy="869950"/>
          </a:xfrm>
          <a:prstGeom prst="roundRect">
            <a:avLst>
              <a:gd name="adj" fmla="val 5839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812800" y="3190677"/>
            <a:ext cx="50800" cy="869950"/>
          </a:xfrm>
          <a:prstGeom prst="rect">
            <a:avLst/>
          </a:prstGeom>
          <a:solidFill>
            <a:srgbClr val="0A4054"/>
          </a:solidFill>
          <a:ln/>
        </p:spPr>
        <p:txBody>
          <a:bodyPr/>
          <a:lstStyle/>
          <a:p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 txBox="1"/>
              <p:nvPr/>
            </p:nvSpPr>
            <p:spPr>
              <a:xfrm>
                <a:off x="1092200" y="3368477"/>
                <a:ext cx="10661904" cy="56578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4050"/>
                  </a:lnSpc>
                  <a:buNone/>
                </a:pPr>
                <a:r>
                  <a:rPr lang="en-US" sz="27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new value under the robot </a:t>
                </a:r>
                <a14:m>
                  <m:oMath xmlns:m="http://schemas.openxmlformats.org/officeDocument/2006/math">
                    <m:r>
                      <a:rPr lang="en-US" sz="27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7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max</m:t>
                    </m:r>
                    <m:d>
                      <m:dPr>
                        <m:ctrlPr>
                          <a:rPr lang="en-US" sz="27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7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7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7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n-US" sz="2700" dirty="0"/>
              </a:p>
            </p:txBody>
          </p:sp>
        </mc:Choice>
        <mc:Fallback xmlns="">
          <p:sp>
            <p:nvSpPr>
              <p:cNvPr id="8" name="Text 6"/>
              <p:cNvSpPr txBox="1"/>
              <p:nvPr/>
            </p:nvSpPr>
            <p:spPr>
              <a:xfrm>
                <a:off x="1092200" y="3368477"/>
                <a:ext cx="10661904" cy="56578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4050"/>
                  </a:lnSpc>
                  <a:buNone/>
                </a:pPr>
                <a:r>
                  <a:rPr lang="en-US" sz="27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new value under the robot = max(a, b)</a:t>
                </a:r>
                <a:endParaRPr lang="en-US" sz="27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 txBox="1"/>
              <p:nvPr/>
            </p:nvSpPr>
            <p:spPr>
              <a:xfrm>
                <a:off x="812800" y="4263827"/>
                <a:ext cx="11200384" cy="5181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So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must be non-decreasing.</a:t>
                </a: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Any drop → NO straight away.</a:t>
                </a:r>
                <a:endParaRPr lang="en-US" sz="2400" dirty="0"/>
              </a:p>
            </p:txBody>
          </p:sp>
        </mc:Choice>
        <mc:Fallback xmlns="">
          <p:sp>
            <p:nvSpPr>
              <p:cNvPr id="9" name="Text 7"/>
              <p:cNvSpPr txBox="1"/>
              <p:nvPr/>
            </p:nvSpPr>
            <p:spPr>
              <a:xfrm>
                <a:off x="812800" y="4263827"/>
                <a:ext cx="11200384" cy="5181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720"/>
                  </a:lnSpc>
                  <a:buNone/>
                </a:pPr>
                <a:r>
                  <a:rPr lang="en-US" sz="24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So S must be non-decreasing.</a:t>
                </a: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Any drop → NO straight away.</a:t>
                </a:r>
                <a:endParaRPr lang="en-US" sz="24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 txBox="1"/>
              <p:nvPr/>
            </p:nvSpPr>
            <p:spPr>
              <a:xfrm>
                <a:off x="812800" y="4939407"/>
                <a:ext cx="11200384" cy="3448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520"/>
                  </a:lnSpc>
                  <a:buNone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Sample 4: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2 3 2 → NO</a:t>
                </a:r>
                <a:endParaRPr lang="en-US" sz="2100" dirty="0"/>
              </a:p>
            </p:txBody>
          </p:sp>
        </mc:Choice>
        <mc:Fallback xmlns="">
          <p:sp>
            <p:nvSpPr>
              <p:cNvPr id="10" name="Text 8"/>
              <p:cNvSpPr txBox="1"/>
              <p:nvPr/>
            </p:nvSpPr>
            <p:spPr>
              <a:xfrm>
                <a:off x="812800" y="4939407"/>
                <a:ext cx="11200384" cy="3448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520"/>
                  </a:lnSpc>
                  <a:buNone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Sample 4: S = 2 3 2 → NO</a:t>
                </a:r>
                <a:endParaRPr lang="en-US" sz="2100" dirty="0"/>
              </a:p>
            </p:txBody>
          </p:sp>
        </mc:Fallback>
      </mc:AlternateContent>
      <p:sp>
        <p:nvSpPr>
          <p:cNvPr id="11" name="Shape 9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WRITING · KEY OBSERVATION 2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TRAPPED IN A REGION</a:t>
            </a:r>
            <a:endParaRPr lang="en-US" sz="3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1200384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While the robot holds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it can walk freely over the run of cells with values </a:t>
                </a:r>
                <a14:m>
                  <m:oMath xmlns:m="http://schemas.openxmlformats.org/officeDocument/2006/math"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around it, and keeps writing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400" dirty="0"/>
              </a:p>
            </p:txBody>
          </p:sp>
        </mc:Choice>
        <mc:Fallback xmlns="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1200384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While the robot holds v, it can walk freely over the run of cells with values ≤ v around it, and keeps writing v.</a:t>
                </a:r>
                <a:endParaRPr lang="en-US" sz="24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 txBox="1"/>
              <p:nvPr/>
            </p:nvSpPr>
            <p:spPr>
              <a:xfrm>
                <a:off x="812800" y="2987477"/>
                <a:ext cx="11200384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The first cells outside the run (</a:t>
                </a:r>
                <a14:m>
                  <m:oMath xmlns:m="http://schemas.openxmlformats.org/officeDocument/2006/math"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) are never touched, so </a:t>
                </a:r>
                <a:r>
                  <a:rPr lang="en-US" sz="24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the region's ends are fixed</a:t>
                </a: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400" dirty="0"/>
              </a:p>
            </p:txBody>
          </p:sp>
        </mc:Choice>
        <mc:Fallback xmlns="">
          <p:sp>
            <p:nvSpPr>
              <p:cNvPr id="5" name="Text 3"/>
              <p:cNvSpPr txBox="1"/>
              <p:nvPr/>
            </p:nvSpPr>
            <p:spPr>
              <a:xfrm>
                <a:off x="812800" y="2987477"/>
                <a:ext cx="11200384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The first cells outside the run (&gt; v) are never touched, so </a:t>
                </a:r>
                <a:r>
                  <a:rPr lang="en-US" sz="24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the region's ends are fixed</a:t>
                </a: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4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 txBox="1"/>
              <p:nvPr/>
            </p:nvSpPr>
            <p:spPr>
              <a:xfrm>
                <a:off x="812800" y="4071938"/>
                <a:ext cx="11200384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When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goes up from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the robot must step onto one of the two outside cells, and that cell must hold </a:t>
                </a:r>
                <a:r>
                  <a:rPr lang="en-US" sz="24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exactly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400" dirty="0"/>
              </a:p>
            </p:txBody>
          </p:sp>
        </mc:Choice>
        <mc:Fallback xmlns="">
          <p:sp>
            <p:nvSpPr>
              <p:cNvPr id="6" name="Text 4"/>
              <p:cNvSpPr txBox="1"/>
              <p:nvPr/>
            </p:nvSpPr>
            <p:spPr>
              <a:xfrm>
                <a:off x="812800" y="4071938"/>
                <a:ext cx="11200384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When S goes up from v to w, the robot must step onto one of the two outside cells, and that cell must hold </a:t>
                </a:r>
                <a:r>
                  <a:rPr lang="en-US" sz="24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exactly w</a:t>
                </a: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400" dirty="0"/>
              </a:p>
            </p:txBody>
          </p:sp>
        </mc:Fallback>
      </mc:AlternateContent>
      <p:sp>
        <p:nvSpPr>
          <p:cNvPr id="7" name="Text 5"/>
          <p:cNvSpPr txBox="1"/>
          <p:nvPr/>
        </p:nvSpPr>
        <p:spPr>
          <a:xfrm>
            <a:off x="812800" y="5219898"/>
            <a:ext cx="11200384" cy="703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two candidates per step up. Finding the region's ends = binary search with qmax.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WRITING · KEY OBSERVATION 3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ARRIVE EXACTLY ON TIME</a:t>
            </a:r>
            <a:endParaRPr lang="en-US" sz="3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1200384" cy="5181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From cell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to the target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distance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4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steps available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400" dirty="0"/>
              </a:p>
            </p:txBody>
          </p:sp>
        </mc:Choice>
        <mc:Fallback xmlns="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1200384" cy="5181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From cell p to the target q: distance d = |q − p|, steps available dt.</a:t>
                </a:r>
                <a:endParaRPr lang="en-US" sz="240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52370440"/>
                  </p:ext>
                </p:extLst>
              </p:nvPr>
            </p:nvGraphicFramePr>
            <p:xfrm>
              <a:off x="812800" y="2578596"/>
              <a:ext cx="10566400" cy="2254250"/>
            </p:xfrm>
            <a:graphic>
              <a:graphicData uri="http://schemas.openxmlformats.org/drawingml/2006/table">
                <a:tbl>
                  <a:tblPr/>
                  <a:tblGrid>
                    <a:gridCol w="42265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398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63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Condition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Why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672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sz="225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sz="2250" i="0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sz="225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oMath>
                            </m:oMathPara>
                          </a14:m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Need enough steps to get there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937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2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  <m:r>
                                <a:rPr lang="en-US" sz="225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2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oMath>
                          </a14:m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is even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Spare steps are used by stepping back and forth (2 at a time)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63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Start region </a:t>
                          </a:r>
                          <a14:m>
                            <m:oMath xmlns:m="http://schemas.openxmlformats.org/officeDocument/2006/math">
                              <m:r>
                                <a:rPr lang="en-US" sz="225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2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cells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With one cell, the robot cannot wait in place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52370440"/>
                  </p:ext>
                </p:extLst>
              </p:nvPr>
            </p:nvGraphicFramePr>
            <p:xfrm>
              <a:off x="812800" y="2578596"/>
              <a:ext cx="10566400" cy="2254250"/>
            </p:xfrm>
            <a:graphic>
              <a:graphicData uri="http://schemas.openxmlformats.org/drawingml/2006/table">
                <a:tbl>
                  <a:tblPr/>
                  <a:tblGrid>
                    <a:gridCol w="42265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398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826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Condition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Why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762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" t="-105263" r="-150150" b="-28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Need enough steps to get there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191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" t="-121875" r="-150150" b="-71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Spare steps are used by stepping back and forth (2 at a time)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762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" t="-373684" r="-150150" b="-2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With one cell, the robot cannot wait in place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 3"/>
          <p:cNvSpPr txBox="1"/>
          <p:nvPr/>
        </p:nvSpPr>
        <p:spPr>
          <a:xfrm>
            <a:off x="812800" y="4972546"/>
            <a:ext cx="11200384" cy="649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first step up, every region already has at least 2 cells, so the last row only matters at the start.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WRITING · WORK IT BY HAND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BY LAYER</a:t>
            </a:r>
            <a:endParaRPr lang="en-US" sz="3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852216"/>
                <a:ext cx="11200384" cy="4238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700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Sample 2: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1 2 3 4　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2 2 2 3 4 4</a:t>
                </a:r>
                <a:endParaRPr lang="en-US" sz="2250" dirty="0"/>
              </a:p>
            </p:txBody>
          </p:sp>
        </mc:Choice>
        <mc:Fallback xmlns="">
          <p:sp>
            <p:nvSpPr>
              <p:cNvPr id="4" name="Text 2"/>
              <p:cNvSpPr txBox="1"/>
              <p:nvPr/>
            </p:nvSpPr>
            <p:spPr>
              <a:xfrm>
                <a:off x="812800" y="1852216"/>
                <a:ext cx="11200384" cy="4238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700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Sample 2: T = 1 2 3 4　S = 2 2 2 3 4 4</a:t>
                </a:r>
                <a:endParaRPr lang="en-US" sz="225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2411016"/>
              <a:ext cx="10566398" cy="2254250"/>
            </p:xfrm>
            <a:graphic>
              <a:graphicData uri="http://schemas.openxmlformats.org/drawingml/2006/table">
                <a:tbl>
                  <a:tblPr/>
                  <a:tblGrid>
                    <a:gridCol w="14792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792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9058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90192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26791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26791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47955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7937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Value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First step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Cell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Region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250" b="1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250" b="1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oMath>
                            </m:oMathPara>
                          </a14:m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OK?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672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B4BAC0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B4BAC0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63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63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2411016"/>
              <a:ext cx="10566400" cy="914400"/>
            </p:xfrm>
            <a:graphic>
              <a:graphicData uri="http://schemas.openxmlformats.org/drawingml/2006/table">
                <a:tbl>
                  <a:tblPr/>
                  <a:tblGrid>
                    <a:gridCol w="1479252"/>
                    <a:gridCol w="1479252"/>
                    <a:gridCol w="1690588"/>
                    <a:gridCol w="1901924"/>
                    <a:gridCol w="1267916"/>
                    <a:gridCol w="1267916"/>
                    <a:gridCol w="1479550"/>
                  </a:tblGrid>
                  <a:tr h="7937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Value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First step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Cell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Region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d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dt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OK?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66725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B4BAC0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B4BAC0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635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635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3"/>
              <p:cNvSpPr txBox="1"/>
              <p:nvPr/>
            </p:nvSpPr>
            <p:spPr>
              <a:xfrm>
                <a:off x="812800" y="4779566"/>
                <a:ext cx="11200384" cy="5572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4050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Sample 3: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1 2 3 4   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1 1   → start cell ___   region ______   answer ____</a:t>
                </a:r>
                <a:endParaRPr lang="en-US" sz="2250" dirty="0"/>
              </a:p>
            </p:txBody>
          </p:sp>
        </mc:Choice>
        <mc:Fallback xmlns="">
          <p:sp>
            <p:nvSpPr>
              <p:cNvPr id="6" name="Text 3"/>
              <p:cNvSpPr txBox="1"/>
              <p:nvPr/>
            </p:nvSpPr>
            <p:spPr>
              <a:xfrm>
                <a:off x="812800" y="4779566"/>
                <a:ext cx="11200384" cy="5572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4050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Sample 3: T = 1 2 3 4   S = 1 1   → start cell ___   region ______   answer ____</a:t>
                </a:r>
                <a:endParaRPr lang="en-US" sz="2250" dirty="0"/>
              </a:p>
            </p:txBody>
          </p:sp>
        </mc:Fallback>
      </mc:AlternateContent>
      <p:sp>
        <p:nvSpPr>
          <p:cNvPr id="7" name="Text 4"/>
          <p:cNvSpPr txBox="1"/>
          <p:nvPr/>
        </p:nvSpPr>
        <p:spPr>
          <a:xfrm>
            <a:off x="3771900" y="32766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8" name="Text 5"/>
          <p:cNvSpPr txBox="1"/>
          <p:nvPr/>
        </p:nvSpPr>
        <p:spPr>
          <a:xfrm>
            <a:off x="5461000" y="3276600"/>
            <a:ext cx="19050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[1, 2]</a:t>
            </a:r>
            <a:endParaRPr lang="en-US" sz="2250" dirty="0"/>
          </a:p>
        </p:txBody>
      </p:sp>
      <p:sp>
        <p:nvSpPr>
          <p:cNvPr id="9" name="Text 6"/>
          <p:cNvSpPr txBox="1"/>
          <p:nvPr/>
        </p:nvSpPr>
        <p:spPr>
          <a:xfrm>
            <a:off x="9899650" y="327660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2250" dirty="0"/>
          </a:p>
        </p:txBody>
      </p:sp>
      <p:sp>
        <p:nvSpPr>
          <p:cNvPr id="10" name="Text 7"/>
          <p:cNvSpPr txBox="1"/>
          <p:nvPr/>
        </p:nvSpPr>
        <p:spPr>
          <a:xfrm>
            <a:off x="2292350" y="374015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74015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12" name="Text 9"/>
          <p:cNvSpPr txBox="1"/>
          <p:nvPr/>
        </p:nvSpPr>
        <p:spPr>
          <a:xfrm>
            <a:off x="5461000" y="3740150"/>
            <a:ext cx="19050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[1, 3]</a:t>
            </a:r>
            <a:endParaRPr lang="en-US" sz="2250" dirty="0"/>
          </a:p>
        </p:txBody>
      </p:sp>
      <p:sp>
        <p:nvSpPr>
          <p:cNvPr id="13" name="Text 10"/>
          <p:cNvSpPr txBox="1"/>
          <p:nvPr/>
        </p:nvSpPr>
        <p:spPr>
          <a:xfrm>
            <a:off x="7366000" y="3740150"/>
            <a:ext cx="12700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14" name="Text 11"/>
          <p:cNvSpPr txBox="1"/>
          <p:nvPr/>
        </p:nvSpPr>
        <p:spPr>
          <a:xfrm>
            <a:off x="8629650" y="3740150"/>
            <a:ext cx="12700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15" name="Text 12"/>
          <p:cNvSpPr txBox="1"/>
          <p:nvPr/>
        </p:nvSpPr>
        <p:spPr>
          <a:xfrm>
            <a:off x="9899650" y="374015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2250" dirty="0"/>
          </a:p>
        </p:txBody>
      </p:sp>
      <p:sp>
        <p:nvSpPr>
          <p:cNvPr id="16" name="Text 13"/>
          <p:cNvSpPr txBox="1"/>
          <p:nvPr/>
        </p:nvSpPr>
        <p:spPr>
          <a:xfrm>
            <a:off x="2292350" y="420370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50" dirty="0"/>
          </a:p>
        </p:txBody>
      </p:sp>
      <p:sp>
        <p:nvSpPr>
          <p:cNvPr id="17" name="Text 14"/>
          <p:cNvSpPr txBox="1"/>
          <p:nvPr/>
        </p:nvSpPr>
        <p:spPr>
          <a:xfrm>
            <a:off x="3771900" y="42037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18" name="Text 15"/>
          <p:cNvSpPr txBox="1"/>
          <p:nvPr/>
        </p:nvSpPr>
        <p:spPr>
          <a:xfrm>
            <a:off x="5461000" y="4203700"/>
            <a:ext cx="19050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[1, 4]</a:t>
            </a:r>
            <a:endParaRPr lang="en-US" sz="2250" dirty="0"/>
          </a:p>
        </p:txBody>
      </p:sp>
      <p:sp>
        <p:nvSpPr>
          <p:cNvPr id="19" name="Text 16"/>
          <p:cNvSpPr txBox="1"/>
          <p:nvPr/>
        </p:nvSpPr>
        <p:spPr>
          <a:xfrm>
            <a:off x="7366000" y="4203700"/>
            <a:ext cx="12700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20" name="Text 17"/>
          <p:cNvSpPr txBox="1"/>
          <p:nvPr/>
        </p:nvSpPr>
        <p:spPr>
          <a:xfrm>
            <a:off x="8629650" y="4203700"/>
            <a:ext cx="12700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5" name="Text 18"/>
          <p:cNvSpPr txBox="1"/>
          <p:nvPr/>
        </p:nvSpPr>
        <p:spPr>
          <a:xfrm>
            <a:off x="9899650" y="420370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2250" dirty="0"/>
          </a:p>
        </p:txBody>
      </p:sp>
      <p:sp>
        <p:nvSpPr>
          <p:cNvPr id="22" name="Text 19"/>
          <p:cNvSpPr txBox="1"/>
          <p:nvPr/>
        </p:nvSpPr>
        <p:spPr>
          <a:xfrm>
            <a:off x="6286500" y="4737100"/>
            <a:ext cx="78105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23" name="Text 20"/>
          <p:cNvSpPr txBox="1"/>
          <p:nvPr/>
        </p:nvSpPr>
        <p:spPr>
          <a:xfrm>
            <a:off x="7874000" y="4737100"/>
            <a:ext cx="125730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[1, 1]</a:t>
            </a:r>
            <a:endParaRPr lang="en-US" sz="2250" dirty="0"/>
          </a:p>
        </p:txBody>
      </p:sp>
      <p:sp>
        <p:nvSpPr>
          <p:cNvPr id="24" name="Text 21"/>
          <p:cNvSpPr txBox="1"/>
          <p:nvPr/>
        </p:nvSpPr>
        <p:spPr>
          <a:xfrm>
            <a:off x="10071100" y="4737100"/>
            <a:ext cx="93980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2250" dirty="0"/>
          </a:p>
        </p:txBody>
      </p:sp>
      <p:sp>
        <p:nvSpPr>
          <p:cNvPr id="25" name="Shape 2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5" grpId="0" animBg="1"/>
      <p:bldP spid="22" grpId="0" animBg="1"/>
      <p:bldP spid="23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WRITING · CORE CODE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SMALL HELPERS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812800" y="1903016"/>
            <a:ext cx="5245100" cy="4203700"/>
          </a:xfrm>
          <a:prstGeom prst="roundRect">
            <a:avLst>
              <a:gd name="adj" fmla="val 1208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1022350" y="2061766"/>
            <a:ext cx="5405120" cy="1975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reach q from p in exactly dt steps?</a:t>
            </a:r>
            <a:endParaRPr lang="en-US" sz="17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bool check(int p, int q, int dt){</a:t>
            </a:r>
            <a:endParaRPr lang="en-US" sz="17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int d = abs(q - p);</a:t>
            </a:r>
            <a:endParaRPr lang="en-US" sz="17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d &lt;= dt &amp;&amp;</a:t>
            </a:r>
            <a:endParaRPr lang="en-US" sz="17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(dt - d) % 2 == 0;</a:t>
            </a:r>
            <a:endParaRPr lang="en-US" sz="17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311900" y="1903016"/>
            <a:ext cx="5067300" cy="4203700"/>
          </a:xfrm>
          <a:prstGeom prst="roundRect">
            <a:avLst>
              <a:gd name="adj" fmla="val 1208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6521450" y="2061766"/>
            <a:ext cx="5205984" cy="3918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smallest l with t[l..p] all &lt;= v</a:t>
            </a:r>
            <a:endParaRPr lang="en-US" sz="17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 extendLeft(int p, int v){</a:t>
            </a:r>
            <a:endParaRPr lang="en-US" sz="17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int l = 1, r = p;</a:t>
            </a:r>
            <a:endParaRPr lang="en-US" sz="17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while (l &lt;= r){</a:t>
            </a:r>
            <a:endParaRPr lang="en-US" sz="17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int mid = (l + r) / 2;</a:t>
            </a:r>
            <a:endParaRPr lang="en-US" sz="17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if (qmax(mid, p) &lt;= v)</a:t>
            </a:r>
            <a:endParaRPr lang="en-US" sz="17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r = mid - 1;</a:t>
            </a:r>
            <a:endParaRPr lang="en-US" sz="17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else</a:t>
            </a:r>
            <a:endParaRPr lang="en-US" sz="17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l = mid + 1;</a:t>
            </a:r>
            <a:endParaRPr lang="en-US" sz="17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17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l;</a:t>
            </a:r>
            <a:endParaRPr lang="en-US" sz="17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WRITING · COMPLEXITY RECAP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1"/>
              <p:cNvSpPr txBox="1"/>
              <p:nvPr/>
            </p:nvSpPr>
            <p:spPr>
              <a:xfrm>
                <a:off x="812800" y="11049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4485"/>
                  </a:lnSpc>
                  <a:buNone/>
                </a:pPr>
                <a:r>
                  <a:rPr lang="en-US" sz="39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FROM </a:t>
                </a:r>
                <a14:m>
                  <m:oMath xmlns:m="http://schemas.openxmlformats.org/officeDocument/2006/math">
                    <m:r>
                      <a:rPr lang="en-US" sz="39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390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90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390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39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39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390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90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3900" b="1" i="0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390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sz="3900" b="1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endParaRPr lang="en-US" sz="3900" dirty="0"/>
              </a:p>
            </p:txBody>
          </p:sp>
        </mc:Choice>
        <mc:Fallback xmlns="">
          <p:sp>
            <p:nvSpPr>
              <p:cNvPr id="3" name="Text 1"/>
              <p:cNvSpPr txBox="1"/>
              <p:nvPr/>
            </p:nvSpPr>
            <p:spPr>
              <a:xfrm>
                <a:off x="812800" y="11049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4485"/>
                  </a:lnSpc>
                  <a:buNone/>
                </a:pPr>
                <a:r>
                  <a:rPr lang="en-US" sz="3900" b="1" spc="100" kern="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FROM 2^M TO O((N + M) LOG N)</a:t>
                </a:r>
                <a:endParaRPr lang="en-US" sz="39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1852216"/>
              <a:ext cx="10566400" cy="2762250"/>
            </p:xfrm>
            <a:graphic>
              <a:graphicData uri="http://schemas.openxmlformats.org/drawingml/2006/table">
                <a:tbl>
                  <a:tblPr/>
                  <a:tblGrid>
                    <a:gridCol w="549453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2459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4726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381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Approach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Time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Operations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4612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Try every start cell and every sequence of moves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100" b="1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sz="2100" b="1" i="0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sSup>
                                      <m:sSupPr>
                                        <m:ctrlPr>
                                          <a:rPr lang="en-US" sz="2100" b="1" i="1">
                                            <a:solidFill>
                                              <a:srgbClr val="1F232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100" b="1" i="1">
                                            <a:solidFill>
                                              <a:srgbClr val="1F232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US" sz="2100" b="1" i="1">
                                            <a:solidFill>
                                              <a:srgbClr val="1F232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C8373A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✗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429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Simulate layer by layer, scan cells one by one to find each region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100" b="1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sz="2100" b="1" i="0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C8373A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2100" i="0">
                                  <a:solidFill>
                                    <a:srgbClr val="C8373A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2100" i="1">
                                      <a:solidFill>
                                        <a:srgbClr val="C8373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100" i="1">
                                      <a:solidFill>
                                        <a:srgbClr val="C8373A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solidFill>
                                        <a:srgbClr val="C8373A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100" dirty="0">
                              <a:solidFill>
                                <a:srgbClr val="C8373A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✗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429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"Robot carries the max" + </a:t>
                          </a: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Sparse Table</a:t>
                          </a: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max + </a:t>
                          </a: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Binary Search</a:t>
                          </a: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for region ends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100" b="1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n-US" sz="2100" b="1" i="1">
                                            <a:solidFill>
                                              <a:srgbClr val="1F232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100" b="1" i="1">
                                            <a:solidFill>
                                              <a:srgbClr val="1F232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en-US" sz="2100" b="1" i="0">
                                            <a:solidFill>
                                              <a:srgbClr val="1F232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100" b="1" i="1">
                                            <a:solidFill>
                                              <a:srgbClr val="1F232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</m:d>
                                    <m:r>
                                      <m:rPr>
                                        <m:sty m:val="p"/>
                                      </m:rPr>
                                      <a:rPr lang="en-US" sz="2100" b="1" i="0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  <m: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100" i="0">
                                  <a:solidFill>
                                    <a:srgbClr val="287673"/>
                                  </a:solidFill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  <m:r>
                                <a:rPr lang="en-US" sz="2100" i="1">
                                  <a:solidFill>
                                    <a:srgbClr val="287673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en-US" sz="2100" i="0">
                                  <a:solidFill>
                                    <a:srgbClr val="287673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2100" i="1">
                                      <a:solidFill>
                                        <a:srgbClr val="28767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100" i="1">
                                      <a:solidFill>
                                        <a:srgbClr val="287673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solidFill>
                                        <a:srgbClr val="287673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100" dirty="0">
                              <a:solidFill>
                                <a:srgbClr val="287673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✓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1852216"/>
              <a:ext cx="10566400" cy="914400"/>
            </p:xfrm>
            <a:graphic>
              <a:graphicData uri="http://schemas.openxmlformats.org/drawingml/2006/table">
                <a:tbl>
                  <a:tblPr/>
                  <a:tblGrid>
                    <a:gridCol w="5494536"/>
                    <a:gridCol w="2324596"/>
                    <a:gridCol w="2747268"/>
                  </a:tblGrid>
                  <a:tr h="4381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Approach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Time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Operations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46125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Try every start cell and every sequence of moves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O(N · 2^M)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C8373A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✗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429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Simulate layer by layer, scan cells one by one to find each region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O(N · M)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C8373A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 × 10¹⁰ ✗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429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"Robot carries the max" + </a:t>
                          </a: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Sparse Table</a:t>
                          </a: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max + </a:t>
                          </a: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Binary Search</a:t>
                          </a: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for region ends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O((N + M) log N)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287673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≈ 7 × 10⁶ ✓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2"/>
              <p:cNvSpPr txBox="1"/>
              <p:nvPr/>
            </p:nvSpPr>
            <p:spPr>
              <a:xfrm>
                <a:off x="812800" y="4703366"/>
                <a:ext cx="11200384" cy="9001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375"/>
                  </a:lnSpc>
                  <a:buNone/>
                </a:pPr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The key observation removes the swaps; Sparse Table + Binary Search find each region in </a:t>
                </a:r>
                <a14:m>
                  <m:oMath xmlns:m="http://schemas.openxmlformats.org/officeDocument/2006/math">
                    <m:r>
                      <a:rPr lang="en-US" sz="2250" b="1" i="1">
                        <a:solidFill>
                          <a:srgbClr val="0A4054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250" b="1" i="0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250" b="1" i="0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2250" b="1" i="1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250" dirty="0"/>
              </a:p>
            </p:txBody>
          </p:sp>
        </mc:Choice>
        <mc:Fallback xmlns="">
          <p:sp>
            <p:nvSpPr>
              <p:cNvPr id="5" name="Text 2"/>
              <p:cNvSpPr txBox="1"/>
              <p:nvPr/>
            </p:nvSpPr>
            <p:spPr>
              <a:xfrm>
                <a:off x="812800" y="4703366"/>
                <a:ext cx="11200384" cy="9001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375"/>
                  </a:lnSpc>
                  <a:buNone/>
                </a:pPr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The key observation removes the swaps; Sparse Table + Binary Search find each region in O(log N).</a:t>
                </a:r>
                <a:endParaRPr lang="en-US" sz="2250" dirty="0"/>
              </a:p>
            </p:txBody>
          </p:sp>
        </mc:Fallback>
      </mc:AlternateContent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659235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kern="0" spc="15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 AIO PROBLEM 6</a:t>
            </a:r>
            <a:endParaRPr lang="en-US" sz="195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2167235"/>
            <a:ext cx="11200384" cy="904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270"/>
              </a:lnSpc>
              <a:buNone/>
            </a:pPr>
            <a:r>
              <a:rPr lang="en-US" sz="5700" b="1" kern="0" spc="1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 UMBRELLAS</a:t>
            </a:r>
            <a:endParaRPr lang="en-US" sz="5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2"/>
              <p:cNvSpPr txBox="1"/>
              <p:nvPr/>
            </p:nvSpPr>
            <p:spPr>
              <a:xfrm>
                <a:off x="812800" y="3192066"/>
                <a:ext cx="8077200" cy="79787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060"/>
                  </a:lnSpc>
                  <a:buNone/>
                </a:pPr>
                <a:r>
                  <a:rPr lang="en-US" sz="255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Place </a:t>
                </a:r>
                <a14:m>
                  <m:oMath xmlns:m="http://schemas.openxmlformats.org/officeDocument/2006/math">
                    <m:r>
                      <a:rPr lang="en-US" sz="255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55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new umbrellas to make the longest possible stretch of shaded beach.</a:t>
                </a:r>
                <a:endParaRPr lang="en-US" sz="2550" dirty="0"/>
              </a:p>
            </p:txBody>
          </p:sp>
        </mc:Choice>
        <mc:Fallback xmlns="">
          <p:sp>
            <p:nvSpPr>
              <p:cNvPr id="5" name="Text 2"/>
              <p:cNvSpPr txBox="1"/>
              <p:nvPr/>
            </p:nvSpPr>
            <p:spPr>
              <a:xfrm>
                <a:off x="812800" y="3192066"/>
                <a:ext cx="8077200" cy="79787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060"/>
                  </a:lnSpc>
                  <a:buNone/>
                </a:pPr>
                <a:r>
                  <a:rPr lang="en-US" sz="255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Place K new umbrellas to make the longest possible stretch of shaded beach.</a:t>
                </a:r>
                <a:endParaRPr lang="en-US" sz="2550" dirty="0"/>
              </a:p>
            </p:txBody>
          </p:sp>
        </mc:Fallback>
      </mc:AlternateContent>
      <p:sp>
        <p:nvSpPr>
          <p:cNvPr id="6" name="Shape 3"/>
          <p:cNvSpPr/>
          <p:nvPr/>
        </p:nvSpPr>
        <p:spPr>
          <a:xfrm>
            <a:off x="812800" y="4169966"/>
            <a:ext cx="2064445" cy="457200"/>
          </a:xfrm>
          <a:prstGeom prst="roundRect">
            <a:avLst>
              <a:gd name="adj" fmla="val 50000"/>
            </a:avLst>
          </a:prstGeom>
          <a:solidFill>
            <a:srgbClr val="DFE8EC"/>
          </a:solidFill>
          <a:ln w="12700">
            <a:solidFill>
              <a:srgbClr val="0A405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812800" y="4169966"/>
            <a:ext cx="206444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2991545" y="4169966"/>
            <a:ext cx="3363516" cy="457200"/>
          </a:xfrm>
          <a:prstGeom prst="roundRect">
            <a:avLst>
              <a:gd name="adj" fmla="val 50000"/>
            </a:avLst>
          </a:prstGeom>
          <a:solidFill>
            <a:srgbClr val="FCE7E5"/>
          </a:solidFill>
          <a:ln w="12700">
            <a:solidFill>
              <a:srgbClr val="E46F6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2991545" y="4169966"/>
            <a:ext cx="33635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subtask 2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812800" y="4741466"/>
            <a:ext cx="3405485" cy="457200"/>
          </a:xfrm>
          <a:prstGeom prst="roundRect">
            <a:avLst>
              <a:gd name="adj" fmla="val 50000"/>
            </a:avLst>
          </a:prstGeom>
          <a:solidFill>
            <a:srgbClr val="F6F7F7"/>
          </a:solidFill>
          <a:ln w="12700">
            <a:solidFill>
              <a:srgbClr val="5D667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 txBox="1"/>
          <p:nvPr/>
        </p:nvSpPr>
        <p:spPr>
          <a:xfrm>
            <a:off x="812800" y="4741466"/>
            <a:ext cx="340548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Binary Lifting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reading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4332585" y="4741466"/>
            <a:ext cx="163443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 txBox="1"/>
          <p:nvPr/>
        </p:nvSpPr>
        <p:spPr>
          <a:xfrm>
            <a:off x="4332585" y="4741466"/>
            <a:ext cx="163443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6081316" y="4741466"/>
            <a:ext cx="200531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2"/>
          <p:cNvSpPr txBox="1"/>
          <p:nvPr/>
        </p:nvSpPr>
        <p:spPr>
          <a:xfrm>
            <a:off x="6081316" y="4741466"/>
            <a:ext cx="200531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endParaRPr lang="en-US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 UMBRELLAS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1200384" cy="5181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 beach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cells (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up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).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umbrellas already shade some intervals.</a:t>
                </a:r>
                <a:endParaRPr lang="en-US" sz="2400" dirty="0"/>
              </a:p>
            </p:txBody>
          </p:sp>
        </mc:Choice>
        <mc:Fallback xmlns="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1200384" cy="5181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 beach of N cells (N up to 10⁹). U umbrellas already shade some intervals.</a:t>
                </a:r>
                <a:endParaRPr lang="en-US" sz="24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 txBox="1"/>
              <p:nvPr/>
            </p:nvSpPr>
            <p:spPr>
              <a:xfrm>
                <a:off x="812800" y="2515096"/>
                <a:ext cx="11200384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You have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new umbrellas. Each shades up to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consecutive cells, anywhere inside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400" dirty="0"/>
              </a:p>
            </p:txBody>
          </p:sp>
        </mc:Choice>
        <mc:Fallback xmlns="">
          <p:sp>
            <p:nvSpPr>
              <p:cNvPr id="5" name="Text 3"/>
              <p:cNvSpPr txBox="1"/>
              <p:nvPr/>
            </p:nvSpPr>
            <p:spPr>
              <a:xfrm>
                <a:off x="812800" y="2515096"/>
                <a:ext cx="11200384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You have K new umbrellas. Each shades up to X consecutive cells, anywhere inside [1, N].</a:t>
                </a:r>
                <a:endParaRPr lang="en-US" sz="2400" dirty="0"/>
              </a:p>
            </p:txBody>
          </p:sp>
        </mc:Fallback>
      </mc:AlternateContent>
      <p:sp>
        <p:nvSpPr>
          <p:cNvPr id="6" name="Text 4"/>
          <p:cNvSpPr txBox="1"/>
          <p:nvPr/>
        </p:nvSpPr>
        <p:spPr>
          <a:xfrm>
            <a:off x="812800" y="3599557"/>
            <a:ext cx="11200384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Maximise the length of the longest run of shaded cells.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12800" y="4275138"/>
            <a:ext cx="10566400" cy="1162050"/>
          </a:xfrm>
          <a:prstGeom prst="roundRect">
            <a:avLst>
              <a:gd name="adj" fmla="val 4372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812800" y="4275138"/>
            <a:ext cx="50800" cy="1162050"/>
          </a:xfrm>
          <a:prstGeom prst="rect">
            <a:avLst/>
          </a:prstGeom>
          <a:solidFill>
            <a:srgbClr val="0A405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 txBox="1"/>
          <p:nvPr/>
        </p:nvSpPr>
        <p:spPr>
          <a:xfrm>
            <a:off x="1092200" y="4427538"/>
            <a:ext cx="1066190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step: sort and merge overlapping or touching intervals into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empty runs between them are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 UMBRELLAS · A TEMPTING WRONG IDEA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EACH GAP SEPARATELY?</a:t>
            </a:r>
            <a:endParaRPr lang="en-US" sz="3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852216"/>
                <a:ext cx="11200384" cy="9286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488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Idea: gap of length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costs </a:t>
                </a:r>
                <a14:m>
                  <m:oMath xmlns:m="http://schemas.openxmlformats.org/officeDocument/2006/math"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⌈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⌉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umbrellas; pick consecutive blocks whose gaps cost </a:t>
                </a:r>
                <a14:m>
                  <m:oMath xmlns:m="http://schemas.openxmlformats.org/officeDocument/2006/math"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in total (two pointers).</a:t>
                </a:r>
                <a:endParaRPr lang="en-US" sz="2250" dirty="0"/>
              </a:p>
            </p:txBody>
          </p:sp>
        </mc:Choice>
        <mc:Fallback xmlns="">
          <p:sp>
            <p:nvSpPr>
              <p:cNvPr id="4" name="Text 2"/>
              <p:cNvSpPr txBox="1"/>
              <p:nvPr/>
            </p:nvSpPr>
            <p:spPr>
              <a:xfrm>
                <a:off x="812800" y="1852216"/>
                <a:ext cx="11200384" cy="9286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488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Idea: gap of length g costs ⌈g / X⌉ umbrellas; pick consecutive blocks whose gaps cost ≤ K in total (two pointers).</a:t>
                </a:r>
                <a:endParaRPr lang="en-US" sz="225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 txBox="1"/>
              <p:nvPr/>
            </p:nvSpPr>
            <p:spPr>
              <a:xfrm>
                <a:off x="812800" y="2915841"/>
                <a:ext cx="11200384" cy="3730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700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Sample 2: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Expected answer 8.</a:t>
                </a:r>
                <a:endParaRPr lang="en-US" sz="2250" dirty="0"/>
              </a:p>
            </p:txBody>
          </p:sp>
        </mc:Choice>
        <mc:Fallback xmlns="">
          <p:sp>
            <p:nvSpPr>
              <p:cNvPr id="5" name="Text 3"/>
              <p:cNvSpPr txBox="1"/>
              <p:nvPr/>
            </p:nvSpPr>
            <p:spPr>
              <a:xfrm>
                <a:off x="812800" y="2915841"/>
                <a:ext cx="11200384" cy="3730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700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Sample 2: N = 12, K = 2, X = 3. Expected answer 8.</a:t>
                </a:r>
                <a:endParaRPr lang="en-US" sz="2250" dirty="0"/>
              </a:p>
            </p:txBody>
          </p:sp>
        </mc:Fallback>
      </mc:AlternateContent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3423841"/>
          <a:ext cx="10566404" cy="1358900"/>
        </p:xfrm>
        <a:graphic>
          <a:graphicData uri="http://schemas.openxmlformats.org/drawingml/2006/table">
            <a:tbl>
              <a:tblPr/>
              <a:tblGrid>
                <a:gridCol w="799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9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9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90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90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90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90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90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3615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0271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13645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1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1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1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1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1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12800" y="4922441"/>
            <a:ext cx="11200384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umbrella can reach over a block and close two gaps at once.</a:t>
            </a:r>
            <a:endParaRPr lang="en-US" sz="2250" dirty="0"/>
          </a:p>
        </p:txBody>
      </p:sp>
      <p:sp>
        <p:nvSpPr>
          <p:cNvPr id="8" name="Text 5"/>
          <p:cNvSpPr txBox="1"/>
          <p:nvPr/>
        </p:nvSpPr>
        <p:spPr>
          <a:xfrm>
            <a:off x="2413000" y="4356100"/>
            <a:ext cx="800100" cy="370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U1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3206750" y="4356100"/>
            <a:ext cx="800100" cy="370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U1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4006850" y="4356100"/>
            <a:ext cx="800100" cy="370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U1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6407150" y="4356100"/>
            <a:ext cx="800100" cy="370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U2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7207250" y="4356100"/>
            <a:ext cx="800100" cy="370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U2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4356100"/>
            <a:ext cx="1136650" cy="370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U2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 UMBRELLAS · GREEDY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1"/>
              <p:cNvSpPr txBox="1"/>
              <p:nvPr/>
            </p:nvSpPr>
            <p:spPr>
              <a:xfrm>
                <a:off x="812800" y="11303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4485"/>
                  </a:lnSpc>
                  <a:buNone/>
                </a:pPr>
                <a:r>
                  <a:rPr lang="en-US" sz="39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FIX THE LEFT END </a:t>
                </a:r>
                <a14:m>
                  <m:oMath xmlns:m="http://schemas.openxmlformats.org/officeDocument/2006/math">
                    <m:r>
                      <a:rPr lang="en-US" sz="39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endParaRPr lang="en-US" sz="3900" dirty="0"/>
              </a:p>
            </p:txBody>
          </p:sp>
        </mc:Choice>
        <mc:Fallback xmlns="">
          <p:sp>
            <p:nvSpPr>
              <p:cNvPr id="3" name="Text 1"/>
              <p:cNvSpPr txBox="1"/>
              <p:nvPr/>
            </p:nvSpPr>
            <p:spPr>
              <a:xfrm>
                <a:off x="812800" y="11303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4485"/>
                  </a:lnSpc>
                  <a:buNone/>
                </a:pPr>
                <a:r>
                  <a:rPr lang="en-US" sz="3900" b="1" spc="100" kern="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FIX THE LEFT END L</a:t>
                </a:r>
                <a:endParaRPr lang="en-US" sz="39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1200384" cy="5181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1.</a:t>
                </a: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Walk right from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skipping shaded cells.</a:t>
                </a:r>
                <a:endParaRPr lang="en-US" sz="2400" dirty="0"/>
              </a:p>
            </p:txBody>
          </p:sp>
        </mc:Choice>
        <mc:Fallback xmlns="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1200384" cy="5181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720"/>
                  </a:lnSpc>
                  <a:buNone/>
                </a:pPr>
                <a:r>
                  <a:rPr lang="en-US" sz="24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1.</a:t>
                </a: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Walk right from l, skipping shaded cells.</a:t>
                </a:r>
                <a:endParaRPr lang="en-US" sz="24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 txBox="1"/>
              <p:nvPr/>
            </p:nvSpPr>
            <p:spPr>
              <a:xfrm>
                <a:off x="812800" y="2515096"/>
                <a:ext cx="11200384" cy="5181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2.</a:t>
                </a: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At the first unshaded cell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put an umbrella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400" dirty="0"/>
              </a:p>
            </p:txBody>
          </p:sp>
        </mc:Choice>
        <mc:Fallback xmlns="">
          <p:sp>
            <p:nvSpPr>
              <p:cNvPr id="5" name="Text 3"/>
              <p:cNvSpPr txBox="1"/>
              <p:nvPr/>
            </p:nvSpPr>
            <p:spPr>
              <a:xfrm>
                <a:off x="812800" y="2515096"/>
                <a:ext cx="11200384" cy="5181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720"/>
                  </a:lnSpc>
                  <a:buNone/>
                </a:pPr>
                <a:r>
                  <a:rPr lang="en-US" sz="24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2.</a:t>
                </a: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At the first unshaded cell u, put an umbrella on [u, u + X − 1].</a:t>
                </a:r>
                <a:endParaRPr lang="en-US" sz="2400" dirty="0"/>
              </a:p>
            </p:txBody>
          </p:sp>
        </mc:Fallback>
      </mc:AlternateContent>
      <p:sp>
        <p:nvSpPr>
          <p:cNvPr id="6" name="Text 4"/>
          <p:cNvSpPr txBox="1"/>
          <p:nvPr/>
        </p:nvSpPr>
        <p:spPr>
          <a:xfrm>
            <a:off x="812800" y="3127177"/>
            <a:ext cx="11200384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Repeat until the umbrellas run out; stop at the next unshaded cell.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 txBox="1"/>
              <p:nvPr/>
            </p:nvSpPr>
            <p:spPr>
              <a:xfrm>
                <a:off x="812800" y="3802757"/>
                <a:ext cx="11200384" cy="9286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488"/>
                  </a:lnSpc>
                  <a:buNone/>
                </a:pPr>
                <a:r>
                  <a:rPr lang="en-US" sz="225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Why start the umbrella exactly at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25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? Further left only shades cells we already have; further right leaves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25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unshaded.</a:t>
                </a:r>
                <a:endParaRPr lang="en-US" sz="2250" dirty="0"/>
              </a:p>
            </p:txBody>
          </p:sp>
        </mc:Choice>
        <mc:Fallback xmlns="">
          <p:sp>
            <p:nvSpPr>
              <p:cNvPr id="7" name="Text 5"/>
              <p:cNvSpPr txBox="1"/>
              <p:nvPr/>
            </p:nvSpPr>
            <p:spPr>
              <a:xfrm>
                <a:off x="812800" y="3802757"/>
                <a:ext cx="11200384" cy="9286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488"/>
                  </a:lnSpc>
                  <a:buNone/>
                </a:pPr>
                <a:r>
                  <a:rPr lang="en-US" sz="225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Why start the umbrella exactly at u? Further left only shades cells we already have; further right leaves u unshaded.</a:t>
                </a:r>
                <a:endParaRPr lang="en-US" sz="225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 txBox="1"/>
              <p:nvPr/>
            </p:nvSpPr>
            <p:spPr>
              <a:xfrm>
                <a:off x="812800" y="4891782"/>
                <a:ext cx="11200384" cy="3730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700"/>
                  </a:lnSpc>
                  <a:buNone/>
                </a:pPr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Try every </a:t>
                </a:r>
                <a14:m>
                  <m:oMath xmlns:m="http://schemas.openxmlformats.org/officeDocument/2006/math">
                    <m:r>
                      <a:rPr lang="en-US" sz="2250" b="1" i="1">
                        <a:solidFill>
                          <a:srgbClr val="0A4054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250" b="1" i="1">
                        <a:solidFill>
                          <a:srgbClr val="0A4054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250" b="1" i="1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50" b="1" i="1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250" b="1" i="0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sz="2250" b="1" i="1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</m:oMath>
                </a14:m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Good for small subtasks and as a brute force.</a:t>
                </a:r>
                <a:endParaRPr lang="en-US" sz="2250" dirty="0"/>
              </a:p>
            </p:txBody>
          </p:sp>
        </mc:Choice>
        <mc:Fallback xmlns="">
          <p:sp>
            <p:nvSpPr>
              <p:cNvPr id="8" name="Text 6"/>
              <p:cNvSpPr txBox="1"/>
              <p:nvPr/>
            </p:nvSpPr>
            <p:spPr>
              <a:xfrm>
                <a:off x="812800" y="4891782"/>
                <a:ext cx="11200384" cy="3730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700"/>
                  </a:lnSpc>
                  <a:buNone/>
                </a:pPr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Try every l: O(N · K). Good for small subtasks and as a brute force.</a:t>
                </a:r>
                <a:endParaRPr lang="en-US" sz="2250" dirty="0"/>
              </a:p>
            </p:txBody>
          </p:sp>
        </mc:Fallback>
      </mc:AlternateContent>
      <p:sp>
        <p:nvSpPr>
          <p:cNvPr id="9" name="Shape 7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 UMBRELLAS · WORK IT BY HAND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1"/>
              <p:cNvSpPr txBox="1"/>
              <p:nvPr/>
            </p:nvSpPr>
            <p:spPr>
              <a:xfrm>
                <a:off x="812800" y="11049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4485"/>
                  </a:lnSpc>
                  <a:buNone/>
                </a:pPr>
                <a:r>
                  <a:rPr lang="en-US" sz="39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WHERE SHOULD </a:t>
                </a:r>
                <a14:m>
                  <m:oMath xmlns:m="http://schemas.openxmlformats.org/officeDocument/2006/math">
                    <m:r>
                      <a:rPr lang="en-US" sz="39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39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BE?</a:t>
                </a:r>
                <a:endParaRPr lang="en-US" sz="3900" dirty="0"/>
              </a:p>
            </p:txBody>
          </p:sp>
        </mc:Choice>
        <mc:Fallback xmlns="">
          <p:sp>
            <p:nvSpPr>
              <p:cNvPr id="3" name="Text 1"/>
              <p:cNvSpPr txBox="1"/>
              <p:nvPr/>
            </p:nvSpPr>
            <p:spPr>
              <a:xfrm>
                <a:off x="812800" y="11049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4485"/>
                  </a:lnSpc>
                  <a:buNone/>
                </a:pPr>
                <a:r>
                  <a:rPr lang="en-US" sz="3900" b="1" spc="100" kern="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WHERE SHOULD L BE?</a:t>
                </a:r>
                <a:endParaRPr lang="en-US" sz="39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852216"/>
                <a:ext cx="11200384" cy="3730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7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one block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250" dirty="0"/>
              </a:p>
            </p:txBody>
          </p:sp>
        </mc:Choice>
        <mc:Fallback xmlns="">
          <p:sp>
            <p:nvSpPr>
              <p:cNvPr id="4" name="Text 2"/>
              <p:cNvSpPr txBox="1"/>
              <p:nvPr/>
            </p:nvSpPr>
            <p:spPr>
              <a:xfrm>
                <a:off x="812800" y="1852216"/>
                <a:ext cx="11200384" cy="3730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700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N = 10, X = 2, K = 3, one block [4, 5].</a:t>
                </a:r>
                <a:endParaRPr lang="en-US" sz="2250" dirty="0"/>
              </a:p>
            </p:txBody>
          </p:sp>
        </mc:Fallback>
      </mc:AlternateContent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360216"/>
          <a:ext cx="10566398" cy="908050"/>
        </p:xfrm>
        <a:graphic>
          <a:graphicData uri="http://schemas.openxmlformats.org/drawingml/2006/table">
            <a:tbl>
              <a:tblPr/>
              <a:tblGrid>
                <a:gridCol w="1013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38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38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38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38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38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38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38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381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420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1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1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5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04022671"/>
                  </p:ext>
                </p:extLst>
              </p:nvPr>
            </p:nvGraphicFramePr>
            <p:xfrm>
              <a:off x="812800" y="3420666"/>
              <a:ext cx="10566400" cy="1911350"/>
            </p:xfrm>
            <a:graphic>
              <a:graphicData uri="http://schemas.openxmlformats.org/drawingml/2006/table">
                <a:tbl>
                  <a:tblPr/>
                  <a:tblGrid>
                    <a:gridCol w="253593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49443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53603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63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Left end </a:t>
                          </a:r>
                          <a14:m>
                            <m:oMath xmlns:m="http://schemas.openxmlformats.org/officeDocument/2006/math">
                              <m:r>
                                <a:rPr lang="en-US" sz="2250" b="1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oMath>
                          </a14:m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Umbrellas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Length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672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 (block start)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63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63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Best?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5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04022671"/>
                  </p:ext>
                </p:extLst>
              </p:nvPr>
            </p:nvGraphicFramePr>
            <p:xfrm>
              <a:off x="812800" y="3420666"/>
              <a:ext cx="10566400" cy="1911350"/>
            </p:xfrm>
            <a:graphic>
              <a:graphicData uri="http://schemas.openxmlformats.org/drawingml/2006/table">
                <a:tbl>
                  <a:tblPr/>
                  <a:tblGrid>
                    <a:gridCol w="253593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49443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53603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82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0" t="-5263" r="-316500" b="-32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Umbrellas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Length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762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 (block start)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762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762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Best?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 3"/>
          <p:cNvSpPr txBox="1"/>
          <p:nvPr/>
        </p:nvSpPr>
        <p:spPr>
          <a:xfrm>
            <a:off x="3346450" y="3956050"/>
            <a:ext cx="54927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6–7, 8–9, 10</a:t>
            </a:r>
            <a:endParaRPr lang="en-US" sz="2250" dirty="0"/>
          </a:p>
        </p:txBody>
      </p:sp>
      <p:sp>
        <p:nvSpPr>
          <p:cNvPr id="8" name="Text 4"/>
          <p:cNvSpPr txBox="1"/>
          <p:nvPr/>
        </p:nvSpPr>
        <p:spPr>
          <a:xfrm>
            <a:off x="8845550" y="3956050"/>
            <a:ext cx="25336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50" dirty="0"/>
          </a:p>
        </p:txBody>
      </p:sp>
      <p:sp>
        <p:nvSpPr>
          <p:cNvPr id="9" name="Text 5"/>
          <p:cNvSpPr txBox="1"/>
          <p:nvPr/>
        </p:nvSpPr>
        <p:spPr>
          <a:xfrm>
            <a:off x="3346450" y="4419600"/>
            <a:ext cx="54927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1–2, 3, 6–7</a:t>
            </a:r>
            <a:endParaRPr lang="en-US" sz="2250" dirty="0"/>
          </a:p>
        </p:txBody>
      </p:sp>
      <p:sp>
        <p:nvSpPr>
          <p:cNvPr id="10" name="Text 6"/>
          <p:cNvSpPr txBox="1"/>
          <p:nvPr/>
        </p:nvSpPr>
        <p:spPr>
          <a:xfrm>
            <a:off x="8845550" y="4419600"/>
            <a:ext cx="25336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50" dirty="0"/>
          </a:p>
        </p:txBody>
      </p:sp>
      <p:sp>
        <p:nvSpPr>
          <p:cNvPr id="11" name="Text 7"/>
          <p:cNvSpPr txBox="1"/>
          <p:nvPr/>
        </p:nvSpPr>
        <p:spPr>
          <a:xfrm>
            <a:off x="3346450" y="4883150"/>
            <a:ext cx="54927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2–3, 6–7, 8–9</a:t>
            </a:r>
            <a:endParaRPr lang="en-US" sz="2250" dirty="0"/>
          </a:p>
        </p:txBody>
      </p:sp>
      <p:sp>
        <p:nvSpPr>
          <p:cNvPr id="12" name="Text 8"/>
          <p:cNvSpPr txBox="1"/>
          <p:nvPr/>
        </p:nvSpPr>
        <p:spPr>
          <a:xfrm>
            <a:off x="8845550" y="4883150"/>
            <a:ext cx="25336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50" dirty="0"/>
          </a:p>
        </p:txBody>
      </p:sp>
      <p:sp>
        <p:nvSpPr>
          <p:cNvPr id="13" name="Text 9"/>
          <p:cNvSpPr txBox="1"/>
          <p:nvPr/>
        </p:nvSpPr>
        <p:spPr>
          <a:xfrm>
            <a:off x="1828800" y="2851150"/>
            <a:ext cx="1016000" cy="370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2838450" y="2851150"/>
            <a:ext cx="1016000" cy="370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2100" dirty="0"/>
          </a:p>
        </p:txBody>
      </p:sp>
      <p:sp>
        <p:nvSpPr>
          <p:cNvPr id="15" name="Text 11"/>
          <p:cNvSpPr txBox="1"/>
          <p:nvPr/>
        </p:nvSpPr>
        <p:spPr>
          <a:xfrm>
            <a:off x="5880100" y="2851150"/>
            <a:ext cx="1016000" cy="370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6896100" y="2851150"/>
            <a:ext cx="1016000" cy="370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2100" dirty="0"/>
          </a:p>
        </p:txBody>
      </p:sp>
      <p:sp>
        <p:nvSpPr>
          <p:cNvPr id="17" name="Text 13"/>
          <p:cNvSpPr txBox="1"/>
          <p:nvPr/>
        </p:nvSpPr>
        <p:spPr>
          <a:xfrm>
            <a:off x="7912100" y="2851150"/>
            <a:ext cx="1016000" cy="370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8921750" y="2851150"/>
            <a:ext cx="1016000" cy="370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2100" dirty="0"/>
          </a:p>
        </p:txBody>
      </p:sp>
      <p:sp>
        <p:nvSpPr>
          <p:cNvPr id="19" name="Shape 1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 UMBRELLAS · EXCHANGE ARGUMENT 1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LEFT UNTIL YOU TOUCH A BLOCK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a best answer that starts with a run of new umbrellas.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 txBox="1"/>
              <p:nvPr/>
            </p:nvSpPr>
            <p:spPr>
              <a:xfrm>
                <a:off x="812800" y="2515096"/>
                <a:ext cx="11200384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If that run does not end exactly at the start of a block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shift the whole run one cell left: the shaded length grows by 1. Contradiction.</a:t>
                </a:r>
                <a:endParaRPr lang="en-US" sz="2400" dirty="0"/>
              </a:p>
            </p:txBody>
          </p:sp>
        </mc:Choice>
        <mc:Fallback xmlns="">
          <p:sp>
            <p:nvSpPr>
              <p:cNvPr id="5" name="Text 3"/>
              <p:cNvSpPr txBox="1"/>
              <p:nvPr/>
            </p:nvSpPr>
            <p:spPr>
              <a:xfrm>
                <a:off x="812800" y="2515096"/>
                <a:ext cx="11200384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If that run does not end exactly at the start of a block B, shift the whole run one cell left: the shaded length grows by 1. Contradiction.</a:t>
                </a:r>
                <a:endParaRPr lang="en-US" sz="2400" dirty="0"/>
              </a:p>
            </p:txBody>
          </p:sp>
        </mc:Fallback>
      </mc:AlternateContent>
      <p:sp>
        <p:nvSpPr>
          <p:cNvPr id="6" name="Shape 4"/>
          <p:cNvSpPr/>
          <p:nvPr/>
        </p:nvSpPr>
        <p:spPr>
          <a:xfrm>
            <a:off x="812800" y="3663057"/>
            <a:ext cx="10566400" cy="1225550"/>
          </a:xfrm>
          <a:prstGeom prst="roundRect">
            <a:avLst>
              <a:gd name="adj" fmla="val 4145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812800" y="3663057"/>
            <a:ext cx="50800" cy="1225550"/>
          </a:xfrm>
          <a:prstGeom prst="rect">
            <a:avLst/>
          </a:prstGeom>
          <a:solidFill>
            <a:srgbClr val="0A405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 txBox="1"/>
          <p:nvPr/>
        </p:nvSpPr>
        <p:spPr>
          <a:xfrm>
            <a:off x="1092200" y="3815457"/>
            <a:ext cx="10661904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best left end is one of:</a:t>
            </a:r>
            <a:endParaRPr lang="en-US" sz="22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 txBox="1"/>
              <p:nvPr/>
            </p:nvSpPr>
            <p:spPr>
              <a:xfrm>
                <a:off x="1092200" y="4307582"/>
                <a:ext cx="10661904" cy="4714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375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　·　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st</m:t>
                        </m:r>
                      </m:e>
                      <m:sub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　·　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st</m:t>
                        </m:r>
                      </m:e>
                      <m:sub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　(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umbrellas placed left of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)</a:t>
                </a:r>
                <a:endParaRPr lang="en-US" sz="2250" dirty="0"/>
              </a:p>
            </p:txBody>
          </p:sp>
        </mc:Choice>
        <mc:Fallback xmlns="">
          <p:sp>
            <p:nvSpPr>
              <p:cNvPr id="9" name="Text 7"/>
              <p:cNvSpPr txBox="1"/>
              <p:nvPr/>
            </p:nvSpPr>
            <p:spPr>
              <a:xfrm>
                <a:off x="1092200" y="4307582"/>
                <a:ext cx="10661904" cy="4714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375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l = 1　·　l = st[B]　·　l = st[B] − i·X　(i umbrellas placed left of B)</a:t>
                </a:r>
                <a:endParaRPr lang="en-US" sz="225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 txBox="1"/>
              <p:nvPr/>
            </p:nvSpPr>
            <p:spPr>
              <a:xfrm>
                <a:off x="812800" y="5091807"/>
                <a:ext cx="11200384" cy="3448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520"/>
                  </a:lnSpc>
                  <a:buNone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Subtask 4 (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): try all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sz="2100" i="0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</m:oMath>
                </a14:m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candidates, run the greedy from each.</a:t>
                </a:r>
                <a:endParaRPr lang="en-US" sz="2100" dirty="0"/>
              </a:p>
            </p:txBody>
          </p:sp>
        </mc:Choice>
        <mc:Fallback xmlns="">
          <p:sp>
            <p:nvSpPr>
              <p:cNvPr id="10" name="Text 8"/>
              <p:cNvSpPr txBox="1"/>
              <p:nvPr/>
            </p:nvSpPr>
            <p:spPr>
              <a:xfrm>
                <a:off x="812800" y="5091807"/>
                <a:ext cx="11200384" cy="3448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520"/>
                  </a:lnSpc>
                  <a:buNone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Subtask 4 (K ≤ 5): try all O(U · K) candidates, run the greedy from each.</a:t>
                </a:r>
                <a:endParaRPr lang="en-US" sz="2100" dirty="0"/>
              </a:p>
            </p:txBody>
          </p:sp>
        </mc:Fallback>
      </mc:AlternateContent>
      <p:sp>
        <p:nvSpPr>
          <p:cNvPr id="11" name="Shape 9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 UMBRELLAS · EXCHANGE ARGUMENT 2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25"/>
              </a:lnSpc>
              <a:buNone/>
            </a:pPr>
            <a:r>
              <a:rPr lang="en-US" sz="35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SIDE FIRST, UNLESS THE BEACH ENDS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812800" y="1844675"/>
            <a:ext cx="5156200" cy="1606550"/>
          </a:xfrm>
          <a:prstGeom prst="roundRect">
            <a:avLst>
              <a:gd name="adj" fmla="val 3162"/>
            </a:avLst>
          </a:prstGeom>
          <a:noFill/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812800" y="1844675"/>
            <a:ext cx="63500" cy="1606550"/>
          </a:xfrm>
          <a:prstGeom prst="rect">
            <a:avLst/>
          </a:prstGeom>
          <a:solidFill>
            <a:srgbClr val="0A405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 txBox="1"/>
          <p:nvPr/>
        </p:nvSpPr>
        <p:spPr>
          <a:xfrm>
            <a:off x="1079500" y="2028825"/>
            <a:ext cx="4960747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more on the right</a:t>
            </a:r>
            <a:endParaRPr lang="en-US" sz="25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 txBox="1"/>
              <p:nvPr/>
            </p:nvSpPr>
            <p:spPr>
              <a:xfrm>
                <a:off x="1079500" y="2466975"/>
                <a:ext cx="4960747" cy="8401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150"/>
                  </a:lnSpc>
                  <a:buNone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Grows the run by </a:t>
                </a:r>
                <a:r>
                  <a:rPr lang="en-US" sz="2100" b="1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at least</a:t>
                </a: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(it may also join the next block)</a:t>
                </a:r>
                <a:endParaRPr lang="en-US" sz="2100" dirty="0"/>
              </a:p>
            </p:txBody>
          </p:sp>
        </mc:Choice>
        <mc:Fallback xmlns="">
          <p:sp>
            <p:nvSpPr>
              <p:cNvPr id="7" name="Text 5"/>
              <p:cNvSpPr txBox="1"/>
              <p:nvPr/>
            </p:nvSpPr>
            <p:spPr>
              <a:xfrm>
                <a:off x="1079500" y="2466975"/>
                <a:ext cx="4960747" cy="8401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150"/>
                  </a:lnSpc>
                  <a:buNone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Grows the run by </a:t>
                </a:r>
                <a:r>
                  <a:rPr lang="en-US" sz="2100" b="1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at least</a:t>
                </a: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X (it may also join the next block)</a:t>
                </a:r>
                <a:endParaRPr lang="en-US" sz="2100" dirty="0"/>
              </a:p>
            </p:txBody>
          </p:sp>
        </mc:Fallback>
      </mc:AlternateContent>
      <p:sp>
        <p:nvSpPr>
          <p:cNvPr id="8" name="Shape 6"/>
          <p:cNvSpPr/>
          <p:nvPr/>
        </p:nvSpPr>
        <p:spPr>
          <a:xfrm>
            <a:off x="6223000" y="1844675"/>
            <a:ext cx="5156200" cy="1606550"/>
          </a:xfrm>
          <a:prstGeom prst="roundRect">
            <a:avLst>
              <a:gd name="adj" fmla="val 3162"/>
            </a:avLst>
          </a:prstGeom>
          <a:noFill/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6223000" y="1844675"/>
            <a:ext cx="63500" cy="1606550"/>
          </a:xfrm>
          <a:prstGeom prst="rect">
            <a:avLst/>
          </a:prstGeom>
          <a:solidFill>
            <a:srgbClr val="3E9A9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 txBox="1"/>
          <p:nvPr/>
        </p:nvSpPr>
        <p:spPr>
          <a:xfrm>
            <a:off x="6489700" y="2028825"/>
            <a:ext cx="4960747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more on the left</a:t>
            </a:r>
            <a:endParaRPr lang="en-US" sz="25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9"/>
              <p:cNvSpPr txBox="1"/>
              <p:nvPr/>
            </p:nvSpPr>
            <p:spPr>
              <a:xfrm>
                <a:off x="6489700" y="2466975"/>
                <a:ext cx="4960747" cy="44005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150"/>
                  </a:lnSpc>
                  <a:buNone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Grows the run by </a:t>
                </a:r>
                <a:r>
                  <a:rPr lang="en-US" sz="2100" b="1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exactly</a:t>
                </a: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sz="2100" dirty="0"/>
              </a:p>
            </p:txBody>
          </p:sp>
        </mc:Choice>
        <mc:Fallback xmlns="">
          <p:sp>
            <p:nvSpPr>
              <p:cNvPr id="11" name="Text 9"/>
              <p:cNvSpPr txBox="1"/>
              <p:nvPr/>
            </p:nvSpPr>
            <p:spPr>
              <a:xfrm>
                <a:off x="6489700" y="2466975"/>
                <a:ext cx="4960747" cy="44005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150"/>
                  </a:lnSpc>
                  <a:buNone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Grows the run by </a:t>
                </a:r>
                <a:r>
                  <a:rPr lang="en-US" sz="2100" b="1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exactly</a:t>
                </a: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X</a:t>
                </a:r>
                <a:endParaRPr lang="en-US" sz="21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/>
              <p:cNvSpPr txBox="1"/>
              <p:nvPr/>
            </p:nvSpPr>
            <p:spPr>
              <a:xfrm>
                <a:off x="812800" y="3654425"/>
                <a:ext cx="11200384" cy="9286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488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For each block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only two plans: right side uses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umbrellas (just enough to reach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) and the rest go left; or right uses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and left gets one more.</a:t>
                </a:r>
                <a:endParaRPr lang="en-US" sz="2250" dirty="0"/>
              </a:p>
            </p:txBody>
          </p:sp>
        </mc:Choice>
        <mc:Fallback xmlns="">
          <p:sp>
            <p:nvSpPr>
              <p:cNvPr id="12" name="Text 10"/>
              <p:cNvSpPr txBox="1"/>
              <p:nvPr/>
            </p:nvSpPr>
            <p:spPr>
              <a:xfrm>
                <a:off x="812800" y="3654425"/>
                <a:ext cx="11200384" cy="9286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488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For each block B, only two plans: right side uses j* umbrellas (just enough to reach N) and the rest go left; or right uses j* − 1 and left gets one more.</a:t>
                </a:r>
                <a:endParaRPr lang="en-US" sz="2250" dirty="0"/>
              </a:p>
            </p:txBody>
          </p:sp>
        </mc:Fallback>
      </mc:AlternateContent>
      <p:sp>
        <p:nvSpPr>
          <p:cNvPr id="13" name="Shape 11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 UMBRELLAS · FULL SOLUTION (READING)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1"/>
              <p:cNvSpPr txBox="1"/>
              <p:nvPr/>
            </p:nvSpPr>
            <p:spPr>
              <a:xfrm>
                <a:off x="812800" y="11303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4485"/>
                  </a:lnSpc>
                  <a:buNone/>
                </a:pPr>
                <a:r>
                  <a:rPr lang="en-US" sz="39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HOW FAR DO </a:t>
                </a:r>
                <a14:m>
                  <m:oMath xmlns:m="http://schemas.openxmlformats.org/officeDocument/2006/math">
                    <m:r>
                      <a:rPr lang="en-US" sz="39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39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UMBRELLAS GO?</a:t>
                </a:r>
                <a:endParaRPr lang="en-US" sz="3900" dirty="0"/>
              </a:p>
            </p:txBody>
          </p:sp>
        </mc:Choice>
        <mc:Fallback xmlns="">
          <p:sp>
            <p:nvSpPr>
              <p:cNvPr id="3" name="Text 1"/>
              <p:cNvSpPr txBox="1"/>
              <p:nvPr/>
            </p:nvSpPr>
            <p:spPr>
              <a:xfrm>
                <a:off x="812800" y="11303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4485"/>
                  </a:lnSpc>
                  <a:buNone/>
                </a:pPr>
                <a:r>
                  <a:rPr lang="en-US" sz="3900" b="1" spc="100" kern="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HOW FAR DO J UMBRELLAS GO?</a:t>
                </a:r>
                <a:endParaRPr lang="en-US" sz="39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1094720" cy="338613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371475" indent="-371475">
                  <a:lnSpc>
                    <a:spcPts val="3713"/>
                  </a:lnSpc>
                  <a:buSzPct val="100000"/>
                  <a:buFont typeface="+mj-lt"/>
                  <a:buAutoNum type="arabicPeriod"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From a gap start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umbrellas sit at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until one lands inside a block.</a:t>
                </a:r>
                <a:endParaRPr lang="en-US" sz="2250" dirty="0"/>
              </a:p>
              <a:p>
                <a:pPr marL="371475" indent="-371475">
                  <a:lnSpc>
                    <a:spcPts val="3713"/>
                  </a:lnSpc>
                  <a:buSzPct val="100000"/>
                  <a:buFont typeface="+mj-lt"/>
                  <a:buAutoNum type="arabicPeriod"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"First block hit" = first block to the right that contains a cell </a:t>
                </a:r>
                <a14:m>
                  <m:oMath xmlns:m="http://schemas.openxmlformats.org/officeDocument/2006/math"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 (</m:t>
                    </m:r>
                    <m:r>
                      <m:rPr>
                        <m:sty m:val="p"/>
                      </m:rP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250" dirty="0"/>
              </a:p>
              <a:p>
                <a:pPr marL="371475" indent="-371475">
                  <a:lnSpc>
                    <a:spcPts val="3713"/>
                  </a:lnSpc>
                  <a:buSzPct val="100000"/>
                  <a:buFont typeface="+mj-lt"/>
                  <a:buAutoNum type="arabicPeriod"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Jump past that block to the next gap start. This builds a </a:t>
                </a:r>
                <a:r>
                  <a:rPr lang="en-US" sz="22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jump graph</a:t>
                </a: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gap start → next gap start, with a cost in umbrellas.</a:t>
                </a:r>
                <a:endParaRPr lang="en-US" sz="2250" dirty="0"/>
              </a:p>
              <a:p>
                <a:pPr marL="371475" indent="-371475">
                  <a:lnSpc>
                    <a:spcPts val="3713"/>
                  </a:lnSpc>
                  <a:buSzPct val="100000"/>
                  <a:buFont typeface="+mj-lt"/>
                  <a:buAutoNum type="arabicPeriod"/>
                </a:pPr>
                <a:r>
                  <a:rPr lang="en-US" sz="22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Binary lifting</a:t>
                </a: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store the target and cost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jumps, then answer "where do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umbrellas reach?" in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250" dirty="0"/>
              </a:p>
            </p:txBody>
          </p:sp>
        </mc:Choice>
        <mc:Fallback xmlns="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1094720" cy="338613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371475" indent="-371475">
                  <a:lnSpc>
                    <a:spcPts val="3713"/>
                  </a:lnSpc>
                  <a:buSzPct val="100000"/>
                  <a:buFont typeface="+mj-lt"/>
                  <a:buAutoNum type="arabicPeriod" startAt="1"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From a gap start a, umbrellas sit at a, a + X, a + 2X, … until one lands inside a block.</a:t>
                </a:r>
                <a:endParaRPr lang="en-US" sz="2250" dirty="0"/>
              </a:p>
              <a:p>
                <a:pPr marL="371475" indent="-371475">
                  <a:lnSpc>
                    <a:spcPts val="3713"/>
                  </a:lnSpc>
                  <a:buSzPct val="100000"/>
                  <a:buFont typeface="+mj-lt"/>
                  <a:buAutoNum type="arabicPeriod" startAt="1"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"First block hit" = first block to the right that contains a cell ≡ a (mod X).</a:t>
                </a:r>
                <a:endParaRPr lang="en-US" sz="2250" dirty="0"/>
              </a:p>
              <a:p>
                <a:pPr marL="371475" indent="-371475">
                  <a:lnSpc>
                    <a:spcPts val="3713"/>
                  </a:lnSpc>
                  <a:buSzPct val="100000"/>
                  <a:buFont typeface="+mj-lt"/>
                  <a:buAutoNum type="arabicPeriod" startAt="1"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Jump past that block to the next gap start. This builds a </a:t>
                </a:r>
                <a:r>
                  <a:rPr lang="en-US" sz="22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jump graph</a:t>
                </a: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gap start → next gap start, with a cost in umbrellas.</a:t>
                </a:r>
                <a:endParaRPr lang="en-US" sz="2250" dirty="0"/>
              </a:p>
              <a:p>
                <a:pPr marL="371475" indent="-371475">
                  <a:lnSpc>
                    <a:spcPts val="3713"/>
                  </a:lnSpc>
                  <a:buSzPct val="100000"/>
                  <a:buFont typeface="+mj-lt"/>
                  <a:buAutoNum type="arabicPeriod" startAt="1"/>
                </a:pPr>
                <a:r>
                  <a:rPr lang="en-US" sz="22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Binary lifting</a:t>
                </a: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store the target and cost of 2^p jumps, then answer "where do j umbrellas reach?" in O(log U).</a:t>
                </a:r>
                <a:endParaRPr lang="en-US" sz="225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 txBox="1"/>
              <p:nvPr/>
            </p:nvSpPr>
            <p:spPr>
              <a:xfrm>
                <a:off x="812800" y="5406628"/>
                <a:ext cx="11200384" cy="3448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520"/>
                  </a:lnSpc>
                  <a:buNone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Total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m:rPr>
                            <m:sty m:val="p"/>
                          </m:rPr>
                          <a:rPr lang="en-US" sz="2100" i="0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</m:oMath>
                </a14:m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whatever the sizes of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100" dirty="0"/>
              </a:p>
            </p:txBody>
          </p:sp>
        </mc:Choice>
        <mc:Fallback xmlns="">
          <p:sp>
            <p:nvSpPr>
              <p:cNvPr id="5" name="Text 3"/>
              <p:cNvSpPr txBox="1"/>
              <p:nvPr/>
            </p:nvSpPr>
            <p:spPr>
              <a:xfrm>
                <a:off x="812800" y="5406628"/>
                <a:ext cx="11200384" cy="3448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520"/>
                  </a:lnSpc>
                  <a:buNone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Total O(U log U), whatever the sizes of N and K.</a:t>
                </a:r>
                <a:endParaRPr lang="en-US" sz="2100" dirty="0"/>
              </a:p>
            </p:txBody>
          </p:sp>
        </mc:Fallback>
      </mc:AlternateContent>
      <p:sp>
        <p:nvSpPr>
          <p:cNvPr id="6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 UMBRELLAS · SCORING ROUTE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SUBTASK LADDER</a:t>
            </a:r>
            <a:endParaRPr lang="en-US" sz="39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0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7594343"/>
                  </p:ext>
                </p:extLst>
              </p:nvPr>
            </p:nvGraphicFramePr>
            <p:xfrm>
              <a:off x="812800" y="1903016"/>
              <a:ext cx="10566399" cy="3663950"/>
            </p:xfrm>
            <a:graphic>
              <a:graphicData uri="http://schemas.openxmlformats.org/drawingml/2006/table">
                <a:tbl>
                  <a:tblPr/>
                  <a:tblGrid>
                    <a:gridCol w="126791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9058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64919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95870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381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Subtask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Condition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Idea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Technique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41325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sz="210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sz="2100" i="0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10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Merge intervals, longest block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Sort + merge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42950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sz="210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2100" i="0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10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Gap cost = gap length; window of blocks with total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Two Pointers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42950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sz="210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sz="2100" i="0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10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Try one umbrella at each side of each gap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Enumeration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42950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sz="210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sz="2100" i="0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sz="210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Candidate left ends + greedy from each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Greedy</a:t>
                          </a: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+ exchange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38150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5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Full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Jump graph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Binary lifting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0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7594343"/>
                  </p:ext>
                </p:extLst>
              </p:nvPr>
            </p:nvGraphicFramePr>
            <p:xfrm>
              <a:off x="812800" y="1903016"/>
              <a:ext cx="10566399" cy="3663950"/>
            </p:xfrm>
            <a:graphic>
              <a:graphicData uri="http://schemas.openxmlformats.org/drawingml/2006/table">
                <a:tbl>
                  <a:tblPr/>
                  <a:tblGrid>
                    <a:gridCol w="126791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9058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64919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95870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Subtask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Condition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Idea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Technique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0850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5940" t="-102778" r="-451128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Merge intervals, longest block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Sort + merge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68350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5940" t="-119672" r="-451128" b="-268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934" t="-119672" r="-63934" b="-268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Two Pointers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68350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5940" t="-219672" r="-451128" b="-168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Try one umbrella at each side of each gap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Enumeration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68350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5940" t="-325000" r="-451128" b="-7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Candidate left ends + greedy from each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Greedy</a:t>
                          </a: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+ exchange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0850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5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Full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Jump graph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Binary lifting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 UMBRELLAS · COMPLEXITY RECAP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1"/>
              <p:cNvSpPr txBox="1"/>
              <p:nvPr/>
            </p:nvSpPr>
            <p:spPr>
              <a:xfrm>
                <a:off x="812800" y="11049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4485"/>
                  </a:lnSpc>
                  <a:buNone/>
                </a:pPr>
                <a:r>
                  <a:rPr lang="en-US" sz="39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FROM </a:t>
                </a:r>
                <a14:m>
                  <m:oMath xmlns:m="http://schemas.openxmlformats.org/officeDocument/2006/math">
                    <m:r>
                      <a:rPr lang="en-US" sz="39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3900" b="1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</m:oMath>
                </a14:m>
                <a:r>
                  <a:rPr lang="en-US" sz="39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39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m:rPr>
                            <m:sty m:val="p"/>
                          </m:rPr>
                          <a:rPr lang="en-US" sz="3900" b="1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</m:oMath>
                </a14:m>
                <a:endParaRPr lang="en-US" sz="3900" dirty="0"/>
              </a:p>
            </p:txBody>
          </p:sp>
        </mc:Choice>
        <mc:Fallback xmlns="">
          <p:sp>
            <p:nvSpPr>
              <p:cNvPr id="3" name="Text 1"/>
              <p:cNvSpPr txBox="1"/>
              <p:nvPr/>
            </p:nvSpPr>
            <p:spPr>
              <a:xfrm>
                <a:off x="812800" y="11049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4485"/>
                  </a:lnSpc>
                  <a:buNone/>
                </a:pPr>
                <a:r>
                  <a:rPr lang="en-US" sz="3900" b="1" spc="100" kern="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FROM O(N · K) TO O(U LOG U)</a:t>
                </a:r>
                <a:endParaRPr lang="en-US" sz="390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3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4802055"/>
                  </p:ext>
                </p:extLst>
              </p:nvPr>
            </p:nvGraphicFramePr>
            <p:xfrm>
              <a:off x="812800" y="1852216"/>
              <a:ext cx="10566400" cy="2762250"/>
            </p:xfrm>
            <a:graphic>
              <a:graphicData uri="http://schemas.openxmlformats.org/drawingml/2006/table">
                <a:tbl>
                  <a:tblPr/>
                  <a:tblGrid>
                    <a:gridCol w="549453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2459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4726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381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Approach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Time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Operations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4612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Try every left end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oMath>
                          </a14:m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, place umbrellas greedily one at a time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100" b="1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sz="2100" b="1" i="0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100" i="1">
                                      <a:solidFill>
                                        <a:srgbClr val="C8373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100" i="1">
                                      <a:solidFill>
                                        <a:srgbClr val="C8373A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solidFill>
                                        <a:srgbClr val="C8373A"/>
                                      </a:solidFill>
                                      <a:latin typeface="Cambria Math" panose="02040503050406030204" pitchFamily="18" charset="0"/>
                                    </a:rPr>
                                    <m:t>18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100" dirty="0">
                              <a:solidFill>
                                <a:srgbClr val="C8373A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✗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493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Only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1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1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  <m:r>
                                    <a:rPr lang="en-US" sz="2100" i="0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sz="21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candidate left ends, greedy from each (subtask 4,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sz="210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oMath>
                          </a14:m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)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100" b="1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  <m:r>
                                      <a:rPr lang="en-US" sz="2100" b="1" i="0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sSup>
                                      <m:sSupPr>
                                        <m:ctrlPr>
                                          <a:rPr lang="en-US" sz="2100" b="1" i="1">
                                            <a:solidFill>
                                              <a:srgbClr val="1F232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100" b="1" i="1">
                                            <a:solidFill>
                                              <a:srgbClr val="1F232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p>
                                        <m:r>
                                          <a:rPr lang="en-US" sz="2100" b="1" i="1">
                                            <a:solidFill>
                                              <a:srgbClr val="1F232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100" i="0">
                                  <a:solidFill>
                                    <a:srgbClr val="287673"/>
                                  </a:solidFill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  <m:r>
                                <a:rPr lang="en-US" sz="2100" i="1">
                                  <a:solidFill>
                                    <a:srgbClr val="287673"/>
                                  </a:solidFill>
                                  <a:latin typeface="Cambria Math" panose="02040503050406030204" pitchFamily="18" charset="0"/>
                                </a:rPr>
                                <m:t>2.5</m:t>
                              </m:r>
                              <m:r>
                                <a:rPr lang="en-US" sz="2100" i="0">
                                  <a:solidFill>
                                    <a:srgbClr val="287673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2100" i="1">
                                      <a:solidFill>
                                        <a:srgbClr val="28767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100" i="1">
                                      <a:solidFill>
                                        <a:srgbClr val="287673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solidFill>
                                        <a:srgbClr val="287673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100" dirty="0">
                              <a:solidFill>
                                <a:srgbClr val="287673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✓ (small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287673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r>
                            <a:rPr lang="en-US" sz="2100" dirty="0">
                              <a:solidFill>
                                <a:srgbClr val="287673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only)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429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Greedy</a:t>
                          </a: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jumps gap to gap + </a:t>
                          </a: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binary lifting</a:t>
                          </a: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over the jump graph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100" b="1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100" b="1" i="0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  <m: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100" i="0">
                                  <a:solidFill>
                                    <a:srgbClr val="287673"/>
                                  </a:solidFill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  <m:r>
                                <a:rPr lang="en-US" sz="2100" i="1">
                                  <a:solidFill>
                                    <a:srgbClr val="287673"/>
                                  </a:solidFill>
                                  <a:latin typeface="Cambria Math" panose="02040503050406030204" pitchFamily="18" charset="0"/>
                                </a:rPr>
                                <m:t>1.7</m:t>
                              </m:r>
                              <m:r>
                                <a:rPr lang="en-US" sz="2100" i="0">
                                  <a:solidFill>
                                    <a:srgbClr val="287673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2100" i="1">
                                      <a:solidFill>
                                        <a:srgbClr val="28767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100" i="1">
                                      <a:solidFill>
                                        <a:srgbClr val="287673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solidFill>
                                        <a:srgbClr val="287673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100" dirty="0">
                              <a:solidFill>
                                <a:srgbClr val="287673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✓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3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4802055"/>
                  </p:ext>
                </p:extLst>
              </p:nvPr>
            </p:nvGraphicFramePr>
            <p:xfrm>
              <a:off x="812800" y="1852216"/>
              <a:ext cx="10566400" cy="2762250"/>
            </p:xfrm>
            <a:graphic>
              <a:graphicData uri="http://schemas.openxmlformats.org/drawingml/2006/table">
                <a:tbl>
                  <a:tblPr/>
                  <a:tblGrid>
                    <a:gridCol w="549453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2459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4726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Approach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Time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Operations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683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" t="-60656" r="-92379" b="-2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7158" t="-60656" r="-118579" b="-2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5648" t="-60656" r="-463" b="-2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683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" t="-160656" r="-92379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7158" t="-160656" r="-118579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5648" t="-160656" r="-463" b="-1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683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Greedy</a:t>
                          </a: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jumps gap to gap + </a:t>
                          </a: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binary lifting</a:t>
                          </a: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over the jump graph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7158" t="-260656" r="-118579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5648" t="-260656" r="-463" b="-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2"/>
              <p:cNvSpPr txBox="1"/>
              <p:nvPr/>
            </p:nvSpPr>
            <p:spPr>
              <a:xfrm>
                <a:off x="812800" y="4709716"/>
                <a:ext cx="11200384" cy="9001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375"/>
                  </a:lnSpc>
                  <a:buNone/>
                </a:pPr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Greedy fixes how to place umbrellas from a left end; binary lifting answers "how far do </a:t>
                </a:r>
                <a14:m>
                  <m:oMath xmlns:m="http://schemas.openxmlformats.org/officeDocument/2006/math">
                    <m:r>
                      <a:rPr lang="en-US" sz="2250" b="1" i="1">
                        <a:solidFill>
                          <a:srgbClr val="0A4054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umbrellas go?" in </a:t>
                </a:r>
                <a14:m>
                  <m:oMath xmlns:m="http://schemas.openxmlformats.org/officeDocument/2006/math">
                    <m:r>
                      <a:rPr lang="en-US" sz="2250" b="1" i="1">
                        <a:solidFill>
                          <a:srgbClr val="0A4054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250" b="1" i="0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250" b="1" i="0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2250" b="1" i="1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</m:oMath>
                </a14:m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250" dirty="0"/>
              </a:p>
            </p:txBody>
          </p:sp>
        </mc:Choice>
        <mc:Fallback xmlns="">
          <p:sp>
            <p:nvSpPr>
              <p:cNvPr id="5" name="Text 2"/>
              <p:cNvSpPr txBox="1"/>
              <p:nvPr/>
            </p:nvSpPr>
            <p:spPr>
              <a:xfrm>
                <a:off x="812800" y="4709716"/>
                <a:ext cx="11200384" cy="9001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375"/>
                  </a:lnSpc>
                  <a:buNone/>
                </a:pPr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Greedy fixes how to place umbrellas from a left end; binary lifting answers "how far do j umbrellas go?" in O(log U).</a:t>
                </a:r>
                <a:endParaRPr lang="en-US" sz="2250" dirty="0"/>
              </a:p>
            </p:txBody>
          </p:sp>
        </mc:Fallback>
      </mc:AlternateContent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EF3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8A5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CODING · 20 MINUTES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LADYBUGS II</a:t>
            </a:r>
            <a:endParaRPr lang="en-US" sz="3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1094720" cy="202882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371475" indent="-371475">
                  <a:lnSpc>
                    <a:spcPts val="3825"/>
                  </a:lnSpc>
                  <a:buSzPct val="100000"/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version first: try every window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time</m:t>
                    </m:r>
                    <m:d>
                      <m:dPr>
                        <m:ctrlP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This is your brute force.</a:t>
                </a:r>
                <a:endParaRPr lang="en-US" sz="2250" dirty="0"/>
              </a:p>
              <a:p>
                <a:pPr marL="371475" indent="-371475">
                  <a:lnSpc>
                    <a:spcPts val="3825"/>
                  </a:lnSpc>
                  <a:buSzPct val="100000"/>
                  <a:buFont typeface="+mj-lt"/>
                  <a:buAutoNum type="arabicPeriod"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Build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and two Sparse Tables (min) with a qmin function.</a:t>
                </a:r>
                <a:endParaRPr lang="en-US" sz="2250" dirty="0"/>
              </a:p>
              <a:p>
                <a:pPr marL="371475" indent="-371475">
                  <a:lnSpc>
                    <a:spcPts val="3825"/>
                  </a:lnSpc>
                  <a:buSzPct val="100000"/>
                  <a:buFont typeface="+mj-lt"/>
                  <a:buAutoNum type="arabicPeriod"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For each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binary search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then the three cases.</a:t>
                </a:r>
                <a:endParaRPr lang="en-US" sz="2250" dirty="0"/>
              </a:p>
              <a:p>
                <a:pPr marL="371475" indent="-371475">
                  <a:lnSpc>
                    <a:spcPts val="3825"/>
                  </a:lnSpc>
                  <a:buSzPct val="100000"/>
                  <a:buFont typeface="+mj-lt"/>
                  <a:buAutoNum type="arabicPeriod"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Test sample 1: expect 4 3 4. Compare with step 1 on random small data.</a:t>
                </a:r>
                <a:endParaRPr lang="en-US" sz="2250" dirty="0"/>
              </a:p>
            </p:txBody>
          </p:sp>
        </mc:Choice>
        <mc:Fallback xmlns="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1094720" cy="202882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371475" indent="-371475">
                  <a:lnSpc>
                    <a:spcPts val="3825"/>
                  </a:lnSpc>
                  <a:buSzPct val="100000"/>
                  <a:buFont typeface="+mj-lt"/>
                  <a:buAutoNum type="arabicPeriod" startAt="1"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Q = 1 version first: try every window with time(l). This is your brute force.</a:t>
                </a:r>
                <a:endParaRPr lang="en-US" sz="2250" dirty="0"/>
              </a:p>
              <a:p>
                <a:pPr marL="371475" indent="-371475">
                  <a:lnSpc>
                    <a:spcPts val="3825"/>
                  </a:lnSpc>
                  <a:buSzPct val="100000"/>
                  <a:buFont typeface="+mj-lt"/>
                  <a:buAutoNum type="arabicPeriod" startAt="1"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Build f1, f2 and two Sparse Tables (min) with a qmin function.</a:t>
                </a:r>
                <a:endParaRPr lang="en-US" sz="2250" dirty="0"/>
              </a:p>
              <a:p>
                <a:pPr marL="371475" indent="-371475">
                  <a:lnSpc>
                    <a:spcPts val="3825"/>
                  </a:lnSpc>
                  <a:buSzPct val="100000"/>
                  <a:buFont typeface="+mj-lt"/>
                  <a:buAutoNum type="arabicPeriod" startAt="1"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For each D: binary search s, then the three cases.</a:t>
                </a:r>
                <a:endParaRPr lang="en-US" sz="2250" dirty="0"/>
              </a:p>
              <a:p>
                <a:pPr marL="371475" indent="-371475">
                  <a:lnSpc>
                    <a:spcPts val="3825"/>
                  </a:lnSpc>
                  <a:buSzPct val="100000"/>
                  <a:buFont typeface="+mj-lt"/>
                  <a:buAutoNum type="arabicPeriod" startAt="1"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Test sample 1: expect 4 3 4. Compare with step 1 on random small data.</a:t>
                </a:r>
                <a:endParaRPr lang="en-US" sz="225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 txBox="1"/>
              <p:nvPr/>
            </p:nvSpPr>
            <p:spPr>
              <a:xfrm>
                <a:off x="812800" y="4049316"/>
                <a:ext cx="11200384" cy="3448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520"/>
                  </a:lnSpc>
                  <a:buNone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Finished early? Write extendLeft for Robot Writing and test it on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2 3 1 2 3.</a:t>
                </a:r>
                <a:endParaRPr lang="en-US" sz="2100" dirty="0"/>
              </a:p>
            </p:txBody>
          </p:sp>
        </mc:Choice>
        <mc:Fallback xmlns="">
          <p:sp>
            <p:nvSpPr>
              <p:cNvPr id="5" name="Text 3"/>
              <p:cNvSpPr txBox="1"/>
              <p:nvPr/>
            </p:nvSpPr>
            <p:spPr>
              <a:xfrm>
                <a:off x="812800" y="4049316"/>
                <a:ext cx="11200384" cy="3448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520"/>
                  </a:lnSpc>
                  <a:buNone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Finished early? Write extendLeft for Robot Writing and test it on T = 2 3 1 2 3.</a:t>
                </a:r>
                <a:endParaRPr lang="en-US" sz="2100" dirty="0"/>
              </a:p>
            </p:txBody>
          </p:sp>
        </mc:Fallback>
      </mc:AlternateContent>
      <p:sp>
        <p:nvSpPr>
          <p:cNvPr id="6" name="Text 4"/>
          <p:cNvSpPr txBox="1"/>
          <p:nvPr/>
        </p:nvSpPr>
        <p:spPr>
          <a:xfrm>
            <a:off x="812800" y="4557316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Submit: </a:t>
            </a:r>
            <a:r>
              <a:rPr lang="en-US" sz="1950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orac2.info/problem/210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09600"/>
            <a:ext cx="11200384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RECAP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996950"/>
            <a:ext cx="11200384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38"/>
              </a:lnSpc>
              <a:buNone/>
            </a:pPr>
            <a:r>
              <a:rPr lang="en-US" sz="325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TWELVE PROBLEMS, FOUR TECHNIQUES</a:t>
            </a:r>
            <a:endParaRPr lang="en-US" sz="32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2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1624013"/>
              <a:ext cx="10566399" cy="4876800"/>
            </p:xfrm>
            <a:graphic>
              <a:graphicData uri="http://schemas.openxmlformats.org/drawingml/2006/table">
                <a:tbl>
                  <a:tblPr/>
                  <a:tblGrid>
                    <a:gridCol w="253593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792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8492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8492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47925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90212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Problem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Prefix Sum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Binary Search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Two Pointers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Greedy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Extra idea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147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Spaceship Shuffle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median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circle → line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Tennis Robot II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one round, ÷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Twin Rivers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bridges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2nd difference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Laser Cutter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optional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staircase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Space Mission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prefix min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build monotone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Lollipops II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counting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sum filter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Mundane Square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level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oMath>
                          </a14:m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water level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Wheeling and Dealing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buckets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try every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Prime Minister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right half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water level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Ladybugs II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windows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Sparse Table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Robot Writing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region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Sparse Table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Beach Umbrellas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subtask 2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Binary Lifting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2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1624013"/>
              <a:ext cx="10566400" cy="914400"/>
            </p:xfrm>
            <a:graphic>
              <a:graphicData uri="http://schemas.openxmlformats.org/drawingml/2006/table">
                <a:tbl>
                  <a:tblPr/>
                  <a:tblGrid>
                    <a:gridCol w="2535932"/>
                    <a:gridCol w="1479252"/>
                    <a:gridCol w="1584920"/>
                    <a:gridCol w="1584920"/>
                    <a:gridCol w="1479252"/>
                    <a:gridCol w="1902123"/>
                  </a:tblGrid>
                  <a:tr h="36830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Problem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Prefix Sum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Binary Search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Two Pointers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Greedy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Extra idea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1475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Spaceship Shuffle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median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circle → line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Tennis Robot II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one round, ÷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Twin Rivers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bridges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2nd difference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Laser Cutter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optional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staircase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Space Mission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prefix min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build monotone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Lollipops II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counting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sum filter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Mundane Square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level λ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water level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Wheeling and Dealing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buckets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try every k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Prime Minister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right half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water level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Ladybugs II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windows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Sparse Table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Robot Writing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region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Sparse Table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Beach Umbrellas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subtask 2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Binary Lifting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COURSE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094720" cy="2028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Ladybugs II: full program · </a:t>
            </a:r>
            <a:r>
              <a:rPr lang="en-US" sz="2250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orac2.info/problem/210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Writing: subtasks 1–4, then the full solution · </a:t>
            </a:r>
            <a:r>
              <a:rPr lang="en-US" sz="2250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orac2.info/problem/1620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 Umbrellas: subtasks 1–4 · </a:t>
            </a:r>
            <a:r>
              <a:rPr lang="en-US" sz="2250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orac2.info/problem/238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reading: Yet Another Lights (parity puzzle) · </a:t>
            </a:r>
            <a:r>
              <a:rPr lang="en-US" sz="2250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orac2.info/problem/1300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4049316"/>
            <a:ext cx="11200384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 problem: write the brute force first and keep it for stress testing.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TOOL · SPARSE TABLE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0795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25"/>
              </a:lnSpc>
              <a:buNone/>
            </a:pPr>
            <a:r>
              <a:rPr lang="en-US" sz="35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PROBLEMS, ONE IDEA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812800" y="1743075"/>
            <a:ext cx="3403600" cy="2465983"/>
          </a:xfrm>
          <a:prstGeom prst="roundRect">
            <a:avLst>
              <a:gd name="adj" fmla="val 3090"/>
            </a:avLst>
          </a:prstGeom>
          <a:noFill/>
          <a:ln w="12700">
            <a:solidFill>
              <a:srgbClr val="DADD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7900" y="1882775"/>
            <a:ext cx="3257804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Ladybugs II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77900" y="2206625"/>
            <a:ext cx="3257804" cy="221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range-min queries</a:t>
            </a:r>
            <a:endParaRPr lang="en-US" sz="13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5"/>
              <p:cNvSpPr txBox="1"/>
              <p:nvPr/>
            </p:nvSpPr>
            <p:spPr>
              <a:xfrm>
                <a:off x="977900" y="2479675"/>
                <a:ext cx="3257804" cy="94908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20"/>
                  </a:lnSpc>
                  <a:buNone/>
                </a:pP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After pulling </a:t>
                </a:r>
                <a14:m>
                  <m:oMath xmlns:m="http://schemas.openxmlformats.org/officeDocument/2006/math"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out of the formula,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depend only on the window: a static array. Each of the </a:t>
                </a:r>
                <a14:m>
                  <m:oMath xmlns:m="http://schemas.openxmlformats.org/officeDocument/2006/math"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questions needs the min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over a range of </a:t>
                </a:r>
                <a14:m>
                  <m:oMath xmlns:m="http://schemas.openxmlformats.org/officeDocument/2006/math"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1300" dirty="0"/>
              </a:p>
            </p:txBody>
          </p:sp>
        </mc:Choice>
        <mc:Fallback>
          <p:sp>
            <p:nvSpPr>
              <p:cNvPr id="7" name="Text 5"/>
              <p:cNvSpPr txBox="1"/>
              <p:nvPr/>
            </p:nvSpPr>
            <p:spPr>
              <a:xfrm>
                <a:off x="977900" y="2479675"/>
                <a:ext cx="3257804" cy="94908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20"/>
                  </a:lnSpc>
                  <a:buNone/>
                </a:pP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After pulling D out of the formula, f1 and f2 depend only on the window: a static array. Each of the Q questions needs the min of f1, f2 over a range of l.</a:t>
                </a:r>
                <a:endParaRPr lang="en-US" sz="1300" dirty="0"/>
              </a:p>
            </p:txBody>
          </p:sp>
        </mc:Fallback>
      </mc:AlternateContent>
      <p:sp>
        <p:nvSpPr>
          <p:cNvPr id="8" name="Shape 6"/>
          <p:cNvSpPr/>
          <p:nvPr/>
        </p:nvSpPr>
        <p:spPr>
          <a:xfrm>
            <a:off x="977900" y="3480197"/>
            <a:ext cx="3257804" cy="589161"/>
          </a:xfrm>
          <a:prstGeom prst="roundRect">
            <a:avLst>
              <a:gd name="adj" fmla="val 8622"/>
            </a:avLst>
          </a:prstGeom>
          <a:solidFill>
            <a:srgbClr val="EEF3F6"/>
          </a:solidFill>
          <a:ln/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7"/>
              <p:cNvSpPr txBox="1"/>
              <p:nvPr/>
            </p:nvSpPr>
            <p:spPr>
              <a:xfrm>
                <a:off x="1079500" y="3543697"/>
                <a:ext cx="3054604" cy="48692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20"/>
                  </a:lnSpc>
                  <a:buNone/>
                </a:pP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Binary search </a:t>
                </a:r>
                <a14:m>
                  <m:oMath xmlns:m="http://schemas.openxmlformats.org/officeDocument/2006/math"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then two </a:t>
                </a:r>
                <a14:m>
                  <m:oMath xmlns:m="http://schemas.openxmlformats.org/officeDocument/2006/math"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lookups.</a:t>
                </a:r>
                <a:endParaRPr lang="en-US" sz="1300" dirty="0"/>
              </a:p>
            </p:txBody>
          </p:sp>
        </mc:Choice>
        <mc:Fallback>
          <p:sp>
            <p:nvSpPr>
              <p:cNvPr id="9" name="Text 7"/>
              <p:cNvSpPr txBox="1"/>
              <p:nvPr/>
            </p:nvSpPr>
            <p:spPr>
              <a:xfrm>
                <a:off x="1079500" y="3543697"/>
                <a:ext cx="3054604" cy="48692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20"/>
                  </a:lnSpc>
                  <a:buNone/>
                </a:pP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Binary search D, then two O(1) lookups.</a:t>
                </a:r>
                <a:endParaRPr lang="en-US" sz="1300" dirty="0"/>
              </a:p>
            </p:txBody>
          </p:sp>
        </mc:Fallback>
      </mc:AlternateContent>
      <p:sp>
        <p:nvSpPr>
          <p:cNvPr id="10" name="Shape 8"/>
          <p:cNvSpPr/>
          <p:nvPr/>
        </p:nvSpPr>
        <p:spPr>
          <a:xfrm>
            <a:off x="4394200" y="1743075"/>
            <a:ext cx="3403600" cy="2465983"/>
          </a:xfrm>
          <a:prstGeom prst="roundRect">
            <a:avLst>
              <a:gd name="adj" fmla="val 3090"/>
            </a:avLst>
          </a:prstGeom>
          <a:noFill/>
          <a:ln w="12700">
            <a:solidFill>
              <a:srgbClr val="DADD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59300" y="1882775"/>
            <a:ext cx="3257804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Writing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59300" y="2206625"/>
            <a:ext cx="3257804" cy="221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+ range max</a:t>
            </a:r>
            <a:endParaRPr lang="en-US" sz="13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 11"/>
              <p:cNvSpPr txBox="1"/>
              <p:nvPr/>
            </p:nvSpPr>
            <p:spPr>
              <a:xfrm>
                <a:off x="4559300" y="2479675"/>
                <a:ext cx="3257804" cy="94908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20"/>
                  </a:lnSpc>
                  <a:buNone/>
                </a:pP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"How far left can the robot go with every 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3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?" is monotone in </a:t>
                </a:r>
                <a14:m>
                  <m:oMath xmlns:m="http://schemas.openxmlformats.org/officeDocument/2006/math"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so binary search it. Each step asks for the max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m:rPr>
                        <m:sty m:val="p"/>
                      </m:rPr>
                      <a:rPr lang="en-US" sz="13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13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US" sz="13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1300" dirty="0"/>
              </a:p>
            </p:txBody>
          </p:sp>
        </mc:Choice>
        <mc:Fallback>
          <p:sp>
            <p:nvSpPr>
              <p:cNvPr id="13" name="Text 11"/>
              <p:cNvSpPr txBox="1"/>
              <p:nvPr/>
            </p:nvSpPr>
            <p:spPr>
              <a:xfrm>
                <a:off x="4559300" y="2479675"/>
                <a:ext cx="3257804" cy="94908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20"/>
                  </a:lnSpc>
                  <a:buNone/>
                </a:pP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"How far left can the robot go with every value ≤ v?" is monotone in l, so binary search it. Each step asks for the max of T[l..p].</a:t>
                </a:r>
                <a:endParaRPr lang="en-US" sz="1300" dirty="0"/>
              </a:p>
            </p:txBody>
          </p:sp>
        </mc:Fallback>
      </mc:AlternateContent>
      <p:sp>
        <p:nvSpPr>
          <p:cNvPr id="14" name="Shape 12"/>
          <p:cNvSpPr/>
          <p:nvPr/>
        </p:nvSpPr>
        <p:spPr>
          <a:xfrm>
            <a:off x="4559300" y="3480197"/>
            <a:ext cx="3257804" cy="589161"/>
          </a:xfrm>
          <a:prstGeom prst="roundRect">
            <a:avLst>
              <a:gd name="adj" fmla="val 8622"/>
            </a:avLst>
          </a:prstGeom>
          <a:solidFill>
            <a:srgbClr val="EEF3F6"/>
          </a:solidFill>
          <a:ln/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13"/>
              <p:cNvSpPr txBox="1"/>
              <p:nvPr/>
            </p:nvSpPr>
            <p:spPr>
              <a:xfrm>
                <a:off x="4660900" y="3543697"/>
                <a:ext cx="3054604" cy="48692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2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rPr>
                            <m:sty m:val="p"/>
                          </m:rPr>
                          <a:rPr lang="en-US" sz="13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per extension instead of </a:t>
                </a:r>
                <a14:m>
                  <m:oMath xmlns:m="http://schemas.openxmlformats.org/officeDocument/2006/math"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1300" dirty="0"/>
              </a:p>
            </p:txBody>
          </p:sp>
        </mc:Choice>
        <mc:Fallback>
          <p:sp>
            <p:nvSpPr>
              <p:cNvPr id="15" name="Text 13"/>
              <p:cNvSpPr txBox="1"/>
              <p:nvPr/>
            </p:nvSpPr>
            <p:spPr>
              <a:xfrm>
                <a:off x="4660900" y="3543697"/>
                <a:ext cx="3054604" cy="48692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20"/>
                  </a:lnSpc>
                  <a:buNone/>
                </a:pP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O(log N) per extension instead of O(N).</a:t>
                </a:r>
                <a:endParaRPr lang="en-US" sz="1300" dirty="0"/>
              </a:p>
            </p:txBody>
          </p:sp>
        </mc:Fallback>
      </mc:AlternateContent>
      <p:sp>
        <p:nvSpPr>
          <p:cNvPr id="16" name="Shape 14"/>
          <p:cNvSpPr/>
          <p:nvPr/>
        </p:nvSpPr>
        <p:spPr>
          <a:xfrm>
            <a:off x="7975600" y="1743075"/>
            <a:ext cx="3403600" cy="2465983"/>
          </a:xfrm>
          <a:prstGeom prst="roundRect">
            <a:avLst>
              <a:gd name="adj" fmla="val 3090"/>
            </a:avLst>
          </a:prstGeom>
          <a:noFill/>
          <a:ln w="12700">
            <a:solidFill>
              <a:srgbClr val="DADD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40700" y="1882775"/>
            <a:ext cx="3257804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 Umbrellas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140700" y="2206625"/>
            <a:ext cx="3257804" cy="221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doubling idea: jumps</a:t>
            </a:r>
            <a:endParaRPr lang="en-US" sz="13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 17"/>
              <p:cNvSpPr txBox="1"/>
              <p:nvPr/>
            </p:nvSpPr>
            <p:spPr>
              <a:xfrm>
                <a:off x="8140700" y="2479675"/>
                <a:ext cx="3257804" cy="71800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20"/>
                  </a:lnSpc>
                  <a:buNone/>
                </a:pP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Store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jumps lead, not a range max (binary lifting). </a:t>
                </a:r>
                <a14:m>
                  <m:oMath xmlns:m="http://schemas.openxmlformats.org/officeDocument/2006/math"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can be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so we cannot jump one step at a time.</a:t>
                </a:r>
                <a:endParaRPr lang="en-US" sz="1300" dirty="0"/>
              </a:p>
            </p:txBody>
          </p:sp>
        </mc:Choice>
        <mc:Fallback>
          <p:sp>
            <p:nvSpPr>
              <p:cNvPr id="19" name="Text 17"/>
              <p:cNvSpPr txBox="1"/>
              <p:nvPr/>
            </p:nvSpPr>
            <p:spPr>
              <a:xfrm>
                <a:off x="8140700" y="2479675"/>
                <a:ext cx="3257804" cy="71800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20"/>
                  </a:lnSpc>
                  <a:buNone/>
                </a:pP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Store where 2^p jumps lead, not a range max (binary lifting). K can be 10⁹, so we cannot jump one step at a time.</a:t>
                </a:r>
                <a:endParaRPr lang="en-US" sz="1300" dirty="0"/>
              </a:p>
            </p:txBody>
          </p:sp>
        </mc:Fallback>
      </mc:AlternateContent>
      <p:sp>
        <p:nvSpPr>
          <p:cNvPr id="20" name="Shape 18"/>
          <p:cNvSpPr/>
          <p:nvPr/>
        </p:nvSpPr>
        <p:spPr>
          <a:xfrm>
            <a:off x="8140700" y="3249116"/>
            <a:ext cx="3257804" cy="358080"/>
          </a:xfrm>
          <a:prstGeom prst="roundRect">
            <a:avLst>
              <a:gd name="adj" fmla="val 14187"/>
            </a:avLst>
          </a:prstGeom>
          <a:solidFill>
            <a:srgbClr val="EEF3F6"/>
          </a:solidFill>
          <a:ln/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 19"/>
              <p:cNvSpPr txBox="1"/>
              <p:nvPr/>
            </p:nvSpPr>
            <p:spPr>
              <a:xfrm>
                <a:off x="8242300" y="3312616"/>
                <a:ext cx="3054604" cy="25584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20"/>
                  </a:lnSpc>
                  <a:buNone/>
                </a:pP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Write </a:t>
                </a:r>
                <a14:m>
                  <m:oMath xmlns:m="http://schemas.openxmlformats.org/officeDocument/2006/math"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in binary: at most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3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log</m:t>
                    </m:r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jumps.</a:t>
                </a:r>
                <a:endParaRPr lang="en-US" sz="1300" dirty="0"/>
              </a:p>
            </p:txBody>
          </p:sp>
        </mc:Choice>
        <mc:Fallback>
          <p:sp>
            <p:nvSpPr>
              <p:cNvPr id="21" name="Text 19"/>
              <p:cNvSpPr txBox="1"/>
              <p:nvPr/>
            </p:nvSpPr>
            <p:spPr>
              <a:xfrm>
                <a:off x="8242300" y="3312616"/>
                <a:ext cx="3054604" cy="25584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20"/>
                  </a:lnSpc>
                  <a:buNone/>
                </a:pP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Write j in binary: at most log jumps.</a:t>
                </a:r>
                <a:endParaRPr lang="en-US" sz="1300" dirty="0"/>
              </a:p>
            </p:txBody>
          </p:sp>
        </mc:Fallback>
      </mc:AlternateContent>
      <p:sp>
        <p:nvSpPr>
          <p:cNvPr id="22" name="Text 20"/>
          <p:cNvSpPr txBox="1"/>
          <p:nvPr/>
        </p:nvSpPr>
        <p:spPr>
          <a:xfrm>
            <a:off x="812800" y="4361458"/>
            <a:ext cx="1120038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common idea: store answers only for powers of 2, then build any question from a few of them.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TOOL · SPARSE TABLE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0795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25"/>
              </a:lnSpc>
              <a:buNone/>
            </a:pPr>
            <a:r>
              <a:rPr lang="en-US" sz="35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POWERS OF 2?</a:t>
            </a:r>
            <a:endParaRPr lang="en-US" sz="3500" dirty="0"/>
          </a:p>
        </p:txBody>
      </p:sp>
      <p:pic>
        <p:nvPicPr>
          <p:cNvPr id="4" name="Image 0" descr="Diagra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743075"/>
            <a:ext cx="5715000" cy="1905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2"/>
              <p:cNvSpPr txBox="1"/>
              <p:nvPr/>
            </p:nvSpPr>
            <p:spPr>
              <a:xfrm>
                <a:off x="812800" y="3736975"/>
                <a:ext cx="6057900" cy="52435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960"/>
                  </a:lnSpc>
                  <a:buNone/>
                </a:pPr>
                <a:r>
                  <a:rPr lang="en-US" sz="1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To cover length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1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with </a:t>
                </a:r>
                <a:r>
                  <a:rPr lang="en-US" sz="14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two</a:t>
                </a:r>
                <a:r>
                  <a:rPr lang="en-US" sz="1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equal blocks (one from each end), a block must be at least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US" sz="1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1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long.</a:t>
                </a:r>
                <a:endParaRPr lang="en-US" sz="1400" dirty="0"/>
              </a:p>
            </p:txBody>
          </p:sp>
        </mc:Choice>
        <mc:Fallback>
          <p:sp>
            <p:nvSpPr>
              <p:cNvPr id="5" name="Text 2"/>
              <p:cNvSpPr txBox="1"/>
              <p:nvPr/>
            </p:nvSpPr>
            <p:spPr>
              <a:xfrm>
                <a:off x="812800" y="3736975"/>
                <a:ext cx="6057900" cy="52435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960"/>
                  </a:lnSpc>
                  <a:buNone/>
                </a:pPr>
                <a:r>
                  <a:rPr lang="en-US" sz="1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To cover length L with </a:t>
                </a:r>
                <a:r>
                  <a:rPr lang="en-US" sz="14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two</a:t>
                </a:r>
                <a:r>
                  <a:rPr lang="en-US" sz="1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equal blocks (one from each end), a block must be at least L/2 long.</a:t>
                </a:r>
                <a:endParaRPr lang="en-US" sz="140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3"/>
              <p:cNvSpPr txBox="1"/>
              <p:nvPr/>
            </p:nvSpPr>
            <p:spPr>
              <a:xfrm>
                <a:off x="812800" y="4323556"/>
                <a:ext cx="6057900" cy="2755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960"/>
                  </a:lnSpc>
                  <a:buNone/>
                </a:pPr>
                <a:r>
                  <a:rPr lang="en-US" sz="1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With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US" sz="1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⌊</m:t>
                    </m:r>
                    <m:sSub>
                      <m:e>
                        <m:r>
                          <m:rPr>
                            <m:sty m:val="p"/>
                          </m:rPr>
                          <a:rPr lang="en-US" sz="14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 sz="1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US" sz="1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lang="en-US" sz="1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US" sz="1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US" sz="1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US" sz="1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US" sz="1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US" sz="14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so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US" sz="1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1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US" sz="1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US" sz="1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1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Always fits.</a:t>
                </a:r>
                <a:endParaRPr lang="en-US" sz="1400" dirty="0"/>
              </a:p>
            </p:txBody>
          </p:sp>
        </mc:Choice>
        <mc:Fallback>
          <p:sp>
            <p:nvSpPr>
              <p:cNvPr id="6" name="Text 3"/>
              <p:cNvSpPr txBox="1"/>
              <p:nvPr/>
            </p:nvSpPr>
            <p:spPr>
              <a:xfrm>
                <a:off x="812800" y="4323556"/>
                <a:ext cx="6057900" cy="2755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960"/>
                  </a:lnSpc>
                  <a:buNone/>
                </a:pPr>
                <a:r>
                  <a:rPr lang="en-US" sz="1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With k = ⌊log₂ L⌋: 2^k ≤ L &lt; 2^(k+1), so L/2 &lt; 2^k ≤ L. Always fits.</a:t>
                </a:r>
                <a:endParaRPr lang="en-US" sz="140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4"/>
              <p:cNvSpPr txBox="1"/>
              <p:nvPr/>
            </p:nvSpPr>
            <p:spPr>
              <a:xfrm>
                <a:off x="6781800" y="1743075"/>
                <a:ext cx="4873244" cy="2755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960"/>
                  </a:lnSpc>
                  <a:buNone/>
                </a:pPr>
                <a:r>
                  <a:rPr lang="en-US" sz="1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Which block lengths should we store? (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US" sz="1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)</a:t>
                </a:r>
                <a:endParaRPr lang="en-US" sz="1400" dirty="0"/>
              </a:p>
            </p:txBody>
          </p:sp>
        </mc:Choice>
        <mc:Fallback>
          <p:sp>
            <p:nvSpPr>
              <p:cNvPr id="7" name="Text 4"/>
              <p:cNvSpPr txBox="1"/>
              <p:nvPr/>
            </p:nvSpPr>
            <p:spPr>
              <a:xfrm>
                <a:off x="6781800" y="1743075"/>
                <a:ext cx="4873244" cy="2755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960"/>
                  </a:lnSpc>
                  <a:buNone/>
                </a:pPr>
                <a:r>
                  <a:rPr lang="en-US" sz="1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Which block lengths should we store? (N = 10⁵)</a:t>
                </a:r>
                <a:endParaRPr lang="en-US" sz="140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6781800" y="2093516"/>
              <a:ext cx="4597400" cy="914400"/>
            </p:xfrm>
            <a:graphic>
              <a:graphicData uri="http://schemas.openxmlformats.org/drawingml/2006/table">
                <a:tbl>
                  <a:tblPr/>
                  <a:tblGrid>
                    <a:gridCol w="1695152"/>
                    <a:gridCol w="1637109"/>
                    <a:gridCol w="1265138"/>
                  </a:tblGrid>
                  <a:tr h="5016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500"/>
                            </a:lnSpc>
                            <a:buNone/>
                          </a:pPr>
                          <a:r>
                            <a:rPr lang="en-US" sz="1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Block lengths</a:t>
                          </a:r>
                          <a:endParaRPr lang="en-US" sz="1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500"/>
                            </a:lnSpc>
                            <a:buNone/>
                          </a:pPr>
                          <a:r>
                            <a:rPr lang="en-US" sz="1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Levels</a:t>
                          </a:r>
                          <a:endParaRPr lang="en-US" sz="1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500"/>
                            </a:lnSpc>
                            <a:buNone/>
                          </a:pPr>
                          <a:r>
                            <a:rPr lang="en-US" sz="1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Blocks per query</a:t>
                          </a:r>
                          <a:endParaRPr lang="en-US" sz="1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504825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500"/>
                            </a:lnSpc>
                            <a:buNone/>
                          </a:pPr>
                          <a:r>
                            <a:rPr lang="en-US" sz="1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Every length </a:t>
                          </a:r>
                          <a14:m>
                            <m:oMath xmlns:m="http://schemas.openxmlformats.org/officeDocument/2006/math">
                              <m:r>
                                <a:rPr lang="en-US" sz="12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US" sz="125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2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US" sz="125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sz="125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r>
                                <m:rPr>
                                  <m:sty m:val="p"/>
                                </m:rPr>
                                <a:rPr lang="en-US" sz="125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2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endParaRPr lang="en-US" sz="1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50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2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r>
                            <a:rPr lang="en-US" sz="1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(that is </a:t>
                          </a:r>
                          <a14:m>
                            <m:oMath xmlns:m="http://schemas.openxmlformats.org/officeDocument/2006/math">
                              <m:r>
                                <a:rPr lang="en-US" sz="12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sSup>
                                    <m:e>
                                      <m:r>
                                        <a:rPr lang="en-US" sz="1250" i="1">
                                          <a:solidFill>
                                            <a:srgbClr val="1F2328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p>
                                      <m:r>
                                        <a:rPr lang="en-US" sz="1250" i="1">
                                          <a:solidFill>
                                            <a:srgbClr val="1F2328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oMath>
                          </a14:m>
                          <a:r>
                            <a:rPr lang="en-US" sz="1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answers)</a:t>
                          </a:r>
                          <a:endParaRPr lang="en-US" sz="1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500"/>
                            </a:lnSpc>
                            <a:buNone/>
                          </a:pPr>
                          <a:r>
                            <a:rPr lang="en-US" sz="1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1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5016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500"/>
                            </a:lnSpc>
                            <a:buNone/>
                          </a:pPr>
                          <a:r>
                            <a:rPr lang="en-US" sz="1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Powers of 2: </a:t>
                          </a:r>
                          <a14:m>
                            <m:oMath xmlns:m="http://schemas.openxmlformats.org/officeDocument/2006/math">
                              <m:r>
                                <a:rPr lang="en-US" sz="1250" b="1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US" sz="1250" b="1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250" b="1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US" sz="1250" b="1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250" b="1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en-US" sz="1250" b="1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250" b="1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m:rPr>
                                  <m:sty m:val="p"/>
                                </m:rPr>
                                <a:rPr lang="en-US" sz="1250" b="1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sz="1250" b="1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oMath>
                          </a14:m>
                          <a:endParaRPr lang="en-US" sz="1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50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50" b="1" i="0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250" b="1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250" b="1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m:rPr>
                                  <m:sty m:val="p"/>
                                </m:rPr>
                                <a:rPr lang="en-US" sz="1250" b="1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  <m:r>
                                <a:rPr lang="en-US" sz="1250" b="1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17</m:t>
                              </m:r>
                            </m:oMath>
                          </a14:m>
                          <a:endParaRPr lang="en-US" sz="1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500"/>
                            </a:lnSpc>
                            <a:buNone/>
                          </a:pPr>
                          <a:r>
                            <a:rPr lang="en-US" sz="1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1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5016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500"/>
                            </a:lnSpc>
                            <a:buNone/>
                          </a:pPr>
                          <a:r>
                            <a:rPr lang="en-US" sz="1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Powers of 3: </a:t>
                          </a:r>
                          <a14:m>
                            <m:oMath xmlns:m="http://schemas.openxmlformats.org/officeDocument/2006/math">
                              <m:r>
                                <a:rPr lang="en-US" sz="12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US" sz="125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2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US" sz="125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2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r>
                                <m:rPr>
                                  <m:sty m:val="p"/>
                                </m:rPr>
                                <a:rPr lang="en-US" sz="125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2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27</m:t>
                              </m:r>
                              <m:r>
                                <m:rPr>
                                  <m:sty m:val="p"/>
                                </m:rPr>
                                <a:rPr lang="en-US" sz="125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sz="125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oMath>
                          </a14:m>
                          <a:endParaRPr lang="en-US" sz="1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50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50" i="0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25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12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m:rPr>
                                  <m:sty m:val="p"/>
                                </m:rPr>
                                <a:rPr lang="en-US" sz="125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  <m:r>
                                <a:rPr lang="en-US" sz="12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oMath>
                          </a14:m>
                          <a:endParaRPr lang="en-US" sz="1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500"/>
                            </a:lnSpc>
                            <a:buNone/>
                          </a:pPr>
                          <a:r>
                            <a:rPr lang="en-US" sz="1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up to 3</a:t>
                          </a:r>
                          <a:endParaRPr lang="en-US" sz="1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6781800" y="2093516"/>
              <a:ext cx="4597400" cy="914400"/>
            </p:xfrm>
            <a:graphic>
              <a:graphicData uri="http://schemas.openxmlformats.org/drawingml/2006/table">
                <a:tbl>
                  <a:tblPr/>
                  <a:tblGrid>
                    <a:gridCol w="1695152"/>
                    <a:gridCol w="1637109"/>
                    <a:gridCol w="1265138"/>
                  </a:tblGrid>
                  <a:tr h="5016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500"/>
                            </a:lnSpc>
                            <a:buNone/>
                          </a:pPr>
                          <a:r>
                            <a:rPr lang="en-US" sz="1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Block lengths</a:t>
                          </a:r>
                          <a:endParaRPr lang="en-US" sz="1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500"/>
                            </a:lnSpc>
                            <a:buNone/>
                          </a:pPr>
                          <a:r>
                            <a:rPr lang="en-US" sz="1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Levels</a:t>
                          </a:r>
                          <a:endParaRPr lang="en-US" sz="1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500"/>
                            </a:lnSpc>
                            <a:buNone/>
                          </a:pPr>
                          <a:r>
                            <a:rPr lang="en-US" sz="1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Blocks per query</a:t>
                          </a:r>
                          <a:endParaRPr lang="en-US" sz="1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504825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500"/>
                            </a:lnSpc>
                            <a:buNone/>
                          </a:pPr>
                          <a:r>
                            <a:rPr lang="en-US" sz="1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Every length 1, 2, …, N</a:t>
                          </a:r>
                          <a:endParaRPr lang="en-US" sz="1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500"/>
                            </a:lnSpc>
                            <a:buNone/>
                          </a:pPr>
                          <a:r>
                            <a:rPr lang="en-US" sz="1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N (that is O(N²) answers)</a:t>
                          </a:r>
                          <a:endParaRPr lang="en-US" sz="1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500"/>
                            </a:lnSpc>
                            <a:buNone/>
                          </a:pPr>
                          <a:r>
                            <a:rPr lang="en-US" sz="1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1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5016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500"/>
                            </a:lnSpc>
                            <a:buNone/>
                          </a:pPr>
                          <a:r>
                            <a:rPr lang="en-US" sz="1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Powers of 2: 1, 2, 4, 8, …</a:t>
                          </a:r>
                          <a:endParaRPr lang="en-US" sz="1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500"/>
                            </a:lnSpc>
                            <a:buNone/>
                          </a:pPr>
                          <a:r>
                            <a:rPr lang="en-US" sz="1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log₂ N ≈ 17</a:t>
                          </a:r>
                          <a:endParaRPr lang="en-US" sz="1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500"/>
                            </a:lnSpc>
                            <a:buNone/>
                          </a:pPr>
                          <a:r>
                            <a:rPr lang="en-US" sz="1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1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5016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500"/>
                            </a:lnSpc>
                            <a:buNone/>
                          </a:pPr>
                          <a:r>
                            <a:rPr lang="en-US" sz="1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Powers of 3: 1, 3, 9, 27, …</a:t>
                          </a:r>
                          <a:endParaRPr lang="en-US" sz="1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500"/>
                            </a:lnSpc>
                            <a:buNone/>
                          </a:pPr>
                          <a:r>
                            <a:rPr lang="en-US" sz="1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log₃ N ≈ 11</a:t>
                          </a:r>
                          <a:endParaRPr lang="en-US" sz="1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500"/>
                            </a:lnSpc>
                            <a:buNone/>
                          </a:pPr>
                          <a:r>
                            <a:rPr lang="en-US" sz="1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up to 3</a:t>
                          </a:r>
                          <a:endParaRPr lang="en-US" sz="1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5"/>
              <p:cNvSpPr txBox="1"/>
              <p:nvPr/>
            </p:nvSpPr>
            <p:spPr>
              <a:xfrm>
                <a:off x="6781800" y="4208066"/>
                <a:ext cx="4873244" cy="48692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20"/>
                  </a:lnSpc>
                  <a:buNone/>
                </a:pP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Each length doubles the last: the fewest levels that still leave a block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"/>
                        <m:grow/>
                      </m:dPr>
                      <m:e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m:rPr>
                            <m:sty m:val="p"/>
                          </m:rPr>
                          <a:rPr lang="en-US" sz="13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3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1300" dirty="0"/>
              </a:p>
            </p:txBody>
          </p:sp>
        </mc:Choice>
        <mc:Fallback>
          <p:sp>
            <p:nvSpPr>
              <p:cNvPr id="9" name="Text 5"/>
              <p:cNvSpPr txBox="1"/>
              <p:nvPr/>
            </p:nvSpPr>
            <p:spPr>
              <a:xfrm>
                <a:off x="6781800" y="4208066"/>
                <a:ext cx="4873244" cy="48692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20"/>
                  </a:lnSpc>
                  <a:buNone/>
                </a:pP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Each length doubles the last: the fewest levels that still leave a block in [L/2, L] for every L.</a:t>
                </a:r>
                <a:endParaRPr lang="en-US" sz="1300" dirty="0"/>
              </a:p>
            </p:txBody>
          </p:sp>
        </mc:Fallback>
      </mc:AlternateContent>
      <p:sp>
        <p:nvSpPr>
          <p:cNvPr id="10" name="Shape 6"/>
          <p:cNvSpPr/>
          <p:nvPr/>
        </p:nvSpPr>
        <p:spPr>
          <a:xfrm>
            <a:off x="6781800" y="4771827"/>
            <a:ext cx="4873244" cy="383480"/>
          </a:xfrm>
          <a:prstGeom prst="roundRect">
            <a:avLst>
              <a:gd name="adj" fmla="val 13247"/>
            </a:avLst>
          </a:prstGeom>
          <a:solidFill>
            <a:srgbClr val="E3F1EC"/>
          </a:solidFill>
          <a:ln/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7"/>
              <p:cNvSpPr txBox="1"/>
              <p:nvPr/>
            </p:nvSpPr>
            <p:spPr>
              <a:xfrm>
                <a:off x="6896100" y="4848027"/>
                <a:ext cx="4644644" cy="25584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20"/>
                  </a:lnSpc>
                  <a:buNone/>
                </a:pP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Building is one max: a block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two blocks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US" sz="13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1300" dirty="0"/>
              </a:p>
            </p:txBody>
          </p:sp>
        </mc:Choice>
        <mc:Fallback>
          <p:sp>
            <p:nvSpPr>
              <p:cNvPr id="11" name="Text 7"/>
              <p:cNvSpPr txBox="1"/>
              <p:nvPr/>
            </p:nvSpPr>
            <p:spPr>
              <a:xfrm>
                <a:off x="6896100" y="4848027"/>
                <a:ext cx="4644644" cy="25584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20"/>
                  </a:lnSpc>
                  <a:buNone/>
                </a:pP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Building is one max: a block of 2^k = two blocks of 2^(k−1).</a:t>
                </a:r>
                <a:endParaRPr lang="en-US" sz="1300" dirty="0"/>
              </a:p>
            </p:txBody>
          </p:sp>
        </mc:Fallback>
      </mc:AlternateContent>
      <p:sp>
        <p:nvSpPr>
          <p:cNvPr id="12" name="Shape 8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TOOL · SPARSE TABLE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0795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25"/>
              </a:lnSpc>
              <a:buNone/>
            </a:pPr>
            <a:r>
              <a:rPr lang="en-US" sz="35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DO WE NEED IT?</a:t>
            </a:r>
            <a:endParaRPr lang="en-US" sz="35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2"/>
              <p:cNvSpPr txBox="1"/>
              <p:nvPr/>
            </p:nvSpPr>
            <p:spPr>
              <a:xfrm>
                <a:off x="812800" y="1743075"/>
                <a:ext cx="11200384" cy="29527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100"/>
                  </a:lnSpc>
                  <a:buNone/>
                </a:pPr>
                <a:r>
                  <a:rPr lang="en-US" sz="15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The job: a fixed array of </a:t>
                </a:r>
                <a14:m>
                  <m:oMath xmlns:m="http://schemas.openxmlformats.org/officeDocument/2006/math">
                    <m:r>
                      <a:rPr lang="en-US" sz="15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5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numbers, then </a:t>
                </a:r>
                <a14:m>
                  <m:oMath xmlns:m="http://schemas.openxmlformats.org/officeDocument/2006/math">
                    <m:r>
                      <a:rPr lang="en-US" sz="15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15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questions "what is the max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US" sz="15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5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m:rPr>
                        <m:sty m:val="p"/>
                      </m:rPr>
                      <a:rPr lang="en-US" sz="15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15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US" sz="15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US" sz="15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5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15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?" (</a:t>
                </a:r>
                <a14:m>
                  <m:oMath xmlns:m="http://schemas.openxmlformats.org/officeDocument/2006/math">
                    <m:r>
                      <a:rPr lang="en-US" sz="15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US" sz="15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5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US" sz="15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5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5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sz="15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).</a:t>
                </a:r>
                <a:endParaRPr lang="en-US" sz="1500" dirty="0"/>
              </a:p>
            </p:txBody>
          </p:sp>
        </mc:Choice>
        <mc:Fallback>
          <p:sp>
            <p:nvSpPr>
              <p:cNvPr id="4" name="Text 2"/>
              <p:cNvSpPr txBox="1"/>
              <p:nvPr/>
            </p:nvSpPr>
            <p:spPr>
              <a:xfrm>
                <a:off x="812800" y="1743075"/>
                <a:ext cx="11200384" cy="29527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100"/>
                  </a:lnSpc>
                  <a:buNone/>
                </a:pPr>
                <a:r>
                  <a:rPr lang="en-US" sz="15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The job: a fixed array of N numbers, then Q questions "what is the max of a[l..r]?" (N = Q = 10⁵).</a:t>
                </a:r>
                <a:endParaRPr lang="en-US" sz="150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2162175"/>
              <a:ext cx="10566400" cy="914400"/>
            </p:xfrm>
            <a:graphic>
              <a:graphicData uri="http://schemas.openxmlformats.org/drawingml/2006/table">
                <a:tbl>
                  <a:tblPr/>
                  <a:tblGrid>
                    <a:gridCol w="3872706"/>
                    <a:gridCol w="3303191"/>
                    <a:gridCol w="1341834"/>
                    <a:gridCol w="2048669"/>
                  </a:tblGrid>
                  <a:tr h="33020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Idea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Precompute (time and memory)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Each query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Total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39725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Scan the range every time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nothing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3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a:rPr lang="en-US" sz="135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d>
                            </m:oMath>
                          </a14:m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sSup>
                                <m:e>
                                  <m:r>
                                    <a:rPr lang="en-US" sz="1350" i="1">
                                      <a:solidFill>
                                        <a:srgbClr val="B4322F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350" i="1">
                                      <a:solidFill>
                                        <a:srgbClr val="B4322F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350" dirty="0">
                              <a:solidFill>
                                <a:srgbClr val="B4322F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✗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365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Store the answer for every range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3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sSup>
                                    <m:e>
                                      <m:r>
                                        <a:rPr lang="en-US" sz="1350" i="1">
                                          <a:solidFill>
                                            <a:srgbClr val="1F2328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p>
                                      <m:r>
                                        <a:rPr lang="en-US" sz="1350" i="1">
                                          <a:solidFill>
                                            <a:srgbClr val="1F2328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sz="135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  <m:r>
                                <a:rPr lang="en-US" sz="13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m:rPr>
                                  <m:sty m:val="p"/>
                                </m:rPr>
                                <a:rPr lang="en-US" sz="135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e>
                                  <m:r>
                                    <a:rPr lang="en-US" sz="135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35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3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answers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3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a:rPr lang="en-US" sz="135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oMath>
                          </a14:m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dirty="0">
                              <a:solidFill>
                                <a:srgbClr val="B4322F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time and memory ✗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365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Sparse Table</a:t>
                          </a:r>
                          <a:r>
                            <a:rPr lang="en-US" sz="13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: only ranges of length </a:t>
                          </a:r>
                          <a14:m>
                            <m:oMath xmlns:m="http://schemas.openxmlformats.org/officeDocument/2006/math">
                              <m:sSup>
                                <m:e>
                                  <m:r>
                                    <a:rPr lang="en-US" sz="135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135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oMath>
                          </a14:m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350" b="1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a:rPr lang="en-US" sz="1350" b="1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350" b="1" i="0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  <m:r>
                                    <a:rPr lang="en-US" sz="1350" b="1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sz="1350" b="1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  <m:r>
                                <a:rPr lang="en-US" sz="1350" b="1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1.7</m:t>
                              </m:r>
                              <m:r>
                                <m:rPr>
                                  <m:sty m:val="p"/>
                                </m:rPr>
                                <a:rPr lang="en-US" sz="1350" b="1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e>
                                  <m:r>
                                    <a:rPr lang="en-US" sz="1350" b="1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350" b="1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oMath>
                          </a14:m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350" b="1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a:rPr lang="en-US" sz="1350" b="1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oMath>
                          </a14:m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350" b="1" i="0">
                                  <a:solidFill>
                                    <a:srgbClr val="1E7F4F"/>
                                  </a:solidFill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  <m:r>
                                <a:rPr lang="en-US" sz="1350" b="1" i="1">
                                  <a:solidFill>
                                    <a:srgbClr val="1E7F4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US" sz="1350" b="1" i="0">
                                  <a:solidFill>
                                    <a:srgbClr val="1E7F4F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e>
                                  <m:r>
                                    <a:rPr lang="en-US" sz="1350" b="1" i="1">
                                      <a:solidFill>
                                        <a:srgbClr val="1E7F4F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350" b="1" i="1">
                                      <a:solidFill>
                                        <a:srgbClr val="1E7F4F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350" b="1" dirty="0">
                              <a:solidFill>
                                <a:srgbClr val="1E7F4F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✓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365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Segment tree (also allows updates)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3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a:rPr lang="en-US" sz="135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d>
                            </m:oMath>
                          </a14:m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3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350" i="0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  <m:r>
                                    <a:rPr lang="en-US" sz="135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d>
                            </m:oMath>
                          </a14:m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350" i="0">
                                  <a:solidFill>
                                    <a:srgbClr val="1E7F4F"/>
                                  </a:solidFill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  <m:r>
                                <a:rPr lang="en-US" sz="1350" i="1">
                                  <a:solidFill>
                                    <a:srgbClr val="1E7F4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US" sz="1350" i="0">
                                  <a:solidFill>
                                    <a:srgbClr val="1E7F4F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e>
                                  <m:r>
                                    <a:rPr lang="en-US" sz="1350" i="1">
                                      <a:solidFill>
                                        <a:srgbClr val="1E7F4F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350" i="1">
                                      <a:solidFill>
                                        <a:srgbClr val="1E7F4F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350" dirty="0">
                              <a:solidFill>
                                <a:srgbClr val="1E7F4F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✓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2162175"/>
              <a:ext cx="10566400" cy="914400"/>
            </p:xfrm>
            <a:graphic>
              <a:graphicData uri="http://schemas.openxmlformats.org/drawingml/2006/table">
                <a:tbl>
                  <a:tblPr/>
                  <a:tblGrid>
                    <a:gridCol w="3872706"/>
                    <a:gridCol w="3303191"/>
                    <a:gridCol w="1341834"/>
                    <a:gridCol w="2048669"/>
                  </a:tblGrid>
                  <a:tr h="33020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Idea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Precompute (time and memory)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Each query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Total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39725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Scan the range every time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nothing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O(N)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dirty="0">
                              <a:solidFill>
                                <a:srgbClr val="B4322F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10¹⁰ ✗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365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Store the answer for every range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O(N²) ≈ 5 × 10⁹ answers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O(1)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dirty="0">
                              <a:solidFill>
                                <a:srgbClr val="B4322F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time and memory ✗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365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Sparse Table</a:t>
                          </a:r>
                          <a:r>
                            <a:rPr lang="en-US" sz="13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: only ranges of length 2^k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O(N log N) ≈ 1.7 × 10⁶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O(1)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b="1" dirty="0">
                              <a:solidFill>
                                <a:srgbClr val="1E7F4F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≈ 2 × 10⁶ ✓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365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Segment tree (also allows updates)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O(N)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O(log N)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dirty="0">
                              <a:solidFill>
                                <a:srgbClr val="1E7F4F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≈ 2 × 10⁶ ✓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6" name="Shape 3"/>
          <p:cNvSpPr/>
          <p:nvPr/>
        </p:nvSpPr>
        <p:spPr>
          <a:xfrm>
            <a:off x="812800" y="3997325"/>
            <a:ext cx="3403600" cy="881261"/>
          </a:xfrm>
          <a:prstGeom prst="roundRect">
            <a:avLst>
              <a:gd name="adj" fmla="val 7206"/>
            </a:avLst>
          </a:prstGeom>
          <a:solidFill>
            <a:srgbClr val="EEF3F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52500" y="4098925"/>
            <a:ext cx="3311652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Static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52500" y="4314825"/>
            <a:ext cx="3311652" cy="255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array never changes after it is read.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94200" y="3997325"/>
            <a:ext cx="3403600" cy="881261"/>
          </a:xfrm>
          <a:prstGeom prst="roundRect">
            <a:avLst>
              <a:gd name="adj" fmla="val 7206"/>
            </a:avLst>
          </a:prstGeom>
          <a:solidFill>
            <a:srgbClr val="EEF3F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33900" y="4098925"/>
            <a:ext cx="3311652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Many queries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533900" y="4314825"/>
            <a:ext cx="3311652" cy="48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once pays off over many questions.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975600" y="3997325"/>
            <a:ext cx="3403600" cy="881261"/>
          </a:xfrm>
          <a:prstGeom prst="roundRect">
            <a:avLst>
              <a:gd name="adj" fmla="val 7206"/>
            </a:avLst>
          </a:prstGeom>
          <a:solidFill>
            <a:srgbClr val="EEF3F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115300" y="4098925"/>
            <a:ext cx="3311652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Overlap is harmless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115300" y="4314825"/>
            <a:ext cx="3311652" cy="48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max, min (and gcd) can count a number twice. Sum cannot: use prefix sums.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READING · SPARSE TABLE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0795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25"/>
              </a:lnSpc>
              <a:buNone/>
            </a:pPr>
            <a:r>
              <a:rPr lang="en-US" sz="35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BUILD LG[] YOURSELF?</a:t>
            </a:r>
            <a:endParaRPr lang="en-US" sz="35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2"/>
              <p:cNvSpPr txBox="1"/>
              <p:nvPr/>
            </p:nvSpPr>
            <p:spPr>
              <a:xfrm>
                <a:off x="812800" y="1743075"/>
                <a:ext cx="5519420" cy="52435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960"/>
                  </a:lnSpc>
                  <a:buNone/>
                </a:pPr>
                <a:r>
                  <a:rPr lang="en-US" sz="1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We need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US" sz="1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⌊</m:t>
                    </m:r>
                    <m:sSub>
                      <m:e>
                        <m:r>
                          <m:rPr>
                            <m:sty m:val="p"/>
                          </m:rPr>
                          <a:rPr lang="en-US" sz="14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 sz="1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US" sz="1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lang="en-US" sz="1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exactly. A floating-point log may return 2.9999999 instead of 3, and the cast then gives 2.</a:t>
                </a:r>
                <a:endParaRPr lang="en-US" sz="1400" dirty="0"/>
              </a:p>
            </p:txBody>
          </p:sp>
        </mc:Choice>
        <mc:Fallback>
          <p:sp>
            <p:nvSpPr>
              <p:cNvPr id="4" name="Text 2"/>
              <p:cNvSpPr txBox="1"/>
              <p:nvPr/>
            </p:nvSpPr>
            <p:spPr>
              <a:xfrm>
                <a:off x="812800" y="1743075"/>
                <a:ext cx="5519420" cy="52435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960"/>
                  </a:lnSpc>
                  <a:buNone/>
                </a:pPr>
                <a:r>
                  <a:rPr lang="en-US" sz="1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We need k = ⌊log₂ L⌋ exactly. A floating-point log may return 2.9999999 instead of 3, and the cast then gives 2.</a:t>
                </a:r>
                <a:endParaRPr lang="en-US" sz="140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0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2342356"/>
              <a:ext cx="5207000" cy="914400"/>
            </p:xfrm>
            <a:graphic>
              <a:graphicData uri="http://schemas.openxmlformats.org/drawingml/2006/table">
                <a:tbl>
                  <a:tblPr/>
                  <a:tblGrid>
                    <a:gridCol w="2523034"/>
                    <a:gridCol w="2683966"/>
                  </a:tblGrid>
                  <a:tr h="3111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Code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Tested on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1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US" sz="1200" b="1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1200" b="1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sty m:val="p"/>
                                </m:rPr>
                                <a:rPr lang="en-US" sz="1200" b="1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p>
                                <m:e>
                                  <m:r>
                                    <a:rPr lang="en-US" sz="1200" b="1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1200" b="1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30</m:t>
                                  </m:r>
                                </m:sup>
                              </m:sSup>
                            </m:oMath>
                          </a14:m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504825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JetBrains Mono" pitchFamily="34" charset="0"/>
                              <a:ea typeface="JetBrains Mono" pitchFamily="34" charset="-122"/>
                              <a:cs typeface="JetBrains Mono" pitchFamily="34" charset="-120"/>
                            </a:rPr>
                            <a:t>(int)(logf(i) / logf(2))</a:t>
                          </a: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(float)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b="1" dirty="0">
                              <a:solidFill>
                                <a:srgbClr val="B4322F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 of the 31 powers of 2 wrong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889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JetBrains Mono" pitchFamily="34" charset="0"/>
                              <a:ea typeface="JetBrains Mono" pitchFamily="34" charset="-122"/>
                              <a:cs typeface="JetBrains Mono" pitchFamily="34" charset="-120"/>
                            </a:rPr>
                            <a:t>(int)log2(i)</a:t>
                          </a: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(double)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b="1" dirty="0">
                              <a:solidFill>
                                <a:srgbClr val="E0960F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right up to </a:t>
                          </a:r>
                          <a14:m>
                            <m:oMath xmlns:m="http://schemas.openxmlformats.org/officeDocument/2006/math">
                              <m:sSup>
                                <m:e>
                                  <m:r>
                                    <a:rPr lang="en-US" sz="1200" b="1" i="1">
                                      <a:solidFill>
                                        <a:srgbClr val="E0960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1200" b="1" i="1">
                                      <a:solidFill>
                                        <a:srgbClr val="E0960F"/>
                                      </a:solidFill>
                                      <a:latin typeface="Cambria Math" panose="02040503050406030204" pitchFamily="18" charset="0"/>
                                    </a:rPr>
                                    <m:t>30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200" b="1" dirty="0">
                              <a:solidFill>
                                <a:srgbClr val="E0960F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here, but not promised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238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JetBrains Mono" pitchFamily="34" charset="0"/>
                              <a:ea typeface="JetBrains Mono" pitchFamily="34" charset="-122"/>
                              <a:cs typeface="JetBrains Mono" pitchFamily="34" charset="-120"/>
                            </a:rPr>
                            <a:t>lg[i]</a:t>
                          </a: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(integers only)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b="1" dirty="0">
                              <a:solidFill>
                                <a:srgbClr val="1E7F4F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always exact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40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2342356"/>
              <a:ext cx="5207000" cy="914400"/>
            </p:xfrm>
            <a:graphic>
              <a:graphicData uri="http://schemas.openxmlformats.org/drawingml/2006/table">
                <a:tbl>
                  <a:tblPr/>
                  <a:tblGrid>
                    <a:gridCol w="2523034"/>
                    <a:gridCol w="2683966"/>
                  </a:tblGrid>
                  <a:tr h="3111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Code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Tested on 1 ≤ i ≤ 2^30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504825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JetBrains Mono" pitchFamily="34" charset="0"/>
                              <a:ea typeface="JetBrains Mono" pitchFamily="34" charset="-122"/>
                              <a:cs typeface="JetBrains Mono" pitchFamily="34" charset="-120"/>
                            </a:rPr>
                            <a:t>(int)(logf(i) / logf(2))</a:t>
                          </a: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(float)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b="1" dirty="0">
                              <a:solidFill>
                                <a:srgbClr val="B4322F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 of the 31 powers of 2 wrong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889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JetBrains Mono" pitchFamily="34" charset="0"/>
                              <a:ea typeface="JetBrains Mono" pitchFamily="34" charset="-122"/>
                              <a:cs typeface="JetBrains Mono" pitchFamily="34" charset="-120"/>
                            </a:rPr>
                            <a:t>(int)log2(i)</a:t>
                          </a: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(double)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b="1" dirty="0">
                              <a:solidFill>
                                <a:srgbClr val="E0960F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right up to 2^30 here, but not promised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238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JetBrains Mono" pitchFamily="34" charset="0"/>
                              <a:ea typeface="JetBrains Mono" pitchFamily="34" charset="-122"/>
                              <a:cs typeface="JetBrains Mono" pitchFamily="34" charset="-120"/>
                            </a:rPr>
                            <a:t>lg[i]</a:t>
                          </a: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(integers only)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b="1" dirty="0">
                              <a:solidFill>
                                <a:srgbClr val="1E7F4F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always exact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3"/>
              <p:cNvSpPr txBox="1"/>
              <p:nvPr/>
            </p:nvSpPr>
            <p:spPr>
              <a:xfrm>
                <a:off x="812800" y="4075906"/>
                <a:ext cx="5519420" cy="48692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2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one too small: the two blocks miss the middle. One too big: a block runs past the array. Only at a few lengths, so samples rarely catch it.</a:t>
                </a:r>
                <a:endParaRPr lang="en-US" sz="1300" dirty="0"/>
              </a:p>
            </p:txBody>
          </p:sp>
        </mc:Choice>
        <mc:Fallback>
          <p:sp>
            <p:nvSpPr>
              <p:cNvPr id="6" name="Text 3"/>
              <p:cNvSpPr txBox="1"/>
              <p:nvPr/>
            </p:nvSpPr>
            <p:spPr>
              <a:xfrm>
                <a:off x="812800" y="4075906"/>
                <a:ext cx="5519420" cy="48692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20"/>
                  </a:lnSpc>
                  <a:buNone/>
                </a:pP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k one too small: the two blocks miss the middle. One too big: a block runs past the array. Only at a few lengths, so samples rarely catch it.</a:t>
                </a:r>
                <a:endParaRPr lang="en-US" sz="1300" dirty="0"/>
              </a:p>
            </p:txBody>
          </p:sp>
        </mc:Fallback>
      </mc:AlternateContent>
      <p:sp>
        <p:nvSpPr>
          <p:cNvPr id="7" name="Shape 4"/>
          <p:cNvSpPr/>
          <p:nvPr/>
        </p:nvSpPr>
        <p:spPr>
          <a:xfrm>
            <a:off x="6299200" y="1743075"/>
            <a:ext cx="5080000" cy="839688"/>
          </a:xfrm>
          <a:prstGeom prst="roundRect">
            <a:avLst>
              <a:gd name="adj" fmla="val 6050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45250" y="1838325"/>
            <a:ext cx="5362448" cy="67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lg[1] = 0;</a:t>
            </a:r>
            <a:endParaRPr lang="en-US" sz="1200" dirty="0"/>
          </a:p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(int i = 2; i &lt;= n; i ++)</a:t>
            </a:r>
            <a:endParaRPr lang="en-US" sz="1200" dirty="0"/>
          </a:p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lg[i] = lg[i/2] + 1;   </a:t>
            </a:r>
            <a:r>
              <a:rPr lang="en-US" sz="12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O(N), exact</a:t>
            </a:r>
            <a:endParaRPr 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6"/>
              <p:cNvSpPr txBox="1"/>
              <p:nvPr/>
            </p:nvSpPr>
            <p:spPr>
              <a:xfrm>
                <a:off x="6299200" y="2684363"/>
                <a:ext cx="5384800" cy="48692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20"/>
                  </a:lnSpc>
                  <a:buNone/>
                </a:pP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Why it works: </a:t>
                </a:r>
                <a14:m>
                  <m:oMath xmlns:m="http://schemas.openxmlformats.org/officeDocument/2006/math"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US" sz="13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differ only in the last binary digit, so the highest 1 of </a:t>
                </a:r>
                <a14:m>
                  <m:oMath xmlns:m="http://schemas.openxmlformats.org/officeDocument/2006/math"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US" sz="13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is exactly one place lower.</a:t>
                </a:r>
                <a:endParaRPr lang="en-US" sz="1300" dirty="0"/>
              </a:p>
            </p:txBody>
          </p:sp>
        </mc:Choice>
        <mc:Fallback>
          <p:sp>
            <p:nvSpPr>
              <p:cNvPr id="9" name="Text 6"/>
              <p:cNvSpPr txBox="1"/>
              <p:nvPr/>
            </p:nvSpPr>
            <p:spPr>
              <a:xfrm>
                <a:off x="6299200" y="2684363"/>
                <a:ext cx="5384800" cy="48692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20"/>
                  </a:lnSpc>
                  <a:buNone/>
                </a:pP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Why it works: i and i/2 differ only in the last binary digit, so the highest 1 of i/2 is exactly one place lower.</a:t>
                </a:r>
                <a:endParaRPr lang="en-US" sz="1300" dirty="0"/>
              </a:p>
            </p:txBody>
          </p:sp>
        </mc:Fallback>
      </mc:AlternateContent>
      <p:sp>
        <p:nvSpPr>
          <p:cNvPr id="10" name="Text 7"/>
          <p:cNvSpPr txBox="1"/>
          <p:nvPr/>
        </p:nvSpPr>
        <p:spPr>
          <a:xfrm>
            <a:off x="6299200" y="3248124"/>
            <a:ext cx="5384800" cy="255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Also: one array read instead of a log call, and log2 is not in C++98.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299200" y="3580805"/>
            <a:ext cx="5384800" cy="449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exact ways you may see: </a:t>
            </a:r>
            <a:r>
              <a:rPr lang="en-US" sz="1100" dirty="0">
                <a:solidFill>
                  <a:srgbClr val="5E6A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31 - __builtin_clz(L)</a:t>
            </a:r>
            <a:r>
              <a:rPr lang="en-US" sz="1200" dirty="0">
                <a:solidFill>
                  <a:srgbClr val="5E6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100" dirty="0">
                <a:solidFill>
                  <a:srgbClr val="5E6A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__lg(L)</a:t>
            </a:r>
            <a:r>
              <a:rPr lang="en-US" sz="1200" dirty="0">
                <a:solidFill>
                  <a:srgbClr val="5E6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(GCC only), </a:t>
            </a:r>
            <a:r>
              <a:rPr lang="en-US" sz="1100" dirty="0">
                <a:solidFill>
                  <a:srgbClr val="5E6A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std::bit_width(L) - 1</a:t>
            </a:r>
            <a:r>
              <a:rPr lang="en-US" sz="1200" dirty="0">
                <a:solidFill>
                  <a:srgbClr val="5E6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(C++20).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AIO Lessons">
  <a:themeElements>
    <a:clrScheme name="AIO Lessons">
      <a:dk1>
        <a:srgbClr val="1F2328"/>
      </a:dk1>
      <a:lt1>
        <a:srgbClr val="FFFFFF"/>
      </a:lt1>
      <a:dk2>
        <a:srgbClr val="0A4054"/>
      </a:dk2>
      <a:lt2>
        <a:srgbClr val="F6F7F7"/>
      </a:lt2>
      <a:accent1>
        <a:srgbClr val="66B2B0"/>
      </a:accent1>
      <a:accent2>
        <a:srgbClr val="F2494C"/>
      </a:accent2>
      <a:accent3>
        <a:srgbClr val="F9AA19"/>
      </a:accent3>
      <a:accent4>
        <a:srgbClr val="F9C996"/>
      </a:accent4>
      <a:accent5>
        <a:srgbClr val="3E9A97"/>
      </a:accent5>
      <a:accent6>
        <a:srgbClr val="9FD1D0"/>
      </a:accent6>
      <a:hlink>
        <a:srgbClr val="287673"/>
      </a:hlink>
      <a:folHlink>
        <a:srgbClr val="0A4054"/>
      </a:folHlink>
    </a:clrScheme>
    <a:fontScheme name="AIO Lesson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5740</Words>
  <Application>Microsoft Macintosh PowerPoint</Application>
  <PresentationFormat>Widescreen</PresentationFormat>
  <Paragraphs>781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Cambria Math</vt:lpstr>
      <vt:lpstr>JetBrains Mono</vt:lpstr>
      <vt:lpstr>AIO Lessons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AIO Lesson 4: Sparse Table + Greedy</dc:title>
  <dc:subject>PptxGenJS Presentation</dc:subject>
  <dc:creator>Bryan</dc:creator>
  <cp:lastModifiedBy>Bryan Sun</cp:lastModifiedBy>
  <cp:revision>1</cp:revision>
  <dcterms:created xsi:type="dcterms:W3CDTF">2026-10-02T13:29:14Z</dcterms:created>
  <dcterms:modified xsi:type="dcterms:W3CDTF">2026-10-09T12:17:43Z</dcterms:modified>
</cp:coreProperties>
</file>