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9" r:id="rId9"/>
    <p:sldId id="263" r:id="rId10"/>
    <p:sldId id="264" r:id="rId11"/>
    <p:sldId id="265" r:id="rId12"/>
    <p:sldId id="290" r:id="rId13"/>
    <p:sldId id="266" r:id="rId14"/>
    <p:sldId id="267" r:id="rId15"/>
    <p:sldId id="268" r:id="rId16"/>
    <p:sldId id="297" r:id="rId17"/>
    <p:sldId id="269" r:id="rId18"/>
    <p:sldId id="287" r:id="rId19"/>
    <p:sldId id="270" r:id="rId20"/>
    <p:sldId id="271" r:id="rId21"/>
    <p:sldId id="272" r:id="rId22"/>
    <p:sldId id="273" r:id="rId23"/>
    <p:sldId id="274" r:id="rId24"/>
    <p:sldId id="275" r:id="rId25"/>
    <p:sldId id="299" r:id="rId26"/>
    <p:sldId id="298" r:id="rId27"/>
    <p:sldId id="286" r:id="rId28"/>
    <p:sldId id="276" r:id="rId29"/>
    <p:sldId id="277" r:id="rId30"/>
    <p:sldId id="278" r:id="rId31"/>
    <p:sldId id="279" r:id="rId32"/>
    <p:sldId id="280" r:id="rId33"/>
    <p:sldId id="281" r:id="rId34"/>
    <p:sldId id="285" r:id="rId35"/>
    <p:sldId id="282" r:id="rId36"/>
    <p:sldId id="283" r:id="rId37"/>
    <p:sldId id="284" r:id="rId38"/>
    <p:sldId id="296" r:id="rId39"/>
    <p:sldId id="295" r:id="rId40"/>
    <p:sldId id="294" r:id="rId41"/>
    <p:sldId id="293" r:id="rId42"/>
    <p:sldId id="292" r:id="rId43"/>
    <p:sldId id="291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Greedy, exchange arguments and the water-level picture" id="{B6AF70E9-2AEE-B273-4E8A-3617D1AD62A4}">
          <p14:sldIdLst>
            <p14:sldId id="256"/>
            <p14:sldId id="257"/>
            <p14:sldId id="258"/>
            <p14:sldId id="259"/>
          </p14:sldIdLst>
        </p14:section>
        <p14:section name="2026 P6 Mundane Square: row-by-row greedy with water-filling" id="{A2B4E55D-9B6A-D8A7-65C4-E1A6FAE3E05A}">
          <p14:sldIdLst>
            <p14:sldId id="260"/>
            <p14:sldId id="261"/>
            <p14:sldId id="262"/>
            <p14:sldId id="289"/>
            <p14:sldId id="263"/>
            <p14:sldId id="264"/>
            <p14:sldId id="265"/>
            <p14:sldId id="290"/>
            <p14:sldId id="266"/>
            <p14:sldId id="267"/>
            <p14:sldId id="268"/>
            <p14:sldId id="297"/>
            <p14:sldId id="269"/>
            <p14:sldId id="287"/>
          </p14:sldIdLst>
        </p14:section>
        <p14:section name="2023 P5 Wheeling and Dealing: cut the peaks, try every level" id="{C212C383-07E3-F873-1E65-6083A3D620F3}">
          <p14:sldIdLst>
            <p14:sldId id="270"/>
            <p14:sldId id="271"/>
            <p14:sldId id="272"/>
            <p14:sldId id="273"/>
            <p14:sldId id="274"/>
            <p14:sldId id="275"/>
            <p14:sldId id="299"/>
            <p14:sldId id="298"/>
            <p14:sldId id="286"/>
          </p14:sldIdLst>
        </p14:section>
        <p14:section name="2026 P5 Prime Minister: fill the valleys, binary search the level" id="{9D140A3A-0BF4-497E-02BF-19653F035357}">
          <p14:sldIdLst>
            <p14:sldId id="276"/>
            <p14:sldId id="277"/>
            <p14:sldId id="278"/>
            <p14:sldId id="279"/>
            <p14:sldId id="280"/>
            <p14:sldId id="281"/>
            <p14:sldId id="285"/>
          </p14:sldIdLst>
        </p14:section>
        <p14:section name="Live coding, recap and homework" id="{44621DEB-896F-EF79-48B0-9A96993650B8}">
          <p14:sldIdLst>
            <p14:sldId id="282"/>
            <p14:sldId id="283"/>
            <p14:sldId id="284"/>
          </p14:sldIdLst>
        </p14:section>
        <p14:section name="Extra reading: Fenwick tree for Wheeling and Dealing" id="{07821C5C-ECFC-4358-8143-98A2E94E1E43}">
          <p14:sldIdLst>
            <p14:sldId id="296"/>
            <p14:sldId id="295"/>
            <p14:sldId id="294"/>
            <p14:sldId id="293"/>
            <p14:sldId id="292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/>
    <p:restoredTop sz="78178"/>
  </p:normalViewPr>
  <p:slideViewPr>
    <p:cSldViewPr snapToGrid="0" snapToObjects="1">
      <p:cViewPr varScale="1">
        <p:scale>
          <a:sx n="106" d="100"/>
          <a:sy n="10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custSel delSld modSld sldOrd modSection">
      <pc:chgData name="Bryan Sun" userId="851caa7714272873" providerId="LiveId" clId="{1DF0C224-3A3E-55A6-A8D1-F8F2208D385B}" dt="2026-10-09T11:27:47.253" v="252" actId="14100"/>
      <pc:docMkLst>
        <pc:docMk/>
      </pc:docMkLst>
      <pc:sldChg chg="delSp modSp mod">
        <pc:chgData name="Bryan Sun" userId="851caa7714272873" providerId="LiveId" clId="{1DF0C224-3A3E-55A6-A8D1-F8F2208D385B}" dt="2026-10-06T10:56:33.938" v="40" actId="478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6T10:56:29.899" v="39" actId="24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6T10:57:28.163" v="43" actId="6549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6T10:57:28.163" v="43" actId="6549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6T10:57:53.069" v="44" actId="6549"/>
        <pc:sldMkLst>
          <pc:docMk/>
          <pc:sldMk cId="0" sldId="260"/>
        </pc:sldMkLst>
        <pc:spChg chg="mod">
          <ac:chgData name="Bryan Sun" userId="851caa7714272873" providerId="LiveId" clId="{1DF0C224-3A3E-55A6-A8D1-F8F2208D385B}" dt="2026-10-06T10:57:53.069" v="44" actId="6549"/>
          <ac:spMkLst>
            <pc:docMk/>
            <pc:sldMk cId="0" sldId="260"/>
            <ac:spMk id="3" creationId="{00000000-0000-0000-0000-000000000000}"/>
          </ac:spMkLst>
        </pc:spChg>
      </pc:sldChg>
      <pc:sldChg chg="modAnim">
        <pc:chgData name="Bryan Sun" userId="851caa7714272873" providerId="LiveId" clId="{1DF0C224-3A3E-55A6-A8D1-F8F2208D385B}" dt="2026-10-07T12:07:09.021" v="130"/>
        <pc:sldMkLst>
          <pc:docMk/>
          <pc:sldMk cId="0" sldId="267"/>
        </pc:sldMkLst>
      </pc:sldChg>
      <pc:sldChg chg="modSp mod">
        <pc:chgData name="Bryan Sun" userId="851caa7714272873" providerId="LiveId" clId="{1DF0C224-3A3E-55A6-A8D1-F8F2208D385B}" dt="2026-10-06T11:40:47.825" v="53" actId="20577"/>
        <pc:sldMkLst>
          <pc:docMk/>
          <pc:sldMk cId="0" sldId="270"/>
        </pc:sldMkLst>
        <pc:spChg chg="mod">
          <ac:chgData name="Bryan Sun" userId="851caa7714272873" providerId="LiveId" clId="{1DF0C224-3A3E-55A6-A8D1-F8F2208D385B}" dt="2026-10-06T11:40:47.825" v="53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mod modAnim">
        <pc:chgData name="Bryan Sun" userId="851caa7714272873" providerId="LiveId" clId="{1DF0C224-3A3E-55A6-A8D1-F8F2208D385B}" dt="2026-10-07T12:09:15.378" v="138"/>
        <pc:sldMkLst>
          <pc:docMk/>
          <pc:sldMk cId="0" sldId="273"/>
        </pc:sldMkLst>
        <pc:spChg chg="mod">
          <ac:chgData name="Bryan Sun" userId="851caa7714272873" providerId="LiveId" clId="{1DF0C224-3A3E-55A6-A8D1-F8F2208D385B}" dt="2026-10-06T11:41:09.795" v="83" actId="1037"/>
          <ac:spMkLst>
            <pc:docMk/>
            <pc:sldMk cId="0" sldId="273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09.795" v="83" actId="1037"/>
          <ac:spMkLst>
            <pc:docMk/>
            <pc:sldMk cId="0" sldId="273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27.960" v="103" actId="1038"/>
          <ac:spMkLst>
            <pc:docMk/>
            <pc:sldMk cId="0" sldId="273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09.795" v="83" actId="1037"/>
          <ac:spMkLst>
            <pc:docMk/>
            <pc:sldMk cId="0" sldId="273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27.960" v="103" actId="1038"/>
          <ac:spMkLst>
            <pc:docMk/>
            <pc:sldMk cId="0" sldId="273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09.795" v="83" actId="1037"/>
          <ac:spMkLst>
            <pc:docMk/>
            <pc:sldMk cId="0" sldId="273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09.795" v="83" actId="1037"/>
          <ac:spMkLst>
            <pc:docMk/>
            <pc:sldMk cId="0" sldId="273"/>
            <ac:spMk id="14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27.960" v="103" actId="1038"/>
          <ac:spMkLst>
            <pc:docMk/>
            <pc:sldMk cId="0" sldId="273"/>
            <ac:spMk id="15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09.795" v="83" actId="1037"/>
          <ac:spMkLst>
            <pc:docMk/>
            <pc:sldMk cId="0" sldId="273"/>
            <ac:spMk id="18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27.960" v="103" actId="1038"/>
          <ac:spMkLst>
            <pc:docMk/>
            <pc:sldMk cId="0" sldId="273"/>
            <ac:spMk id="19" creationId="{00000000-0000-0000-0000-000000000000}"/>
          </ac:spMkLst>
        </pc:spChg>
        <pc:spChg chg="mod">
          <ac:chgData name="Bryan Sun" userId="851caa7714272873" providerId="LiveId" clId="{1DF0C224-3A3E-55A6-A8D1-F8F2208D385B}" dt="2026-10-06T11:41:27.960" v="103" actId="1038"/>
          <ac:spMkLst>
            <pc:docMk/>
            <pc:sldMk cId="0" sldId="273"/>
            <ac:spMk id="2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7T12:09:49.967" v="157" actId="20577"/>
        <pc:sldMkLst>
          <pc:docMk/>
          <pc:sldMk cId="0" sldId="276"/>
        </pc:sldMkLst>
        <pc:spChg chg="mod">
          <ac:chgData name="Bryan Sun" userId="851caa7714272873" providerId="LiveId" clId="{1DF0C224-3A3E-55A6-A8D1-F8F2208D385B}" dt="2026-10-07T12:09:49.967" v="157" actId="20577"/>
          <ac:spMkLst>
            <pc:docMk/>
            <pc:sldMk cId="0" sldId="276"/>
            <ac:spMk id="3" creationId="{00000000-0000-0000-0000-000000000000}"/>
          </ac:spMkLst>
        </pc:spChg>
      </pc:sldChg>
      <pc:sldChg chg="addSp modSp mod">
        <pc:chgData name="Bryan Sun" userId="851caa7714272873" providerId="LiveId" clId="{1DF0C224-3A3E-55A6-A8D1-F8F2208D385B}" dt="2026-10-08T12:17:53.793" v="250" actId="1036"/>
        <pc:sldMkLst>
          <pc:docMk/>
          <pc:sldMk cId="0" sldId="278"/>
        </pc:sldMkLst>
        <pc:spChg chg="mod">
          <ac:chgData name="Bryan Sun" userId="851caa7714272873" providerId="LiveId" clId="{1DF0C224-3A3E-55A6-A8D1-F8F2208D385B}" dt="2026-10-08T12:17:49.376" v="242" actId="14100"/>
          <ac:spMkLst>
            <pc:docMk/>
            <pc:sldMk cId="0" sldId="278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08T12:17:49.376" v="242" actId="14100"/>
          <ac:spMkLst>
            <pc:docMk/>
            <pc:sldMk cId="0" sldId="27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8T12:17:53.793" v="250" actId="1036"/>
          <ac:spMkLst>
            <pc:docMk/>
            <pc:sldMk cId="0" sldId="278"/>
            <ac:spMk id="8" creationId="{00000000-0000-0000-0000-000000000000}"/>
          </ac:spMkLst>
        </pc:spChg>
        <pc:spChg chg="add mod">
          <ac:chgData name="Bryan Sun" userId="851caa7714272873" providerId="LiveId" clId="{1DF0C224-3A3E-55A6-A8D1-F8F2208D385B}" dt="2026-10-08T12:08:28.392" v="194"/>
          <ac:spMkLst>
            <pc:docMk/>
            <pc:sldMk cId="0" sldId="278"/>
            <ac:spMk id="10" creationId="{51D0441D-E619-602D-9BFC-28D6DA9B4C66}"/>
          </ac:spMkLst>
        </pc:spChg>
      </pc:sldChg>
      <pc:sldChg chg="modAnim">
        <pc:chgData name="Bryan Sun" userId="851caa7714272873" providerId="LiveId" clId="{1DF0C224-3A3E-55A6-A8D1-F8F2208D385B}" dt="2026-10-07T12:14:05.606" v="188"/>
        <pc:sldMkLst>
          <pc:docMk/>
          <pc:sldMk cId="0" sldId="279"/>
        </pc:sldMkLst>
      </pc:sldChg>
      <pc:sldChg chg="addSp modSp mod ord">
        <pc:chgData name="Bryan Sun" userId="851caa7714272873" providerId="LiveId" clId="{1DF0C224-3A3E-55A6-A8D1-F8F2208D385B}" dt="2026-10-06T11:34:13.079" v="51" actId="1076"/>
        <pc:sldMkLst>
          <pc:docMk/>
          <pc:sldMk cId="0" sldId="289"/>
        </pc:sldMkLst>
        <pc:spChg chg="add mod">
          <ac:chgData name="Bryan Sun" userId="851caa7714272873" providerId="LiveId" clId="{1DF0C224-3A3E-55A6-A8D1-F8F2208D385B}" dt="2026-10-06T11:34:13.079" v="51" actId="1076"/>
          <ac:spMkLst>
            <pc:docMk/>
            <pc:sldMk cId="0" sldId="289"/>
            <ac:spMk id="7" creationId="{7CCBB945-DF17-60FE-C597-78B9D4F8E23E}"/>
          </ac:spMkLst>
        </pc:spChg>
        <pc:spChg chg="add mod">
          <ac:chgData name="Bryan Sun" userId="851caa7714272873" providerId="LiveId" clId="{1DF0C224-3A3E-55A6-A8D1-F8F2208D385B}" dt="2026-10-06T11:34:13.079" v="51" actId="1076"/>
          <ac:spMkLst>
            <pc:docMk/>
            <pc:sldMk cId="0" sldId="289"/>
            <ac:spMk id="8" creationId="{03BEA70A-2A2F-1B64-4962-2154CCE53BF2}"/>
          </ac:spMkLst>
        </pc:spChg>
      </pc:sldChg>
      <pc:sldChg chg="modSp mod">
        <pc:chgData name="Bryan Sun" userId="851caa7714272873" providerId="LiveId" clId="{1DF0C224-3A3E-55A6-A8D1-F8F2208D385B}" dt="2026-10-09T11:27:47.253" v="252" actId="14100"/>
        <pc:sldMkLst>
          <pc:docMk/>
          <pc:sldMk cId="0" sldId="292"/>
        </pc:sldMkLst>
        <pc:spChg chg="mod">
          <ac:chgData name="Bryan Sun" userId="851caa7714272873" providerId="LiveId" clId="{1DF0C224-3A3E-55A6-A8D1-F8F2208D385B}" dt="2026-10-09T11:27:47.253" v="252" actId="14100"/>
          <ac:spMkLst>
            <pc:docMk/>
            <pc:sldMk cId="0" sldId="292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10-09T11:27:41.930" v="251" actId="14100"/>
          <ac:spMkLst>
            <pc:docMk/>
            <pc:sldMk cId="0" sldId="292"/>
            <ac:spMk id="5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8T12:00:37.941" v="190" actId="14100"/>
        <pc:sldMkLst>
          <pc:docMk/>
          <pc:sldMk cId="0" sldId="298"/>
        </pc:sldMkLst>
        <pc:spChg chg="mod">
          <ac:chgData name="Bryan Sun" userId="851caa7714272873" providerId="LiveId" clId="{1DF0C224-3A3E-55A6-A8D1-F8F2208D385B}" dt="2026-10-08T12:00:37.941" v="190" actId="14100"/>
          <ac:spMkLst>
            <pc:docMk/>
            <pc:sldMk cId="0" sldId="298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8T12:00:48.682" v="191" actId="14100"/>
        <pc:sldMkLst>
          <pc:docMk/>
          <pc:sldMk cId="0" sldId="299"/>
        </pc:sldMkLst>
        <pc:spChg chg="mod">
          <ac:chgData name="Bryan Sun" userId="851caa7714272873" providerId="LiveId" clId="{1DF0C224-3A3E-55A6-A8D1-F8F2208D385B}" dt="2026-10-08T12:00:48.682" v="191" actId="14100"/>
          <ac:spMkLst>
            <pc:docMk/>
            <pc:sldMk cId="0" sldId="299"/>
            <ac:spMk id="4" creationId="{00000000-0000-0000-0000-000000000000}"/>
          </ac:spMkLst>
        </pc:spChg>
        <pc:graphicFrameChg chg="modGraphic">
          <ac:chgData name="Bryan Sun" userId="851caa7714272873" providerId="LiveId" clId="{1DF0C224-3A3E-55A6-A8D1-F8F2208D385B}" dt="2026-10-08T11:50:33.814" v="189" actId="404"/>
          <ac:graphicFrameMkLst>
            <pc:docMk/>
            <pc:sldMk cId="0" sldId="299"/>
            <ac:graphicFrameMk id="2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65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次课：三道题画出来是同一幅图，一排柱子和一条水平线。两道题削掉线上方的峰（cut the peaks），一道题填平线下方的谷（fill the valleys）。其中两道用 Binary Search 找这条线，第三道枚举每一个值。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Wheeling and Dealing 的完整解法只需要按花费分桶（每 100 个花费一块），全是数组和循环。课上讲思路、手算和分桶的代码。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没有第 3 步的 Greedy 规则只是猜测。AIO 的题通常猜规则很容易，证明才是真正的工作。整节课把第 3 步留在黑板上。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整节课都把这幅图留在黑板上。每道题都问：柱子是什么？这条线代表什么？
参考：Mundane Square：柱子 = 每列还缺的数量，线 = λ（削峰）；Wheeling and Dealing：柱子 = 每个对手的票数，线 = k − 1（削峰）；Prime Minister：柱子 = 右半边每个人的财富，线 = x（填谷）。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35 分钟。这是本次课的核心题，另外两道都拿来和它比较。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1：K = 4，R = 6 8 3，C = 5 5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提到 max-flow 只是让较强的学生知道这题在理论上属于哪一类，课上不讲。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换个角度看这道题：它其实是一个 max flow（最大流）问题。</a:t>
            </a:r>
          </a:p>
          <a:p>
            <a:r>
              <a:rPr lang="zh-CN" altLang="en-US" dirty="0"/>
              <a:t>建图：源点 S → 每一行 r_i，容量 R[i]（这一行要发出的总量）；每一行 r_i → 每一列 c_j，一条边对应一个格子，容量 K（格子里的数在 0 到 K 之间）；每一列 c_j → 汇点 T，容量 C[j]（这一列要收到的总量）。</a:t>
            </a:r>
          </a:p>
          <a:p>
            <a:r>
              <a:rPr lang="zh-CN" altLang="en-US" dirty="0"/>
              <a:t>中间边上的流量就是格子里的数：左边格子 (1, 3) = 3，对应右边 r1 → c3 的流量 3（橙色）。</a:t>
            </a:r>
          </a:p>
          <a:p>
            <a:r>
              <a:rPr lang="zh-CN" altLang="en-US" dirty="0"/>
              <a:t>结论：存在合法网格 ⇔ 从 S 到 T 的最大流 = ΣR = ΣC（样例 1 是 17），也就是所有 S 出边和 T 入边都被流满。</a:t>
            </a:r>
          </a:p>
          <a:p>
            <a:r>
              <a:rPr lang="zh-CN" altLang="en-US" dirty="0"/>
              <a:t>为什么不直接写 max flow：N² 条边、容量到 10⁹，超出 AIO 的范围也太慢。我们用 greedy + 水位线二分，算出的正是这样一个满流。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Greedy 三步法的第 1 步：猜规则。下一页是第 3 步：exchange argument。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在右侧画一个 2×2 的子网格：当前行和第 r 行、第 i 列和第 j 列，四个格子分别标 +1/−1。K = 1 时这就是 Gale–Ryser 定理背后的构造。这份解答也用 max-flow 暴力对拍验证过。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指回水位线图的左半边：这就是"削峰"。上限 K 表示每一格最多削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用样例 1 第 1 行演示水位线算法（K = 4，R[1] = 6，rem = 5 5 7）。</a:t>
            </a:r>
          </a:p>
          <a:p>
            <a:r>
              <a:rPr lang="zh-CN" altLang="en-US" dirty="0"/>
              <a:t>柱子高度 = 每一列还缺多少（rem）。蓝色虚线是水位 λ：线以上的部分（橙色）这一行发出去，但每列最多 K。</a:t>
            </a:r>
          </a:p>
          <a:p>
            <a:r>
              <a:rPr lang="zh-CN" altLang="en-US" dirty="0"/>
              <a:t>λ = 2：发 3 + 3 + 4 = 10，太多；第 3 列线以上有 5，但最多发 K = 4，所以有 1 格留在线以上（深色）。λ = 3：发 8，还是太多。λ = 4：发 5 ≤ 6，这是满足条件的最小 λ。</a:t>
            </a:r>
          </a:p>
          <a:p>
            <a:r>
              <a:rPr lang="zh-CN" altLang="en-US" dirty="0"/>
              <a:t>零头 6 − 5 = 1：给一个正好在水位线上、而且还没发满 K 的列。这里选第 1 列（紫色），第 1 行最终 = 2 1 3，rem 变成 3 4 4。</a:t>
            </a:r>
          </a:p>
          <a:p>
            <a:r>
              <a:rPr lang="zh-CN" altLang="en-US" dirty="0"/>
              <a:t>下方一行是 give(λ) 的值：λ 越大发得越少，单调递减，所以可以二分 λ，找第一个 give(λ) ≤ R[i] 的位置。</a:t>
            </a:r>
          </a:p>
          <a:p>
            <a:r>
              <a:rPr lang="zh-CN" altLang="en-US" dirty="0"/>
              <a:t>和上一页公式 x[j] = min(K, max(0, rem[j] − λ)) 一一对应；下一步就是第 2、3 行（见手算页）。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步常被误解：capacity 是这一行最多能发出多少（每格 ≤ K，也不超过该列还缺的数量）。如果连这个都小于 R[i]，这一行就填不满；如果 ≥ R[i]，说明有余量，由 λ 决定少发多少。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放映时按键（或点击）逐步显示红色答案：①λ = 3 行 ②λ = 4 行 ③λ ④零头和给哪一列 ⑤第 1 行 ⑥新的 rem。先让学生在纸上填，再一下一下揭晓。</a:t>
            </a:r>
          </a:p>
          <a:p>
            <a:r>
              <a:rPr lang="zh-CN" altLang="en-US" dirty="0"/>
              <a:t>答案：λ = 3：2 2 4 = 8 &gt; 6。λ = 4：1 1 3 = 5 ≤ 6。所以 λ = 4，零头 leftover = 1，给第 1 列（5 − 1 = 4 = λ，且 1 &lt; K）。第 1 行 = 2 1 3，rem = 3 4 4。</a:t>
            </a:r>
          </a:p>
          <a:p>
            <a:r>
              <a:rPr lang="zh-CN" altLang="en-US" dirty="0"/>
              <a:t>第 2 行（发 8）：λ = 0 得 11，λ = 1 得 2 3 3 = 8 → 第 2 行 = 2 3 3，rem = 1 1 1。</a:t>
            </a:r>
          </a:p>
          <a:p>
            <a:r>
              <a:rPr lang="zh-CN" altLang="en-US" dirty="0"/>
              <a:t>第 3 行（发 3）：1 1 1。输出 YES / 2 1 3 / 2 3 3 / 1 1 1（和样例输出不同，但题目接受任何合法的矩阵）。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 从 0 开始，r 取 rem[j] 的最大值。N 行 × 约 30 次二分 × N 列 ≈ 3×10^7，没问题。最多要输出 10^6 个数：每行结束时用一次 endl，不要每个数都 endl。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这一页回答两个问题：零头为什么一定分得完；分零头的代码怎么写。</a:t>
            </a:r>
          </a:p>
          <a:p>
            <a:r>
              <a:rPr lang="zh-CN" altLang="en-US" dirty="0"/>
              <a:t>1. 为什么分得完：λ 是满足 give(λ) ≤ R[i] 的最小值，所以 give(λ − 1) &gt; R[i]。把水位线从 λ 降到 λ − 1，只有"正好顶在线上、还没到 K"的列会多发 1 个（线以下的列不受影响；已经发满 K 的列也不能再多），所以 give(λ − 1) − give(λ) 正好等于这种列的个数。零头 left = R[i] − give(λ) &lt; give(λ − 1) − give(λ)，即零头个数少于这种列的个数，每列给 1 个就够了，而且每列最多多 1 个，不会超过 K。</a:t>
            </a:r>
          </a:p>
          <a:p>
            <a:r>
              <a:rPr lang="zh-CN" altLang="en-US" dirty="0"/>
              <a:t>样例 1 第 1 行：give(3) = 8 &gt; 6，give(4) = 5，零头 1；三列都正好在线上（rem − v = 4）且都没到 K，有 3 列可选，1 &lt; 3。</a:t>
            </a:r>
          </a:p>
          <a:p>
            <a:r>
              <a:rPr lang="zh-CN" altLang="en-US" dirty="0"/>
              <a:t>2. 代码逐行讲（给编码不熟的同学）：left 是零头；循环里先按公式算 v（削掉线以上的部分）；然后检查三件事：还有零头吗（left &gt; 0）？这一格还没满吗（v &lt; K）？削完后这一列正好在线上吗（rem[j] − v == lam）？三个都满足就多给 1 个：v ++，left --。最后把 v 写进答案 a[i][j]，并从 rem[j] 里减掉。</a:t>
            </a:r>
          </a:p>
          <a:p>
            <a:r>
              <a:rPr lang="zh-CN" altLang="en-US" dirty="0"/>
              <a:t>lam &gt; 0 只是保险：λ = 0 时 give(0) ≥ R[i] 且 give(0) ≤ R[i]，零头一定是 0。完整程序里循环后还有 if (left &gt; 0) 输出 NO，按上面的证明它永远不会触发，也只是保险。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提问：如果每个格子有自己的上限 K[i][j]，Greedy 还成立吗？
答案：不一定，这时需要真正的 max-flow。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1000，K, R[i], C[j] ≤ 10⁹）：</a:t>
            </a:r>
          </a:p>
          <a:p>
            <a:r>
              <a:rPr lang="zh-CN" altLang="en-US" dirty="0"/>
              <a:t>理论上这是 max-flow 问题，但 N² 条边、容量到 10⁹，远超 AIO 的范围。</a:t>
            </a:r>
          </a:p>
          <a:p>
            <a:r>
              <a:rPr lang="zh-CN" altLang="en-US" dirty="0"/>
              <a:t>Greedy 规则（每次给最缺的列）是对的，但一个单位一个单位地发，总量 ΣR 可达 10¹⁵ 级别，太慢。</a:t>
            </a:r>
          </a:p>
          <a:p>
            <a:r>
              <a:rPr lang="zh-CN" altLang="en-US" dirty="0"/>
              <a:t>关键：一整行一次发完——水位线 λ 越低发出越多，单调，所以对每一行二分 λ（约 30 次），每次 O(N)：总共 O(N² log C) ≈ 3×10⁷。这里 C = max C[j] ≤ 10⁹：rem[j] ≤ C[j]，所以 λ 的二分范围不超过 C，约 log₂10⁹ ≈ 30 轮。</a:t>
            </a:r>
          </a:p>
          <a:p>
            <a:r>
              <a:rPr lang="zh-CN" altLang="en-US" dirty="0"/>
              <a:t>输出：最多 10⁶ 个数（约 10 MB）。实测普通 cout（每行一个 endl）约 0.09 秒，1 秒时限内不需要优化。但可以借机提醒学生养成习惯：输出超过约 10⁵ 个数时，在 main 开头加 ios::sync_with_stdio(false); cin.tie(0);，换行用 "\n" 而不是 endl（endl 每次都会刷新缓冲区）；加了这一行后不要再混用 cin/cout 和 scanf/printf。配套代码已经这样写。</a:t>
            </a:r>
          </a:p>
          <a:p>
            <a:r>
              <a:rPr lang="zh-CN" altLang="en-US" dirty="0"/>
              <a:t>提问：Greedy 和 Binary Search 各自解决了什么？答案：Greedy 决定"给谁"，Binary Search 决定"一行给到哪个水位"。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分钟。注意这里不用 Binary Search：花费关于水位线不单调，这是和 Mundane Square 最主要的区别。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所以唯一的问题是：买哪些选民？
参考：让被买的选民都改投 1 号（对手少一票、1 号多一票），一定不比改投别人差。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Exchange argument：如果买了某个对手较贵的选民，却没买他更便宜的选民，换成便宜的，票数结果相同，花费更少。</a:t>
            </a:r>
          </a:p>
          <a:p>
            <a:r>
              <a:rPr lang="zh-CN" altLang="en-US" dirty="0"/>
              <a:t>注意 k 的含义：k 是 1 号票数的下限（至少 k 票），不是最终的确切票数。每个对手至多 k − 1 票、1 号至少 k 票，1 号就一定赢。被迫购买之后 1 号可能已经超过 k 票（手算页 k = 1 时有 7 票），这个方案仍然合法，只是不用再补买。为什么枚举所有 k 取最小就是答案：每个 k 给出的都是合法方案；而最优方案如果最终有 F 票、对手都 ≤ F − 1，它在 k = F 这一轮满足约束，greedy 的花费不会比它高。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放映时按键（或点击）逐步显示红色答案：①–⑤ k = 1 到 5 各一行。先让学生在纸上填，再一下一下揭晓。</a:t>
            </a:r>
          </a:p>
          <a:p>
            <a:r>
              <a:rPr lang="zh-CN" altLang="en-US" dirty="0"/>
              <a:t>答案（自编例子，已用解答程序验证）：</a:t>
            </a:r>
          </a:p>
          <a:p>
            <a:r>
              <a:rPr lang="zh-CN" altLang="en-US" dirty="0"/>
              <a:t>k = 1：两个对手都削到 0：1+2+5+9 + 3+3 = 23，我方 7 票。</a:t>
            </a:r>
          </a:p>
          <a:p>
            <a:r>
              <a:rPr lang="zh-CN" altLang="en-US" dirty="0"/>
              <a:t>k = 2：2 号削到 1（1+2+5），3 号削到 1（3）= 11，我方 5 票。</a:t>
            </a:r>
          </a:p>
          <a:p>
            <a:r>
              <a:rPr lang="zh-CN" altLang="en-US" dirty="0"/>
              <a:t>k = 3：2 号削到 2（1+2）= 3，我方 3 票。最优。</a:t>
            </a:r>
          </a:p>
          <a:p>
            <a:r>
              <a:rPr lang="zh-CN" altLang="en-US" dirty="0"/>
              <a:t>k = 4：2 号削到 3（1），我方 2 票，再补买剩下最便宜的 2 个（2+3）= 6。</a:t>
            </a:r>
          </a:p>
          <a:p>
            <a:r>
              <a:rPr lang="zh-CN" altLang="en-US" dirty="0"/>
              <a:t>k = 5：不用削，补买最便宜的 4 个（1+2+3+3）= 9。</a:t>
            </a:r>
          </a:p>
          <a:p>
            <a:r>
              <a:rPr lang="zh-CN" altLang="en-US" dirty="0"/>
              <a:t>花费依次是 23、11、3、6、9：两头都贵，关于 k 不单调，所以不能二分，只能枚举每个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提问：为什么 Mundane 可以二分水位线，而 Wheeling 不行？
答案：指着花费 23、11、3、6、9：Wheeling 的花费关于 k 不单调；Mundane 中"这一行发出的总量"关于 λ 单调不增。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这一页讲清楚整个算法的开销：枚举每个目标 k（最多 M 个），每个 k 有两部分工作。</a:t>
            </a:r>
          </a:p>
          <a:p>
            <a:r>
              <a:rPr lang="zh-CN" altLang="en-US" dirty="0"/>
              <a:t>① 强制购买（forced buys）：把每个票数 ≥ k 的对手削到 k − 1，买他最便宜的选民。如果每个 k 都从头算，一个 k 最多要买 M 个，M 个 k 一共 O(M²) ≈ 10¹⁰，太慢。改进：k 从大到小扫。k 每减 1，每个需要削的对手只多买 1 个（他下一个最便宜的），之前买的不会退回，所以所有 k 加起来最多买 M 次，O(M)。</a:t>
            </a:r>
          </a:p>
          <a:p>
            <a:r>
              <a:rPr lang="zh-CN" altLang="en-US" dirty="0"/>
              <a:t>② 补买（top-up）：强制购买后 1 号还不到 k 票，就从剩下的池子里买最便宜的 t 个。如果每个 k 都把池子扫一遍或排序，一个 k 是 O(M)，总共 O(M²) ≈ 10¹⁰，也太慢。改进：花费 ≤ 10 000，把池子按花费分组，每 100 个花费一块，记下每块的人数和总和；求最便宜的 t 个时先整块跳，再在一块里逐个花费拿，每个 k 约 200 步，总共 O(M · √10 000) ≈ 2 × 10⁷。</a:t>
            </a:r>
          </a:p>
          <a:p>
            <a:r>
              <a:rPr lang="zh-CN" altLang="en-US" dirty="0"/>
              <a:t>总复杂度：开始时排序 O(M log M)，加上两部分，M = 100 000 时 1 秒内轻松通过。后面两页分别讲这两部分代码的写法。</a:t>
            </a:r>
          </a:p>
          <a:p>
            <a:r>
              <a:rPr lang="zh-CN" altLang="en-US" dirty="0"/>
              <a:t>Subtask 1–2（每个花费都是 $1）只需要计数；subtask 3（N, M ≤ 100）每个 k 从头算就够了。和 Codeforces 1019A "Elections" 是同一类题。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这一页讲 sweep 的写法，不逐行看代码，按步骤讲。</a:t>
            </a:r>
          </a:p>
          <a:p>
            <a:r>
              <a:rPr lang="zh-CN" altLang="en-US" dirty="0"/>
              <a:t>① 选民按（候选人, 花费）排序：对手 j 的选民挨在一起、从便宜到贵，是 a[st[j]] 到 a[st[j] + votes[j] − 1]。taken[j] 记从 j 那里已经买了几个，所以他下一个最便宜的就是 a[st[j] + taken[j]]，不需要再找。</a:t>
            </a:r>
          </a:p>
          <a:p>
            <a:r>
              <a:rPr lang="zh-CN" altLang="en-US" dirty="0"/>
              <a:t>② 对手按票数分组：head[c] 是票数恰好为 c 的对手列表（用 nx[] 串成链表）。</a:t>
            </a:r>
          </a:p>
          <a:p>
            <a:r>
              <a:rPr lang="zh-CN" altLang="en-US" dirty="0"/>
              <a:t>③ k 从 M 往下扫到 max(c1, 1)。到 k 时，票数恰好为 k 的对手开始需要被削，把他们加入 act；k 再变小他们仍然要削，所以 act 只增不减。</a:t>
            </a:r>
          </a:p>
          <a:p>
            <a:r>
              <a:rPr lang="zh-CN" altLang="en-US" dirty="0"/>
              <a:t>④ 对 act 里每个对手 j：他要剩 k − 1 票，就要被买走 votes[j] − (k − 1) 个；已经买了 taken[j] 个，不够就继续买下一个最便宜的，累加强制花费 fc、强制票数 fn，并把这个选民从池子里删掉。</a:t>
            </a:r>
          </a:p>
          <a:p>
            <a:r>
              <a:rPr lang="zh-CN" altLang="en-US" dirty="0"/>
              <a:t>⑤ 1 号现在有 have = c1 + fn 票。不够 k 就用 cheapest(k − have) 从池子里补最便宜的（池子人数不够就跳过这个 k），更新最小花费。</a:t>
            </a:r>
          </a:p>
          <a:p>
            <a:r>
              <a:rPr lang="zh-CN" altLang="en-US" dirty="0"/>
              <a:t>右边的表是程序在手算例子上实际算出的中间值（k 从 7 到 1）：k = 7、6、5 没有对手要削，全靠补买；k = 4 时 C2 加入，买他最便宜的 1，补买时池子里只剩 2、5、9、3、3，最便宜的 2 个是 2 + 3；k = 3 花费 3，是最小值；k = 2 时 C3 也加入。答案 3。</a:t>
            </a:r>
          </a:p>
          <a:p>
            <a:r>
              <a:rPr lang="zh-CN" altLang="en-US" dirty="0"/>
              <a:t>为什么是 O(M)：taken[j] 只增不减，每个选民最多被强制买一次；act 的遍历总次数是各对手票数之和 ≤ 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这一页讲按花费分组（分桶）的写法。</a:t>
            </a:r>
          </a:p>
          <a:p>
            <a:r>
              <a:rPr lang="zh-CN" altLang="en-US" dirty="0"/>
              <a:t>① 三个数组：cnt[c] 是池子里花费为 c 的选民人数；第 b 块包含花费 100b 到 100b + 99，bcnt[b] 是这一块的人数，bsum[b] 是这一块的花费总和。</a:t>
            </a:r>
          </a:p>
          <a:p>
            <a:r>
              <a:rPr lang="zh-CN" altLang="en-US" dirty="0"/>
              <a:t>② 加入或删除一个花费为 c 的选民：三个数组一起改，cnt[c]、bcnt[c / 100]、bsum[c / 100]。一开始把所有不投 1 号的选民加入；强制购买时删除。</a:t>
            </a:r>
          </a:p>
          <a:p>
            <a:r>
              <a:rPr lang="zh-CN" altLang="en-US" dirty="0"/>
              <a:t>③ cheapest(t) 第一步：从第 0 块往后走，这一块的人数还不够 t，就整块拿走（t 减去人数，sum 加上总和）。</a:t>
            </a:r>
          </a:p>
          <a:p>
            <a:r>
              <a:rPr lang="zh-CN" altLang="en-US" dirty="0"/>
              <a:t>④ cheapest(t) 第二步：走到某一块人数够了，就进入这一块，从花费 100b 开始往上，每个花费拿 min(cnt[c], t) 个，直到 t = 0。</a:t>
            </a:r>
          </a:p>
          <a:p>
            <a:r>
              <a:rPr lang="zh-CN" altLang="en-US" dirty="0"/>
              <a:t>例子：块里的人数依次是 3、2、4、5，t = 7：拿走第 0 块（3 个）和第 1 块（2 个），还差 2 个；第 2 块有 4 个 ≥ 2，进入第 2 块拿最便宜的 2 个。</a:t>
            </a:r>
          </a:p>
          <a:p>
            <a:r>
              <a:rPr lang="zh-CN" altLang="en-US" dirty="0"/>
              <a:t>为什么大约 200 步：最多走 101 块，再在一块里最多走 100 个花费。可以问学生：为什么块的大小取 100？（10 000 = 100 × 100，块数和块内长度都是 100，两段加起来最少。）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100 000，P[i] ≤ 10 000）：</a:t>
            </a:r>
          </a:p>
          <a:p>
            <a:r>
              <a:rPr lang="zh-CN" altLang="en-US" dirty="0"/>
              <a:t>暴力：枚举买哪些选民，2^M。</a:t>
            </a:r>
          </a:p>
          <a:p>
            <a:r>
              <a:rPr lang="zh-CN" altLang="en-US" dirty="0"/>
              <a:t>固定目标 k（1 号至少 k 票、每个对手至多 k − 1 票）之后，Greedy 告诉我们买哪些：每个对手削到 k − 1 票（买他最便宜的），不够再补买全局最便宜的。逐个 k 从头算是 O(M²) ≈ 10¹⁰。</a:t>
            </a:r>
          </a:p>
          <a:p>
            <a:r>
              <a:rPr lang="zh-CN" altLang="en-US" dirty="0"/>
              <a:t>关键：k 从大到小扫，被迫购买只增不减，每个选民最多被买一次；"剩下最便宜的 t 个"按花费分桶（每 100 个花费一块），每次最多约 200 步。总共 O(M · √10 000)。</a:t>
            </a:r>
          </a:p>
          <a:p>
            <a:r>
              <a:rPr lang="zh-CN" altLang="en-US" dirty="0"/>
              <a:t>注意：花费关于 k 不单调，所以不能二分，只能扫描每个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分钟，之后这道题就是现场编码题。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1：N = 5，K = 4，A = 1 2 5 6 9。答案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搜索范围：[A[md], A[md] + K]。
提问：为什么 A[md] + K 是安全的上界？
答案：中位数要 ≥ x，至少要让 A[md] 这个人达到 x；就算把 K 全给他，也只能到 A[md] +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放映时按键（或点击）逐步显示红色答案：①md ②右半边 ③搜索范围 ④–⑥ x = 6、7、8 各一行 ⑦答案。先让学生在纸上填，再一下一下揭晓。</a:t>
            </a:r>
          </a:p>
          <a:p>
            <a:r>
              <a:rPr lang="zh-CN" altLang="en-US" dirty="0"/>
              <a:t>答案：md = 3，右半边 5 6 9，搜索范围 [5, 9]。</a:t>
            </a:r>
          </a:p>
          <a:p>
            <a:r>
              <a:rPr lang="zh-CN" altLang="en-US" dirty="0"/>
              <a:t>x = 6：要补 1 0 0 → 1，可以。x = 7：2 1 0 → 3，可以。x = 8：3 2 0 → 5，不行。答案 7（找最后一个可行值 → 输出 r）。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和全班一起填这张表，一次填一列。
参考答案就是表中内容：柱子分别是右半边的财富 / 每列还缺的数量 / 每个对手的票数；动作分别是填谷 / 削峰（每格 ≤ K）/ 削峰；找水位线的方法分别是二分（最后一个 x）/ 二分（第一个 λ）/ 枚举每个 k；目标分别是最优化 / 判断有没有解并构造 / 最优化。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提问：两个函数分别朝哪个方向单调？分别找第一个还是最后一个可行值？
答案：Prime Minister：x 越大 cost 越大，找最后一个可行的 x（→ r）。Mundane：λ 越小 give 越大，找第一个满足 give(λ) ≤ R[i] 的 λ（→ l）。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200 000，K, A[i] ≤ 10⁹）：</a:t>
            </a:r>
          </a:p>
          <a:p>
            <a:r>
              <a:rPr lang="zh-CN" altLang="en-US" dirty="0"/>
              <a:t>模拟：每次把 $1 给右半边最穷的人，用堆 O(K log N)，K 可达 10⁹。</a:t>
            </a:r>
          </a:p>
          <a:p>
            <a:r>
              <a:rPr lang="zh-CN" altLang="en-US" dirty="0"/>
              <a:t>枚举目标 x：x 最多比 A[md] 大 K，每个 x 检查 O(N)，O(K·N)。</a:t>
            </a:r>
          </a:p>
          <a:p>
            <a:r>
              <a:rPr lang="zh-CN" altLang="en-US" dirty="0"/>
              <a:t>关键：Greedy 说明只需要把右半边补到 x；"中位数能否达到 x"关于 x 单调，二分约 30 次，每次 O(N)：O(N log K) ≈ 6×10⁶。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bug：给整个数组补钱，而不是只补右半边；int 溢出（A[md] + K 可达 2×10^9）；输出 l 而不是 r。
样例答案：7、6、2。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指出：到目前为止 9 道题中有 6 道用了 Binary Search。下次课会加一个新工具 Sparse Table，以及整个课程最难的题。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下次课：Sparse Table、Robot Writing 和 Beach Umbrellas。
第 3 题参考答案：如果每格上限 K[i][j] 不同，"优先给需求最大的列"就不一定对了（某些列在某些行的上限很小），一般需要 max-flow。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课外读物：用 Fenwick tree（树状数组，Binary Indexed Tree）实现 Wheeling and Dealing 的"补买"（top-up）。课上用的是按花费分块（每 100 个花费一块），这里介绍另一种做法，学有余力的同学看。</a:t>
            </a:r>
          </a:p>
          <a:p>
            <a:r>
              <a:rPr lang="zh-CN" altLang="en-US" dirty="0"/>
              <a:t>把池子看成一个按花费计数的数组：cnt[c] = 池子里花费为 c 的选民个数。"最便宜的 t 个之和"就是从花费小的往大走，把计数累加起来（prefix count），直到凑够 t 个。</a:t>
            </a:r>
          </a:p>
          <a:p>
            <a:r>
              <a:rPr lang="zh-CN" altLang="en-US" dirty="0"/>
              <a:t>图中例子：cnt = 2 0 1 3 0 2 1 1（花费 1 到 8），前缀计数 = 2 2 3 6 6 8 9 10。t = 5：前缀计数第一次 ≥ 5 是在花费 4，所以取花费 1 的 2 个、花费 3 的 1 个、花费 4 的 2 个，和 = 1 + 1 + 3 + 4 + 4 = 13。</a:t>
            </a:r>
          </a:p>
          <a:p>
            <a:r>
              <a:rPr lang="zh-CN" altLang="en-US" dirty="0"/>
              <a:t>难点在于池子一直在变：强制购买会把选民移出池子。所以需要两种操作都快：改一个 cnt[c]；沿前缀和走到第 t 个。</a:t>
            </a:r>
          </a:p>
          <a:p>
            <a:r>
              <a:rPr lang="zh-CN" altLang="en-US" dirty="0"/>
              <a:t>表格：普通数组改是 O(1)，但走前缀和要 O(C)；分块是 O(1) 和 O(√C)；Fenwick tree 两种操作都是 O(log C)。</a:t>
            </a:r>
          </a:p>
          <a:p>
            <a:r>
              <a:rPr lang="zh-CN" altLang="en-US" dirty="0"/>
              <a:t>提问：如果没有修改，只要一次查询，最简单的做法是什么？答案：先把池子排序，再求一次前缀和就行。Fenwick tree 的价值在于"边改边查"。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Fenwick tree 的结构：一个数组 tree[1..C]，每个位置存一段连续区间的和。</a:t>
            </a:r>
          </a:p>
          <a:p>
            <a:r>
              <a:rPr lang="zh-CN" altLang="en-US" dirty="0"/>
              <a:t>lowbit(i) = i &amp; (−i)，就是 i 的二进制里最低的那个 1 代表的数。例如 6 = 0110，lowbit = 2；12 = 1100，lowbit = 4；8 = 1000，lowbit = 8；奇数的 lowbit 都是 1。</a:t>
            </a:r>
          </a:p>
          <a:p>
            <a:r>
              <a:rPr lang="zh-CN" altLang="en-US" dirty="0"/>
              <a:t>tree[i] 存的是"以 i 结尾、长度为 lowbit(i) 的那一段"的和，即 cnt[i − lowbit(i) + 1] + … + cnt[i]。图中每个色块就是一个 tree[i] 管的范围：奇数位置只管自己，tree[2] 管 1..2，tree[4] 管 1..4，tree[8] 管 1..8，tree[12] 管 9..12，以此类推。</a:t>
            </a:r>
          </a:p>
          <a:p>
            <a:r>
              <a:rPr lang="zh-CN" altLang="en-US" dirty="0"/>
              <a:t>关键性质：任何前缀 1..x 都能拆成不超过 log C 个这样的块。例如 1..13 = tree[8]（1..8）+ tree[12]（9..12）+ tree[13]（13）。</a:t>
            </a:r>
          </a:p>
          <a:p>
            <a:r>
              <a:rPr lang="zh-CN" altLang="en-US" dirty="0"/>
              <a:t>为什么 i &amp; (−i) 能取出最低位的 1：在补码里 −i = ~i + 1，最低位 1 以下全变成 0、以上全部取反，与 i 按位与之后只剩那一位。</a:t>
            </a:r>
          </a:p>
          <a:p>
            <a:r>
              <a:rPr lang="zh-CN" altLang="en-US" dirty="0"/>
              <a:t>提问：tree[10] 管哪一段？答案：10 = 1010，lowbit = 2，管 9..10。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两个基本操作，都是沿着 lowbit 跳。</a:t>
            </a:r>
          </a:p>
          <a:p>
            <a:r>
              <a:rPr lang="zh-CN" altLang="en-US" dirty="0"/>
              <a:t>修改 cnt[5]（加 d）：所有"管到 5"的块都要加 d。从 i = 5 开始，每次 i += lowbit(i)：5 → 6 → 8 → 16。对照左图，橙色的块正好是包含位置 5 的所有块。</a:t>
            </a:r>
          </a:p>
          <a:p>
            <a:r>
              <a:rPr lang="zh-CN" altLang="en-US" dirty="0"/>
              <a:t>求前缀和 cnt[1..13]：从 i = 13 开始，每次 i −= lowbit(i)：13 → 12 → 8 → 0。对照右图，tree[13]（13）、tree[12]（9..12）、tree[8]（1..8）正好拼成 1..13。</a:t>
            </a:r>
          </a:p>
          <a:p>
            <a:r>
              <a:rPr lang="zh-CN" altLang="en-US" dirty="0"/>
              <a:t>为什么是 O(log C)：往下跳每次去掉最低位的 1，最多 log C 次；往上跳每次最低位的 1 往高位进，最多也是 log C 次。</a:t>
            </a:r>
          </a:p>
          <a:p>
            <a:r>
              <a:rPr lang="zh-CN" altLang="en-US" dirty="0"/>
              <a:t>代码只有几行，背下来即可。注意下标从 1 开始（下标 0 会让 i &amp; (−i) = 0，死循环）。</a:t>
            </a:r>
          </a:p>
          <a:p>
            <a:r>
              <a:rPr lang="zh-CN" altLang="en-US" dirty="0"/>
              <a:t>练习：写出修改 cnt[3] 时经过的下标（3 → 4 → 8 → 16），以及求 cnt[1..11] 时经过的下标（11 → 10 → 8）。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找"最便宜的 t 个之和"：在 Fenwick tree 上从高位往低位走（也叫 Fenwick 上的二分 / binary lifting）。</a:t>
            </a:r>
          </a:p>
          <a:p>
            <a:r>
              <a:rPr lang="zh-CN" altLang="en-US" dirty="0"/>
              <a:t>做法：pos 从 0 开始。依次尝试步长 2^k（k 从大到小）。如果 tree[pos + 2^k] 这一块里的选民数 &lt; t，说明这一整块都要买：pos 跳过去，t 减去这一块的个数，sum 加上这一块的花费和。否则不跳（这一块太多了，答案在这一块里面）。</a:t>
            </a:r>
          </a:p>
          <a:p>
            <a:r>
              <a:rPr lang="zh-CN" altLang="en-US" dirty="0"/>
              <a:t>为什么只看一个格子就够：pos 每次都是 2 的幂之和，pos + 2^k 的 lowbit 正好是 2^k，所以 tree[pos + 2^k] 管的恰好是 pos+1 .. pos+2^k 这一段，就是"接下来的 2^k 个花费"。</a:t>
            </a:r>
          </a:p>
          <a:p>
            <a:r>
              <a:rPr lang="zh-CN" altLang="en-US" dirty="0"/>
              <a:t>例子（cnt = 2 0 1 3 0 2 1 1，t = 5）：</a:t>
            </a:r>
          </a:p>
          <a:p>
            <a:r>
              <a:rPr lang="zh-CN" altLang="en-US" dirty="0"/>
              <a:t>k = 3：tree[8] 管 1..8，有 10 个 ≥ 5，不跳。</a:t>
            </a:r>
          </a:p>
          <a:p>
            <a:r>
              <a:rPr lang="zh-CN" altLang="en-US" dirty="0"/>
              <a:t>k = 2：tree[4] 管 1..4，有 6 个 ≥ 5，不跳。</a:t>
            </a:r>
          </a:p>
          <a:p>
            <a:r>
              <a:rPr lang="zh-CN" altLang="en-US" dirty="0"/>
              <a:t>k = 1：tree[2] 管 1..2，有 2 个 &lt; 5，整块买下：pos = 2，t = 3，sum = 2（两个花费 1）。</a:t>
            </a:r>
          </a:p>
          <a:p>
            <a:r>
              <a:rPr lang="zh-CN" altLang="en-US" dirty="0"/>
              <a:t>k = 0：tree[3] 管 3，有 1 个 &lt; 3，买下：pos = 3，t = 2，sum = 2 + 3 = 5。</a:t>
            </a:r>
          </a:p>
          <a:p>
            <a:r>
              <a:rPr lang="zh-CN" altLang="en-US" dirty="0"/>
              <a:t>结束时花费 1..pos 一共不到 t 个，剩下的 t = 2 个都在花费 pos + 1 = 4：总和 = 5 + 2 × 4 = 13，和第一页的答案一样。</a:t>
            </a:r>
          </a:p>
          <a:p>
            <a:r>
              <a:rPr lang="zh-CN" altLang="en-US" dirty="0"/>
              <a:t>要点：需要两棵 Fenwick tree，一棵存个数（决定跳不跳），一棵存花费和（跳的时候累加）。复杂度 O(log C)。如果改用"二分花费 + 每次 ask 前缀和"也可以，但是 O(log² C)。</a:t>
            </a:r>
          </a:p>
          <a:p>
            <a:r>
              <a:rPr lang="zh-CN" altLang="en-US" dirty="0"/>
              <a:t>注意数组大小要取 2 的幂（代码里取 2^14 = 16384 &gt; 10001），这样从最高位开始走才不会越界。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完整的 Fenwick 版补买代码，两个函数可以直接替换课上分块版的 add() 和 cheapest()，主程序（k 从大到小扫、强制购买）完全不用改。</a:t>
            </a:r>
          </a:p>
          <a:p>
            <a:r>
              <a:rPr lang="zh-CN" altLang="en-US" dirty="0"/>
              <a:t>fcnt 存个数、fsum 存花费和，两棵树同时更新。</a:t>
            </a:r>
          </a:p>
          <a:p>
            <a:r>
              <a:rPr lang="zh-CN" altLang="en-US" dirty="0"/>
              <a:t>下标 = 花费 + 1：花费可能是 0，而下标 0 在 Fenwick 里不能用（i &amp; (−i) = 0，循环不会动）。所以花费 c 放在下标 c + 1。走完之后，下标 1..pos 对应花费 0..pos − 1，剩下的 t 个都在下标 pos + 1，也就是花费 pos，所以最后加 t * pos。（上一页的例子花费从 1 开始、没有平移，所以那里写的是 pos + 1。）</a:t>
            </a:r>
          </a:p>
          <a:p>
            <a:r>
              <a:rPr lang="zh-CN" altLang="en-US" dirty="0"/>
              <a:t>数组大小取 2^14 = 16384，比 10001 个可能的花费大，而且是 2 的幂，从 k = LOG 开始走不会漏也不会越界。</a:t>
            </a:r>
          </a:p>
          <a:p>
            <a:r>
              <a:rPr lang="zh-CN" altLang="en-US" dirty="0"/>
              <a:t>调用前要保证 t ≤ 池子里的人数（主程序里已经判断 k − have &gt; pool 时跳过）。</a:t>
            </a:r>
          </a:p>
          <a:p>
            <a:r>
              <a:rPr lang="zh-CN" altLang="en-US" dirty="0"/>
              <a:t>完整程序在 Code 文件夹：2023_P5_Wheeling_and_Dealing_Fenwick.cpp，已经和分块版用 3000 组随机数据比对过，结果一致。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两种做法对比：分块每次补买约 200 步（O(√C)），Fenwick 约 15 步（O(log C)），但 Fenwick 每次修改也要 O(log C)。对 M = 10^5，分块总共约 2 × 10^7，Fenwick 约 3 × 10^6，都能轻松通过。</a:t>
            </a:r>
          </a:p>
          <a:p>
            <a:r>
              <a:rPr lang="zh-CN" altLang="en-US" dirty="0"/>
              <a:t>分块的优点：不用学新东西，不容易写错；缺点：要求值域小（这里花费 ≤ 10000）。</a:t>
            </a:r>
          </a:p>
          <a:p>
            <a:r>
              <a:rPr lang="zh-CN" altLang="en-US" dirty="0"/>
              <a:t>Fenwick tree 的优点：以后会反复用到。"会变的前缀和"、"动态集合里的第 k 小"、"逆序对计数"都是它的经典用法；AIIO 及以上的题目经常需要。</a:t>
            </a:r>
          </a:p>
          <a:p>
            <a:r>
              <a:rPr lang="zh-CN" altLang="en-US" dirty="0"/>
              <a:t>比赛建议：两种都能过时，写你最有把握一次写对的那种。</a:t>
            </a:r>
          </a:p>
          <a:p>
            <a:r>
              <a:rPr lang="zh-CN" altLang="en-US" dirty="0"/>
              <a:t>练习（答案）：逆序对计数。从左往右扫，对每个 A[j]，先用 ask 查已经出现的数里有多少个 ≤ A[j]，用已出现的个数 j − 1 减去它，就是以 j 结尾的逆序对数；然后 add(A[j], 1)。值域大时先离散化（排序后换成名次）。复杂度 O(N log 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aude.ai/artifact/DZa2mivzr7GptrBmfKuan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751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747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rac2.info/problem/1298/" TargetMode="External"/><Relationship Id="rId5" Type="http://schemas.openxmlformats.org/officeDocument/2006/relationships/hyperlink" Target="https://orac2.info/problem/1747/" TargetMode="External"/><Relationship Id="rId4" Type="http://schemas.openxmlformats.org/officeDocument/2006/relationships/hyperlink" Target="https://orac2.info/problem/1298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ACHIEVERS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</a:t>
            </a: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03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093"/>
              </a:lnSpc>
              <a:buNone/>
            </a:pPr>
            <a:r>
              <a:rPr lang="en-US" sz="485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AND THE WATER LEVEL</a:t>
            </a:r>
            <a:endParaRPr lang="en-US" sz="4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40259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exchange arguments, the water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0:15–0:50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P6 Mundane Square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0:50–1:10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P5 Wheeling and Dealing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try every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P5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 · GREEDY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A RULE, THEN PROVE IT IS SAFE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Guess the rule from small cases.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999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any best answer that breaks the rule.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096816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Swap one piece so it follows the rule. If the answer is no worse, the rule is safe: an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argument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4416"/>
            <a:ext cx="11200384" cy="89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altLang="zh-CN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erve the tallest column first · buy each rival's cheapest voters · top up the poorest person.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PICTURE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AND A WATER LEVEL</a:t>
            </a:r>
            <a:endParaRPr lang="en-US" sz="3900" dirty="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03016"/>
            <a:ext cx="10566400" cy="31922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298480"/>
            <a:ext cx="5292038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peaks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the line</a:t>
            </a:r>
            <a:endParaRPr lang="en-US" sz="2100" dirty="0"/>
          </a:p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Wheeling and Dealing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075289" y="5298480"/>
            <a:ext cx="4562146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valleys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the line</a:t>
            </a:r>
            <a:endParaRPr lang="en-US" sz="2100" dirty="0"/>
          </a:p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27783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35783"/>
            <a:ext cx="11200384" cy="97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65"/>
              </a:lnSpc>
              <a:buNone/>
            </a:pPr>
            <a:r>
              <a:rPr lang="en-US" sz="615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615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23518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grid with given row and column sums, every cell between 0 and K.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01418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01418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01418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4201418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201418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6356449" y="4201418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772918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772918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 an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grid of integers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whose row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sums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column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sums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Print YES and the grid, or NO.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 an N×N grid of integers in [0, K] whose row i sums to R[i] and column j sums to C[j]. Print YES and the grid, or NO.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987477"/>
                <a:ext cx="1009650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987477"/>
                <a:ext cx="1009650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≤ 1000, K, R[i], C[j] ≤ 10⁹</a:t>
                </a:r>
                <a:endParaRPr lang="en-US" sz="21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3431977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Think of it as shipping: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row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sends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units, column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units, and each (row, column) pair carries at most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3431977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Think of it as shipping: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row i sends R[i] units, column j needs C[j] units, and each (row, column) pair carries at most K.</a:t>
                </a:r>
                <a:endParaRPr lang="en-US" sz="2400" dirty="0"/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EASY NOs FIRST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NECESSARY, BUT NOT ENOUGH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2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Sample 3: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but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NO.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ΣR = ΣC.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Sample 3: 7+0+3 = 10 but 6+2+3 = 11 → NO.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Sample 4: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NO.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R[i], C[j] ≤ N·K.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Sample 4: K = 1, N = 4, R[2] = 5 &gt; 4 → NO.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3127177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 general this is a max-flow problem, but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edges with capacities up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Too heavy, and outside AIO.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3127177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 general this is a max-flow problem, but N = 1000 means 10⁶ edges with capacities up to 10⁹. Too heavy, and outside AIO.</a:t>
                </a:r>
                <a:endParaRPr lang="en-US" sz="2400" dirty="0"/>
              </a:p>
            </p:txBody>
          </p:sp>
        </mc:Fallback>
      </mc:AlternateContent>
      <p:sp>
        <p:nvSpPr>
          <p:cNvPr id="7" name="Text 5"/>
          <p:cNvSpPr txBox="1"/>
          <p:nvPr/>
        </p:nvSpPr>
        <p:spPr>
          <a:xfrm>
            <a:off x="812800" y="4211638"/>
            <a:ext cx="11200384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greedy rule.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ANOTHER VIEW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IS A FLOW NETWORK</a:t>
            </a:r>
            <a:endParaRPr lang="en-US" sz="3900" dirty="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801416"/>
            <a:ext cx="10566400" cy="3798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5751909"/>
                <a:ext cx="11200384" cy="3247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10"/>
                  </a:lnSpc>
                  <a:buNone/>
                </a:pPr>
                <a:r>
                  <a:rPr lang="en-US" sz="16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grid exists </a:t>
                </a:r>
                <a14:m>
                  <m:oMath xmlns:m="http://schemas.openxmlformats.org/officeDocument/2006/math">
                    <m:r>
                      <a:rPr lang="en-US" sz="165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6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max flow from </a:t>
                </a:r>
                <a14:m>
                  <m:oMath xmlns:m="http://schemas.openxmlformats.org/officeDocument/2006/math">
                    <m:r>
                      <a:rPr lang="en-US" sz="16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6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6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5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16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5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16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6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(17 here): every </a:t>
                </a:r>
                <a14:m>
                  <m:oMath xmlns:m="http://schemas.openxmlformats.org/officeDocument/2006/math">
                    <m:r>
                      <a:rPr lang="en-US" sz="16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6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-edge and </a:t>
                </a:r>
                <a14:m>
                  <m:oMath xmlns:m="http://schemas.openxmlformats.org/officeDocument/2006/math">
                    <m:r>
                      <a:rPr lang="en-US" sz="16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-edge full.</a:t>
                </a:r>
                <a:endParaRPr lang="en-US" sz="16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5751909"/>
                <a:ext cx="11200384" cy="3247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10"/>
                  </a:lnSpc>
                  <a:buNone/>
                </a:pPr>
                <a:r>
                  <a:rPr lang="en-US" sz="16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grid exists ⇔ max flow from S to T = ΣR = ΣC (17 here): every S-edge and T-edge full.</a:t>
                </a:r>
                <a:endParaRPr lang="en-US" sz="16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CCBB945-DF17-60FE-C597-78B9D4F8E23E}"/>
              </a:ext>
            </a:extLst>
          </p:cNvPr>
          <p:cNvSpPr/>
          <p:nvPr/>
        </p:nvSpPr>
        <p:spPr>
          <a:xfrm>
            <a:off x="812800" y="6076632"/>
            <a:ext cx="4173220" cy="463550"/>
          </a:xfrm>
          <a:prstGeom prst="roundRect">
            <a:avLst>
              <a:gd name="adj" fmla="val 13699"/>
            </a:avLst>
          </a:prstGeom>
          <a:solidFill>
            <a:srgbClr val="E6F1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3BEA70A-2A2F-1B64-4962-2154CCE53BF2}"/>
              </a:ext>
            </a:extLst>
          </p:cNvPr>
          <p:cNvSpPr txBox="1"/>
          <p:nvPr/>
        </p:nvSpPr>
        <p:spPr>
          <a:xfrm>
            <a:off x="965200" y="6178232"/>
            <a:ext cx="3868420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Flow Lab ↗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ROW BY ROW: TALLEST COLUMN FIRST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11200384" cy="1225550"/>
          </a:xfrm>
          <a:prstGeom prst="roundRect">
            <a:avLst>
              <a:gd name="adj" fmla="val 41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1016000" y="1971675"/>
                <a:ext cx="10793984" cy="10201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825"/>
                  </a:lnSpc>
                  <a:buNone/>
                </a:pPr>
                <a:r>
                  <a:rPr lang="en-US" sz="25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Give each row's units to the columns that still need the </a:t>
                </a:r>
                <a:r>
                  <a:rPr lang="en-US" sz="25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most</a:t>
                </a:r>
                <a:r>
                  <a:rPr lang="en-US" sz="25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at most </a:t>
                </a: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5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per cell.</a:t>
                </a:r>
                <a:endParaRPr lang="en-US" sz="255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1016000" y="1971675"/>
                <a:ext cx="10793984" cy="10201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825"/>
                  </a:lnSpc>
                  <a:buNone/>
                </a:pPr>
                <a:r>
                  <a:rPr lang="en-US" sz="25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Give each row's units to the columns that still need the </a:t>
                </a:r>
                <a:r>
                  <a:rPr lang="en-US" sz="25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most</a:t>
                </a:r>
                <a:r>
                  <a:rPr lang="en-US" sz="25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at most K per cell.</a:t>
                </a:r>
                <a:endParaRPr lang="en-US" sz="25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3209925"/>
                <a:ext cx="11200384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Why: a column that still needs a lot is the hardest to satisfy. Every later row can give it at most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and rows are running out. Columns that need little are easy to top up later.</a:t>
                </a:r>
                <a:endParaRPr lang="en-US" sz="225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3209925"/>
                <a:ext cx="11200384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Why: a column that still needs a lot is the hardest to satisfy. Every later row can give it at most K, and rows are running out. Columns that need little are easy to top up later.</a:t>
                </a:r>
                <a:endParaRPr lang="en-US" sz="2250" dirty="0"/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WHY IT IS SAFE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 ARGUMENT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106150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Suppose a valid grid gives this row's unit to column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(needs less) instead of column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(needs more, not yet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106150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Suppose a valid grid gives this row's unit to column j (needs less) instead of column i (needs more, not yet at K).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928541"/>
                <a:ext cx="11106150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Column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needs more, so some later row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gave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more than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928541"/>
                <a:ext cx="11106150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Column i needs more, so some later row r gave i more than j.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3511153"/>
                <a:ext cx="11106150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Swap: this row moves one unit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; row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moves one unit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All row and column sums stay the same.</a:t>
                </a:r>
                <a:endParaRPr lang="en-US" sz="225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3511153"/>
                <a:ext cx="11106150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Swap: this row moves one unit j → i; row r moves one unit i → j. All row and column sums stay the same.</a:t>
                </a:r>
                <a:endParaRPr lang="en-US" sz="2250" dirty="0"/>
              </a:p>
            </p:txBody>
          </p:sp>
        </mc:Fallback>
      </mc:AlternateContent>
      <p:sp>
        <p:nvSpPr>
          <p:cNvPr id="7" name="Text 5"/>
          <p:cNvSpPr txBox="1"/>
          <p:nvPr/>
        </p:nvSpPr>
        <p:spPr>
          <a:xfrm>
            <a:off x="812800" y="4536678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any answer exists, the greedy finds one.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WATER-FILLING: BINARY SEARCH THE LEVEL</a:t>
            </a:r>
            <a:endParaRPr lang="en-US" sz="3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44675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 unit at a time is too slow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up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 Treat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rem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(what column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still needs) as column heights and cut everything above a level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44675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 unit at a time is too slow (R[i] up to 10⁹). Treat rem[j] (what column j still needs) as column heights and cut everything above a level λ:</a:t>
                </a:r>
                <a:endParaRPr lang="en-US" sz="2250" dirty="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812800" y="2870200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1016000" y="2971800"/>
                <a:ext cx="10793984" cy="423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5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5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5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55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55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sz="255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5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550" i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550" i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en-US" sz="25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5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5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5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rem</m:t>
                                  </m:r>
                                </m:e>
                                <m:sub>
                                  <m:r>
                                    <a:rPr lang="en-US" sz="25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5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5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55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1016000" y="2971800"/>
                <a:ext cx="10793984" cy="423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x[j] = min(K, max(0, rem[j] − λ))</a:t>
                </a:r>
                <a:endParaRPr lang="en-US" sz="25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812800" y="3587750"/>
                <a:ext cx="11200384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Lower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more units sent: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monotone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Binary search the smallest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Hand the few leftover units, one each, to columns sitting exactly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that are still below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812800" y="3587750"/>
                <a:ext cx="11200384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Lower λ → more units sent: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monotone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Binary search the smallest λ with Σ x[j] ≤ R[i]. Hand the few leftover units, one each, to columns sitting exactly at λ that are still below K.</a:t>
                </a:r>
                <a:endParaRPr lang="en-US" sz="225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WATER-FILLING, PICTURED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079500"/>
                <a:ext cx="11200384" cy="5778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25"/>
                  </a:lnSpc>
                  <a:buNone/>
                </a:pPr>
                <a:r>
                  <a:rPr lang="en-US" sz="35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1, ROW 1: </a:t>
                </a:r>
                <a14:m>
                  <m:oMath xmlns:m="http://schemas.openxmlformats.org/officeDocument/2006/math">
                    <m:r>
                      <a:rPr lang="en-US" sz="35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5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5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35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SEND 6</a:t>
                </a:r>
                <a:endParaRPr lang="en-US" sz="35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079500"/>
                <a:ext cx="11200384" cy="5778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25"/>
                  </a:lnSpc>
                  <a:buNone/>
                </a:pPr>
                <a:r>
                  <a:rPr lang="en-US" sz="35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1, ROW 1: K = 4, SEND 6</a:t>
                </a:r>
                <a:endParaRPr lang="en-US" sz="3500" dirty="0"/>
              </a:p>
            </p:txBody>
          </p:sp>
        </mc:Fallback>
      </mc:AlternateContent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743075"/>
            <a:ext cx="10566400" cy="426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ALGORITHM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ROW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29146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≠∑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NO. 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rem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Capacity check: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</m:nary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rem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the most this row can send. If it is less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NO.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the smallest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; hand out the leftover; subtract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rem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the end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rem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must be 0, else NO.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29146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ΣR ≠ ΣC: NO. Start with rem[j] = C[j].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Capacity check: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Σ min(K, rem[j]) is the most this row can send. If it is less than R[i]: NO.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the smallest λ with give(λ) ≤ R[i].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Fill x[j]; hand out the leftover; subtract from rem.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the end every rem[j] must be 0, else NO.</a:t>
                </a:r>
                <a:endParaRPr lang="en-US" sz="2250" dirty="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1, ROW 1 (SEND 6)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6 8 3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5 5 7　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rem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5 5 7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 = 4　R = 6 8 3　C = 5 5 7　→ rem = 5 5 7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399" cy="1435100"/>
            </p:xfrm>
            <a:graphic>
              <a:graphicData uri="http://schemas.openxmlformats.org/drawingml/2006/table">
                <a:tbl>
                  <a:tblPr/>
                  <a:tblGrid>
                    <a:gridCol w="16905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11345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 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 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 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399" cy="1435100"/>
            </p:xfrm>
            <a:graphic>
              <a:graphicData uri="http://schemas.openxmlformats.org/drawingml/2006/table">
                <a:tbl>
                  <a:tblPr/>
                  <a:tblGrid>
                    <a:gridCol w="16905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11345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λ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 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 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 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≤ 6?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 txBox="1"/>
              <p:nvPr/>
            </p:nvSpPr>
            <p:spPr>
              <a:xfrm>
                <a:off x="812800" y="3985816"/>
                <a:ext cx="11200384" cy="10715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___   leftover = ___ → goes to column ___   row 1 = ___ ___ ___</a:t>
                </a:r>
                <a:endParaRPr lang="en-US" sz="2250" dirty="0"/>
              </a:p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rem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___ ___ ___</a:t>
                </a:r>
                <a:endParaRPr lang="en-US" sz="2250" dirty="0"/>
              </a:p>
            </p:txBody>
          </p:sp>
        </mc:Choice>
        <mc:Fallback xmlns="">
          <p:sp>
            <p:nvSpPr>
              <p:cNvPr id="6" name="Text 3"/>
              <p:cNvSpPr txBox="1"/>
              <p:nvPr/>
            </p:nvSpPr>
            <p:spPr>
              <a:xfrm>
                <a:off x="812800" y="3985816"/>
                <a:ext cx="11200384" cy="10715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λ = ___   leftover = ___ → goes to column ___   row 1 = ___ ___ ___</a:t>
                </a:r>
                <a:endParaRPr lang="en-US" sz="2250" dirty="0"/>
              </a:p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new rem = ___ ___ ___</a:t>
                </a:r>
                <a:endParaRPr lang="en-US" sz="225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250190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419100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8864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5755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926465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50190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10"/>
          <p:cNvSpPr txBox="1"/>
          <p:nvPr/>
        </p:nvSpPr>
        <p:spPr>
          <a:xfrm>
            <a:off x="419100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8864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5755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11303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31051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60452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7851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83375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88963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208280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263525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319405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5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CORE CODE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9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THE SEARCH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GIVE(Λ) AND THE SEARCH</a:t>
                </a:r>
                <a:endParaRPr lang="en-US" sz="3900" dirty="0"/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812800" y="1903016"/>
            <a:ext cx="56769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888736" cy="2028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units this row sends at level lam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 max(0LL, rem[j] - lam));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43700" y="1903016"/>
            <a:ext cx="46355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953250" y="2061766"/>
            <a:ext cx="4722368" cy="345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(give(0) &lt; R[i]){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cout &lt;&lt; "NO" &lt;&lt; endl;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0;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lam with give &lt;= R[i] → l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(give(mid) &lt;= R[i])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CORE CODE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HANDING OUT THE LEFTOVER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93875"/>
            <a:ext cx="4711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always fits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174875"/>
                <a:ext cx="4667250" cy="18585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22885" indent="-222885">
                  <a:lnSpc>
                    <a:spcPts val="1890"/>
                  </a:lnSpc>
                  <a:buSzPct val="100000"/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the </a:t>
                </a:r>
                <a:r>
                  <a:rPr lang="en-US" sz="13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smallest</a:t>
                </a:r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level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so one level lower sends too much: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3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50" dirty="0"/>
              </a:p>
              <a:p>
                <a:pPr marL="222885" indent="-222885">
                  <a:lnSpc>
                    <a:spcPts val="1890"/>
                  </a:lnSpc>
                  <a:buSzPct val="100000"/>
                  <a:buFont typeface="+mj-lt"/>
                  <a:buAutoNum type="arabicPeriod"/>
                </a:pPr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Lowering the line from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adds exactly </a:t>
                </a:r>
                <a:r>
                  <a:rPr lang="en-US" sz="13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</a:t>
                </a:r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each column that sits on the line and is below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3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number of such columns.</a:t>
                </a:r>
                <a:endParaRPr lang="en-US" sz="1350" dirty="0"/>
              </a:p>
              <a:p>
                <a:pPr marL="222885" indent="-222885">
                  <a:lnSpc>
                    <a:spcPts val="1890"/>
                  </a:lnSpc>
                  <a:buSzPct val="100000"/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left</m:t>
                    </m:r>
                    <m: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3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3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Fewer leftover units than such columns: one each is enough.</a:t>
                </a:r>
                <a:endParaRPr lang="en-US" sz="135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174875"/>
                <a:ext cx="4667250" cy="18585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22885" indent="-222885">
                  <a:lnSpc>
                    <a:spcPts val="1890"/>
                  </a:lnSpc>
                  <a:buSzPct val="100000"/>
                  <a:buFont typeface="+mj-lt"/>
                  <a:buAutoNum type="arabicPeriod"/>
                </a:pPr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λ is the </a:t>
                </a:r>
                <a:r>
                  <a:rPr lang="en-US" sz="13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smallest</a:t>
                </a:r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level with give(λ) ≤ R[i], so one level lower sends too much: give(λ − 1) &gt; R[i].</a:t>
                </a:r>
                <a:endParaRPr lang="en-US" sz="1350" dirty="0"/>
              </a:p>
              <a:p>
                <a:pPr marL="222885" indent="-222885">
                  <a:lnSpc>
                    <a:spcPts val="1890"/>
                  </a:lnSpc>
                  <a:buSzPct val="100000"/>
                  <a:buFont typeface="+mj-lt"/>
                  <a:buAutoNum type="arabicPeriod"/>
                </a:pPr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Lowering the line from λ to λ − 1 adds exactly </a:t>
                </a:r>
                <a:r>
                  <a:rPr lang="en-US" sz="13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</a:t>
                </a:r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each column that sits on the line and is below K. So give(λ − 1) − give(λ) = number of such columns.</a:t>
                </a:r>
                <a:endParaRPr lang="en-US" sz="1350" dirty="0"/>
              </a:p>
              <a:p>
                <a:pPr marL="222885" indent="-222885">
                  <a:lnSpc>
                    <a:spcPts val="1890"/>
                  </a:lnSpc>
                  <a:buSzPct val="100000"/>
                  <a:buFont typeface="+mj-lt"/>
                  <a:buAutoNum type="arabicPeriod"/>
                </a:pPr>
                <a:r>
                  <a:rPr lang="en-US" sz="13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left = R[i] − give(λ) &lt; give(λ − 1) − give(λ). Fewer leftover units than such columns: one each is enough.</a:t>
                </a:r>
                <a:endParaRPr lang="en-US" sz="1350" dirty="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4096246"/>
            <a:ext cx="4711700" cy="596900"/>
          </a:xfrm>
          <a:prstGeom prst="roundRect">
            <a:avLst>
              <a:gd name="adj" fmla="val 8511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939800" y="4172446"/>
                <a:ext cx="4457700" cy="4683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1, row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give</m:t>
                    </m:r>
                    <m:d>
                      <m:dPr>
                        <m:ctrlPr>
                          <a:rPr lang="en-US" sz="1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1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left</m:t>
                    </m:r>
                    <m:r>
                      <a:rPr lang="en-US" sz="1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Columns on the line below </a:t>
                </a:r>
                <a14:m>
                  <m:oMath xmlns:m="http://schemas.openxmlformats.org/officeDocument/2006/math"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3 (all of them). </a:t>
                </a:r>
                <a14:m>
                  <m:oMath xmlns:m="http://schemas.openxmlformats.org/officeDocument/2006/math"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✓</a:t>
                </a:r>
                <a:endParaRPr lang="en-US" sz="125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939800" y="4172446"/>
                <a:ext cx="4457700" cy="4683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1, row 1: give(3) = 8 &gt; 6, give(4) = 5, left = 1. Columns on the line below K: 3 (all of them). 1 &lt; 3 ✓</a:t>
                </a:r>
                <a:endParaRPr lang="en-US" sz="125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5537200" y="1793875"/>
            <a:ext cx="5842000" cy="2892822"/>
          </a:xfrm>
          <a:prstGeom prst="roundRect">
            <a:avLst>
              <a:gd name="adj" fmla="val 17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5695950" y="1914525"/>
            <a:ext cx="6187440" cy="267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left = R[i] - give(lam);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left = leftover, fewer than one layer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j = 1; j &lt;= n; j ++){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v = min(K, max(0LL, rem[j] - lam));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on the line and still room? one more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(left &gt; 0 &amp;&amp; v &lt; K &amp;&amp; rem[j] - v == lam &amp;&amp; lam &gt; 0){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v ++;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left --;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a[i][j] = v;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rem[j] -= v;</a:t>
            </a:r>
            <a:r>
              <a:rPr lang="en-US" sz="12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// column j now needs less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5537200" y="4775597"/>
                <a:ext cx="6192520" cy="4647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740"/>
                  </a:lnSpc>
                  <a:buNone/>
                </a:pPr>
                <a:r>
                  <a:rPr lang="en-US" sz="1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 &lt; K</a:t>
                </a:r>
                <a:r>
                  <a:rPr lang="en-US" sz="1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the cell still has room. </a:t>
                </a:r>
                <a:r>
                  <a:rPr lang="en-US" sz="1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rem[j] − v == lam</a:t>
                </a:r>
                <a:r>
                  <a:rPr lang="en-US" sz="1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after the cut, the column sits exactly on the line. </a:t>
                </a:r>
                <a:r>
                  <a:rPr lang="en-US" sz="1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lam &gt; 0</a:t>
                </a:r>
                <a:r>
                  <a:rPr lang="en-US" sz="1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just a guard (at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there is never a leftover).</a:t>
                </a:r>
                <a:endParaRPr lang="en-US" sz="1200" dirty="0"/>
              </a:p>
            </p:txBody>
          </p:sp>
        </mc:Choice>
        <mc:Fallback xmlns="">
          <p:sp>
            <p:nvSpPr>
              <p:cNvPr id="10" name="Text 8"/>
              <p:cNvSpPr txBox="1"/>
              <p:nvPr/>
            </p:nvSpPr>
            <p:spPr>
              <a:xfrm>
                <a:off x="5537200" y="4775597"/>
                <a:ext cx="6192520" cy="4647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740"/>
                  </a:lnSpc>
                  <a:buNone/>
                </a:pPr>
                <a:r>
                  <a:rPr lang="en-US" sz="1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 &lt; K</a:t>
                </a:r>
                <a:r>
                  <a:rPr lang="en-US" sz="1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the cell still has room. </a:t>
                </a:r>
                <a:r>
                  <a:rPr lang="en-US" sz="1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rem[j] − v == lam</a:t>
                </a:r>
                <a:r>
                  <a:rPr lang="en-US" sz="1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after the cut, the column sits exactly on the line. </a:t>
                </a:r>
                <a:r>
                  <a:rPr lang="en-US" sz="1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lam &gt; 0</a:t>
                </a:r>
                <a:r>
                  <a:rPr lang="en-US" sz="1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just a guard (at λ = 0 there is never a leftover).</a:t>
                </a:r>
                <a:endParaRPr lang="en-US" sz="1200" dirty="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379266"/>
                <a:ext cx="5334000" cy="26398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huge: one unit per row, any column still short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huge: fill in order; </a:t>
                </a:r>
                <a14:m>
                  <m:oMath xmlns:m="http://schemas.openxmlformats.org/officeDocument/2006/math"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enough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0/1 grid, tallest columns first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Small values: greedy one unit at a time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Full: water-filling + binary search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379266"/>
                <a:ext cx="5334000" cy="26398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R[i] = 1, K huge: one unit per row, any column still short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 huge: fill in order; ΣR = ΣC is enough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 = 1: 0/1 grid, tallest columns first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Small values: greedy one unit at a time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Full: water-filling + binary search</a:t>
                </a:r>
                <a:endParaRPr lang="en-US" sz="2100" dirty="0"/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6299200" y="2379266"/>
                <a:ext cx="5334000" cy="22132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Forgetting </a:t>
                </a:r>
                <a14:m>
                  <m:oMath xmlns:m="http://schemas.openxmlformats.org/officeDocument/2006/math"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Filling columns in index order when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small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Serving the column that needs the least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 unit at a time on the full data</a:t>
                </a:r>
                <a:endParaRPr lang="en-US" sz="210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6299200" y="2379266"/>
                <a:ext cx="5334000" cy="22132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Forgetting ΣR = ΣC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Filling columns in index order when K is small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Serving the column that needs the least</a:t>
                </a:r>
                <a:endParaRPr lang="en-US" sz="2100" dirty="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 unit at a time on the full data</a:t>
                </a:r>
                <a:endParaRPr lang="en-US" sz="210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LEVEL PER ROW, NOT ONE UNIT AT A TIME</a:t>
            </a:r>
            <a:endParaRPr lang="en-US" sz="3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757363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General max-flow on the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row–column edges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far too slow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outside AIO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Greedy, one unit at a time (tallest column first)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100" b="1" i="0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b="1" i="0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∑</m:t>
                                        </m:r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Greedy, whole row at once: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the water level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757363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General max-flow on the N² row–column edges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far too slow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outside AIO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Greedy, one unit at a time (tallest column first)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O(ΣR · log N)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10¹⁵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Greedy, whole row at once: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the water level λ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O(N² log C)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3 × 10⁷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608513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greedy rule makes the problem solvable; Binary Search on the level makes each row cost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steps.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4608513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greedy rule makes the problem solvable; Binary Search on the level makes each row cost O(N log C) instead of R[i] steps.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9234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431455"/>
            <a:ext cx="11200384" cy="73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3025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picture: cut the tallest rivals down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3905845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3905845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3905845"/>
            <a:ext cx="4613672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3905845"/>
            <a:ext cx="46136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(bucket sums)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47734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47734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932410" y="44773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932410" y="44773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601325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candidates,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voters. Voter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plans to vote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; paying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makes them vote for anyone you like.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601325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candidates, M voters. Voter i plans to vote for V[i]; paying P[i] makes them vote for anyone you like.</a:t>
                </a:r>
                <a:endParaRPr lang="en-US" sz="2400" dirty="0"/>
              </a:p>
            </p:txBody>
          </p:sp>
        </mc:Fallback>
      </mc:AlternateContent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minimum cost so candidate 1 gets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more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votes than every other candidate.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0601325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10000</m:t>
                    </m:r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0601325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N, M ≤ 100 000, P[i] ≤ 10 000</a:t>
                </a:r>
                <a:endParaRPr lang="en-US" sz="2100" dirty="0"/>
              </a:p>
            </p:txBody>
          </p:sp>
        </mc:Fallback>
      </mc:AlternateContent>
      <p:sp>
        <p:nvSpPr>
          <p:cNvPr id="7" name="Text 5"/>
          <p:cNvSpPr txBox="1"/>
          <p:nvPr/>
        </p:nvSpPr>
        <p:spPr>
          <a:xfrm>
            <a:off x="812800" y="4516438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simplification: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bought voter should always switch to candidate 1. That takes a vote from a rival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adds one to us.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KEY OBSERVATION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AIM FOR AT LEAST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VOTES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AIM FOR AT LEAST K VOTES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water level is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5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Every rival must end with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most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votes; we need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least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water level is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 − 1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Every rival must end with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most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k − 1 votes; we need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least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k:</a:t>
                </a:r>
                <a:endParaRPr lang="en-US" sz="2250" dirty="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812800" y="2928541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1016000" y="3030141"/>
                <a:ext cx="10793984" cy="3949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8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rival with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votes loses at least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buy their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cheapest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voters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1016000" y="3030141"/>
                <a:ext cx="10793984" cy="3949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8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rival with c votes loses at least c − k + 1: buy their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cheapest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voters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812800" y="3620691"/>
                <a:ext cx="11200384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Still short of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 Top up with the cheapest voters left anywhere.</a:t>
                </a:r>
                <a:endParaRPr lang="en-US" sz="225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812800" y="3620691"/>
                <a:ext cx="11200384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Still short of k? Top up with the cheapest voters left anywhere.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812800" y="4203303"/>
                <a:ext cx="11200384" cy="3771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18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Forced buys may already give us more than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votes. That is fine: we still win, and no top-up is needed.</a:t>
                </a:r>
                <a:endParaRPr lang="en-US" sz="1800" dirty="0"/>
              </a:p>
            </p:txBody>
          </p:sp>
        </mc:Choice>
        <mc:Fallback xmlns="">
          <p:sp>
            <p:nvSpPr>
              <p:cNvPr id="8" name="Text 6"/>
              <p:cNvSpPr txBox="1"/>
              <p:nvPr/>
            </p:nvSpPr>
            <p:spPr>
              <a:xfrm>
                <a:off x="812800" y="4203303"/>
                <a:ext cx="11200384" cy="3771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18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Forced buys may already give us more than k votes. That is fine: we still win, and no top-up is needed.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812800" y="4685903"/>
                <a:ext cx="11200384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every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keep the cheapest total.</a:t>
                </a:r>
                <a:endParaRPr lang="en-US" sz="2250" dirty="0"/>
              </a:p>
            </p:txBody>
          </p:sp>
        </mc:Choice>
        <mc:Fallback xmlns="">
          <p:sp>
            <p:nvSpPr>
              <p:cNvPr id="9" name="Text 7"/>
              <p:cNvSpPr txBox="1"/>
              <p:nvPr/>
            </p:nvSpPr>
            <p:spPr>
              <a:xfrm>
                <a:off x="812800" y="4685903"/>
                <a:ext cx="11200384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every k and keep the cheapest total.</a:t>
                </a:r>
                <a:endParaRPr lang="en-US" sz="2250" dirty="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EXAMPLE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1416"/>
            <a:ext cx="11200384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1: 1 vote　Candidate 2: 4 votes, costs 1 2 5 9　Candidate 3: 2 votes, costs 3 3</a:t>
            </a:r>
            <a:endParaRPr lang="en-US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614216"/>
              <a:ext cx="10566400" cy="2711450"/>
            </p:xfrm>
            <a:graphic>
              <a:graphicData uri="http://schemas.openxmlformats.org/drawingml/2006/table">
                <a:tbl>
                  <a:tblPr/>
                  <a:tblGrid>
                    <a:gridCol w="105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98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5850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9088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Forced buys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Our votes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Top-up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614216"/>
              <a:ext cx="10566400" cy="2711450"/>
            </p:xfrm>
            <a:graphic>
              <a:graphicData uri="http://schemas.openxmlformats.org/drawingml/2006/table">
                <a:tbl>
                  <a:tblPr/>
                  <a:tblGrid>
                    <a:gridCol w="105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98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5850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9088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Forced buys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Our votes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Top-up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 3"/>
          <p:cNvSpPr txBox="1"/>
          <p:nvPr/>
        </p:nvSpPr>
        <p:spPr>
          <a:xfrm>
            <a:off x="941614" y="31242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4889500" y="31242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805714" y="31242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690100" y="31242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941614" y="356235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889500" y="35623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5805714" y="356235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9690100" y="35623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941614" y="40005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4889500" y="40005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5805714" y="40005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9690100" y="40005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941614" y="443865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4889500" y="44386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5" name="Text 17"/>
          <p:cNvSpPr txBox="1"/>
          <p:nvPr/>
        </p:nvSpPr>
        <p:spPr>
          <a:xfrm>
            <a:off x="5805714" y="443865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9690100" y="44386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41614" y="48768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4889500" y="48768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5805714" y="48768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9690100" y="48768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5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PICTURE, DIFFERENT SEARCH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30289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15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152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 (P5)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 (P6)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Goal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Minimum cost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Does a grid exist? Build it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Columns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rival's votes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What each column still needs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The level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cost is not monotone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total is monotone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choice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rival's cheapest voters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Columns that need the most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Tools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Sorting, cost buckets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search, a scan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30289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15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152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 (P5)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 (P6)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Goal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Minimum cost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Does a grid exist? Build it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Columns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rival's votes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What each column still needs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The level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k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cost is not monotone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λ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total is monotone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choice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rival's cheapest voters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Columns that need the most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Tools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Sorting, cost buckets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search, a scan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PARTS, TWO SPEED-UPS</a:t>
            </a:r>
            <a:endParaRPr lang="en-US" sz="3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11200384" cy="3247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10"/>
                  </a:lnSpc>
                  <a:buNone/>
                </a:pPr>
                <a:r>
                  <a:rPr lang="en-US" sz="16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every target </a:t>
                </a:r>
                <a14:m>
                  <m:oMath xmlns:m="http://schemas.openxmlformats.org/officeDocument/2006/math">
                    <m:r>
                      <a:rPr lang="en-US" sz="16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6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of them). Each </a:t>
                </a:r>
                <a14:m>
                  <m:oMath xmlns:m="http://schemas.openxmlformats.org/officeDocument/2006/math">
                    <m:r>
                      <a:rPr lang="en-US" sz="16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has two parts:</a:t>
                </a:r>
                <a:endParaRPr lang="en-US" sz="16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11200384" cy="3247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10"/>
                  </a:lnSpc>
                  <a:buNone/>
                </a:pPr>
                <a:r>
                  <a:rPr lang="en-US" sz="16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every target k (M of them). Each k has two parts:</a:t>
                </a:r>
                <a:endParaRPr lang="en-US" sz="1650" dirty="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812800" y="2188766"/>
            <a:ext cx="5181600" cy="2941042"/>
          </a:xfrm>
          <a:prstGeom prst="roundRect">
            <a:avLst>
              <a:gd name="adj" fmla="val 2591"/>
            </a:avLst>
          </a:prstGeom>
          <a:noFill/>
          <a:ln w="1270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990600" y="2328466"/>
            <a:ext cx="511556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Forced buys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990600" y="2703116"/>
                <a:ext cx="5115560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Cut every rival with </a:t>
                </a:r>
                <a14:m>
                  <m:oMath xmlns:m="http://schemas.openxmlformats.org/officeDocument/2006/math"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votes down to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by buying his cheapest voters.</a:t>
                </a:r>
                <a:endParaRPr lang="en-US" sz="145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990600" y="2703116"/>
                <a:ext cx="5115560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Cut every rival with ≥ k votes down to k − 1 by buying his cheapest voters.</a:t>
                </a:r>
                <a:endParaRPr lang="en-US" sz="145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990600" y="3307556"/>
            <a:ext cx="5115560" cy="667941"/>
          </a:xfrm>
          <a:prstGeom prst="roundRect">
            <a:avLst>
              <a:gd name="adj" fmla="val 7605"/>
            </a:avLst>
          </a:prstGeom>
          <a:solidFill>
            <a:srgbClr val="FBEDEC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1104900" y="3383756"/>
                <a:ext cx="4886960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b="1" dirty="0">
                    <a:solidFill>
                      <a:srgbClr val="B4322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</a:t>
                </a:r>
                <a14:m>
                  <m:oMath xmlns:m="http://schemas.openxmlformats.org/officeDocument/2006/math">
                    <m:r>
                      <a:rPr lang="en-US" sz="1450" b="1" i="1">
                        <a:solidFill>
                          <a:srgbClr val="B4322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b="1" dirty="0">
                    <a:solidFill>
                      <a:srgbClr val="B4322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from scratch: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up to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buys for one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values of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4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✗</a:t>
                </a:r>
                <a:endParaRPr lang="en-US" sz="1450" dirty="0"/>
              </a:p>
            </p:txBody>
          </p:sp>
        </mc:Choice>
        <mc:Fallback xmlns="">
          <p:sp>
            <p:nvSpPr>
              <p:cNvPr id="9" name="Text 7"/>
              <p:cNvSpPr txBox="1"/>
              <p:nvPr/>
            </p:nvSpPr>
            <p:spPr>
              <a:xfrm>
                <a:off x="1104900" y="3383756"/>
                <a:ext cx="4886960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b="1" dirty="0">
                    <a:solidFill>
                      <a:srgbClr val="B4322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k from scratch: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up to M buys for one k, and M values of k → O(M²) ≈ 10¹⁰ ✗</a:t>
                </a:r>
                <a:endParaRPr lang="en-US" sz="1450" dirty="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990600" y="4064397"/>
            <a:ext cx="5115560" cy="925711"/>
          </a:xfrm>
          <a:prstGeom prst="roundRect">
            <a:avLst>
              <a:gd name="adj" fmla="val 5488"/>
            </a:avLst>
          </a:prstGeom>
          <a:solidFill>
            <a:srgbClr val="E3F1EC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 txBox="1"/>
              <p:nvPr/>
            </p:nvSpPr>
            <p:spPr>
              <a:xfrm>
                <a:off x="1104900" y="4140597"/>
                <a:ext cx="4886960" cy="8009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b="1" dirty="0">
                    <a:solidFill>
                      <a:srgbClr val="1E7F4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Better: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sweep </a:t>
                </a:r>
                <a14:m>
                  <m:oMath xmlns:m="http://schemas.openxmlformats.org/officeDocument/2006/math">
                    <m:r>
                      <a:rPr lang="en-US" sz="14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from high to low.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drops by 1, each rival needs just one more buy, and buys are never undone. All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together: at most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buys → </a:t>
                </a:r>
                <a14:m>
                  <m:oMath xmlns:m="http://schemas.openxmlformats.org/officeDocument/2006/math">
                    <m:r>
                      <a:rPr lang="en-US" sz="14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✓</a:t>
                </a:r>
                <a:endParaRPr lang="en-US" sz="1450" dirty="0"/>
              </a:p>
            </p:txBody>
          </p:sp>
        </mc:Choice>
        <mc:Fallback xmlns="">
          <p:sp>
            <p:nvSpPr>
              <p:cNvPr id="11" name="Text 9"/>
              <p:cNvSpPr txBox="1"/>
              <p:nvPr/>
            </p:nvSpPr>
            <p:spPr>
              <a:xfrm>
                <a:off x="1104900" y="4140597"/>
                <a:ext cx="4886960" cy="8009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b="1" dirty="0">
                    <a:solidFill>
                      <a:srgbClr val="1E7F4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Better: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sweep k from high to low.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When k drops by 1, each rival needs just one more buy, and buys are never undone. All k together: at most M buys →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O(M)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✓</a:t>
                </a:r>
                <a:endParaRPr lang="en-US" sz="1450" dirty="0"/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6197600" y="2188766"/>
            <a:ext cx="5181600" cy="2941042"/>
          </a:xfrm>
          <a:prstGeom prst="roundRect">
            <a:avLst>
              <a:gd name="adj" fmla="val 2591"/>
            </a:avLst>
          </a:prstGeom>
          <a:noFill/>
          <a:ln w="1270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6375400" y="2328466"/>
            <a:ext cx="511556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Top-up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 txBox="1"/>
              <p:nvPr/>
            </p:nvSpPr>
            <p:spPr>
              <a:xfrm>
                <a:off x="6375400" y="2703116"/>
                <a:ext cx="5115560" cy="2853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Still short of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 Buy the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cheapest voters left in the pool.</a:t>
                </a:r>
                <a:endParaRPr lang="en-US" sz="1450" dirty="0"/>
              </a:p>
            </p:txBody>
          </p:sp>
        </mc:Choice>
        <mc:Fallback xmlns="">
          <p:sp>
            <p:nvSpPr>
              <p:cNvPr id="14" name="Text 12"/>
              <p:cNvSpPr txBox="1"/>
              <p:nvPr/>
            </p:nvSpPr>
            <p:spPr>
              <a:xfrm>
                <a:off x="6375400" y="2703116"/>
                <a:ext cx="5115560" cy="2853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Still short of k? Buy the t cheapest voters left in the pool.</a:t>
                </a:r>
                <a:endParaRPr lang="en-US" sz="1450" dirty="0"/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6375400" y="3049786"/>
            <a:ext cx="5115560" cy="667941"/>
          </a:xfrm>
          <a:prstGeom prst="roundRect">
            <a:avLst>
              <a:gd name="adj" fmla="val 7605"/>
            </a:avLst>
          </a:prstGeom>
          <a:solidFill>
            <a:srgbClr val="FBEDEC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 txBox="1"/>
              <p:nvPr/>
            </p:nvSpPr>
            <p:spPr>
              <a:xfrm>
                <a:off x="6489700" y="3125986"/>
                <a:ext cx="4886960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b="1" dirty="0">
                    <a:solidFill>
                      <a:srgbClr val="B4322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</a:t>
                </a:r>
                <a14:m>
                  <m:oMath xmlns:m="http://schemas.openxmlformats.org/officeDocument/2006/math">
                    <m:r>
                      <a:rPr lang="en-US" sz="1450" b="1" i="1">
                        <a:solidFill>
                          <a:srgbClr val="B4322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b="1" dirty="0">
                    <a:solidFill>
                      <a:srgbClr val="B4322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from scratch: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scan or sort the whole pool,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for one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4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✗</a:t>
                </a:r>
                <a:endParaRPr lang="en-US" sz="1450" dirty="0"/>
              </a:p>
            </p:txBody>
          </p:sp>
        </mc:Choice>
        <mc:Fallback xmlns="">
          <p:sp>
            <p:nvSpPr>
              <p:cNvPr id="16" name="Text 14"/>
              <p:cNvSpPr txBox="1"/>
              <p:nvPr/>
            </p:nvSpPr>
            <p:spPr>
              <a:xfrm>
                <a:off x="6489700" y="3125986"/>
                <a:ext cx="4886960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b="1" dirty="0">
                    <a:solidFill>
                      <a:srgbClr val="B4322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k from scratch: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scan or sort the whole pool, O(M) for one k → O(M²) ≈ 10¹⁰ ✗</a:t>
                </a:r>
                <a:endParaRPr lang="en-US" sz="145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6375400" y="3806627"/>
            <a:ext cx="5115560" cy="925711"/>
          </a:xfrm>
          <a:prstGeom prst="roundRect">
            <a:avLst>
              <a:gd name="adj" fmla="val 5488"/>
            </a:avLst>
          </a:prstGeom>
          <a:solidFill>
            <a:srgbClr val="E3F1EC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 txBox="1"/>
              <p:nvPr/>
            </p:nvSpPr>
            <p:spPr>
              <a:xfrm>
                <a:off x="6489700" y="3882827"/>
                <a:ext cx="4886960" cy="8009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b="1" dirty="0">
                    <a:solidFill>
                      <a:srgbClr val="1E7F4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Better: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group the pool by cost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(costs </a:t>
                </a:r>
                <a14:m>
                  <m:oMath xmlns:m="http://schemas.openxmlformats.org/officeDocument/2006/math"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10000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in blocks of 100. Skip whole blocks, then finish inside one block: </a:t>
                </a:r>
                <a14:m>
                  <m:oMath xmlns:m="http://schemas.openxmlformats.org/officeDocument/2006/math"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steps per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</a:t>
                </a:r>
                <a14:m>
                  <m:oMath xmlns:m="http://schemas.openxmlformats.org/officeDocument/2006/math">
                    <m:r>
                      <a:rPr lang="en-US" sz="14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ad>
                          <m:radPr>
                            <m:degHide m:val="on"/>
                            <m:ctrlPr>
                              <a:rPr lang="en-US" sz="145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5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10000</m:t>
                            </m:r>
                          </m:e>
                        </m:rad>
                      </m:e>
                    </m:d>
                    <m:r>
                      <a:rPr lang="en-US" sz="145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4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5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✓</a:t>
                </a:r>
                <a:endParaRPr lang="en-US" sz="1450" dirty="0"/>
              </a:p>
            </p:txBody>
          </p:sp>
        </mc:Choice>
        <mc:Fallback xmlns="">
          <p:sp>
            <p:nvSpPr>
              <p:cNvPr id="18" name="Text 16"/>
              <p:cNvSpPr txBox="1"/>
              <p:nvPr/>
            </p:nvSpPr>
            <p:spPr>
              <a:xfrm>
                <a:off x="6489700" y="3882827"/>
                <a:ext cx="4886960" cy="8009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b="1" dirty="0">
                    <a:solidFill>
                      <a:srgbClr val="1E7F4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Better: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group the pool by cost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(costs ≤ 10 000) in blocks of 100. Skip whole blocks, then finish inside one block: ≈ 200 steps per k →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O(M · √10 000) ≈ 2 × 10⁷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✓</a:t>
                </a:r>
                <a:endParaRPr lang="en-US" sz="14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 txBox="1"/>
              <p:nvPr/>
            </p:nvSpPr>
            <p:spPr>
              <a:xfrm>
                <a:off x="812800" y="5282208"/>
                <a:ext cx="11200384" cy="3149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240"/>
                  </a:lnSpc>
                  <a:buNone/>
                </a:pPr>
                <a:r>
                  <a:rPr lang="en-US" sz="160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Total: sort once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US" sz="160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160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160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ad>
                          <m:radPr>
                            <m:degHide m:val="on"/>
                            <m:ctrlPr>
                              <a:rPr lang="en-US" sz="1600" b="1" i="1">
                                <a:solidFill>
                                  <a:srgbClr val="0A405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1" i="1">
                                <a:solidFill>
                                  <a:srgbClr val="0A4054"/>
                                </a:solidFill>
                                <a:latin typeface="Cambria Math" panose="02040503050406030204" pitchFamily="18" charset="0"/>
                              </a:rPr>
                              <m:t>10000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160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Fast enough for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60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19" name="Text 17"/>
              <p:cNvSpPr txBox="1"/>
              <p:nvPr/>
            </p:nvSpPr>
            <p:spPr>
              <a:xfrm>
                <a:off x="812800" y="5282208"/>
                <a:ext cx="11200384" cy="3149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240"/>
                  </a:lnSpc>
                  <a:buNone/>
                </a:pPr>
                <a:r>
                  <a:rPr lang="en-US" sz="160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Total: sort once O(M log M) + O(M) + O(M · √10 000). Fast enough for M = 100 000.</a:t>
                </a:r>
                <a:endParaRPr lang="en-US" sz="1600" dirty="0"/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CORE CODE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SWEEP</a:t>
            </a:r>
            <a:endParaRPr lang="en-US" sz="3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5283200" cy="2832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Sort voters by (candidate, cost).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Rival </a:t>
                </a:r>
                <a14:m>
                  <m:oMath xmlns:m="http://schemas.openxmlformats.org/officeDocument/2006/math"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's voters sit together, cheapest first: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a[st[j]]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…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a[st[j] + votes[j] - 1]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taken[j]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counts how many we have bought from him, so his next cheapest is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a[st[j] + taken[j]]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250" dirty="0"/>
              </a:p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Group rivals by vote count: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list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head[c]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holds the rivals with exactly </a:t>
                </a:r>
                <a14:m>
                  <m:oMath xmlns:m="http://schemas.openxmlformats.org/officeDocument/2006/math"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votes.</a:t>
                </a:r>
                <a:endParaRPr lang="en-US" sz="1250" dirty="0"/>
              </a:p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Loop </a:t>
                </a:r>
                <a14:m>
                  <m:oMath xmlns:m="http://schemas.openxmlformats.org/officeDocument/2006/math">
                    <m:r>
                      <a:rPr lang="en-US" sz="12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12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down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5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sz="12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5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5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5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Rivals in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head[k]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join the active list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act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stay there for all smaller </a:t>
                </a:r>
                <a14:m>
                  <m:oMath xmlns:m="http://schemas.openxmlformats.org/officeDocument/2006/math"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250" dirty="0"/>
              </a:p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active rival </a:t>
                </a:r>
                <a14:m>
                  <m:oMath xmlns:m="http://schemas.openxmlformats.org/officeDocument/2006/math">
                    <m:r>
                      <a:rPr lang="en-US" sz="12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buy while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taken[j] &lt; votes[j] - (k - 1)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add the cost to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fc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fn ++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remove that voter from the pool.</a:t>
                </a:r>
                <a:endParaRPr lang="en-US" sz="1250" dirty="0"/>
              </a:p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We now have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have = c1 + fn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votes. If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have &lt; k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add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cheapest(k - have)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(skip </a:t>
                </a:r>
                <a14:m>
                  <m:oMath xmlns:m="http://schemas.openxmlformats.org/officeDocument/2006/math">
                    <m:r>
                      <a:rPr lang="en-US" sz="1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if the pool is too small). Keep the smallest cost.</a:t>
                </a:r>
                <a:endParaRPr lang="en-US" sz="1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5283200" cy="2832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Sort voters by (candidate, cost).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Rival j's voters sit together, cheapest first: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a[st[j]]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…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a[st[j] + votes[j] - 1]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taken[j]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counts how many we have bought from him, so his next cheapest is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a[st[j] + taken[j]]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250" dirty="0"/>
              </a:p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Group rivals by vote count: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list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head[c]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holds the rivals with exactly c votes.</a:t>
                </a:r>
                <a:endParaRPr lang="en-US" sz="1250" dirty="0"/>
              </a:p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Loop k from M down to max(c1, 1).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Rivals in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head[k]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join the active list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act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stay there for all smaller k.</a:t>
                </a:r>
                <a:endParaRPr lang="en-US" sz="1250" dirty="0"/>
              </a:p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active rival j,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buy while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taken[j] &lt; votes[j] - (k - 1)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add the cost to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fc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fn ++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remove that voter from the pool.</a:t>
                </a:r>
                <a:endParaRPr lang="en-US" sz="1250" dirty="0"/>
              </a:p>
              <a:p>
                <a:pPr marL="206375" indent="-206375">
                  <a:lnSpc>
                    <a:spcPts val="1775"/>
                  </a:lnSpc>
                  <a:buSzPct val="100000"/>
                  <a:buFont typeface="+mj-lt"/>
                  <a:buAutoNum type="arabicPeriod"/>
                </a:pPr>
                <a:r>
                  <a:rPr lang="en-US" sz="1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We now have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have = c1 + fn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votes. If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have &lt; k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add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cheapest(k - have)</a:t>
                </a:r>
                <a:r>
                  <a:rPr lang="en-US" sz="1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(skip k if the pool is too small). Keep the smallest cost.</a:t>
                </a:r>
                <a:endParaRPr lang="en-US" sz="1250" dirty="0"/>
              </a:p>
            </p:txBody>
          </p:sp>
        </mc:Fallback>
      </mc:AlternateContent>
      <p:sp>
        <p:nvSpPr>
          <p:cNvPr id="5" name="Text 3"/>
          <p:cNvSpPr txBox="1"/>
          <p:nvPr/>
        </p:nvSpPr>
        <p:spPr>
          <a:xfrm>
            <a:off x="6781800" y="1743075"/>
            <a:ext cx="4873244" cy="23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hand example (C1: 1 vote, C2: 1 2 5 9, C3: 3 3):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6781800" y="2045295"/>
              <a:ext cx="4597399" cy="2620836"/>
            </p:xfrm>
            <a:graphic>
              <a:graphicData uri="http://schemas.openxmlformats.org/drawingml/2006/table">
                <a:tbl>
                  <a:tblPr/>
                  <a:tblGrid>
                    <a:gridCol w="2844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7401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57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61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333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363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762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new forced buys (costs)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fc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have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top-up (</a:t>
                          </a:r>
                          <a14:m>
                            <m:oMath xmlns:m="http://schemas.openxmlformats.org/officeDocument/2006/math">
                              <m:r>
                                <a:rPr lang="en-US" sz="11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1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cost)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cost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7975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 → 23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 → 14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14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→ 9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9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C2: 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→ 5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C2: 2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C2: 5, C3: 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C2: 9, C3: 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6781800" y="2045295"/>
              <a:ext cx="4597399" cy="2620836"/>
            </p:xfrm>
            <a:graphic>
              <a:graphicData uri="http://schemas.openxmlformats.org/drawingml/2006/table">
                <a:tbl>
                  <a:tblPr/>
                  <a:tblGrid>
                    <a:gridCol w="2844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7401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57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61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333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363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762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k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new forced buys (costs)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fc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have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top-up (t → cost)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cost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7975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 → 23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 → 14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14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→ 9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9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C2: 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→ 5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C2: 2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3F1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C2: 5, C3: 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C2: 9, C3: 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380"/>
                            </a:lnSpc>
                            <a:buNone/>
                          </a:pPr>
                          <a:r>
                            <a:rPr lang="en-US" sz="11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23</a:t>
                          </a:r>
                          <a:endParaRPr lang="en-US" sz="11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4"/>
          <p:cNvSpPr txBox="1"/>
          <p:nvPr/>
        </p:nvSpPr>
        <p:spPr>
          <a:xfrm>
            <a:off x="6781800" y="4750395"/>
            <a:ext cx="4873244" cy="44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O(M):</a:t>
            </a: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 and taken[j] only grow, so each voter is bought at most once.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CORE CODE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COST BUCKETS</a:t>
            </a:r>
            <a:endParaRPr lang="en-US" sz="3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5283200" cy="24254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14630" indent="-214630">
                  <a:lnSpc>
                    <a:spcPts val="1846"/>
                  </a:lnSpc>
                  <a:buSzPct val="100000"/>
                  <a:buFont typeface="+mj-lt"/>
                  <a:buAutoNum type="arabicPeriod"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Three arrays.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cnt[c]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voters in the pool with cost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Block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holds costs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bcnt[b]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how many voters,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bsum[b]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their total cost.</a:t>
                </a:r>
                <a:endParaRPr lang="en-US" sz="1300" dirty="0"/>
              </a:p>
              <a:p>
                <a:pPr marL="214630" indent="-214630">
                  <a:lnSpc>
                    <a:spcPts val="1846"/>
                  </a:lnSpc>
                  <a:buSzPct val="100000"/>
                  <a:buFont typeface="+mj-lt"/>
                  <a:buAutoNum type="arabicPeriod"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Add or remove a voter of cost </a:t>
                </a:r>
                <a14:m>
                  <m:oMath xmlns:m="http://schemas.openxmlformats.org/officeDocument/2006/math">
                    <m:r>
                      <a:rPr lang="en-US" sz="13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change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cnt[c]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bcnt[c / 100]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bsum[c / 100]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together. Forced buys remove; at the start every voter not voting for 1 is added.</a:t>
                </a:r>
                <a:endParaRPr lang="en-US" sz="1300" dirty="0"/>
              </a:p>
              <a:p>
                <a:pPr marL="214630" indent="-214630">
                  <a:lnSpc>
                    <a:spcPts val="1846"/>
                  </a:lnSpc>
                  <a:buSzPct val="100000"/>
                  <a:buFont typeface="+mj-lt"/>
                  <a:buAutoNum type="arabicPeriod"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cheapest(t), part 1: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walk the blocks from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While block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has fewer than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voters, take it whole: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t -= bcnt[b]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sum += bsum[b]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  <a:p>
                <a:pPr marL="214630" indent="-214630">
                  <a:lnSpc>
                    <a:spcPts val="1846"/>
                  </a:lnSpc>
                  <a:buSzPct val="100000"/>
                  <a:buFont typeface="+mj-lt"/>
                  <a:buAutoNum type="arabicPeriod"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cheapest(t), part 2: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block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has enough. Walk its costs from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upwards; at each cost take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min(cnt[c], t)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voters until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5283200" cy="24254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14630" indent="-214630">
                  <a:lnSpc>
                    <a:spcPts val="1846"/>
                  </a:lnSpc>
                  <a:buSzPct val="100000"/>
                  <a:buFont typeface="+mj-lt"/>
                  <a:buAutoNum type="arabicPeriod"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Three arrays.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cnt[c]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voters in the pool with cost c. Block b holds costs 100b … 100b + 99: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bcnt[b]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how many voters,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bsum[b]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their total cost.</a:t>
                </a:r>
                <a:endParaRPr lang="en-US" sz="1300" dirty="0"/>
              </a:p>
              <a:p>
                <a:pPr marL="214630" indent="-214630">
                  <a:lnSpc>
                    <a:spcPts val="1846"/>
                  </a:lnSpc>
                  <a:buSzPct val="100000"/>
                  <a:buFont typeface="+mj-lt"/>
                  <a:buAutoNum type="arabicPeriod"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Add or remove a voter of cost c: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change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cnt[c]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bcnt[c / 100]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bsum[c / 100]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together. Forced buys remove; at the start every voter not voting for 1 is added.</a:t>
                </a:r>
                <a:endParaRPr lang="en-US" sz="1300" dirty="0"/>
              </a:p>
              <a:p>
                <a:pPr marL="214630" indent="-214630">
                  <a:lnSpc>
                    <a:spcPts val="1846"/>
                  </a:lnSpc>
                  <a:buSzPct val="100000"/>
                  <a:buFont typeface="+mj-lt"/>
                  <a:buAutoNum type="arabicPeriod"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cheapest(t), part 1: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walk the blocks from b = 0. While block b has fewer than t voters, take it whole: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t -= bcnt[b]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sum += bsum[b]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  <a:p>
                <a:pPr marL="214630" indent="-214630">
                  <a:lnSpc>
                    <a:spcPts val="1846"/>
                  </a:lnSpc>
                  <a:buSzPct val="100000"/>
                  <a:buFont typeface="+mj-lt"/>
                  <a:buAutoNum type="arabicPeriod"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cheapest(t), part 2: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block b has enough. Walk its costs from 100b upwards; at each cost take </a:t>
                </a:r>
                <a:r>
                  <a:rPr lang="en-US" sz="1150" dirty="0">
                    <a:solidFill>
                      <a:srgbClr val="1F2328"/>
                    </a:solidFill>
                    <a:latin typeface="JetBrains Mono" pitchFamily="34" charset="0"/>
                    <a:ea typeface="JetBrains Mono" pitchFamily="34" charset="-122"/>
                    <a:cs typeface="JetBrains Mono" pitchFamily="34" charset="-120"/>
                  </a:rPr>
                  <a:t>min(cnt[c], t)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voters until t = 0.</a:t>
                </a:r>
                <a:endParaRPr lang="en-US" sz="13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6934200" y="1743075"/>
                <a:ext cx="4711700" cy="7427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85"/>
                  </a:lnSpc>
                  <a:buNone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Example, </a:t>
                </a:r>
                <a14:m>
                  <m:oMath xmlns:m="http://schemas.openxmlformats.org/officeDocument/2006/math">
                    <m:r>
                      <a:rPr lang="en-US" sz="13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3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block 0 has 3, block 1 has 2 → take both (5 so far). Block 2 has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go inside it and take its 2 cheapest.</a:t>
                </a:r>
                <a:endParaRPr lang="en-US" sz="13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6934200" y="1743075"/>
                <a:ext cx="4711700" cy="7427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85"/>
                  </a:lnSpc>
                  <a:buNone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Example, t = 7: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block 0 has 3, block 1 has 2 → take both (5 so far). Block 2 has 4 ≥ 2 → go inside it and take its 2 cheapest.</a:t>
                </a:r>
                <a:endParaRPr lang="en-US" sz="1300" dirty="0"/>
              </a:p>
            </p:txBody>
          </p:sp>
        </mc:Fallback>
      </mc:AlternateContent>
      <p:pic>
        <p:nvPicPr>
          <p:cNvPr id="6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588022"/>
            <a:ext cx="4216400" cy="1174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 txBox="1"/>
              <p:nvPr/>
            </p:nvSpPr>
            <p:spPr>
              <a:xfrm>
                <a:off x="6934200" y="3889772"/>
                <a:ext cx="4711700" cy="7427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85"/>
                  </a:lnSpc>
                  <a:buNone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</a:t>
                </a:r>
                <a14:m>
                  <m:oMath xmlns:m="http://schemas.openxmlformats.org/officeDocument/2006/math">
                    <m:r>
                      <a:rPr lang="en-US" sz="13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3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steps: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at most 101 blocks, then at most 100 costs inside one block.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10000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so blocks of 100 balance the two walks.</a:t>
                </a:r>
                <a:endParaRPr lang="en-US" sz="1300" dirty="0"/>
              </a:p>
            </p:txBody>
          </p:sp>
        </mc:Choice>
        <mc:Fallback xmlns="">
          <p:sp>
            <p:nvSpPr>
              <p:cNvPr id="7" name="Text 4"/>
              <p:cNvSpPr txBox="1"/>
              <p:nvPr/>
            </p:nvSpPr>
            <p:spPr>
              <a:xfrm>
                <a:off x="6934200" y="3889772"/>
                <a:ext cx="4711700" cy="7427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85"/>
                  </a:lnSpc>
                  <a:buNone/>
                </a:pPr>
                <a:r>
                  <a:rPr lang="en-US" sz="13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≈ 200 steps:</a:t>
                </a: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at most 101 blocks, then at most 100 costs inside one block. 10 000 = 100 × 100, so blocks of 100 balance the two walks.</a:t>
                </a:r>
                <a:endParaRPr lang="en-US" sz="1300" dirty="0"/>
              </a:p>
            </p:txBody>
          </p:sp>
        </mc:Fallback>
      </mc:AlternateContent>
      <p:sp>
        <p:nvSpPr>
          <p:cNvPr id="8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COMPLEXITY RECAP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ad>
                          <m:radPr>
                            <m:degHide m:val="on"/>
                            <m:ctrlP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10000</m:t>
                            </m:r>
                          </m:e>
                        </m:rad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2^M TO O(M · √10 000)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24447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set of voters to buy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, recompute forced buys and the top-up from scratch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,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sweep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downwards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cost buckets for the cheapest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10000</m:t>
                                        </m:r>
                                      </m:e>
                                    </m:rad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24447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set of voters to buy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O(2^M)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k, recompute forced buys and the top-up from scratch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O(M²)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10¹⁰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k,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sweep k downwards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cost buckets for the cheapest t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O(M · √10 000)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2 × 10⁷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4049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Greedy fixes what to buy for each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; sweeping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downwards means each voter is bought at most once.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44049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Greedy fixes what to buy for each k; sweeping k downwards means each voter is bought at most once.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the picture: fill the valleys up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2375991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2375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04554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6356449" y="404554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people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odd) have wealth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≤…≤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Hand out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dollars (non-negative whole amounts each).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people (N odd) have wealth A[1] ≤ … ≤ A[N]. Hand out K dollars (non-negative whole amounts each).</a:t>
                </a:r>
                <a:endParaRPr lang="en-US" sz="2400" dirty="0"/>
              </a:p>
            </p:txBody>
          </p:sp>
        </mc:Fallback>
      </mc:AlternateContent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wealth as large as possible.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3599557"/>
                <a:ext cx="1009650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3599557"/>
                <a:ext cx="1009650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≤ 200 000, K, A[i] ≤ 10⁹</a:t>
                </a:r>
                <a:endParaRPr lang="en-US" sz="2100" dirty="0"/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KEY OBSERVATION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CAN THE MEDIAN REACH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CAN THE MEDIAN REACH X?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Median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at least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people have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85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Median ≥ x ⇔ at least (N+1)/2 people have ≥ x.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422128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Cheapest way (Greedy): raise the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richest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people,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𝑚𝑑</m:t>
                        </m:r>
                      </m:sub>
                    </m:sSub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𝑚𝑑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Money for the left half never helps.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422128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Cheapest way (Greedy): raise the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richest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(N+1)/2 people, A[md..N] with md = (N+1)/2. Money for the left half never helps.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3434953"/>
            <a:ext cx="11200384" cy="1322578"/>
          </a:xfrm>
          <a:prstGeom prst="roundRect">
            <a:avLst>
              <a:gd name="adj" fmla="val 9195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1016000" y="3434953"/>
                <a:ext cx="10793984" cy="13225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ts val="288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dirty="0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400" i="0" dirty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ost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 dirty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 dirty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 dirty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0" dirty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 dirty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𝑚𝑑</m:t>
                          </m:r>
                        </m:sub>
                        <m:sup>
                          <m:r>
                            <a:rPr lang="en-US" sz="2400" i="1" dirty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sz="2400" i="0" dirty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0" dirty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0" dirty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0" dirty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0, </m:t>
                                  </m:r>
                                  <m:r>
                                    <a:rPr lang="en-US" sz="2400" i="1" dirty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0" dirty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400" i="0" dirty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 dirty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434953"/>
                <a:ext cx="10793984" cy="1322578"/>
              </a:xfrm>
              <a:prstGeom prst="rect">
                <a:avLst/>
              </a:prstGeom>
              <a:blipFill>
                <a:blip r:embed="rId3"/>
                <a:stretch>
                  <a:fillRect t="-92381" b="-116190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812800" y="4763757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3.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Bigger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costs more: monotone →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on the answer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last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that passes.</a:t>
                </a:r>
                <a:endParaRPr lang="en-US" sz="2250" dirty="0"/>
              </a:p>
            </p:txBody>
          </p:sp>
        </mc:Choice>
        <mc:Fallback xmlns="">
          <p:sp>
            <p:nvSpPr>
              <p:cNvPr id="8" name="Text 6"/>
              <p:cNvSpPr txBox="1"/>
              <p:nvPr/>
            </p:nvSpPr>
            <p:spPr>
              <a:xfrm>
                <a:off x="812800" y="4763757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3.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Bigger x costs more: monotone →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on the answer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last x that passes.</a:t>
                </a:r>
                <a:endParaRPr lang="en-US" sz="2250" dirty="0"/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0441D-E619-602D-9BFC-28D6DA9B4C66}"/>
              </a:ext>
            </a:extLst>
          </p:cNvPr>
          <p:cNvSpPr txBox="1"/>
          <p:nvPr/>
        </p:nvSpPr>
        <p:spPr>
          <a:xfrm>
            <a:off x="5638800" y="297511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WORK IT BY HAND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1: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9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2 5 6 9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1: K = 4, A = 1 2 5 6 9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𝑚𝑑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___   right half = ___ ___ ___   search range = [___, ___]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md = ___   right half = ___ ___ ___   search range = [___, ___]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360216"/>
              <a:ext cx="10566399" cy="1911350"/>
            </p:xfrm>
            <a:graphic>
              <a:graphicData uri="http://schemas.openxmlformats.org/drawingml/2006/table">
                <a:tbl>
                  <a:tblPr/>
                  <a:tblGrid>
                    <a:gridCol w="14792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11345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 up 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 up 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 up 9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cost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8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360216"/>
              <a:ext cx="10566399" cy="1911350"/>
            </p:xfrm>
            <a:graphic>
              <a:graphicData uri="http://schemas.openxmlformats.org/drawingml/2006/table">
                <a:tbl>
                  <a:tblPr/>
                  <a:tblGrid>
                    <a:gridCol w="14792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11345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x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 up 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 up 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 up 9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cost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≤ 4?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8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 3"/>
          <p:cNvSpPr txBox="1"/>
          <p:nvPr/>
        </p:nvSpPr>
        <p:spPr>
          <a:xfrm>
            <a:off x="812800" y="439856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=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2923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9814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6705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366000" y="28956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9264650" y="28956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2923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39814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6705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366000" y="335915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3591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22923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39814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56705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366000" y="38227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264650" y="38227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13843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35179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40767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462915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6" name="Text 23"/>
          <p:cNvSpPr txBox="1"/>
          <p:nvPr/>
        </p:nvSpPr>
        <p:spPr>
          <a:xfrm>
            <a:off x="74168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5" name="Text 24"/>
          <p:cNvSpPr txBox="1"/>
          <p:nvPr/>
        </p:nvSpPr>
        <p:spPr>
          <a:xfrm>
            <a:off x="805815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8" name="Text 25"/>
          <p:cNvSpPr txBox="1"/>
          <p:nvPr/>
        </p:nvSpPr>
        <p:spPr>
          <a:xfrm>
            <a:off x="1936750" y="431800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29" name="Shape 2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5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ALL THREE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USES OF THE WATER LEVEL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3009900"/>
            </p:xfrm>
            <a:graphic>
              <a:graphicData uri="http://schemas.openxmlformats.org/drawingml/2006/table">
                <a:tbl>
                  <a:tblPr/>
                  <a:tblGrid>
                    <a:gridCol w="20075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528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528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531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Prime Minister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5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Columns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half's wealth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What each column needs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rival's votes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2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Action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Fill</a:t>
                          </a: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below </a:t>
                          </a:r>
                          <a14:m>
                            <m:oMath xmlns:m="http://schemas.openxmlformats.org/officeDocument/2006/math"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Cut</a:t>
                          </a: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above </a:t>
                          </a:r>
                          <a14:m>
                            <m:oMath xmlns:m="http://schemas.openxmlformats.org/officeDocument/2006/math"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9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per cell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Cut</a:t>
                          </a: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above </a:t>
                          </a:r>
                          <a14:m>
                            <m:oMath xmlns:m="http://schemas.openxmlformats.org/officeDocument/2006/math"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9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Find the level by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(last </a:t>
                          </a:r>
                          <a14:m>
                            <m:oMath xmlns:m="http://schemas.openxmlformats.org/officeDocument/2006/math"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)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(first </a:t>
                          </a:r>
                          <a14:m>
                            <m:oMath xmlns:m="http://schemas.openxmlformats.org/officeDocument/2006/math"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)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Trying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Goal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Optimise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Exists? Build it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Optimise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3009900"/>
            </p:xfrm>
            <a:graphic>
              <a:graphicData uri="http://schemas.openxmlformats.org/drawingml/2006/table">
                <a:tbl>
                  <a:tblPr/>
                  <a:tblGrid>
                    <a:gridCol w="20075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528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528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531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Prime Minister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5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Columns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half's wealth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What each column needs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rival's votes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2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Action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Fill</a:t>
                          </a: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below x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Cut</a:t>
                          </a: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above λ, ≤ K per cell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Cut</a:t>
                          </a: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above k − 1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Find the level by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(last x)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(first λ)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Trying every k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Goal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Optimise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Exists? Build it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Optimise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VS CUT IN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MIN, ONE MAX APART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Minister: fill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309416"/>
            <a:ext cx="5067300" cy="2698750"/>
          </a:xfrm>
          <a:prstGeom prst="roundRect">
            <a:avLst>
              <a:gd name="adj" fmla="val 188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22350" y="2468166"/>
            <a:ext cx="5205984" cy="24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check(long long x){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cost = 0;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md; i &lt;= n; i ++)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(a[i] &lt; x){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cost += x - a[i];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if (cost &gt; K)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return false;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true;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341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cut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134100" y="2309416"/>
            <a:ext cx="5067300" cy="1984375"/>
          </a:xfrm>
          <a:prstGeom prst="roundRect">
            <a:avLst>
              <a:gd name="adj" fmla="val 256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6343650" y="2468166"/>
            <a:ext cx="5205984" cy="169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max(0LL, rem[j] - lam));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COMPLEXITY RECAP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O(K LOG N) TO O(N LOG K)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2127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Give $1 at a time to the poorest of the right half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1.8</m:t>
                              </m:r>
                              <m:r>
                                <a:rPr lang="en-US" sz="2100" i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target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from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upwards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on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with an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check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2127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Give $1 at a time to the poorest of the right half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O(K log N)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1.8 × 10¹⁰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target x from A[md] upwards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O(K · N)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× 10¹⁴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on x with an O(N) check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 log K)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6 × 10⁶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10646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the right half matters (Greedy); "can the median reach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?" is monotone, so about 30 checks replace up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tries.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410646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the right half matters (Greedy); "can the median reach x?" is monotone, so about 30 checks replace up to 10⁹ tries.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PRIME MINISTER FROM SCRATCH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2514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Read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(long long);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𝑚𝑑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Write check(x): top 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𝑚𝑑</m:t>
                        </m:r>
                      </m:sub>
                    </m:sSub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stop early once cost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5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𝑚𝑑</m:t>
                            </m:r>
                          </m:sub>
                        </m:sSub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𝑚𝑑</m:t>
                            </m:r>
                          </m:sub>
                        </m:sSub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for the last value that passes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Print r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Test the samples: expect 7, 6, 2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2514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Read N, K and A[1..N] (long long); md = (N+1)/2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Write check(x): top up A[md..N] to x, stop early once cost &gt; K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x in [A[md], A[md] + K] for the last value that passes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Print r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Test the samples: expect 7, 6, 2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4535091"/>
                <a:ext cx="11200384" cy="6496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Finished early? Write the slow version for subtask 3: give $1 at a time to the poorest of the right half. Compare answers.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4535091"/>
                <a:ext cx="11200384" cy="6496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Finished early? Write the slow version for subtask 3: give $1 at a time to the poorest of the right half. Compare answers.</a:t>
                </a:r>
                <a:endParaRPr lang="en-US" sz="2100" dirty="0"/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orac2.info/problem/1751</a:t>
            </a:r>
            <a:endParaRPr lang="en-US" sz="1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4260850"/>
            </p:xfrm>
            <a:graphic>
              <a:graphicData uri="http://schemas.openxmlformats.org/drawingml/2006/table">
                <a:tbl>
                  <a:tblPr/>
                  <a:tblGrid>
                    <a:gridCol w="29585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0212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Problem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59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Spaceship Shuffle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Tennis Robot II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Twin Rivers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bridges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Laser Cutter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optional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 Mission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min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Lollipops II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counting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 </a:t>
                          </a:r>
                          <a14:m>
                            <m:oMath xmlns:m="http://schemas.openxmlformats.org/officeDocument/2006/math"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buckets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Prime Minister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half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4260850"/>
            </p:xfrm>
            <a:graphic>
              <a:graphicData uri="http://schemas.openxmlformats.org/drawingml/2006/table">
                <a:tbl>
                  <a:tblPr/>
                  <a:tblGrid>
                    <a:gridCol w="29585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0212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Problem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59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Spaceship Shuffle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Tennis Robot II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Twin Rivers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bridges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Laser Cutter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optional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 Mission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min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Lollipops II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counting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 λ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buckets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Prime Minister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half</a:t>
                          </a:r>
                          <a:endParaRPr lang="en-US" sz="19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20288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Mundane Square: full program · </a:t>
                </a:r>
                <a:r>
                  <a:rPr lang="en-US" sz="2250" u="sng" dirty="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orac2.info/problem/1747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Wheeling and Dealing: subtasks 1–3, then full marks with cost buckets · </a:t>
                </a:r>
                <a:r>
                  <a:rPr lang="en-US" sz="2250" u="sng" dirty="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orac2.info/problem/1298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Think: in Mundane Square, what goes wrong if each cell has its own cap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20288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Mundane Square: full program · </a:t>
                </a:r>
                <a:r>
                  <a:rPr lang="en-US" sz="2250" u="sng" dirty="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orac2.info/problem/1747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Wheeling and Dealing: subtasks 1–3, then full marks with cost buckets · </a:t>
                </a:r>
                <a:r>
                  <a:rPr lang="en-US" sz="2250" u="sng" dirty="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orac2.info/problem/1298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Think: in Mundane Square, what goes wrong if each cell has its own cap K[i][j]?</a:t>
                </a:r>
                <a:endParaRPr lang="en-US" sz="2250" dirty="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READING · FENWICK TREE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TOP-UP IS A PREFIX-SUM QUESTION</a:t>
            </a:r>
            <a:endParaRPr lang="en-US" sz="3500" dirty="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743075"/>
            <a:ext cx="4826000" cy="2984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743075"/>
            <a:ext cx="576173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pool as a count array over cost: cnt[c] = voters left with cost c.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 txBox="1"/>
              <p:nvPr/>
            </p:nvSpPr>
            <p:spPr>
              <a:xfrm>
                <a:off x="5943600" y="2403475"/>
                <a:ext cx="5761736" cy="2952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100"/>
                  </a:lnSpc>
                  <a:buNone/>
                </a:pP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cheapest = walk the </a:t>
                </a:r>
                <a:r>
                  <a:rPr lang="en-US" sz="15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counts</a:t>
                </a: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until they reach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500" dirty="0"/>
              </a:p>
            </p:txBody>
          </p:sp>
        </mc:Choice>
        <mc:Fallback xmlns="">
          <p:sp>
            <p:nvSpPr>
              <p:cNvPr id="6" name="Text 3"/>
              <p:cNvSpPr txBox="1"/>
              <p:nvPr/>
            </p:nvSpPr>
            <p:spPr>
              <a:xfrm>
                <a:off x="5943600" y="2403475"/>
                <a:ext cx="5761736" cy="2952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t cheapest = walk the </a:t>
                </a:r>
                <a:r>
                  <a:rPr lang="en-US" sz="15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counts</a:t>
                </a: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until they reach t.</a:t>
                </a:r>
                <a:endParaRPr lang="en-US" sz="150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5943600" y="2797175"/>
            <a:ext cx="576173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pool keeps changing (forced buys remove voters), so we need two fast operations: </a:t>
            </a: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cnt[c]</a:t>
            </a:r>
            <a:r>
              <a:rPr lang="en-US" sz="15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prefix sums</a:t>
            </a:r>
            <a:r>
              <a:rPr lang="en-US" sz="15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5943600" y="3724275"/>
              <a:ext cx="5435600" cy="1352550"/>
            </p:xfrm>
            <a:graphic>
              <a:graphicData uri="http://schemas.openxmlformats.org/drawingml/2006/table">
                <a:tbl>
                  <a:tblPr/>
                  <a:tblGrid>
                    <a:gridCol w="23959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0676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329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30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Pool stored as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Change cnt[c]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cheapest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337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Plain array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0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of 100 (lesson)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350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350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rad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0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Fenwick tree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35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35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5943600" y="3724275"/>
              <a:ext cx="5435600" cy="914400"/>
            </p:xfrm>
            <a:graphic>
              <a:graphicData uri="http://schemas.openxmlformats.org/drawingml/2006/table">
                <a:tbl>
                  <a:tblPr/>
                  <a:tblGrid>
                    <a:gridCol w="2395934"/>
                    <a:gridCol w="1706761"/>
                    <a:gridCol w="1332905"/>
                  </a:tblGrid>
                  <a:tr h="3302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Pool stored as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Change cnt[c]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 cheapest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33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Plain array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O(1)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O(C)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of 100 (lesson)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O(1)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O(√C)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Fenwick tree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O(log C)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O(log C)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5"/>
              <p:cNvSpPr txBox="1"/>
              <p:nvPr/>
            </p:nvSpPr>
            <p:spPr>
              <a:xfrm>
                <a:off x="5943600" y="5178425"/>
                <a:ext cx="5761736" cy="2006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44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number of different costs (10 001 here).</a:t>
                </a:r>
                <a:endParaRPr lang="en-US" sz="1200" dirty="0"/>
              </a:p>
            </p:txBody>
          </p:sp>
        </mc:Choice>
        <mc:Fallback xmlns="">
          <p:sp>
            <p:nvSpPr>
              <p:cNvPr id="9" name="Text 5"/>
              <p:cNvSpPr txBox="1"/>
              <p:nvPr/>
            </p:nvSpPr>
            <p:spPr>
              <a:xfrm>
                <a:off x="5943600" y="5178425"/>
                <a:ext cx="5761736" cy="2006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440"/>
                  </a:lnSpc>
                  <a:buNone/>
                </a:pPr>
                <a:r>
                  <a:rPr lang="en-US" sz="12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 = number of different costs (10 001 here).</a:t>
                </a:r>
                <a:endParaRPr lang="en-US" sz="1200" dirty="0"/>
              </a:p>
            </p:txBody>
          </p:sp>
        </mc:Fallback>
      </mc:AlternateContent>
      <p:sp>
        <p:nvSpPr>
          <p:cNvPr id="10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READING · FENWICK TREE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CELL STORES ONE BLOCK</a:t>
            </a:r>
            <a:endParaRPr lang="en-US" sz="3500" dirty="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743075"/>
            <a:ext cx="10541000" cy="203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3927475"/>
            <a:ext cx="60579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lowbit(i) = i &amp; (−i)</a:t>
            </a:r>
            <a:r>
              <a:rPr lang="en-US" sz="15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lowest set bit of i.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4283075"/>
            <a:ext cx="60579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tree[i] stores the sum of cnt over the </a:t>
            </a: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lowbit(i) positions ending at i</a:t>
            </a:r>
            <a:r>
              <a:rPr lang="en-US" sz="15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cnt[i − lowbit(i) + 1] + … + cnt[i].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 txBox="1"/>
              <p:nvPr/>
            </p:nvSpPr>
            <p:spPr>
              <a:xfrm>
                <a:off x="812800" y="4905375"/>
                <a:ext cx="6057900" cy="2952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100"/>
                  </a:lnSpc>
                  <a:buNone/>
                </a:pP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prefix 1..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splits into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of these blocks.</a:t>
                </a:r>
                <a:endParaRPr lang="en-US" sz="1500" dirty="0"/>
              </a:p>
            </p:txBody>
          </p:sp>
        </mc:Choice>
        <mc:Fallback xmlns="">
          <p:sp>
            <p:nvSpPr>
              <p:cNvPr id="7" name="Text 4"/>
              <p:cNvSpPr txBox="1"/>
              <p:nvPr/>
            </p:nvSpPr>
            <p:spPr>
              <a:xfrm>
                <a:off x="812800" y="4905375"/>
                <a:ext cx="6057900" cy="2952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prefix 1..x splits into at most log C of these blocks.</a:t>
                </a:r>
                <a:endParaRPr lang="en-US" sz="1500" dirty="0"/>
              </a:p>
            </p:txBody>
          </p:sp>
        </mc:Fallback>
      </mc:AlternateContent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34200" y="3927475"/>
          <a:ext cx="4445000" cy="1689100"/>
        </p:xfrm>
        <a:graphic>
          <a:graphicData uri="http://schemas.openxmlformats.org/drawingml/2006/table">
            <a:tbl>
              <a:tblPr/>
              <a:tblGrid>
                <a:gridCol w="566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lowbit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tree[i] covers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0110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5..6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0111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1..8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2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9..12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READING · FENWICK TREE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AND PREFIX SUM: JUMP BY LOWBIT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43075"/>
            <a:ext cx="546557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9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cnt[5]: go up, i += lowbit(i)</a:t>
            </a:r>
            <a:endParaRPr lang="en-US" sz="1600" dirty="0"/>
          </a:p>
        </p:txBody>
      </p:sp>
      <p:pic>
        <p:nvPicPr>
          <p:cNvPr id="5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054225"/>
            <a:ext cx="5080000" cy="21272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2800" y="4257675"/>
            <a:ext cx="5465572" cy="27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→ 6 → 8 → 16: every block that contains 5.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2800" y="4582716"/>
            <a:ext cx="5156200" cy="1488877"/>
          </a:xfrm>
          <a:prstGeom prst="roundRect">
            <a:avLst>
              <a:gd name="adj" fmla="val 341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958850" y="4677966"/>
            <a:ext cx="5447792" cy="888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 add(int i, long long d){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(; i &lt;= SZ; i += i &amp; (-i))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tree[i] += d;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223000" y="1743075"/>
            <a:ext cx="546557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cnt[1..13]: go down, i −= lowbit(i)</a:t>
            </a:r>
            <a:endParaRPr lang="en-US" sz="1600" dirty="0"/>
          </a:p>
        </p:txBody>
      </p:sp>
      <p:pic>
        <p:nvPicPr>
          <p:cNvPr id="10" name="Image 1" descr="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2054225"/>
            <a:ext cx="5080000" cy="21272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23000" y="4257675"/>
            <a:ext cx="5465572" cy="27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→ 12 → 8: blocks 13, 9..12, 1..8 tile 1..13.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23000" y="4582716"/>
            <a:ext cx="5156200" cy="1488877"/>
          </a:xfrm>
          <a:prstGeom prst="roundRect">
            <a:avLst>
              <a:gd name="adj" fmla="val 341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9"/>
          <p:cNvSpPr txBox="1"/>
          <p:nvPr/>
        </p:nvSpPr>
        <p:spPr>
          <a:xfrm>
            <a:off x="6369050" y="4677966"/>
            <a:ext cx="5447792" cy="132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ask(int i){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 = 0;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(; i &gt; 0; i -= i &amp; (-i))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 += tree[i];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s;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0"/>
              <p:cNvSpPr txBox="1"/>
              <p:nvPr/>
            </p:nvSpPr>
            <p:spPr>
              <a:xfrm>
                <a:off x="812800" y="6223992"/>
                <a:ext cx="11200384" cy="244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50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jump clears or carries one bit, so both loops take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50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50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steps.</a:t>
                </a:r>
                <a:endParaRPr lang="en-US" sz="1500" dirty="0"/>
              </a:p>
            </p:txBody>
          </p:sp>
        </mc:Choice>
        <mc:Fallback xmlns="">
          <p:sp>
            <p:nvSpPr>
              <p:cNvPr id="14" name="Text 10"/>
              <p:cNvSpPr txBox="1"/>
              <p:nvPr/>
            </p:nvSpPr>
            <p:spPr>
              <a:xfrm>
                <a:off x="812800" y="6223992"/>
                <a:ext cx="11200384" cy="244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50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jump clears or carries one bit, so both loops take at most log C steps.</a:t>
                </a:r>
                <a:endParaRPr lang="en-US" sz="1500" dirty="0"/>
              </a:p>
            </p:txBody>
          </p:sp>
        </mc:Fallback>
      </mc:AlternateContent>
      <p:sp>
        <p:nvSpPr>
          <p:cNvPr id="15" name="Shape 1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READING · FENWICK TREE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079500"/>
                <a:ext cx="11200384" cy="5778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25"/>
                  </a:lnSpc>
                  <a:buNone/>
                </a:pPr>
                <a:r>
                  <a:rPr lang="en-US" sz="35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FIND THE </a:t>
                </a:r>
                <a14:m>
                  <m:oMath xmlns:m="http://schemas.openxmlformats.org/officeDocument/2006/math">
                    <m:r>
                      <a:rPr lang="en-US" sz="35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35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CHEAPEST: WALK DOWN</a:t>
                </a:r>
                <a:endParaRPr lang="en-US" sz="35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079500"/>
                <a:ext cx="11200384" cy="5778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025"/>
                  </a:lnSpc>
                  <a:buNone/>
                </a:pPr>
                <a:r>
                  <a:rPr lang="en-US" sz="35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FIND THE T CHEAPEST: WALK DOWN</a:t>
                </a:r>
                <a:endParaRPr lang="en-US" sz="3500" dirty="0"/>
              </a:p>
            </p:txBody>
          </p:sp>
        </mc:Fallback>
      </mc:AlternateContent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743075"/>
            <a:ext cx="4826000" cy="2095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3902075"/>
            <a:ext cx="5115560" cy="48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09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tried, too many. </a:t>
            </a:r>
            <a:r>
              <a:rPr lang="en-US" sz="13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taken whole. Small cells show tree[1], tree[3], tree[5], tree[7].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 txBox="1"/>
              <p:nvPr/>
            </p:nvSpPr>
            <p:spPr>
              <a:xfrm>
                <a:off x="812800" y="4427736"/>
                <a:ext cx="5115560" cy="255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cnt = 2 0 1 3 0 2 1 1 (costs 1..8),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300" i="0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i="1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1300" dirty="0"/>
              </a:p>
            </p:txBody>
          </p:sp>
        </mc:Choice>
        <mc:Fallback xmlns="">
          <p:sp>
            <p:nvSpPr>
              <p:cNvPr id="6" name="Text 3"/>
              <p:cNvSpPr txBox="1"/>
              <p:nvPr/>
            </p:nvSpPr>
            <p:spPr>
              <a:xfrm>
                <a:off x="812800" y="4427736"/>
                <a:ext cx="5115560" cy="255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cnt = 2 0 1 3 0 2 1 1 (costs 1..8), t = 5</a:t>
                </a:r>
                <a:endParaRPr lang="en-US" sz="13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 txBox="1"/>
              <p:nvPr/>
            </p:nvSpPr>
            <p:spPr>
              <a:xfrm>
                <a:off x="5892800" y="1743075"/>
                <a:ext cx="5815584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Start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pos</m:t>
                    </m:r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Try jumps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largest first. If the block tree[pos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] holds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fewer than </a:t>
                </a:r>
                <a14:m>
                  <m:oMath xmlns:m="http://schemas.openxmlformats.org/officeDocument/2006/math">
                    <m:r>
                      <a:rPr lang="en-US" sz="14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voters, take it whole.</a:t>
                </a:r>
                <a:endParaRPr lang="en-US" sz="1450" dirty="0"/>
              </a:p>
            </p:txBody>
          </p:sp>
        </mc:Choice>
        <mc:Fallback xmlns="">
          <p:sp>
            <p:nvSpPr>
              <p:cNvPr id="7" name="Text 4"/>
              <p:cNvSpPr txBox="1"/>
              <p:nvPr/>
            </p:nvSpPr>
            <p:spPr>
              <a:xfrm>
                <a:off x="5892800" y="1743075"/>
                <a:ext cx="5815584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030"/>
                  </a:lnSpc>
                  <a:buNone/>
                </a:pP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Start at pos = 0. Try jumps of 2^k, largest first. If the block tree[pos + 2^k] holds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fewer than t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voters, take it whole.</a:t>
                </a:r>
                <a:endParaRPr lang="en-US" sz="14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5892800" y="2360216"/>
              <a:ext cx="5486400" cy="1565275"/>
            </p:xfrm>
            <a:graphic>
              <a:graphicData uri="http://schemas.openxmlformats.org/drawingml/2006/table">
                <a:tbl>
                  <a:tblPr/>
                  <a:tblGrid>
                    <a:gridCol w="6385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5426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470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8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2156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997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1376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11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covers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count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decision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pos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sum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4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2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tree[8]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1..8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10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solidFill>
                                    <a:srgbClr val="B4322F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1200" b="1" i="0">
                                  <a:solidFill>
                                    <a:srgbClr val="B4322F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200" b="1" i="1">
                                  <a:solidFill>
                                    <a:srgbClr val="B4322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1200" b="1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no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2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tree[4]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1..4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solidFill>
                                    <a:srgbClr val="B4322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200" b="1" i="0">
                                  <a:solidFill>
                                    <a:srgbClr val="B4322F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200" b="1" i="1">
                                  <a:solidFill>
                                    <a:srgbClr val="B4322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1200" b="1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no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2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tree[2]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1..2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1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1200" b="1" i="1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120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take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2,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1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2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tree[3]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00" b="1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1200" b="1" i="1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20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take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3,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5892800" y="2360216"/>
              <a:ext cx="5486400" cy="914400"/>
            </p:xfrm>
            <a:graphic>
              <a:graphicData uri="http://schemas.openxmlformats.org/drawingml/2006/table">
                <a:tbl>
                  <a:tblPr/>
                  <a:tblGrid>
                    <a:gridCol w="638572"/>
                    <a:gridCol w="754261"/>
                    <a:gridCol w="824706"/>
                    <a:gridCol w="733822"/>
                    <a:gridCol w="1121569"/>
                    <a:gridCol w="799703"/>
                    <a:gridCol w="613767"/>
                  </a:tblGrid>
                  <a:tr h="311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covers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count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decision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pos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sum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43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k = 3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tree[8]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1..8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10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10 ≥ 5: no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1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k = 2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tree[4]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1..4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 ≥ 5: no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1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k = 1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tree[2]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1..2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&lt; 5: take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2, t = 3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11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k = 0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tree[3]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 &lt; 3: take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3, t = 2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Shape 5"/>
          <p:cNvSpPr/>
          <p:nvPr/>
        </p:nvSpPr>
        <p:spPr>
          <a:xfrm>
            <a:off x="5892800" y="4023916"/>
            <a:ext cx="5815584" cy="667941"/>
          </a:xfrm>
          <a:prstGeom prst="roundRect">
            <a:avLst>
              <a:gd name="adj" fmla="val 7605"/>
            </a:avLst>
          </a:prstGeom>
          <a:solidFill>
            <a:srgbClr val="E3F1EC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/>
              <p:cNvSpPr txBox="1"/>
              <p:nvPr/>
            </p:nvSpPr>
            <p:spPr>
              <a:xfrm>
                <a:off x="6007100" y="4100116"/>
                <a:ext cx="5586984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30"/>
                  </a:lnSpc>
                  <a:buNone/>
                </a:pP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Costs 1..3 hold fewer than 5, so the last </a:t>
                </a:r>
                <a14:m>
                  <m:oMath xmlns:m="http://schemas.openxmlformats.org/officeDocument/2006/math">
                    <m:r>
                      <a:rPr lang="en-US" sz="14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5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all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5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pos</m:t>
                    </m:r>
                    <m:r>
                      <a:rPr lang="en-US" sz="145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+1=4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total = </a:t>
                </a:r>
                <a14:m>
                  <m:oMath xmlns:m="http://schemas.openxmlformats.org/officeDocument/2006/math"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4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4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13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✓</a:t>
                </a:r>
                <a:endParaRPr lang="en-US" sz="1450" dirty="0"/>
              </a:p>
            </p:txBody>
          </p:sp>
        </mc:Choice>
        <mc:Fallback xmlns="">
          <p:sp>
            <p:nvSpPr>
              <p:cNvPr id="10" name="Text 6"/>
              <p:cNvSpPr txBox="1"/>
              <p:nvPr/>
            </p:nvSpPr>
            <p:spPr>
              <a:xfrm>
                <a:off x="6007100" y="4100116"/>
                <a:ext cx="5586984" cy="543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030"/>
                  </a:lnSpc>
                  <a:buNone/>
                </a:pP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Costs 1..3 hold fewer than 5, so the last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 = 2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all cost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pos + 1 = 4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total = 5 + 2 × 4 = </a:t>
                </a:r>
                <a:r>
                  <a:rPr lang="en-US" sz="14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13</a:t>
                </a:r>
                <a:r>
                  <a:rPr lang="en-US" sz="14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✓</a:t>
                </a:r>
                <a:endParaRPr lang="en-US" sz="14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7"/>
              <p:cNvSpPr txBox="1"/>
              <p:nvPr/>
            </p:nvSpPr>
            <p:spPr>
              <a:xfrm>
                <a:off x="5892800" y="4793456"/>
                <a:ext cx="581558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Like binary search on the answer, but each probe reads one cell: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300" i="0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300" i="0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300" i="1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no extra log.</a:t>
                </a:r>
                <a:endParaRPr lang="en-US" sz="1300" dirty="0"/>
              </a:p>
            </p:txBody>
          </p:sp>
        </mc:Choice>
        <mc:Fallback xmlns="">
          <p:sp>
            <p:nvSpPr>
              <p:cNvPr id="11" name="Text 7"/>
              <p:cNvSpPr txBox="1"/>
              <p:nvPr/>
            </p:nvSpPr>
            <p:spPr>
              <a:xfrm>
                <a:off x="5892800" y="4793456"/>
                <a:ext cx="581558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Like binary search on the answer, but each probe reads one cell: O(log C), no extra log.</a:t>
                </a:r>
                <a:endParaRPr lang="en-US" sz="1300" dirty="0"/>
              </a:p>
            </p:txBody>
          </p:sp>
        </mc:Fallback>
      </mc:AlternateContent>
      <p:sp>
        <p:nvSpPr>
          <p:cNvPr id="12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READING · FENWICK TREE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TOP-UP IN C++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743075"/>
            <a:ext cx="5715000" cy="4573505"/>
          </a:xfrm>
          <a:prstGeom prst="roundRect">
            <a:avLst>
              <a:gd name="adj" fmla="val 103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958850" y="1838326"/>
            <a:ext cx="6073648" cy="447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int LOG = 14, SZ = 1 &lt;&lt; LOG;  </a:t>
            </a:r>
            <a:r>
              <a:rPr lang="en-US" sz="105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16384 &gt; 10001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fcnt[SZ + 1], fsum[SZ + 1];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add (d = 1) or remove (d = -1) a voter of cost c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 add(int c, int d){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c + 1; i &lt;= SZ; i += i &amp; (-i)){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fcnt[i] += d;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fsum[i] += d * c;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sum of the t cheapest voters (t &lt;= pool)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cheapest(long long t){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pos = 0;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k = LOG; k &gt;= 0; k --){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nxt = pos + (1 &lt;&lt; k);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(nxt &lt;= SZ &amp;&amp; fcnt[nxt] &lt; t){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pos = nxt;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-= fcnt[nxt];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sum += fsum[nxt];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 + t * pos;  </a:t>
            </a:r>
            <a:r>
              <a:rPr lang="en-US" sz="105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the rest cost pos</a:t>
            </a:r>
            <a:endParaRPr lang="en-US" sz="1050" dirty="0"/>
          </a:p>
          <a:p>
            <a:pPr marL="0" indent="0" algn="l">
              <a:lnSpc>
                <a:spcPts val="1491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781800" y="1743075"/>
            <a:ext cx="4873244" cy="52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trees.</a:t>
            </a: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fcnt counts voters, fsum adds up their costs. Both change together.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6781800" y="2355056"/>
                <a:ext cx="4873244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Index = cost + 1.</a:t>
                </a: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 cost can be 0, and index 0 would loop forever. So after the walk, index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pos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means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pos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6781800" y="2355056"/>
                <a:ext cx="4873244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Index = cost + 1.</a:t>
                </a: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 cost can be 0, and index 0 would loop forever. So after the walk, index pos + 1 means cost </a:t>
                </a:r>
                <a:r>
                  <a:rPr lang="en-US" sz="1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pos</a:t>
                </a: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6781800" y="2967038"/>
                <a:ext cx="4873244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Drop-in swap.</a:t>
                </a: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add() and cheapest() replace the bucket version; the sweep over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stays the same.</a:t>
                </a:r>
                <a:endParaRPr lang="en-US" sz="1400" dirty="0"/>
              </a:p>
            </p:txBody>
          </p:sp>
        </mc:Choice>
        <mc:Fallback xmlns="">
          <p:sp>
            <p:nvSpPr>
              <p:cNvPr id="8" name="Text 6"/>
              <p:cNvSpPr txBox="1"/>
              <p:nvPr/>
            </p:nvSpPr>
            <p:spPr>
              <a:xfrm>
                <a:off x="6781800" y="2967038"/>
                <a:ext cx="4873244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Drop-in swap.</a:t>
                </a: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add() and cheapest() replace the bucket version; the sweep over k stays the same.</a:t>
                </a:r>
                <a:endParaRPr lang="en-US" sz="1400" dirty="0"/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6781800" y="3579019"/>
            <a:ext cx="4873244" cy="898922"/>
          </a:xfrm>
          <a:prstGeom prst="roundRect">
            <a:avLst>
              <a:gd name="adj" fmla="val 5651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896100" y="3655219"/>
            <a:ext cx="4644644" cy="77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program: </a:t>
            </a:r>
            <a:r>
              <a:rPr lang="en-US" sz="11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Code/2023_P5_Wheeling_and_Dealing_Fenwick.cpp</a:t>
            </a: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(checked against the bucket version on 3000 random tests).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READING · FENWICK TREE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OR FENWICK?</a:t>
            </a:r>
            <a:endParaRPr lang="en-US" sz="3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743075"/>
              <a:ext cx="10566400" cy="1095693"/>
            </p:xfrm>
            <a:graphic>
              <a:graphicData uri="http://schemas.openxmlformats.org/drawingml/2006/table">
                <a:tbl>
                  <a:tblPr/>
                  <a:tblGrid>
                    <a:gridCol w="22368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643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548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41032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492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Top-up with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Change one cost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cheapest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150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15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5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5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)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of 100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5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5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5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150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50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rad>
                                </m:e>
                              </m:d>
                              <m:r>
                                <a:rPr lang="en-US" sz="15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5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steps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5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5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5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5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5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Fenwick tree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5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50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50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15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sz="15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sz="15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5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5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15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sz="15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5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steps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8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5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5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5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5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5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743075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236887"/>
                    <a:gridCol w="2864346"/>
                    <a:gridCol w="3054846"/>
                    <a:gridCol w="2410321"/>
                  </a:tblGrid>
                  <a:tr h="3492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Top-up with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Change one cost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 cheapest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k (M = 10⁵)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1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of 100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O(1)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O(√C) ≈ 200 steps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2 × 10⁷ ✓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1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Fenwick tree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O(log C) ≈ 14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O(log C) ≈ 15 steps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800"/>
                            </a:lnSpc>
                            <a:buNone/>
                          </a:pPr>
                          <a:r>
                            <a:rPr lang="en-US" sz="15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3 × 10⁶ ✓</a:t>
                          </a:r>
                          <a:endParaRPr lang="en-US" sz="15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812800" y="2974975"/>
            <a:ext cx="5181600" cy="1100931"/>
          </a:xfrm>
          <a:prstGeom prst="roundRect">
            <a:avLst>
              <a:gd name="adj" fmla="val 6921"/>
            </a:avLst>
          </a:prstGeom>
          <a:noFill/>
          <a:ln w="1270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 txBox="1"/>
          <p:nvPr/>
        </p:nvSpPr>
        <p:spPr>
          <a:xfrm>
            <a:off x="990600" y="3114675"/>
            <a:ext cx="5115560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 txBox="1"/>
              <p:nvPr/>
            </p:nvSpPr>
            <p:spPr>
              <a:xfrm>
                <a:off x="990600" y="3438525"/>
                <a:ext cx="511556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new idea, easy to get right. Needs a small value range (here costs </a:t>
                </a:r>
                <a14:m>
                  <m:oMath xmlns:m="http://schemas.openxmlformats.org/officeDocument/2006/math"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10000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 4"/>
              <p:cNvSpPr txBox="1"/>
              <p:nvPr/>
            </p:nvSpPr>
            <p:spPr>
              <a:xfrm>
                <a:off x="990600" y="3438525"/>
                <a:ext cx="511556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new idea, easy to get right. Needs a small value range (here costs ≤ 10 000).</a:t>
                </a:r>
                <a:endParaRPr lang="en-US" sz="1400" dirty="0"/>
              </a:p>
            </p:txBody>
          </p:sp>
        </mc:Fallback>
      </mc:AlternateContent>
      <p:sp>
        <p:nvSpPr>
          <p:cNvPr id="8" name="Shape 5"/>
          <p:cNvSpPr/>
          <p:nvPr/>
        </p:nvSpPr>
        <p:spPr>
          <a:xfrm>
            <a:off x="6197600" y="2974975"/>
            <a:ext cx="5181600" cy="1100931"/>
          </a:xfrm>
          <a:prstGeom prst="roundRect">
            <a:avLst>
              <a:gd name="adj" fmla="val 6921"/>
            </a:avLst>
          </a:prstGeom>
          <a:noFill/>
          <a:ln w="1270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6375400" y="3114675"/>
            <a:ext cx="5115560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Fenwick tree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 txBox="1"/>
              <p:nvPr/>
            </p:nvSpPr>
            <p:spPr>
              <a:xfrm>
                <a:off x="6375400" y="3438525"/>
                <a:ext cx="511556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tool you will reuse: prefix sums that change, the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-th smallest in a changing set, counting inversions.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 7"/>
              <p:cNvSpPr txBox="1"/>
              <p:nvPr/>
            </p:nvSpPr>
            <p:spPr>
              <a:xfrm>
                <a:off x="6375400" y="3438525"/>
                <a:ext cx="511556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tool you will reuse: prefix sums that change, the k-th smallest in a changing set, counting inversions.</a:t>
                </a:r>
                <a:endParaRPr lang="en-US" sz="1400" dirty="0"/>
              </a:p>
            </p:txBody>
          </p:sp>
        </mc:Fallback>
      </mc:AlternateContent>
      <p:sp>
        <p:nvSpPr>
          <p:cNvPr id="11" name="Text 8"/>
          <p:cNvSpPr txBox="1"/>
          <p:nvPr/>
        </p:nvSpPr>
        <p:spPr>
          <a:xfrm>
            <a:off x="812800" y="4228306"/>
            <a:ext cx="112003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pass here. In a contest, write the one you can write without bugs.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/>
              <p:cNvSpPr txBox="1"/>
              <p:nvPr/>
            </p:nvSpPr>
            <p:spPr>
              <a:xfrm>
                <a:off x="812800" y="4647406"/>
                <a:ext cx="11200384" cy="265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90"/>
                  </a:lnSpc>
                  <a:buNone/>
                </a:pPr>
                <a:r>
                  <a:rPr lang="en-US" sz="135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it: count the pairs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350" i="0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350" i="1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35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350" i="1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0">
                        <a:solidFill>
                          <a:srgbClr val="5E6A7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350" i="1">
                            <a:solidFill>
                              <a:srgbClr val="5E6A7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(inversions) using add() and ask().</a:t>
                </a:r>
                <a:endParaRPr lang="en-US" sz="1350" dirty="0"/>
              </a:p>
            </p:txBody>
          </p:sp>
        </mc:Choice>
        <mc:Fallback xmlns="">
          <p:sp>
            <p:nvSpPr>
              <p:cNvPr id="12" name="Text 9"/>
              <p:cNvSpPr txBox="1"/>
              <p:nvPr/>
            </p:nvSpPr>
            <p:spPr>
              <a:xfrm>
                <a:off x="812800" y="4647406"/>
                <a:ext cx="11200384" cy="265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90"/>
                  </a:lnSpc>
                  <a:buNone/>
                </a:pPr>
                <a:r>
                  <a:rPr lang="en-US" sz="1350" dirty="0">
                    <a:solidFill>
                      <a:srgbClr val="5E6A7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it: count the pairs i &lt; j with A[i] &gt; A[j] (inversions) using add() and ask().</a:t>
                </a:r>
                <a:endParaRPr lang="en-US" sz="1350" dirty="0"/>
              </a:p>
            </p:txBody>
          </p:sp>
        </mc:Fallback>
      </mc:AlternateContent>
      <p:sp>
        <p:nvSpPr>
          <p:cNvPr id="13" name="Shape 1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10624</Words>
  <Application>Microsoft Macintosh PowerPoint</Application>
  <PresentationFormat>Widescreen</PresentationFormat>
  <Paragraphs>897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Cambria Math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3: Greedy and the Water Level</dc:title>
  <dc:subject>PptxGenJS Presentation</dc:subject>
  <dc:creator>Bryan</dc:creator>
  <cp:lastModifiedBy>Bryan Sun</cp:lastModifiedBy>
  <cp:revision>1</cp:revision>
  <dcterms:created xsi:type="dcterms:W3CDTF">2026-10-02T13:29:14Z</dcterms:created>
  <dcterms:modified xsi:type="dcterms:W3CDTF">2026-10-09T11:27:52Z</dcterms:modified>
</cp:coreProperties>
</file>