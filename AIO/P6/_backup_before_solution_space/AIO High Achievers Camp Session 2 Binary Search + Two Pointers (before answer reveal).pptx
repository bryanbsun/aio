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87" r:id="rId39"/>
    <p:sldId id="286" r:id="rId38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the binary search template" id="{CCB859BC-A6BD-2ECD-DAC9-0BE4929069A7}">
          <p14:sldIdLst>
            <p14:sldId id="256"/>
            <p14:sldId id="257"/>
            <p14:sldId id="258"/>
            <p14:sldId id="287"/>
            <p14:sldId id="286"/>
            <p14:sldId id="259"/>
          </p14:sldIdLst>
        </p14:section>
        <p14:section name="2021 P6 Laser Cutter: binary search on the answer" id="{2BA587EA-6398-66CB-0454-198935A24BB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2021 P5 Space Mission: build monotonicity with a prefix minimum" id="{80D78653-E9B9-548C-3C2F-21A0339399BC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2019 P6 Lollipops II: a monotone sum plus two pointers" id="{CB3204A7-A7E6-EDAC-31F6-B8CC1390A458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Where monotonicity comes from, live coding, recap and homework" id="{B3E5A533-C7E4-F04E-592F-6FB3C49ACD83}">
          <p14:sldIdLst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5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  <Relationship Id="rId38" Type="http://schemas.openxmlformats.org/officeDocument/2006/relationships/slide" Target="slides/slide31.xml"/>
  <Relationship Id="rId39" Type="http://schemas.openxmlformats.org/officeDocument/2006/relationships/slide" Target="slides/slide32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modSld">
      <pc:chgData name="Bryan Sun" userId="851caa7714272873" providerId="LiveId" clId="{1DF0C224-3A3E-55A6-A8D1-F8F2208D385B}" dt="2026-10-03T07:02:59.135" v="19" actId="20577"/>
      <pc:docMkLst>
        <pc:docMk/>
      </pc:docMkLst>
      <pc:sldChg chg="modSp mod">
        <pc:chgData name="Bryan Sun" userId="851caa7714272873" providerId="LiveId" clId="{1DF0C224-3A3E-55A6-A8D1-F8F2208D385B}" dt="2026-10-02T13:41:03.978" v="4" actId="242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6-10-02T13:41:03.978" v="4" actId="242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3T07:02:59.135" v="19" actId="20577"/>
        <pc:sldMkLst>
          <pc:docMk/>
          <pc:sldMk cId="0" sldId="258"/>
        </pc:sldMkLst>
        <pc:spChg chg="mod">
          <ac:chgData name="Bryan Sun" userId="851caa7714272873" providerId="LiveId" clId="{1DF0C224-3A3E-55A6-A8D1-F8F2208D385B}" dt="2026-10-03T07:02:55.288" v="12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03T07:02:59.135" v="19" actId="20577"/>
          <ac:spMkLst>
            <pc:docMk/>
            <pc:sldMk cId="0" sldId="258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94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次课的主题是单调性（monotonicity）：它从哪里来，Binary Search 和 Two Pointers 怎样利用它。今天有三种来源：题目直接给的（Laser Cutter）、用前缀最小值造出来的（Space Mission）、用总和造出来的（Lollipops II）。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先用 5 分钟讲上次的作业（Tennis Robot II）：谁的轮数除法公式写对了？</a:t>
            </a:r>
          </a:p>
          <a:p>
            <a:r>
              <a:rPr lang="zh-CN" altLang="en-US" dirty="0"/>
              <a:t>参考：t = (s − 1) / (−d[i]) + 1，其中 s = X[i] + mn[i]；s &lt; 1 时 t = 0；d[i] ≥ 0 时跳过。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今天每道题都问同一个问题：单调性从哪里来？是题目给的，还是我们自己造出来的？</a:t>
            </a:r>
          </a:p>
          <a:p>
            <a:r>
              <a:rPr lang="zh-CN" altLang="en-US" dirty="0"/>
              <a:t>接下来两页先不看具体题目，而是从"解空间的形状"讲起：什么样的形状可以二分，二分的循环到底在做什么。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这和课程里 timber、expense 题用的是同一个模板。</a:t>
            </a:r>
          </a:p>
          <a:p>
            <a:r>
              <a:rPr lang="zh-CN" altLang="en-US" dirty="0"/>
              <a:t>提问："能放下的最大正方形"用哪个写法？答案：找最后一个可行值 → 输出 r。</a:t>
            </a:r>
          </a:p>
          <a:p>
            <a:r>
              <a:rPr lang="zh-CN" altLang="en-US" dirty="0"/>
              <a:t>"总和达到 S 的最小半径"用哪个写法？答案：找第一个可行值 → 输出 l。</a:t>
            </a:r>
          </a:p>
          <a:p>
            <a:r>
              <a:rPr lang="zh-CN" altLang="en-US" dirty="0"/>
              <a:t>两种形状对应两种写法：✗✗✗✓✓✓ 找第一个 ✓，输出 l；✓✓✓✗✗✗ 找最后一个 ✓，输出 r。和上一页的表格对照：循环结束时 r 停在最后一个 ✗，l 停在第一个 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30 分钟。这里的单调性是题目直接给的：两条切割线都是阶梯（staircase）。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在右侧画样例 2：A = DDDDDDRRRRRR（先下后右），B = RDRRDDDRRRDD。答案是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Brute force 仍然值得写：它能拿 N ≤ 10 和 N ≤ 1000 的 subtask 分，之后还能当对拍用的 checker。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单调性就是从这里来的，而且是题目直接给的。画一列，标出 yb 和 ya。</a:t>
            </a:r>
          </a:p>
          <a:p>
            <a:r>
              <a:rPr lang="zh-CN" altLang="en-US" dirty="0"/>
              <a:t>参考（样例 2）：ya = 6 6 6 6 6 6，yb = 0 1 1 4 4 4，两者都单调不减。</a:t>
            </a:r>
          </a:p>
          <a:p>
            <a:r>
              <a:rPr lang="zh-CN" altLang="en-US" dirty="0"/>
              <a:t>右图是新编的例子（N = 8，不是样例，免得提前给出第 12 页的答案）：紫线是上边界 B，橙线是下边界 A，青色格子是两条切割线之间的形状。每次切割线向右走过第 x 列时，记下当时的行号：yb = 0 0 1 2 2 4 6 7，ya = 3 5 6 6 7 8 8 8。红色虚线框是第 3 列：它占第 yb[3] = 1 行到第 ya[3] − 1 = 5 行。两行数字都从左到右单调不减，这就是"阶梯"（staircase）。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常见错误：在同一列里同时检查上下边界。画图说明：最右一列限制顶边，最左一列限制底边（因为 yb、ya 都单调不减）。</a:t>
            </a:r>
          </a:p>
          <a:p>
            <a:r>
              <a:rPr lang="zh-CN" altLang="en-US" dirty="0"/>
              <a:t>解空间：s = 1, 2, 3, … 时 check(s) 的形状是 ✓✓✓✓✗✗（放得下的边长越小越容易），所以找最后一个 ✓ → 输出 r。</a:t>
            </a:r>
          </a:p>
          <a:p>
            <a:r>
              <a:rPr lang="zh-CN" altLang="en-US" dirty="0"/>
              <a:t>右图沿用上一页的例子，放一个 3 × 3 的正方形在第 2–4 列（x = 2，s = 3）。顶边受三列中最低的顶部限制：yb 单调不减，所以是最右一列 yb[4] = 2；底边受最高的底部限制：ya 单调不减，所以是最左一列 ya[2] = 5（两条红线）。5 − 2 = 3 ≥ 3，放得下。</a:t>
            </a:r>
          </a:p>
          <a:p>
            <a:r>
              <a:rPr lang="zh-CN" altLang="en-US" dirty="0"/>
              <a:t>提问：这个例子里最大能放多大的正方形？答案：3。s = 4 时每个 x 都放不下：x = 1：3 − 2 = 1；x = 2：5 − 2 = 3；x = 3：6 − 4 = 2；x = 4：6 − 6 = 0；x = 5：7 − 7 = 0，都 &lt;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答案：ya = 6 6 6 6 6 6，yb = 0 1 1 4 4 4。
s = 3，x = 1：6 − yb[3] = 6 − 1 = 5 ≥ 3，放得下。
s = 4：x = 1：6 − yb[4] = 2；x = 2：6 − yb[5] = 2；x = 3：6 − yb[6] = 2。都放不下。答案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复杂度 O(N log N)。二分就是模板页右侧"找最后一个可行值"的写法，l = 1，r = n，输出 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挑战：能不能不用 Binary Search？
答案：设 g(x) 为从第 x 列开始能放下的最大正方形边长，可以证明 g(x+1) ≥ g(x) − 1，所以用一个只往前走的指针就能在 O(N) 内求出所有 g(x)。这就是 Two Pointers 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分钟。和 Laser Cutter 对比：那里的阶梯是题目给的；这里要自己造出单调性。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提问：固定返回日 j，我们想要哪个出发日？
答案：最靠左的 i，满足 C[i] ≤ F − C[j]。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前缀最小值（prefix minimum）是 prefix sum 的"min 版本"：两者都是把前 i 个数合起来。这时可以强调"单调性是我们自己造出来的"。</a:t>
            </a:r>
          </a:p>
          <a:p>
            <a:r>
              <a:rPr lang="zh-CN" altLang="en-US" dirty="0"/>
              <a:t>解空间：t = 1 … j−1 时"pm[t] ≤ need"的形状是 ✗✗✓✓✓（pm 只会变小），所以找第一个 ✓ → 输出 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答案：pm = 12 8 2 2 2 2 2。
j = 6：need = 8 → 第一个 pm ≤ 8 的是 i = 2 → 5 天。
j = 7：need = 4 → i = 3 → 5 天。
j = 4：need = −2 → 找不到。
答案 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 初始化为 −1。复杂度 O(N log N)。这是后面的现场编码题，先不要发代码。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挑战：Space Mission 能不能用 Two Pointers 做到 O(N)？
答案：最优的出发日 i 一定是"前缀最小值创新低"的那一天，最优的返回日 j 一定是"后缀最小值"的那一天。把这两组位置分别列出来：i 往右走时 C[i] 变小，允许的 C[j] 上限 F − C[i] 变大，能用的最远 j 只会往右移，所以一个指针扫一遍即可，O(N)。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30 分钟。今天最难的"自己造单调性"。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在数轴上画样例 1：商店 1 5 8 9，房子 3 6 8 10 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Subtask 2–4：只有商店和房子之间的距离会改变某个计数，所以只有约 N·M 个"有意义的"R，逐个检查就能拿这些 subtask。</a:t>
            </a:r>
          </a:p>
          <a:p>
            <a:r>
              <a:rPr lang="zh-CN" altLang="en-US" dirty="0"/>
              <a:t>解空间："排序后的计数等于 s"随 R 变化的形状是 ✗✗✗✓✓✗✗✗：✓ 是中间的一段（因为每个计数随 R 单调不减，所以 ✓ 一定连成一段）。查到一个 ✗ 时，不知道 ✓ 段在它左边还是右边，所以不能二分。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观察 2 是一个很好的小证明：如果每个数都不变小，那么排序后第 k 小的数也不会变小。</a:t>
            </a:r>
          </a:p>
          <a:p>
            <a:r>
              <a:rPr lang="zh-CN" altLang="en-US" dirty="0"/>
              <a:t>观察 3：每个位置都 ≤，总和又相等，所以每个位置都相等。</a:t>
            </a:r>
          </a:p>
          <a:p>
            <a:r>
              <a:rPr lang="zh-CN" altLang="en-US" dirty="0"/>
              <a:t>解空间："sum(v(R)) ≥ S"随 R 的形状是 ✗✗✗✓✓✓✓，单调 → 二分找第一个 ✓。然后只检查这一个 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这就是"先用总和过滤"的想法。样例 2 很好地说明了这一点：总和从 3 直接跳到 5，永远等不到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在题目页的数轴上画出滑动窗口。
参考（样例 1，R = 3）：房子 3 → [0, 6] 内的商店 1、5，计数 2；房子 6 → [3, 9] 内 5、8、9，计数 3；房子 8 → 3；房子 10 → [7, 13] 内 8、9，计数 2；房子 14 → 0。总和 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答案：R = 2：2 2 2 2 0，总和 8。R = 3：2 3 3 2 0，总和 10。最小的 R 是 3；排序后 0 2 2 3 3 = s；答案 3（R = 4 得到同样的向量，也被接受，正好印证观察 3）。
样例 2：商店 1 3 5，房子 2 6，s = 1 3（S = 4）。R = 2 总和 3，R = 3 总和 5：总和永远不等于 4，输出 −1。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注意边界：&lt;= ho[i] + R，但 &lt; ho[i] − R，一个等号写错就会出错。总和用 long long（最大 M × N = 10^10）。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先让学生填右边一列，再显示答案。</a:t>
            </a:r>
          </a:p>
          <a:p>
            <a:r>
              <a:rPr lang="zh-CN" altLang="en-US" dirty="0"/>
              <a:t>参考答案：Laser Cutter：本身就是单调的阶梯，题目给的；Space Mission：花费数组 C 不单调 → 前缀最小值 pm 单调，我们造的；Lollipops II："排序后的计数等于 s"不单调 → 计数总和单调，我们造的。</a:t>
            </a:r>
          </a:p>
          <a:p>
            <a:r>
              <a:rPr lang="zh-CN" altLang="en-US" dirty="0"/>
              <a:t>最后一列：三道题的解空间形状。Laser Cutter 找最后一个 ✓（输出 r），另外两道找第一个 ✓（输出 l）。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 bug：在 pm[1..j] 上搜索，而不是 pm[1..j−1]（出发日和返回日必须不同）；忘了输出 −1；F − C[j] 用 int 不会溢出，但为了保险还是用 long long。
样例答案：样例 1 = 4，样例 2 = 5，样例 3 = −1。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这张表每次课都会变长。Greedy 那一列现在还几乎是空的：那是第 3 次课的内容。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下次课：Greedy 和水位线（water level）。提醒学生把 binary search 模板留在手边，下次每道题都会用到。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用左边那个模板（check 为真 → r = mid − 1，否则 l = mid + 1）一步一步走这张表。第一行是"真实的"✓ / ✗，但程序看不到，只能一次查一个 mid。</a:t>
            </a:r>
          </a:p>
          <a:p>
            <a:r>
              <a:rPr lang="zh-CN" altLang="en-US" dirty="0"/>
              <a:t>答案就是表格：mid = 5 是 ✗ → 分界线在右边，l = 6；mid = 8 是 ✓ → 分界线在左边，r = 7；mid = 6 是 ✗ → l = 7；mid = 7 是 ✓ → r = 6，l &gt; r，循环结束。</a:t>
            </a:r>
          </a:p>
          <a:p>
            <a:r>
              <a:rPr lang="zh-CN" altLang="en-US" dirty="0"/>
              <a:t>结束时 r = 6 是最后一个 ✗，l = 7 是第一个 ✓，而且 l = r + 1 总是成立。所以：要第一个 ✓（形状 ✗✗✓✓）输出 l；要最后一个 ✓（形状 ✓✓✗✗）用另一个写法，输出 r。</a:t>
            </a:r>
          </a:p>
          <a:p>
            <a:r>
              <a:rPr lang="zh-CN" altLang="en-US" dirty="0"/>
              <a:t>每次扔掉一半：N 个候选只要约 log₂N 次 check。10 个 → 4 次，10^9 个 → 约 30 次。</a:t>
            </a:r>
          </a:p>
          <a:p>
            <a:r>
              <a:rPr lang="zh-CN" altLang="en-US" dirty="0"/>
              <a:t>提问：如果整行都是 ✗，循环结束时 l 是多少？答案：l = N + 1（越界），表示没有可行值，要特判。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从解空间（solution space，也叫 search space）讲起：把所有可能的答案 x 从小到大排成一行，对每个 x 问一次 check(x)：行（✓）还是不行（✗）。然后看这一行 ✓ / ✗ 的"形状"。</a:t>
            </a:r>
          </a:p>
          <a:p>
            <a:r>
              <a:rPr lang="zh-CN" altLang="en-US" dirty="0"/>
              <a:t>单调（monotone）= 只有一条分界线：✗✗✗✓✓✓ 或 ✓✓✓✗✗✗。这时随便查中间的一个 mid，就知道分界线在它左边还是右边，可以扔掉一半 → Binary Search。</a:t>
            </a:r>
          </a:p>
          <a:p>
            <a:r>
              <a:rPr lang="zh-CN" altLang="en-US" dirty="0"/>
              <a:t>不单调：✓ 和 ✗ 交错。查到一个 ✗，不知道 ✓ 在左边还是右边 → 不能二分。要么全部检查，要么换一个单调的量（今天的 Lollipops II 就是这样）。</a:t>
            </a:r>
          </a:p>
          <a:p>
            <a:r>
              <a:rPr lang="zh-CN" altLang="en-US" dirty="0"/>
              <a:t>提问：第 1 次课哪道题也有这种形状？参考答案：Tennis Robot II，"箱子 i 能撑过 r 轮吗？"随 r 增大是 ✓✓✓✗✗。那里我们用除法直接算出了分界线。</a:t>
            </a:r>
          </a:p>
          <a:p>
            <a:r>
              <a:rPr lang="zh-CN" altLang="en-US" dirty="0"/>
              <a:t>一句话总结：二分找的不是答案本身，而是 ✗ 和 ✓ 的分界线。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p_slide10_image-10-1.png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p_slide11_image-11-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101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100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rac2.info/problem/147/" TargetMode="Externa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778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2340"/>
              </a:lnSpc>
              <a:buNone/>
            </a:pPr>
            <a:r>
              <a:rPr lang="en-US" sz="12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AIO HIGH ACHIEVERS CAMP · SESSION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855968" y="2514600"/>
            <a:ext cx="4523232" cy="35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720"/>
              </a:lnSpc>
              <a:buNone/>
            </a:pPr>
            <a:r>
              <a:rPr lang="en-US" sz="6400" b="1" kern="0" spc="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+ TWO POINTERS</a:t>
            </a:r>
            <a:endParaRPr lang="en-US" sz="6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2 HOURS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5"/>
              </a:lnSpc>
              <a:buNone/>
            </a:pPr>
            <a:r>
              <a:rPr lang="en-US" sz="35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44675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/>
                <a:gridCol w="4754860"/>
                <a:gridCol w="3698280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0:00–0:10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Recap, the solution space, the template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0:10–0:40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 P6 Laser Cutter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on the answer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0:40–1:00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 P5 Space Mission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minimum + 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1:00–1:30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 P6 Lollipops II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+ Two Pointers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1:30–1:55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coding: Space Mission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program + samples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1:55–2:00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 and homework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CORE TECHNIQUES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THE MONOTONE PAIR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EBEC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12800" y="1903016"/>
            <a:ext cx="63500" cy="1663700"/>
          </a:xfrm>
          <a:prstGeom prst="rect">
            <a:avLst/>
          </a:prstGeom>
          <a:solidFill>
            <a:srgbClr val="95C7C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79500" y="20871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848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850" dirty="0"/>
          </a:p>
        </p:txBody>
      </p:sp>
      <p:sp>
        <p:nvSpPr>
          <p:cNvPr id="7" name="Text 5"/>
          <p:cNvSpPr txBox="1"/>
          <p:nvPr/>
        </p:nvSpPr>
        <p:spPr>
          <a:xfrm>
            <a:off x="1079500" y="2569766"/>
            <a:ext cx="5001133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</a:t>
            </a:r>
            <a:r>
              <a:rPr lang="en-US" altLang="zh-CN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</a:t>
            </a:r>
            <a:r>
              <a:rPr lang="en-US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1: running totals, net change per round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184900" y="19030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FFAF0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184900" y="1903016"/>
            <a:ext cx="63500" cy="1663700"/>
          </a:xfrm>
          <a:prstGeom prst="rect">
            <a:avLst/>
          </a:prstGeom>
          <a:solidFill>
            <a:srgbClr val="E0960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451600" y="20935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850" dirty="0"/>
          </a:p>
        </p:txBody>
      </p:sp>
      <p:sp>
        <p:nvSpPr>
          <p:cNvPr id="11" name="Text 9"/>
          <p:cNvSpPr txBox="1"/>
          <p:nvPr/>
        </p:nvSpPr>
        <p:spPr>
          <a:xfrm>
            <a:off x="6451600" y="25761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a check that flips from "no" to "yes" exactly once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12800" y="37445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FF6F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812800" y="3744516"/>
            <a:ext cx="63500" cy="1663700"/>
          </a:xfrm>
          <a:prstGeom prst="rect">
            <a:avLst/>
          </a:prstGeom>
          <a:solidFill>
            <a:srgbClr val="E46F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 txBox="1"/>
          <p:nvPr/>
        </p:nvSpPr>
        <p:spPr>
          <a:xfrm>
            <a:off x="1079500" y="39350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850" dirty="0"/>
          </a:p>
        </p:txBody>
      </p:sp>
      <p:sp>
        <p:nvSpPr>
          <p:cNvPr id="15" name="Text 13"/>
          <p:cNvSpPr txBox="1"/>
          <p:nvPr/>
        </p:nvSpPr>
        <p:spPr>
          <a:xfrm>
            <a:off x="1079500" y="44176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both ends of a window only ever move forward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184900" y="37445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EBEC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184900" y="3744516"/>
            <a:ext cx="63500" cy="1663700"/>
          </a:xfrm>
          <a:prstGeom prst="rect">
            <a:avLst/>
          </a:prstGeom>
          <a:solidFill>
            <a:srgbClr val="7896A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 txBox="1"/>
          <p:nvPr/>
        </p:nvSpPr>
        <p:spPr>
          <a:xfrm>
            <a:off x="6451600" y="39286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848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850" dirty="0"/>
          </a:p>
        </p:txBody>
      </p:sp>
      <p:sp>
        <p:nvSpPr>
          <p:cNvPr id="19" name="Text 17"/>
          <p:cNvSpPr txBox="1"/>
          <p:nvPr/>
        </p:nvSpPr>
        <p:spPr>
          <a:xfrm>
            <a:off x="6451600" y="4411266"/>
            <a:ext cx="5001133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r>
              <a:rPr lang="en-US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3: the water-level idea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56114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need the same thing: something monotone.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TEMPLATE FOR THE WHOLE COURSE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WHILE (L &lt;= R) TEMPLATE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418455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value that passes → 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353866"/>
            <a:ext cx="5418455" cy="37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</a:t>
            </a:r>
            <a:r>
              <a:rPr lang="en-US" sz="2250" b="1" spc="100" kern="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2792016"/>
            <a:ext cx="5111750" cy="2603500"/>
          </a:xfrm>
          <a:prstGeom prst="roundRect">
            <a:avLst>
              <a:gd name="adj" fmla="val 1951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2350" y="2950766"/>
            <a:ext cx="5255768" cy="231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mid = (l + r) / 2;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(check(mid))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answer: 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29350" y="1903016"/>
            <a:ext cx="5418455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value that passes → 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229350" y="2353866"/>
            <a:ext cx="5418455" cy="37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</a:t>
            </a:r>
            <a:r>
              <a:rPr lang="en-US" sz="225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229350" y="2792016"/>
            <a:ext cx="5111750" cy="2603500"/>
          </a:xfrm>
          <a:prstGeom prst="roundRect">
            <a:avLst>
              <a:gd name="adj" fmla="val 1951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900" y="2950766"/>
            <a:ext cx="5255768" cy="231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mid = (l + r) / 2;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(check(mid))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answer: 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254970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square that fits between two staircase cuts.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232870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32870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232870"/>
            <a:ext cx="3156148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232870"/>
            <a:ext cx="315614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optional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04370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804370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561530" y="4804370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561530" y="4804370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N×N board. Two cuts run from the top-left corner to the bottom-right corner, using only R (right) and D (down).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A is the lower boundary, cut B the upper one. Find the side of the largest axis-aligned square that fits between them.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200 000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QUESTION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FORCE, AND WHY IT FAILS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every cell inside the shape, then try every top-left corner and every size: O(N⁴), or O(N³) with a 2D prefix sum.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 = 200 000 means 4×10¹⁰ cells. We cannot even store the grid.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1106150" cy="55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5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must use the special shape of the cuts.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KEY OBSERVATION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5"/>
              </a:lnSpc>
              <a:buNone/>
            </a:pPr>
            <a:r>
              <a:rPr lang="en-US" sz="35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SHAPE COLUMN BY COLUMN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44675"/>
            <a:ext cx="6980047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each cut. Each time it steps right through column x, record the current row: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800" y="2929136"/>
            <a:ext cx="6980047" cy="1147961"/>
          </a:xfrm>
          <a:prstGeom prst="roundRect">
            <a:avLst>
              <a:gd name="adj" fmla="val 4425"/>
            </a:avLst>
          </a:prstGeom>
          <a:solidFill>
            <a:srgbClr val="FFFA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6000" y="3030736"/>
            <a:ext cx="6573647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yb[x] = top of column x</a:t>
            </a:r>
            <a:endParaRPr lang="en-US" sz="2400" dirty="0"/>
          </a:p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ya[x] = bottom of column x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16797"/>
            <a:ext cx="6980047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x holds rows yb[x] … ya[x] − 1.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828877"/>
            <a:ext cx="6980047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arrays never decrease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cuts only go right and down): a staircase.</a:t>
            </a:r>
            <a:endParaRPr lang="en-US" sz="2400" dirty="0"/>
          </a:p>
        </p:txBody>
      </p:sp>
      <p:pic>
        <p:nvPicPr>
          <p:cNvPr id="9" name="Image 0" descr="Diagr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550" y="1844675"/>
            <a:ext cx="3676650" cy="413385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976394" y="6029325"/>
            <a:ext cx="3128963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example (N = 8), not a sample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KEY OBSERVATION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 S×S SQUARE FIT AT COLUMNS X … X+S−1?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771650"/>
            <a:ext cx="6849108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edge: below every column's top → the strictest is the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rightmost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column, yb[x+s−1].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797175"/>
            <a:ext cx="6849108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edge: above every column's bottom → the strictest is the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leftmost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column, ya[x].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3822700"/>
            <a:ext cx="6849108" cy="577850"/>
          </a:xfrm>
          <a:prstGeom prst="roundRect">
            <a:avLst>
              <a:gd name="adj" fmla="val 8791"/>
            </a:avLst>
          </a:prstGeom>
          <a:solidFill>
            <a:srgbClr val="FFFA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6000" y="3924300"/>
            <a:ext cx="6442708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⇔ ya[x] − yb[x+s−1] ≥ s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540250"/>
            <a:ext cx="68491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 fits, s−1 fits too. Solution space s = 1, 2, 3, …: 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for the last 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each check O(N).</a:t>
            </a:r>
            <a:endParaRPr lang="en-US" sz="2250" dirty="0"/>
          </a:p>
        </p:txBody>
      </p:sp>
      <p:pic>
        <p:nvPicPr>
          <p:cNvPr id="9" name="Image 0" descr="Diagr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37" y="1771650"/>
            <a:ext cx="3676650" cy="413385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579023" y="5956300"/>
            <a:ext cx="3800177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board: x = 2, s = 3 → 5 − 2 = 3 ≥ 3, fits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= 6　A = DDDDDDRRRRRR　B = RDRRDDDRRRDD</a:t>
            </a:r>
            <a:endParaRPr lang="en-US" sz="2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91966"/>
          <a:ext cx="10566398" cy="1435100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9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ya[x]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yb[x]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3966766"/>
            <a:ext cx="11200384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3: try x = ___ → ya − yb = ___ → fits? ___</a:t>
            </a:r>
            <a:endParaRPr lang="en-US" sz="2250" dirty="0"/>
          </a:p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4: x = 1, 2, 3 → ___, ___, ___ → fits? ___　　Answer = ___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TRACE() AND CHECK(S)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4946650" cy="3975100"/>
          </a:xfrm>
          <a:prstGeom prst="roundRect">
            <a:avLst>
              <a:gd name="adj" fmla="val 127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5070856" cy="3688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record the row at each R step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 trace(char p[], int y[]){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row = 0, col =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0; i &lt; 2 * n; i ++){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(p[i] == 'D')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row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y[col] = row;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col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13450" y="1903016"/>
            <a:ext cx="5365750" cy="3975100"/>
          </a:xfrm>
          <a:prstGeom prst="roundRect">
            <a:avLst>
              <a:gd name="adj" fmla="val 127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6223000" y="2061766"/>
            <a:ext cx="5540248" cy="2773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 check(int s){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x = 1; x + s - 1 &lt;= n; x ++)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(ya[x] - yb[x + s - 1] &gt;= s)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return true;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false;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largest s that fits: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"last value that passes" → 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SCORING ROUTE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SUBTASKS AND COMMON MISTAKES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ladder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goes all the way down first: ya is all N, only the top matters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10, N ≤ 1000: brute force / 2D prefix sums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Full: binary search on 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2992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62992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Swapping which cut is the upper boundary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top and bottom in the same column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Printing l instead of r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78375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291755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44229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array is not monotone. Make one that is.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04554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04554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045545"/>
            <a:ext cx="4257873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045545"/>
            <a:ext cx="425787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 (prefix min)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61704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61704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798961" y="4617045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798961" y="4617045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portal on day i costs C[i] fuel. Pick a launch day i and a return day j (i &lt; j) with C[i] + C[j] ≤ F.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Maximise the number of days j − i + 1. Print −1 if impossible.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100 000, F, C[i] ≤ 10⁹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04405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force: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pair (i, j), O(N²). Subtask 1 only.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MONOTONE QUESTION INSTEAD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j. We want the leftmost i with C[i] ≤ need = F − C[j]. C itself has no order, so we cannot binary search it.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"some day among the first t costs ≤ need" can only switch from no to yes as t grows. It is the same as: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3954066"/>
            <a:ext cx="11200384" cy="641350"/>
          </a:xfrm>
          <a:prstGeom prst="roundRect">
            <a:avLst>
              <a:gd name="adj" fmla="val 7921"/>
            </a:avLst>
          </a:prstGeom>
          <a:solidFill>
            <a:srgbClr val="FFFA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6000" y="4055666"/>
            <a:ext cx="10793984" cy="48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pm[t] ≤ need,　where pm[t] = min(C[1..t])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7351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never increases, so t = 1 … j−1 gives </a:t>
            </a:r>
            <a:r>
              <a:rPr lang="en-US" sz="225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for the first 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2: F = 14</a:t>
            </a:r>
            <a:endParaRPr lang="en-US" sz="3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397" cy="1453642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83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i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C[i]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pm[i]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3484166"/>
            <a:ext cx="11200384" cy="1671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6: need = ___ → first i = ___ → days = ___</a:t>
            </a:r>
            <a:endParaRPr lang="en-US" sz="2250" dirty="0"/>
          </a:p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7: need = ___ → first i = ___ → days = ___</a:t>
            </a:r>
            <a:endParaRPr lang="en-US" sz="2250" dirty="0"/>
          </a:p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4: need = ___ → ___　　Answer = ___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98"/>
              </a:lnSpc>
              <a:buNone/>
            </a:pPr>
            <a:r>
              <a:rPr lang="en-US" sz="365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MINIMUM, THEN ONE SEARCH PER J</a:t>
            </a:r>
            <a:endParaRPr lang="en-US" sz="3650" dirty="0"/>
          </a:p>
        </p:txBody>
      </p:sp>
      <p:sp>
        <p:nvSpPr>
          <p:cNvPr id="4" name="Shape 2"/>
          <p:cNvSpPr/>
          <p:nvPr/>
        </p:nvSpPr>
        <p:spPr>
          <a:xfrm>
            <a:off x="812800" y="1866503"/>
            <a:ext cx="10318750" cy="4441627"/>
          </a:xfrm>
          <a:prstGeom prst="roundRect">
            <a:avLst>
              <a:gd name="adj" fmla="val 1144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47750" y="2025253"/>
            <a:ext cx="11017250" cy="4154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pm[1] = c[1];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2; i &lt;= n; i ++)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pm[i] = min(pm[i-1], c[i]);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j = 2; j &lt;= n; j ++){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need = F - c[j];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l = 1, r = j - 1;   </a:t>
            </a: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i with pm[i] &lt;= need → l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while (l &lt;= r){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int mid = (l + r) / 2;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(pm[mid] &lt;= need) r = mid - 1;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 l = mid + 1;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(l &lt;= j - 1) ans = max(ans, j - l + 1);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PAIR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USE BINARY SEARCH</a:t>
            </a:r>
            <a:endParaRPr lang="en-US" sz="3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2127250"/>
        </p:xfrm>
        <a:graphic>
          <a:graphicData uri="http://schemas.openxmlformats.org/drawingml/2006/table">
            <a:tbl>
              <a:tblPr/>
              <a:tblGrid>
                <a:gridCol w="2747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9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 (P5)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 (P6)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over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index in the array pm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answer (square side)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 because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built it (prefix min)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problem gave it (staircase)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many searches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 j: N searches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search, O(N) check each step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1834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026345"/>
            <a:ext cx="7740650" cy="155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LOLLIPOPS, SWEETS AND CHOCOLATES II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70770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condition is not monotone. Its sum is.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31095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31095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310955"/>
            <a:ext cx="3111500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310955"/>
            <a:ext cx="311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82455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882455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561530" y="4882455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561530" y="4882455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shops and M houses on a line. For a radius R, each house counts the shops within distance R.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given the M counts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sorted order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matched to houses. Find any R (0 ≤ R ≤ L) that produces exactly these counts, or −1.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601325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 M ≤ 100 000, L ≤ 10⁹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516438"/>
            <a:ext cx="10601325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compare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multisets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sort our counts and compare with 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QUESTION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VALUES OF R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every R from 0 to L: count, sort, compare. O(L · M log M), and L is 10⁹.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binary search R? Only if something is monotone in R.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127177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0, 1, 2, …: 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A ✗ at mid could be left </a:t>
            </a:r>
            <a:r>
              <a:rPr lang="en-US" sz="2400" i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of the ✓ block.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11638"/>
            <a:ext cx="11106150" cy="105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3"/>
              </a:lnSpc>
              <a:buNone/>
            </a:pPr>
            <a:r>
              <a:rPr lang="en-US" sz="25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"Sorted counts equal s" is not monotone. You cannot binary search it directly.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KEY OBSERVATIONS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MONOTONE QUANTITY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house's count never decreases as R grows.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422128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the sorted vector v(R) never decreases in any position.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9920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Let S = sum of s. If two radii both give sum S, every position must be equal: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radii with sum S give the same vector.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812800" y="4004866"/>
            <a:ext cx="11200384" cy="958850"/>
          </a:xfrm>
          <a:prstGeom prst="roundRect">
            <a:avLst>
              <a:gd name="adj" fmla="val 5298"/>
            </a:avLst>
          </a:prstGeom>
          <a:solidFill>
            <a:srgbClr val="FFFA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16000" y="4106466"/>
            <a:ext cx="10793984" cy="801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sum(v(R)) ≥ S?　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binary search the first ✓, then compare once.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WHY ONE CHECK IS ENOUGH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THAT R FAILS, EVERY R FAILS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at the smallest R is already &gt; S: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bigger R give sums &gt; S, smaller R give sums &lt; S. No R reaches exactly S.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is S but the vector differs: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observation 3 every R with sum S has this same vector. All fail.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95406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check first: if even R = L gives a sum below S, print −1.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COUNTING FAST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 FOR EVERY COUNT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Houses go left to right, so the window [h − R, h + R] slides right. Both ends only move forward: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928541"/>
            <a:ext cx="11106150" cy="1531938"/>
          </a:xfrm>
          <a:prstGeom prst="roundRect">
            <a:avLst>
              <a:gd name="adj" fmla="val 3316"/>
            </a:avLst>
          </a:prstGeom>
          <a:solidFill>
            <a:srgbClr val="FFF6F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3030141"/>
            <a:ext cx="10699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= first shop &gt; h + R</a:t>
            </a:r>
            <a:endParaRPr lang="en-US" sz="2250" dirty="0"/>
          </a:p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= first shop ≥ h − R</a:t>
            </a:r>
            <a:endParaRPr lang="en-US" sz="2250" dirty="0"/>
          </a:p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= hi − lo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600178"/>
            <a:ext cx="111061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pointers move at most N steps in total → O(N + M) per R. With ~30 binary search steps: O((N + M) log L).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1: S = 10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Shops 1 5 8 9　Houses 3 6 8 10 14　s = 0 2 2 3 3</a:t>
            </a:r>
            <a:endParaRPr lang="en-US" sz="2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398" cy="1435100"/>
        </p:xfrm>
        <a:graphic>
          <a:graphicData uri="http://schemas.openxmlformats.org/drawingml/2006/table">
            <a:tbl>
              <a:tblPr/>
              <a:tblGrid>
                <a:gridCol w="1056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8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14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3985816"/>
            <a:ext cx="1120038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R with sum ≥ 10: ___　Sorted counts = s? ___　Answer: ___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TOTAL(R) AND THE SEARCH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969000" cy="4279900"/>
          </a:xfrm>
          <a:prstGeom prst="roundRect">
            <a:avLst>
              <a:gd name="adj" fmla="val 1187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6215888" cy="399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total(long long R){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lo = 1, hi =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1; i &lt;= m; i ++){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while (hi &lt;= n &amp;&amp; sh[hi] &lt;= ho[i] + R)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hi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while (lo &lt;= n &amp;&amp; sh[lo] &lt; ho[i] - R)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lo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cnt[i] = hi - lo;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sum += cnt[i];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35800" y="1903016"/>
            <a:ext cx="4343400" cy="4279900"/>
          </a:xfrm>
          <a:prstGeom prst="roundRect">
            <a:avLst>
              <a:gd name="adj" fmla="val 1187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7245350" y="2061766"/>
            <a:ext cx="4395216" cy="3688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R with sum &gt;= S → l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l = 0, r = L;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mid = (l + r) / 2;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(total(mid) &gt;= S)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total(l);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sort(cnt + 1, cnt + m + 1);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compare cnt with 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BIG IDEA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38"/>
              </a:lnSpc>
              <a:buNone/>
            </a:pPr>
            <a:r>
              <a:rPr lang="en-US" sz="325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MONOTONICITY COME FROM?</a:t>
            </a:r>
            <a:endParaRPr lang="en-US" sz="32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08163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/>
                <a:gridCol w="2641600"/>
                <a:gridCol w="3169841"/>
                <a:gridCol w="2641699"/>
              </a:tblGrid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monotone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 instead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 space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Staircase cuts: given by the problem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s: 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last ✓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cost array C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minimum pm: we built it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t: 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first ✓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"Sorted counts equal s"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of counts: we built it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R: 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first ✓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506913"/>
            <a:ext cx="11200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monotone quantity? Look for one you can build: a prefix min, a sum, a count.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E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25 MINUTES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SPACE MISSION FROM SCRATCH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N, F and C[1..N] (long long)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pm[i] = min(pm[i-1], C[i])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j: binary search the first i in [1, j−1] with pm[i] ≤ F − C[j]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best j − i + 1; start ans at −1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samples: expect 4, 5, −1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535091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Write total(R) for Lollipops II and check sample 1 gives sums 8 and 10 for R = 2, 3.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5347891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orac2.info/problem/1101</a:t>
            </a:r>
            <a:endParaRPr lang="en-US" sz="1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USED SO FAR</a:t>
            </a:r>
            <a:endParaRPr lang="en-US" sz="3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3479800"/>
        </p:xfrm>
        <a:graphic>
          <a:graphicData uri="http://schemas.openxmlformats.org/drawingml/2006/table">
            <a:tbl>
              <a:tblPr/>
              <a:tblGrid>
                <a:gridCol w="295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21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Rivers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counting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LESSON 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orac2.info/problem/1100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orac2.info/problem/147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Laser Cutter without binary search, using one forward-moving pointer (O(N))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· HOW THE LOOP USES THE SHAPE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5"/>
              </a:lnSpc>
              <a:buNone/>
            </a:pPr>
            <a:r>
              <a:rPr lang="en-US" sz="35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CHECK THROWS AWAY HALF THE ROW</a:t>
            </a:r>
            <a:endParaRPr lang="en-US" sz="3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93875"/>
          <a:ext cx="10566400" cy="914400"/>
        </p:xfrm>
        <a:graphic>
          <a:graphicData uri="http://schemas.openxmlformats.org/drawingml/2006/table">
            <a:tbl>
              <a:tblPr/>
              <a:tblGrid>
                <a:gridCol w="2096591"/>
                <a:gridCol w="482402"/>
                <a:gridCol w="482402"/>
                <a:gridCol w="482402"/>
                <a:gridCol w="482402"/>
                <a:gridCol w="504031"/>
                <a:gridCol w="504031"/>
                <a:gridCol w="504031"/>
                <a:gridCol w="504031"/>
                <a:gridCol w="482402"/>
                <a:gridCol w="566738"/>
                <a:gridCol w="3474938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check(x)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from us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 l = 1, r = 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 anchor="t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5: ✗ → l = 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2: l = 6, r = 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 anchor="t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8: ✓ → r = 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3: l = 6, r = 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 anchor="t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6: ✗ → l = 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4: l = 7, r = 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 anchor="t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7: ✓ → r = 6, stop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= last ✗, l = first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5140325"/>
            <a:ext cx="11200384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always ends with l = r + 1. 10 candidates need 4 checks; 10⁹ candidates need about 30.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· START FROM THE SOLUTION SPACE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38"/>
              </a:lnSpc>
              <a:buNone/>
            </a:pPr>
            <a:r>
              <a:rPr lang="en-US" sz="325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SOLUTION SPACE LOOK LIKE?</a:t>
            </a:r>
            <a:endParaRPr lang="en-US" sz="325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757363"/>
            <a:ext cx="11200384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up every candidate answer x in order and ask check(x): yes ✓ or no ✗. The row of answers has a </a:t>
            </a: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735263"/>
          <a:ext cx="10566400" cy="914400"/>
        </p:xfrm>
        <a:graphic>
          <a:graphicData uri="http://schemas.openxmlformats.org/drawingml/2006/table">
            <a:tbl>
              <a:tblPr/>
              <a:tblGrid>
                <a:gridCol w="2084784"/>
                <a:gridCol w="441127"/>
                <a:gridCol w="441127"/>
                <a:gridCol w="441127"/>
                <a:gridCol w="441127"/>
                <a:gridCol w="441127"/>
                <a:gridCol w="441127"/>
                <a:gridCol w="441127"/>
                <a:gridCol w="441127"/>
                <a:gridCol w="441127"/>
                <a:gridCol w="518319"/>
                <a:gridCol w="3993158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check(x)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boundary → binary search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boundary → binary search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boundary → check them all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691063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does not look for the answer. It looks for the boundary between ✗ and ✓.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A81911F-6933-7B48-A027-13A9248F618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78154bb8-a5f9-49ee-92e0-3ceb8a4e126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3539</Words>
  <Application>Microsoft Macintosh PowerPoint</Application>
  <PresentationFormat>Widescreen</PresentationFormat>
  <Paragraphs>434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JetBrains Mono</vt:lpstr>
      <vt:lpstr>AIO Lessons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2: Binary Search + Two Pointers</dc:title>
  <dc:subject>PptxGenJS Presentation</dc:subject>
  <dc:creator>Bryan</dc:creator>
  <cp:lastModifiedBy>Bryan Sun</cp:lastModifiedBy>
  <cp:revision>1</cp:revision>
  <dcterms:created xsi:type="dcterms:W3CDTF">2026-10-02T13:29:13Z</dcterms:created>
  <dcterms:modified xsi:type="dcterms:W3CDTF">2026-10-03T07:03:03Z</dcterms:modified>
</cp:coreProperties>
</file>