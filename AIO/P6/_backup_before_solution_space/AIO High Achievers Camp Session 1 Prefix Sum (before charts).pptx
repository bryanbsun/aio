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85" r:id="rId32"/>
    <p:sldId id="286" r:id="rId33"/>
    <p:sldId id="287" r:id="rId34"/>
    <p:sldId id="28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core techniques and the three questions" id="{D5778487-FED3-5AB8-1C90-42C68646F77C}">
          <p14:sldIdLst>
            <p14:sldId id="256"/>
            <p14:sldId id="257"/>
            <p14:sldId id="258"/>
            <p14:sldId id="259"/>
          </p14:sldIdLst>
        </p14:section>
        <p14:section name="2022 P6 Spaceship Shuffle: prefix sums and the median" id="{9C9038D2-AC7E-3534-42ED-B5414938FCD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4 P5 Tennis Robot II: net change per round and binary search on rounds" id="{B175B0B7-192C-D671-E92C-360DB115C191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24 P6 Twin Rivers: second-order differences" id="{CF19CFFA-171E-FB97-0315-B9F8E69D1C7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9"/>
            <p14:sldId id="285"/>
          </p14:sldIdLst>
        </p14:section>
        <p14:section name="Live coding, recap and homework" id="{CB9D1C20-385A-B97F-34EE-74524D9C406C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ECE58-2F4A-DF4B-A3A4-9905376B23C2}" v="3" dt="2026-10-03T00:55:0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03T00:55:07.317" v="2" actId="7634"/>
      <pc:docMkLst>
        <pc:docMk/>
      </pc:docMkLst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58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58"/>
            <ac:inkMk id="11" creationId="{DF0BDEFD-F21B-D14D-4AE0-2B0295A03C6F}"/>
          </ac:inkMkLst>
        </pc:inkChg>
      </pc:sldChg>
      <pc:sldChg chg="addSp delSp mod">
        <pc:chgData name="Bryan Sun" userId="851caa7714272873" providerId="LiveId" clId="{9CD94D5E-0A18-4CEF-A655-0E4C15651F93}" dt="2026-10-03T00:55:07.317" v="2" actId="7634"/>
        <pc:sldMkLst>
          <pc:docMk/>
          <pc:sldMk cId="0" sldId="275"/>
        </pc:sldMkLst>
        <pc:inkChg chg="add del">
          <ac:chgData name="Bryan Sun" userId="851caa7714272873" providerId="LiveId" clId="{9CD94D5E-0A18-4CEF-A655-0E4C15651F93}" dt="2026-10-03T00:49:42.122" v="1" actId="478"/>
          <ac:inkMkLst>
            <pc:docMk/>
            <pc:sldMk cId="0" sldId="275"/>
            <ac:inkMk id="9" creationId="{3E66E205-A01E-9B5D-DCF0-89D381A80D95}"/>
          </ac:inkMkLst>
        </pc:inkChg>
        <pc:inkChg chg="add">
          <ac:chgData name="Bryan Sun" userId="851caa7714272873" providerId="LiveId" clId="{9CD94D5E-0A18-4CEF-A655-0E4C15651F93}" dt="2026-10-03T00:55:07.317" v="2" actId="7634"/>
          <ac:inkMkLst>
            <pc:docMk/>
            <pc:sldMk cId="0" sldId="275"/>
            <ac:inkMk id="10" creationId="{F055BB84-6931-6216-9597-472950E3A5BF}"/>
          </ac:inkMkLst>
        </pc:inkChg>
      </pc:sldChg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76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10-03T12:02:15.643" v="9" actId="478"/>
      <pc:docMkLst>
        <pc:docMk/>
      </pc:docMkLst>
      <pc:sldChg chg="modSp mod">
        <pc:chgData name="Bryan Sun" userId="851caa7714272873" providerId="LiveId" clId="{1DF0C224-3A3E-55A6-A8D1-F8F2208D385B}" dt="2026-10-02T13:32:05.172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32:05.172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0.041" v="7" actId="478"/>
        <pc:sldMkLst>
          <pc:docMk/>
          <pc:sldMk cId="0" sldId="258"/>
        </pc:sldMkLst>
        <pc:inkChg chg="del">
          <ac:chgData name="Bryan Sun" userId="851caa7714272873" providerId="LiveId" clId="{1DF0C224-3A3E-55A6-A8D1-F8F2208D385B}" dt="2026-10-03T12:02:00.041" v="7" actId="478"/>
          <ac:inkMkLst>
            <pc:docMk/>
            <pc:sldMk cId="0" sldId="258"/>
            <ac:inkMk id="11" creationId="{DF0BDEFD-F21B-D14D-4AE0-2B0295A03C6F}"/>
          </ac:inkMkLst>
        </pc:inkChg>
      </pc:sldChg>
      <pc:sldChg chg="modSp mod">
        <pc:chgData name="Bryan Sun" userId="851caa7714272873" providerId="LiveId" clId="{1DF0C224-3A3E-55A6-A8D1-F8F2208D385B}" dt="2026-10-02T13:33:05.227" v="5" actId="20577"/>
        <pc:sldMkLst>
          <pc:docMk/>
          <pc:sldMk cId="0" sldId="268"/>
        </pc:sldMkLst>
        <pc:spChg chg="mod">
          <ac:chgData name="Bryan Sun" userId="851caa7714272873" providerId="LiveId" clId="{1DF0C224-3A3E-55A6-A8D1-F8F2208D385B}" dt="2026-10-02T13:33:05.227" v="5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2T13:33:21.920" v="6" actId="20577"/>
        <pc:sldMkLst>
          <pc:docMk/>
          <pc:sldMk cId="0" sldId="274"/>
        </pc:sldMkLst>
        <pc:spChg chg="mod">
          <ac:chgData name="Bryan Sun" userId="851caa7714272873" providerId="LiveId" clId="{1DF0C224-3A3E-55A6-A8D1-F8F2208D385B}" dt="2026-10-02T13:33:21.920" v="6" actId="20577"/>
          <ac:spMkLst>
            <pc:docMk/>
            <pc:sldMk cId="0" sldId="274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9.740" v="8" actId="478"/>
        <pc:sldMkLst>
          <pc:docMk/>
          <pc:sldMk cId="0" sldId="275"/>
        </pc:sldMkLst>
        <pc:inkChg chg="del">
          <ac:chgData name="Bryan Sun" userId="851caa7714272873" providerId="LiveId" clId="{1DF0C224-3A3E-55A6-A8D1-F8F2208D385B}" dt="2026-10-03T12:02:09.740" v="8" actId="478"/>
          <ac:inkMkLst>
            <pc:docMk/>
            <pc:sldMk cId="0" sldId="275"/>
            <ac:inkMk id="10" creationId="{F055BB84-6931-6216-9597-472950E3A5BF}"/>
          </ac:inkMkLst>
        </pc:inkChg>
      </pc:sldChg>
      <pc:sldChg chg="delSp mod">
        <pc:chgData name="Bryan Sun" userId="851caa7714272873" providerId="LiveId" clId="{1DF0C224-3A3E-55A6-A8D1-F8F2208D385B}" dt="2026-10-03T12:02:15.643" v="9" actId="478"/>
        <pc:sldMkLst>
          <pc:docMk/>
          <pc:sldMk cId="0" sldId="276"/>
        </pc:sldMkLst>
        <pc:inkChg chg="del">
          <ac:chgData name="Bryan Sun" userId="851caa7714272873" providerId="LiveId" clId="{1DF0C224-3A3E-55A6-A8D1-F8F2208D385B}" dt="2026-10-03T12:02:15.643" v="9" actId="478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8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这一系列共 4 次课，每次约 2 小时。贯穿全部课程的主线是 AMT 的四大核心技巧：Prefix Sum、Binary Search、Two Pointers 和 Greedy。
第 1 次课讲 Prefix Sum：先讲普通的 prefix sum，再讲"一轮的净变化"（net change per round），最后讲二阶差分（second-order differences）。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四种颜色在 4 次课里保持不变：青色 = Prefix Sum，橙色 = Binary Search，珊瑚红 = Two Pointers，深蓝 = Greedy。每道题开始时都先标出它用到哪几个技巧。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强调：P6 很少是"直接套模板"。四大技巧只是骨架，真正的难点是找到 key observation，把题目化简到能套模板为止。右侧空白用来写学生的回答。
参考答案（以今天的题为例）：
1. Brute force：Spaceship 枚举每条边的流量；Tennis 直接模拟（可达 2×10^11 步）；Twin Rivers 枚举新桥位置 p 再重算所有行程，O(L·T)。
2. 单调的量：Tennis 中每个箱子的球数随轮数线性变化；Twin Rivers 中桥的位置已排序，可以 Binary Search 找最近的桥。
3. 可累加 / 局部决定的量：Spaceship 的边流量是 prefix sum；Tennis 的一轮净变化是 prefix sum；Twin Rivers 的总代价可用二阶差分累加。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每道 Problem 5 都和同一次课的一道 Problem 6 配对：核心想法相同，化简步骤更短，用来巩固。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分钟。讲解路线：把环剪成链（纯 prefix sum）→ 回到环（多一个变量 f）→ 中位数（median）。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提问：为什么只看净流量（net flow）？
答案：如果同一条边上有人往左、有人往右，让他们互换身份，花费只会减少。所以最优解里每条边只有一个方向。
右侧空白可以画一个 6 个 cabin 的环。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在黑板上画链 5 2 1 6 5 1 → 3 3 2 7 3 2，从左往右逐条边算 P[i]，让学生看到"左边多出来的人必须穿过这条边"。
参考：A − B = 2 −1 −1 −1 2 −1，P = 2 1 0 −1 1 0，链上答案 Σ|P[i]| = 2+1+0+1+1+0 =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 flow[N] = f 也符合公式 P[N] + f？
答案：因为 ΣA = ΣB，所以 P[N] =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在下方空白画数轴，标出 P = −1 0 0 1 1 2。让学生站在不同位置，算到所有点的距离之和。
参考答案：站在 −1：0+1+1+2+2+3 = 9；站在 0：1+0+0+1+1+2 = 5；站在 1：2+1+1+0+0+1 = 5；站在 2：3+2+2+1+1+0 = 9。
最小值 5 出现在 0 和 1 之间（两个中位数之间都可以）。这就是 Greedy：一直往更好的方向走，直到走不动为止。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答案：A − B = 2 −1 −1 −1 2 −1；P = 2 1 0 −1 1 0；排序后 −1 0 0 1 1 2；median 取 1（取 0 也可以）；答案 Σ|P − med| = 5。
再看样例 2：A = 5 0 0 0 0，B = 1 1 1 1 1，P = 4 3 2 1 0，median = 2，答案 6。如果只能单方向走（f = 0），答案是 10：这就是"环"带来的好处。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 long long：P 最大可到 10^5 × 10^5 = 10^10。复杂度 O(N log N)，瓶颈是 sort。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挑战题：如果第 i 条边每人收 w[i] 元，中位数还成立吗？
答案：不能用普通中位数，要用带权中位数（weighted median）：把每个 P[i] 看成权重为 w[i] 的点，取使左右权重平衡的点。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25 分钟。Spaceship 的循环在空间上（cabin 围成一圈），这题的循环在时间上（指令一轮一轮重复）。同一个技巧：把一整轮压缩成一个摘要。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问"三问"中的第 1 问：brute force 是什么？为什么慢？
答案：直接模拟；最多约 10^6 轮 × 2×10^5 条指令 = 2×10^11 步。慢在"轮数太多"，接下来就要把轮数压缩掉。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特殊情况：s &lt; 1 表示箱子在第 1 轮就出问题（t = 0）；d[i] ≥ 0 表示箱子永远不会出问题（跳过）；如果没有任何箱子会出问题，输出 FOREVER。
为什么不用 Binary Search？每个箱子的条件都是关于 r 的一次不等式，可以直接解出来。对 R 二分也可以（条件是单调的），但除法更短，边界情况更少。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先让学生口头比较两题，再显示表格。
参考答案就是表格内容：循环分别在时间上 / 空间上；Prefix Sum 分别求最低点 mn[i] 和净变化 d[i] / 每条边的流量 P[i]；之后分别用除法算轮数再模拟一轮 / 取中位数。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
箱子 1：指令 1 前变化 0 → mn = 0，d = −1，s = 3 → t = (3 − 1) / 1 + 1 = 3。
箱子 2：指令 3 前变化 0 → mn = 0，d = 0，s = 2 → 永远不会出问题。
箱子 3：没被取过，d = +2。
箱子 4：指令 2 前变化 0，指令 4 前变化 −1 → mn = −1，d = −2，s = 3 → t = (3 − 1) / 2 + 1 = 2。
箱子 5：没被取过，d = +1。
所以 R = min(3, 2) = 2。第 3 轮开始时箱子 1 有 1 个、箱子 4 有 0 个。指令 1（1→5）成功；指令 2 要从箱子 4 取球，空了，停下。答案 = 2 × 4 + 1 = 9。
手动验证箱子 4：第 2 轮最低点 3 − 2 = 1（可以），第 3 轮最低点 3 − 4 = −1（失败）。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答案最大可到 10^6 × 2×10^5 = 2×10^11，必须用 long long。整数除法向下取整，正好是公式需要的 floor。
之后：b[i] = x[i] + R·d[i]，从这里模拟一轮，答案 = R·M + 这一轮成功的条数。完整程序见 2024_P5_Tennis_Robot_II.cpp。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分钟。目标：学生要记住"差分数组 + 一次 prefix sum"能还原分段常数函数（step function），"二阶差分 + 两次 prefix sum"能还原分段线性函数（piecewise-linear function）。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在右侧画出三条陆地和两条河，用样例 1：River 1 的桥在 2 和 6，River 2 的桥在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force：枚举每个 p，再重算所有行程，O(L·T) ≈ 10^11，只能过 subtask 1。
参考：去 Strip 3 的行程 X = 4，经桥 2 和 4：2 + 2·(4 − 2) = 6；经桥 6 和 4 也是 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两种行程的代价函数都是折线：
去 Strip 2：V 形 1 + 2|X − p|，在 old 处被截平（新桥离 X 太远就不如旧桥）。
去 Strip 3：trough（槽形）：在 [u2, X]（或 [X, w2]）上是平底，离开平底每 1 km 增加 2，同样被 old 截平。平底高度是 2 + 2·(X − u2)。
红点是拐点（转折点）：斜率只在这些地方改变（−2、0、+2 之间切换）。每个行程最多只有几个拐点，这就是后面能用二阶差分的关键。
具体例子（样例 1，新桥建在 River 1）：行程 X = 4 去 Strip 3：u2 = 4，平底只有一个点，w = 6 6 4 2 4 6 6；行程 X = 3 去 Strip 3：只有右边的 w2 = 4，平底是 [3, 4]、高度 4，w = 6 6 4 4 6 6 6（p = 1..7）。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force：L 约 10^6 个位置 p，每个 p 都要把 2×10^5 个行程的代价加起来，共约 2×10^11 次运算，远远超时（1 秒大约只能做 10^8 次）。
关键：每个行程的 w(p) 是一条折线，只有少数几个拐点（转折点）。我们只记下拐点处的信息（每个行程 O(1) 个位置），最后用两次 prefix sum 一次性还原出所有 p 上的总代价（O(L)）。再加上每个行程用 Binary Search 找最近的桥 O(log N)，总复杂度 O(T log N + L)，约 2×10^5 × 18 + 10^6 ≈ 5×10^6。
提问：能不能每个行程只算几个 p？答案：我们要的是"所有行程代价之和"在每个 p 上的值，最小值可能出现在任何 p，所以每个 p 的总和都要知道——但不需要一个 p 一个 p 地去加。
为了做到这一点，需要两个工具：差分数组（下一页）和二阶差分（再下一页）。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差分（difference）就是相邻两项的差：D[i] = a[i] − a[i−1]。它记录的是"在哪里、跳了多少"。
答案：D = 3 0 0 4 0 0 −5 0；D 的前缀和 = 3 3 3 7 7 7 2 2 = a。差分和 prefix sum 互为逆运算。
经典用法（区间加）：把 a[2..4] 都加 5 → 只改 D[2] += 5、D[5] −= 5，最后做一次前缀和得到 3 8 8 12 7 7 2 2。每次修改 O(1)，最后还原 O(n)。
局限：差分数组只在"阶梯形"（分段常数，step function）的数据上省事。如果数据是斜线（每一格都在变），D 处处不为 0，就没有节省了——这就是下一页要讲二阶差分的原因。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答案：斜率（一阶差分）w(p) − w(p−1)，p = 2..7：0, −2, −2, 2, 2, 0。
d2（斜率的变化），p = 2..6：−2, 0, 4, 0, −2。只有在拐点 p = 2、4、6 处不为 0。
为什么？折线在两个拐点之间是直线，斜率不变，所以斜率的差是 0；只有在拐点处斜率才改变。一阶差分（斜率）在斜线上处处不为 0，二阶差分只在拐点不为 0，所以每个行程只需要写 O(1) 个位置。
还原（两次 prefix sum）：已知 w(0) = 6、w(1) = 6，所以 slope(1) = 0。slope 依次加上 d2：0, −2, −2, 2, 2, 0；w 依次加上 slope：6, 4, 2, 4, 6, 6。和原来的 w 完全一样。
代码里的 tot[q+1] = 2·tot[q] − tot[q−1] + d2[q] 就是把这两次 prefix sum 合并成一行：tot[q+1] − tot[q] = (tot[q] − tot[q−1]) + d2[q]，即"新斜率 = 旧斜率 + 斜率变化"。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多个行程怎么办？二阶差分是线性的：总代价的 d2 = 每个行程的 d2 相加。所以所有行程都往同一个 d2 数组里写，最后只还原一次。</a:t>
            </a:r>
          </a:p>
          <a:p>
            <a:r>
              <a:rPr lang="zh-CN" altLang="en-US"/>
              <a:t>重点讲还原公式：tot[q+1] = 2·tot[q] − tot[q−1] + d2[q]。把它移项：tot[q+1] − tot[q] = (tot[q] − tot[q−1]) + d2[q]，左边是 q 到 q+1 的斜率，括号里是上一段的斜率，d2[q] 是斜率的变化。所以这一行其实就是两次 prefix sum：先累加 d2 得到斜率，再累加斜率得到 tot。需要两个起点 tot[0] 和 tot[1]（代码里每个行程直接把 f(w, 0)、f(w, 1) 加进 tot[w][0]、tot[w][1]）。</a:t>
            </a:r>
          </a:p>
          <a:p>
            <a:r>
              <a:rPr lang="zh-CN" altLang="en-US"/>
              <a:t>用样例 1 的行程验证：w(0) = 6、w(1) = 6，d2[1..6] = 0, −2, 0, 4, 0, −2 → w(2) = 2·6 − 6 + 0 = 6，w(3) = 2·6 − 6 − 2 = 4，w(4) = 2·4 − 6 + 0 = 2，w(5) = 2·2 − 4 + 4 = 4，w(6) = 2·4 − 2 + 0 = 6，w(7) = 2·6 − 4 − 2 = 6。</a:t>
            </a:r>
          </a:p>
          <a:p>
            <a:r>
              <a:rPr lang="zh-CN" altLang="en-US"/>
              <a:t>复杂度从 O(T·L) 降到 O(T log N + L)。</a:t>
            </a:r>
          </a:p>
          <a:p>
            <a:r>
              <a:rPr lang="zh-CN" altLang="en-US"/>
              <a:t>提问：普通差分数组（一次 prefix sum）能还原什么样的函数？答案：只能还原分段常数函数（step function）。分段线性函数（折线）需要二阶差分 + 两次 prefix sum。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答案：原代价 Old cost：经桥 2 和 4 → 2 + 2·2 = 6（经桥 6 和 4 也是 6）。
w(p)，p = 1..7：6 6 4 2 4 6 6。
d2[p]，p = 2..6：−2, 0, 4, 0, −2（只有转折点 2、4、6 处不为 0）。
整个样例在 River 1 的 p = 4 建新桥：四个行程的代价是 4、2、4、3 → 总和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先讲整体流程，再看代码。程序分 5 步：</a:t>
            </a:r>
          </a:p>
          <a:p>
            <a:r>
              <a:rPr lang="zh-CN" altLang="en-US"/>
              <a:t>① 读入，把桥按河分开存（每条河的桥排好序）。</a:t>
            </a:r>
          </a:p>
          <a:p>
            <a:r>
              <a:rPr lang="zh-CN" altLang="en-US"/>
              <a:t>② 对每个行程：用 Binary Search 找 X 左右最近的桥（pred / succ），算出不建新桥的代价 oldCost；新桥建在第 w 条河的 p 时，这个行程的代价记作 f(w, p)（w = 1 是 River 1，w = 2 是 River 2）；再用 addTrip(w) 把它加进总和——只在拐点写 d2，所以每个行程只写 O(1) 个位置。</a:t>
            </a:r>
          </a:p>
          <a:p>
            <a:r>
              <a:rPr lang="zh-CN" altLang="en-US"/>
              <a:t>③ build：两次 prefix sum，还原出每个 p 的总代价 tot[w][p]。</a:t>
            </a:r>
          </a:p>
          <a:p>
            <a:r>
              <a:rPr lang="zh-CN" altLang="en-US"/>
              <a:t>④ 扫一遍所有 p，两条河都看，取最小值。</a:t>
            </a:r>
          </a:p>
          <a:p>
            <a:r>
              <a:rPr lang="zh-CN" altLang="en-US"/>
              <a:t>⑤ 输出答案。</a:t>
            </a:r>
          </a:p>
          <a:p>
            <a:r>
              <a:rPr lang="zh-CN" altLang="en-US"/>
              <a:t>提问：循环里每个行程花多少时间？答案：两次二分 O(log N)，加上 O(1) 个转折点。总复杂度 O(T log N + L)。</a:t>
            </a:r>
          </a:p>
          <a:p>
            <a:r>
              <a:rPr lang="zh-CN" altLang="en-US"/>
              <a:t>提问：④ 里为什么有时不能把新桥建在 River 1？答案：如果有行程要去 Strip 3，而 River 2 上一座桥都没有，这些行程原本就完成不了，新桥必须建在 River 2（样例 3 就是这种情况）。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左边的编号 ①–⑤ 就是上一页流程图的 5 步；下面三行是三个辅助函数：f（一个行程的代价）、addTrip（写 d2）、build（两次 prefix sum）。pred / succ 是两个二分函数。</a:t>
            </a:r>
          </a:p>
          <a:p>
            <a:r>
              <a:rPr lang="zh-CN" altLang="en-US"/>
              <a:t>f(w, p) 不需要任何结构体：它直接按定义算——不建新桥的代价 oldCost，和"用上位置 p 的新桥"的代价，取较小的那个。</a:t>
            </a:r>
          </a:p>
          <a:p>
            <a:r>
              <a:rPr lang="zh-CN" altLang="en-US"/>
              <a:t>用样例 1 的行程（X = 4，去 Strip 3）验证：River 2 上最近的桥 u2 = w2 = 4，oldCost = 6。新桥建在 River 1 的 p：f(1, p) = min(6, 2 + 2·(max(4, p) − min(4, p))) → p = 1..7：6 6 4 2 4 6 6，和手算页一致。</a:t>
            </a:r>
          </a:p>
          <a:p>
            <a:r>
              <a:rPr lang="zh-CN" altLang="en-US"/>
              <a:t>去 Strip 2 的行程：新桥建在 River 2 对它没有帮助，所以 f(2, p) = oldCost（常数，d2 全是 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这一页是整个程序里最"直观"的部分：一个行程的代价完全按题意算，没有任何结构体。</a:t>
            </a:r>
          </a:p>
          <a:p>
            <a:r>
              <a:rPr lang="zh-CN" altLang="en-US"/>
              <a:t>way2(a)：去 Strip 2，走到 River 1 上的桥 a，过桥（1 km），再走回 X：1 + 2|X − a|。</a:t>
            </a:r>
          </a:p>
          <a:p>
            <a:r>
              <a:rPr lang="zh-CN" altLang="en-US"/>
              <a:t>way3(a, b)：去 Strip 3，要用 River 1 的桥 a 和 River 2 的桥 b。从 X 出发，必须走到 X、a、b 中最左和最右的位置，来回两遍这一段，再加两座桥：2 + 2·(最大 − 最小)。</a:t>
            </a:r>
          </a:p>
          <a:p>
            <a:r>
              <a:rPr lang="zh-CN" altLang="en-US"/>
              <a:t>f(w, p)：先取不建新桥时的 oldCost；如果新桥（位置 p，在第 w 条河上）能用上，就和"用新桥"的走法比较取小。另一条河上只需要考虑 X 左右最近的两座桥（u、w），这是二分找出来的。</a:t>
            </a:r>
          </a:p>
          <a:p>
            <a:r>
              <a:rPr lang="zh-CN" altLang="en-US"/>
              <a:t>INF 表示"这座桥不存在"，所以 min 时自动被忽略。</a:t>
            </a:r>
          </a:p>
          <a:p>
            <a:r>
              <a:rPr lang="zh-CN" altLang="en-US"/>
              <a:t>提问：为什么去 Strip 2 的行程，新桥建在 River 2 时代价不变？答案：去 Strip 2 只过 River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为什么拐点只可能在这些地方？f 是若干条直线取 min：斜率 −2（往 X 靠近）、0（平底）、+2（离开）。</a:t>
            </a:r>
          </a:p>
          <a:p>
            <a:r>
              <a:rPr lang="zh-CN" altLang="en-US"/>
              <a:t>① 走法改变的地方：X 本身、另一条河上最近的桥 a、b；还有"用 a 和用 b 一样长"的点 a + b − X（例如 p 在 a、X 之间时，用 a 的代价是平的 X − a，用 b 的代价是 b − p，二者相等时 p = a + b − X）。</a:t>
            </a:r>
          </a:p>
          <a:p>
            <a:r>
              <a:rPr lang="zh-CN" altLang="en-US"/>
              <a:t>② f 碰到 oldCost 被截平的地方：oldCost = (S − 1) + 2k，离某个关键点正好 k 步。</a:t>
            </a:r>
          </a:p>
          <a:p>
            <a:r>
              <a:rPr lang="zh-CN" altLang="en-US"/>
              <a:t>所有坐标都是整数，所以拐点都在整数上（这是比旧版代码简单的原因：不再需要 2 倍坐标）。</a:t>
            </a:r>
          </a:p>
          <a:p>
            <a:r>
              <a:rPr lang="zh-CN" altLang="en-US"/>
              <a:t>多写几个候选点没关系：不是拐点的地方，f(q+1) − 2f(q) + f(q−1) 正好是 0。去 Strip 2 的行程只有一个关键点 X，候选点就是 X − k、X、X + k。</a:t>
            </a:r>
          </a:p>
          <a:p>
            <a:r>
              <a:rPr lang="zh-CN" altLang="en-US"/>
              <a:t>用样例 1 验证（X = 4，去 Strip 3，a = b = 4，k = 2）：关键点只有 4，候选点 2、4、6，d2 = −2、4、−2，和手算页一致。</a:t>
            </a:r>
          </a:p>
          <a:p>
            <a:r>
              <a:rPr lang="zh-CN" altLang="en-US"/>
              <a:t>陷阱：如果有行程要去 Strip 3，而 River 2 上没有桥，新桥必须建在 River 2（w = 2）。完整程序：2024_P6_Twin_Rivers.cpp，复杂度 O(T log N + L)。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下去巡视。最常见的 bug：用 int 而不是 long long；q 没有从下标 1 开始排序；把 p 原地排序后又拿来用（应该排序一份拷贝）。
样例答案：样例 1 = 5，样例 2 = 6，样例 3 =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让每个学生说出今天的一道题，以及它用了哪个技巧。
参考答案：Spaceship Shuffle：Prefix Sum（每条边的流量）+ Greedy（中位数）；Tennis Robot II：Prefix Sum（一轮的最低点和净变化）+ 除法算轮数；Twin Rivers：二阶差分 + 两次 Prefix Sum，再用 Binary Search 找最近的桥。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下次课：Binary Search 和 Two Pointers。提醒学生把课程笔记里的 binary search 模板带来。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98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466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6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905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CAMP· SESSION 1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6855968" y="2641600"/>
            <a:ext cx="4523232" cy="80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65"/>
              </a:lnSpc>
              <a:buNone/>
            </a:pPr>
            <a:r>
              <a:rPr lang="en-US" sz="5300" b="1" kern="0" spc="10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5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THROUGH ALL 4 SESSIONS</a:t>
            </a:r>
            <a:endParaRPr lang="en-US" sz="1600"/>
          </a:p>
        </p:txBody>
      </p:sp>
      <p:sp>
        <p:nvSpPr>
          <p:cNvPr id="3" name="Text 1"/>
          <p:cNvSpPr txBox="1"/>
          <p:nvPr/>
        </p:nvSpPr>
        <p:spPr>
          <a:xfrm>
            <a:off x="812800" y="109855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AMT'S FOUR CORE TECHNIQUES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739900"/>
            <a:ext cx="63500" cy="22542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10795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range sums, running totals, "net change per round"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P[i] = P[i-1] + a[i]; sum of a[l..r] = P[r] − P[l-1]</a:t>
            </a:r>
            <a:endParaRPr lang="en-US" sz="1900"/>
          </a:p>
        </p:txBody>
      </p:sp>
      <p:sp>
        <p:nvSpPr>
          <p:cNvPr id="8" name="Shape 6"/>
          <p:cNvSpPr/>
          <p:nvPr/>
        </p:nvSpPr>
        <p:spPr>
          <a:xfrm>
            <a:off x="61849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739900"/>
            <a:ext cx="63500" cy="225425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550"/>
          </a:p>
        </p:txBody>
      </p:sp>
      <p:sp>
        <p:nvSpPr>
          <p:cNvPr id="11" name="Text 9"/>
          <p:cNvSpPr txBox="1"/>
          <p:nvPr/>
        </p:nvSpPr>
        <p:spPr>
          <a:xfrm>
            <a:off x="64516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a bigger answer is harder (or easier) to reach → monotone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write check(x), use the while (l &lt;= r) template</a:t>
            </a:r>
            <a:endParaRPr lang="en-US" sz="1900"/>
          </a:p>
        </p:txBody>
      </p:sp>
      <p:sp>
        <p:nvSpPr>
          <p:cNvPr id="12" name="Shape 10"/>
          <p:cNvSpPr/>
          <p:nvPr/>
        </p:nvSpPr>
        <p:spPr>
          <a:xfrm>
            <a:off x="8128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4171950"/>
            <a:ext cx="63500" cy="225425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550"/>
          </a:p>
        </p:txBody>
      </p:sp>
      <p:sp>
        <p:nvSpPr>
          <p:cNvPr id="15" name="Text 13"/>
          <p:cNvSpPr txBox="1"/>
          <p:nvPr/>
        </p:nvSpPr>
        <p:spPr>
          <a:xfrm>
            <a:off x="10795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two indices that only ever move forward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outer loop moves one, inner while pushes the other: O(N) total</a:t>
            </a:r>
            <a:endParaRPr lang="en-US" sz="1900"/>
          </a:p>
        </p:txBody>
      </p:sp>
      <p:sp>
        <p:nvSpPr>
          <p:cNvPr id="16" name="Shape 14"/>
          <p:cNvSpPr/>
          <p:nvPr/>
        </p:nvSpPr>
        <p:spPr>
          <a:xfrm>
            <a:off x="61849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4171950"/>
            <a:ext cx="63500" cy="22542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550"/>
          </a:p>
        </p:txBody>
      </p:sp>
      <p:sp>
        <p:nvSpPr>
          <p:cNvPr id="19" name="Text 17"/>
          <p:cNvSpPr txBox="1"/>
          <p:nvPr/>
        </p:nvSpPr>
        <p:spPr>
          <a:xfrm>
            <a:off x="64516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each step has an "obviously best" choice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guess the rule, then prove it with an exchange argument</a:t>
            </a:r>
            <a:endParaRPr lang="en-US" sz="1900"/>
          </a:p>
        </p:txBody>
      </p:sp>
      <p:sp>
        <p:nvSpPr>
          <p:cNvPr id="20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THESE BEFORE EVERY PROBLEM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brute force?</a:t>
            </a: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slow is it, and why?</a:t>
            </a:r>
            <a:endParaRPr lang="en-US" sz="2700"/>
          </a:p>
        </p:txBody>
      </p:sp>
      <p:sp>
        <p:nvSpPr>
          <p:cNvPr id="5" name="Text 3"/>
          <p:cNvSpPr txBox="1"/>
          <p:nvPr/>
        </p:nvSpPr>
        <p:spPr>
          <a:xfrm>
            <a:off x="812800" y="252273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= the first subtasks, and your checker for testing later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296723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 anything monotone?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58695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Binary Search or Two Pointers</a:t>
            </a:r>
            <a:endParaRPr lang="en-US" sz="2100"/>
          </a:p>
        </p:txBody>
      </p:sp>
      <p:sp>
        <p:nvSpPr>
          <p:cNvPr id="8" name="Text 6"/>
          <p:cNvSpPr txBox="1"/>
          <p:nvPr/>
        </p:nvSpPr>
        <p:spPr>
          <a:xfrm>
            <a:off x="812800" y="403145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anything be accumulated, split up or decided locally?</a:t>
            </a:r>
            <a:endParaRPr lang="en-US" sz="2700"/>
          </a:p>
        </p:txBody>
      </p:sp>
      <p:sp>
        <p:nvSpPr>
          <p:cNvPr id="9" name="Text 7"/>
          <p:cNvSpPr txBox="1"/>
          <p:nvPr/>
        </p:nvSpPr>
        <p:spPr>
          <a:xfrm>
            <a:off x="812800" y="465117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Prefix Sum or Greedy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1176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PER SESSION</a:t>
            </a:r>
            <a:endParaRPr lang="en-US" sz="3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3535"/>
          <a:ext cx="10566400" cy="3747455"/>
        </p:xfrm>
        <a:graphic>
          <a:graphicData uri="http://schemas.openxmlformats.org/drawingml/2006/table">
            <a:tbl>
              <a:tblPr/>
              <a:tblGrid>
                <a:gridCol w="120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(2022 P6) · Tennis Robot II (2024 P5) · Twin Rivers (2024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(2021 P6) · Space Mission (2021 P5) · Lollipops II (2019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("water level") + binary search on the answer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(2026 P6) · Wheeling and Dealing (2023 P5) · Prime Minister (2026 P5)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 + Greedy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 (2020 P5) · Robot Writing (2025 P6) · Beach Umbrellas (2020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812800" y="5634335"/>
            <a:ext cx="11200384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sz="20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Another Lights (2023 P6) is a parity construction that uses none of the four techniques: optional reading.</a:t>
            </a:r>
            <a:endParaRPr lang="en-US" sz="20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7322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81225"/>
            <a:ext cx="11200384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5500"/>
          </a:p>
        </p:txBody>
      </p:sp>
      <p:sp>
        <p:nvSpPr>
          <p:cNvPr id="5" name="Text 2"/>
          <p:cNvSpPr txBox="1"/>
          <p:nvPr/>
        </p:nvSpPr>
        <p:spPr>
          <a:xfrm>
            <a:off x="812800" y="3178175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Cabins in a ring: move the crew into place as cheaply as possible.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156075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56075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156075"/>
            <a:ext cx="3502422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156075"/>
            <a:ext cx="35024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(median)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72757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2757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932410" y="472757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72757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cabins form a ring. Cabin i has A[i] crew now and needs B[i].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one person to an adjacent cabin costs $1. Find the minimum total cost.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A[i], B[i] ≤ 100 000, ΣA = ΣB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it: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ring has N edges. Let flow be the </a:t>
            </a:r>
            <a:r>
              <a:rPr lang="en-US" sz="2400" i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of people crossing an edge (it can be negative).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12800" y="5128518"/>
            <a:ext cx="1009650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= Σ |flow|</a:t>
            </a:r>
            <a:endParaRPr lang="en-US" sz="255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START SIMPLE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RING INTO A CHAIN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2: nobody crosses the edge N → 1. Every extra person left of edge i → i+1 must cross it: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3000177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127177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(A[1]−B[1]) + … + (A[i]−B[i]) = </a:t>
            </a: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92092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Answer = Σ |P[i]|, in O(N).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RING: ONE EXTRA VARIABLE</a:t>
            </a:r>
            <a:endParaRPr lang="en-US" sz="3650"/>
          </a:p>
        </p:txBody>
      </p:sp>
      <p:sp>
        <p:nvSpPr>
          <p:cNvPr id="4" name="Text 2"/>
          <p:cNvSpPr txBox="1"/>
          <p:nvPr/>
        </p:nvSpPr>
        <p:spPr>
          <a:xfrm>
            <a:off x="812800" y="1866503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f people cross the edge N → 1. Cabin 1 effectively gains f people, so every edge shifts by f: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963664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90664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P[i] + f　　cost = Σ |P[i] + f|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884414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the points P[i] lie on a number line. Pick one point −f that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minimises the total distance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all of them.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WHY THE MEDIAN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X, STEP ONE TO THE RIGHT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on your left gets 1 further away; every point on your right gets 1 closer.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747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points on the right → keep going. Equal on both sides → stop.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74157"/>
            <a:ext cx="111061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at the median.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421550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Greedy: keep stepping in the better direction until no step helps.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5 2 1 6 5 1　　B = 3 3 2 7 3 2</a:t>
            </a:r>
            <a:endParaRPr lang="en-US" sz="2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12616"/>
          <a:ext cx="10566398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− B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P[i]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169966"/>
            <a:ext cx="1120038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sorted: ____________　Median: _____　Answer Σ |P − med| = _____</a:t>
            </a:r>
            <a:endParaRPr lang="en-US" sz="240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SUMS, THEN SORT FOR THE MEDIAN</a:t>
            </a:r>
            <a:endParaRPr lang="en-US" sz="350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9493250" cy="4578350"/>
          </a:xfrm>
          <a:prstGeom prst="roundRect">
            <a:avLst>
              <a:gd name="adj" fmla="val 111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8825"/>
            <a:ext cx="10106152" cy="424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prefix sum: p[i] is the flow on edge i -&gt; i+1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p[i] = p[i-1] + a[i] - b[i];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q[i] =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sort(q + 1, q + n + 1);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med = q[(n + 1) / 2];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ans = 0;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(p[i] &gt; med) ans += p[i] - med;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 ans += med -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SCORING ROUTE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starts in cabin 1: choose how many go left vs right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flow across N → 1: plain prefix sums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1000: try f = −P[i] for each i, O(N²)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the median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178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int: P and the answer overflow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one direction only, forgetting f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every value of f (range up to 10^10)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5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Spaceship: squeeze a repeating loop into "net change per round".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232870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232870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5585321" y="42328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5585321" y="42328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81280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bins; bin i starts with X[i] balls. M instructions repeat forever: instruction j moves one ball from bin A[j] to bin B[j].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robot must take from an empty bin, it stops. How many instructions succeed? Or print FOREVER.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200 000, X[i] ≤ 1 000 000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simulate. Up to ~10⁶ rounds × 2×10⁵ instructions = 2×10¹¹ steps. Far too slow.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ONE ROUND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132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the M instructions once. For each bin record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net change per round, and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the lowest change seen just before a take (a prefix-sum minimum).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32523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Round r starts with X[i] + (r−1)·d[i] balls. Let s = X[i] + mn[i]. Bin i survives round r ⇔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4223941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325541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+ (r−1)·d[i] ≥ 1</a:t>
            </a:r>
            <a:endParaRPr lang="en-US" sz="2550"/>
          </a:p>
        </p:txBody>
      </p:sp>
      <p:sp>
        <p:nvSpPr>
          <p:cNvPr id="8" name="Text 6"/>
          <p:cNvSpPr txBox="1"/>
          <p:nvPr/>
        </p:nvSpPr>
        <p:spPr>
          <a:xfrm>
            <a:off x="812800" y="49160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it with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division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if d[i] &lt; 0, bin i survives t = (s − 1) / (−d[i]) + 1 rounds. R = the smallest t.</a:t>
            </a:r>
            <a:endParaRPr lang="en-US" sz="2250"/>
          </a:p>
        </p:txBody>
      </p:sp>
      <p:sp>
        <p:nvSpPr>
          <p:cNvPr id="9" name="Text 7"/>
          <p:cNvSpPr txBox="1"/>
          <p:nvPr/>
        </p:nvSpPr>
        <p:spPr>
          <a:xfrm>
            <a:off x="812800" y="5887641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simulate round R+1 only. Answer = R·M + successes in that round.</a:t>
            </a:r>
            <a:endParaRPr lang="en-US" sz="225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COMPRESS THE LOOP</a:t>
            </a:r>
            <a:endParaRPr lang="en-US" sz="39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44475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 (P5)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(P6)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loop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time: instructions repeat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space: cabins form a ring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gives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point mn[i] and net change d[i]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P[i] on every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 to get the rounds, simulate 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the median, done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something repeats, ask: what changes over one full loop?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3 2 6 4 5　　Instructions: 1→5, 4→3, 2→3, 4→2</a:t>
            </a:r>
            <a:endParaRPr lang="en-US" sz="22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3206750"/>
        </p:xfrm>
        <a:graphic>
          <a:graphicData uri="http://schemas.openxmlformats.org/drawingml/2006/table">
            <a:tbl>
              <a:tblPr/>
              <a:tblGrid>
                <a:gridCol w="95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6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before each take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X + 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Rounds t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570666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min t = ___　Round R+1 stops at instruction ___　Answer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ROUNDS BY DIVISION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8763000" cy="4511675"/>
          </a:xfrm>
          <a:prstGeom prst="roundRect">
            <a:avLst>
              <a:gd name="adj" fmla="val 112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87166"/>
            <a:ext cx="9288272" cy="417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R = -1;            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-1: no bin ever fails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(take[i]){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s = x[i] + mn[i];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(s &lt; 1)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0;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if (d[i] &gt;= 0)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continue;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(s - 1) / (-d[i]) + 1;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(R == -1 || t &lt; R)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(R == -1) 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print FOREVER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322784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1830784"/>
            <a:ext cx="11200384" cy="196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III:</a:t>
            </a:r>
            <a:endParaRPr lang="en-US" sz="6600"/>
          </a:p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903266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Sum, levelled up: second-order differences.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506516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506516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506516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506516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5078016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5078016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798961" y="5078016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5078016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strips of land, two rivers between them; every bridge is 1 km long.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bridges exist. T trips each go from Strip 1 at position X to Strip S (2 or 3) at the same X.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bridge (either river, integer position p) to minimise the total length of all trips.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12800" y="515639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≤ 10⁶, N, T ≤ 2×10⁵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ONE TRIP FIRST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IS ONE TRIP?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 via bridge b: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49991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60151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+ 2·|X − b|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812800" y="32174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 via b₁ then b₂ (walk out and back covers the span twice):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812800" y="381436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1016000" y="391596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+ 2·(max(X, b₁, b₂) − min(X, b₁, b₂))</a:t>
            </a:r>
            <a:endParaRPr lang="en-US" sz="2550"/>
          </a:p>
        </p:txBody>
      </p:sp>
      <p:sp>
        <p:nvSpPr>
          <p:cNvPr id="10" name="Text 8"/>
          <p:cNvSpPr txBox="1"/>
          <p:nvPr/>
        </p:nvSpPr>
        <p:spPr>
          <a:xfrm>
            <a:off x="812800" y="4531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nearest bridge left and right of X can be best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sorted bridges.</a:t>
            </a:r>
            <a:endParaRPr lang="en-US" sz="225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KEY OBSERVATION</a:t>
            </a:r>
            <a:endParaRPr lang="en-US" sz="1500"/>
          </a:p>
        </p:txBody>
      </p:sp>
      <p:sp>
        <p:nvSpPr>
          <p:cNvPr id="3" name="Text 1"/>
          <p:cNvSpPr txBox="1"/>
          <p:nvPr/>
        </p:nvSpPr>
        <p:spPr>
          <a:xfrm>
            <a:off x="812800" y="10541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IS A SIMPLE SHAPE IN P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2997498"/>
            <a:ext cx="5775198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 a "V" capped flat by the old cost.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812800" y="34864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 a </a:t>
            </a:r>
            <a:r>
              <a:rPr lang="en-US" sz="19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trough</a:t>
            </a: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flat bottom, slopes of ±2 on each side.</a:t>
            </a:r>
            <a:endParaRPr lang="en-US" sz="1900"/>
          </a:p>
        </p:txBody>
      </p:sp>
      <p:sp>
        <p:nvSpPr>
          <p:cNvPr id="6" name="Text 4"/>
          <p:cNvSpPr txBox="1"/>
          <p:nvPr/>
        </p:nvSpPr>
        <p:spPr>
          <a:xfrm>
            <a:off x="812800" y="43373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w(p) = min(old, trough, …): slopes are only −2, 0, +2, with a few turning points.</a:t>
            </a:r>
            <a:endParaRPr lang="en-US" sz="190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1648123"/>
            <a:ext cx="4762500" cy="1905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16700" y="35912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shape 1 + 2|X − p|, capped by old</a:t>
            </a:r>
            <a:endParaRPr lang="en-US" sz="1500"/>
          </a:p>
        </p:txBody>
      </p:sp>
      <p:pic>
        <p:nvPicPr>
          <p:cNvPr id="9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3921423"/>
            <a:ext cx="4762500" cy="1905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16700" y="58645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trough, flat from u2 to X, capped by old</a:t>
            </a:r>
            <a:endParaRPr lang="en-US" sz="1500"/>
          </a:p>
        </p:txBody>
      </p:sp>
      <p:sp>
        <p:nvSpPr>
          <p:cNvPr id="11" name="Text 7"/>
          <p:cNvSpPr txBox="1"/>
          <p:nvPr/>
        </p:nvSpPr>
        <p:spPr>
          <a:xfrm>
            <a:off x="6616700" y="61947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>
                <a:solidFill>
                  <a:srgbClr val="E4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= corner (turning point)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A NEW TOOL?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TRY EVERY 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 for each of the ~10⁶ positions p, add up the cost of all 2×10⁵ trips.</a:t>
            </a:r>
            <a:endParaRPr lang="en-US" sz="225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58641"/>
          <a:ext cx="10566400" cy="914400"/>
        </p:xfrm>
        <a:graphic>
          <a:graphicData uri="http://schemas.openxmlformats.org/drawingml/2006/table">
            <a:tbl>
              <a:tblPr/>
              <a:tblGrid>
                <a:gridCol w="232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per trip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value at every p: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O(T·L) ≈ 2×10¹¹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its few corners: O(1)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 log N + L) ≈ 5×10⁶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274741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274741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427141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w(p) is a broken line with only a few corners.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corners only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rebuild the total at every p in one pass.</a:t>
            </a:r>
            <a:endParaRPr lang="en-US" sz="2250"/>
          </a:p>
        </p:txBody>
      </p:sp>
      <p:sp>
        <p:nvSpPr>
          <p:cNvPr id="9" name="Text 6"/>
          <p:cNvSpPr txBox="1"/>
          <p:nvPr/>
        </p:nvSpPr>
        <p:spPr>
          <a:xfrm>
            <a:off x="812800" y="5614591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that we need two ideas: the difference array, and the second difference.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1: DIFFERENCE ARRAY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092200"/>
            <a:ext cx="112003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13"/>
              </a:lnSpc>
              <a:buNone/>
            </a:pPr>
            <a:r>
              <a:rPr lang="en-US" sz="37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JUMPS, NOT THE VALUES</a:t>
            </a:r>
            <a:endParaRPr lang="en-US" sz="3750"/>
          </a:p>
        </p:txBody>
      </p:sp>
      <p:sp>
        <p:nvSpPr>
          <p:cNvPr id="4" name="Text 2"/>
          <p:cNvSpPr txBox="1"/>
          <p:nvPr/>
        </p:nvSpPr>
        <p:spPr>
          <a:xfrm>
            <a:off x="812800" y="1817688"/>
            <a:ext cx="1120038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array: D[i] = a[i] − a[i−1] (with a[0] = 0). D is non-zero only where a </a:t>
            </a: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jumps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4588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0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of D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402138"/>
            <a:ext cx="10566400" cy="1612900"/>
          </a:xfrm>
          <a:prstGeom prst="roundRect">
            <a:avLst>
              <a:gd name="adj" fmla="val 315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402138"/>
            <a:ext cx="50800" cy="16129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554538"/>
            <a:ext cx="1066190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 of D gives a back.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Difference and prefix sum undo each other.</a:t>
            </a:r>
            <a:endParaRPr lang="en-US" sz="2200"/>
          </a:p>
        </p:txBody>
      </p:sp>
      <p:sp>
        <p:nvSpPr>
          <p:cNvPr id="9" name="Text 6"/>
          <p:cNvSpPr txBox="1"/>
          <p:nvPr/>
        </p:nvSpPr>
        <p:spPr>
          <a:xfrm>
            <a:off x="1092200" y="5024438"/>
            <a:ext cx="10661904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use: "add v to a[l..r]" → D[l] += v, D[r+1] −= v. O(1) per update, one prefix sum at the end.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2: SECOND DIFFERENCE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BENDS, NOT THE VALUES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169892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broken line, the first difference is the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second difference is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the slope changes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non-zero only at the corners.</a:t>
            </a:r>
            <a:endParaRPr lang="en-US" sz="225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3973"/>
          <a:ext cx="10566400" cy="914400"/>
        </p:xfrm>
        <a:graphic>
          <a:graphicData uri="http://schemas.openxmlformats.org/drawingml/2006/table">
            <a:tbl>
              <a:tblPr/>
              <a:tblGrid>
                <a:gridCol w="3169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 (trip X = 4)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slope: w(p) − w(p−1)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d2: change of slope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772323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d2[p] = slope(p+1) − slope(p) = w(p+1) − 2w(p) + w(p−1)</a:t>
            </a:r>
            <a:endParaRPr lang="en-US" sz="2100"/>
          </a:p>
        </p:txBody>
      </p:sp>
      <p:sp>
        <p:nvSpPr>
          <p:cNvPr id="7" name="Shape 4"/>
          <p:cNvSpPr/>
          <p:nvPr/>
        </p:nvSpPr>
        <p:spPr>
          <a:xfrm>
            <a:off x="812800" y="5254923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812800" y="5254923"/>
            <a:ext cx="50800" cy="11620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1092200" y="5407323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d2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slopes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w(p). Start from w(0) and w(1).</a:t>
            </a:r>
            <a:endParaRPr lang="en-US" sz="225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PUTTING IT TOGETHER</a:t>
            </a:r>
            <a:endParaRPr lang="en-US" sz="1700"/>
          </a:p>
        </p:txBody>
      </p:sp>
      <p:sp>
        <p:nvSpPr>
          <p:cNvPr id="3" name="Text 1"/>
          <p:cNvSpPr txBox="1"/>
          <p:nvPr/>
        </p:nvSpPr>
        <p:spPr>
          <a:xfrm>
            <a:off x="812800" y="10731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CHANGES, REBUILD WITH PREFIX SUMS</a:t>
            </a:r>
            <a:endParaRPr lang="en-US" sz="325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12913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with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function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d[q] = w(q) −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prefix sum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Piecewise linear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d2[q] = w(q+1) − 2w(q) +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122613"/>
            <a:ext cx="11200384" cy="86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 adds its d2 only near its O(1) corners into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d2 array (sums of broken lines are broken lines). Then two prefix sums give the total cost at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in O(L).</a:t>
            </a:r>
            <a:endParaRPr lang="en-US" sz="2100"/>
          </a:p>
        </p:txBody>
      </p:sp>
      <p:sp>
        <p:nvSpPr>
          <p:cNvPr id="6" name="Shape 3"/>
          <p:cNvSpPr/>
          <p:nvPr/>
        </p:nvSpPr>
        <p:spPr>
          <a:xfrm>
            <a:off x="812800" y="4114403"/>
            <a:ext cx="10566400" cy="1718270"/>
          </a:xfrm>
          <a:prstGeom prst="roundRect">
            <a:avLst>
              <a:gd name="adj" fmla="val 2956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114403"/>
            <a:ext cx="50800" cy="171827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254103"/>
            <a:ext cx="106619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FROM d2: TWO PREFIX SUMS IN ONE LINE</a:t>
            </a:r>
            <a:endParaRPr lang="en-US" sz="1700"/>
          </a:p>
        </p:txBody>
      </p:sp>
      <p:sp>
        <p:nvSpPr>
          <p:cNvPr id="9" name="Text 6"/>
          <p:cNvSpPr txBox="1"/>
          <p:nvPr/>
        </p:nvSpPr>
        <p:spPr>
          <a:xfrm>
            <a:off x="1092200" y="4552553"/>
            <a:ext cx="10661904" cy="3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b="1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tot[q+1] = 2·tot[q] − tot[q−1] + d2[q]</a:t>
            </a:r>
            <a:endParaRPr lang="en-US" sz="1950"/>
          </a:p>
        </p:txBody>
      </p:sp>
      <p:sp>
        <p:nvSpPr>
          <p:cNvPr id="10" name="Text 7"/>
          <p:cNvSpPr txBox="1"/>
          <p:nvPr/>
        </p:nvSpPr>
        <p:spPr>
          <a:xfrm>
            <a:off x="1092200" y="4950023"/>
            <a:ext cx="10661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⇔ tot[q+1] − tot[q] = (tot[q] − tot[q−1]) + d2[q]　i.e. </a:t>
            </a:r>
            <a:r>
              <a:rPr lang="en-US" sz="19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slope = old slope + change of slope</a:t>
            </a: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Start from tot[0], tot[1].</a:t>
            </a:r>
            <a:endParaRPr lang="en-US" sz="1950"/>
          </a:p>
        </p:txBody>
      </p:sp>
      <p:sp>
        <p:nvSpPr>
          <p:cNvPr id="11" name="Text 8"/>
          <p:cNvSpPr txBox="1"/>
          <p:nvPr/>
        </p:nvSpPr>
        <p:spPr>
          <a:xfrm>
            <a:off x="812800" y="5997773"/>
            <a:ext cx="11200384" cy="45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O(T·L) → O(T log N + L)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X = 4 TO STRIP 3 (SAMPLE 1)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Bridges: River 1 at 2 and 6, River 2 at 4. Old cost = ___</a:t>
            </a:r>
            <a:endParaRPr lang="en-US" sz="225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364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d2[p]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0937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sample, new bridge on River 1 at p = 4: total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PROGRAM FLOW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BEFORE THE CODE</a:t>
            </a:r>
            <a:endParaRPr lang="en-US" sz="325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663700"/>
            <a:ext cx="10566400" cy="406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PSEUDOCODE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THREE HELPERS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852216"/>
            <a:ext cx="10566400" cy="4451350"/>
          </a:xfrm>
          <a:prstGeom prst="roundRect">
            <a:avLst>
              <a:gd name="adj" fmla="val 114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10966"/>
            <a:ext cx="11042650" cy="416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 read the bridges, sort each river; read the trips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 for each trip (X, S):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u1, w1 = pred(1, X), succ(1, X)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Binary Search: nearest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u2, w2 = pred(2, X), succ(2, X)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oldCost = shortest trip with the existing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addTrip(1);  addTrip(2)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d2 only at the turning points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 build(1);  build(2)         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→ tot[w][p]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 scan p = 0 … L, keep the smallest tot[1][p] and tot[2][p]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 print it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f(w, p)    = this trip's cost if the new bridge is at p on river w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addTrip(w) : tot[w][0] += f(w, 0);  tot[w][1] += f(w, 1)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for each candidate turning point q: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d2[w][q] += f(w, q+1) − 2·f(w, q) + f(w, q−1)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TRIP'S COST, STRAIGHT FROM THE PROBLEM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812800" y="1735435"/>
            <a:ext cx="10566400" cy="4603750"/>
          </a:xfrm>
          <a:prstGeom prst="roundRect">
            <a:avLst>
              <a:gd name="adj" fmla="val 110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1894185"/>
            <a:ext cx="11042650" cy="431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2: cross River 1 at bridge a, walk back to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way2(long long a){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0) return INF;                    </a:t>
            </a: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no such bridge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1 + 2 * abs(X - a);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3: River 1 bridge a, River 2 bridge b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way3(long long a, long long b){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 || b &lt; 0) return INF;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2 + 2 * (max(X, max(a, b)) - min(X, min(a, b)));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this trip's cost if the new bridge is at p on river w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f(int w, long long p){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 long c = oldCost;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2 &amp;&amp; w == 1) c = min(c, way2(p));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1) c = min(c, min(way3(p, u2), way3(p, w2)));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2) c = min(c, min(way3(u1, p), way3(w1, p)));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c;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POINTS, THEN TWO PREFIX SUMS</a:t>
            </a:r>
            <a:endParaRPr lang="en-US" sz="3650"/>
          </a:p>
        </p:txBody>
      </p:sp>
      <p:sp>
        <p:nvSpPr>
          <p:cNvPr id="4" name="Text 2"/>
          <p:cNvSpPr txBox="1"/>
          <p:nvPr/>
        </p:nvSpPr>
        <p:spPr>
          <a:xfrm>
            <a:off x="812800" y="1815703"/>
            <a:ext cx="11200384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bends only where the best route changes: at X, at the nearest bridges a, b, and at a + b − X (two routes equally long). It also bends where it reaches oldCost, k steps from one of those points.</a:t>
            </a:r>
            <a:endParaRPr lang="en-US" sz="2100"/>
          </a:p>
        </p:txBody>
      </p:sp>
      <p:sp>
        <p:nvSpPr>
          <p:cNvPr id="5" name="Text 3"/>
          <p:cNvSpPr txBox="1"/>
          <p:nvPr/>
        </p:nvSpPr>
        <p:spPr>
          <a:xfrm>
            <a:off x="812800" y="3092053"/>
            <a:ext cx="1120038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candidates are harmless: where f does not bend, f(q+1) − 2f(q) + f(q−1) = 0.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812800" y="3669903"/>
            <a:ext cx="105664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3828653"/>
            <a:ext cx="11042650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a, b = nearest bridges on the OTHER river;  oldCost = (S − 1) + 2k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 points:  X,  a,  b,  a + b −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candidates:  every key point,  and every key point ± 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each candidate q (once, 1 &lt;= q &lt;= L − 1)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d2[w][q] += f(w, q + 1) - 2 * f(w, q) + f(w, q - 1);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in one line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(int q = 1; q + 1 &lt;= L; q ++)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tot[w][q+1] = 2 * tot[w][q] - tot[w][q-1] + d2[w][q];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SPACESHIP SHUFFLE FROM SCRATCH</a:t>
            </a:r>
            <a:endParaRPr lang="en-US" sz="350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A, B (arrays from index 1, long long)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 = p[i-1] + a[i] - b[i]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q, sort, take q[(n+1)/2]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|p[i] − med|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5, 6, 3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4476750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Print the "cut the chain" answer (f = 0) too and compare: sample 2 gives 10 vs 6.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528955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orac2.info/problem/1198</a:t>
            </a:r>
            <a:endParaRPr lang="en-US" sz="19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FACES OF PREFIX SUM</a:t>
            </a:r>
            <a:endParaRPr lang="en-US" sz="390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Prefix Sum is used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uses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= flow on each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Greedy: the median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prefix value + net change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Division: rounds each bin survives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 + two prefix sums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Search: nearest bridge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"running total", "per round" or "range"? Think Prefix Sum first.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3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II: full program (one round of prefix sums + division + simulate one round)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orac2.info/problem/1466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subtasks 1–2: brute force over p first, then second differences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orac2.info/problem/1462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if each edge in Spaceship has its own price per person, does the median still work?</a:t>
            </a:r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7176</Words>
  <Application>Microsoft Macintosh PowerPoint</Application>
  <PresentationFormat>Widescreen</PresentationFormat>
  <Paragraphs>553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1: Prefix Sum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2026-10-03T12:59:02Z</dcterms:modified>
</cp:coreProperties>
</file>