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90" r:id="rId41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9" r:id="rId40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8" r:id="rId39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: the four techniques and a new tool, the Sparse Table" id="{a4011f1e-2501-aa1c-be28-04ca8f694004}">
          <p14:sldIdLst>
            <p14:sldId id="256"/>
            <p14:sldId id="257"/>
            <p14:sldId id="258"/>
            <p14:sldId id="259"/>
            <p14:sldId id="260"/>
          </p14:sldIdLst>
        </p14:section>
        <p14:section name="2020 P5 Ladybugs II: consecutive windows, separate D, range minimum" id="{96b682bf-215d-c207-fb5b-37afe3539706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90"/>
          </p14:sldIdLst>
        </p14:section>
        <p14:section name="2025 P6 Robot Writing: the robot carries the maximum, layer by layer" id="{8d96f195-f8e7-5c24-eafe-84efeaf4a94a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89"/>
          </p14:sldIdLst>
        </p14:section>
        <p14:section name="2020 P6 Beach Umbrellas: greedy for a fixed start, exchange arguments, subtasks" id="{d82dbf91-7f70-2241-b2b4-2f5c21b5c6ab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8"/>
          </p14:sldIdLst>
        </p14:section>
        <p14:section name="Live coding, course recap and homework" id="{e97091be-bf73-ec5d-f4e7-7b28d5b72b18}">
          <p14:sldIdLst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  <Relationship Id="rId39" Type="http://schemas.openxmlformats.org/officeDocument/2006/relationships/slide" Target="slides/slide33.xml"/>
  <Relationship Id="rId40" Type="http://schemas.openxmlformats.org/officeDocument/2006/relationships/slide" Target="slides/slide34.xml"/>
  <Relationship Id="rId41" Type="http://schemas.openxmlformats.org/officeDocument/2006/relationships/slide" Target="slides/slide35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4 次课，也是最后一次课。一个新工具：Sparse Table（O(1) 求区间 min / max），用在 Ladybugs II 和 Robot Writing。然后是整个课程最难的 Beach Umbrellas，重点讲 Greedy 的想法和 subtask 台阶。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Beach Umbrellas 是整个课程最难的题。今天讲 Greedy 的想法和到 subtask 4 为止的台阶；完整的 binary lifting 解法给强的学生课后阅读。Yet Another Lights（2023 P6）课上不讲：它是奇偶性（parity）构造题，放在作业页作为选读。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这是第 1 次课的"三问"。在给出 key observation 之前，让全班针对今天每道题大声回答。
参考答案：
Ladybugs II：brute force 是每个询问枚举所有窗口 O(QN)；位置已排序 → Binary Search 定位 D；f1、f2 只和窗口有关，可以预处理 → Sparse Table。
Robot Writing：brute force 是枚举起点和每一步方向 2^M；机器人脚下的值单调不减；区域边界可以用 Binary Search + Sparse Table 找。
Beach Umbrellas：brute force 是枚举左端点再 Greedy 模拟 O(N·K)；每把伞的放法可以局部决定（Greedy）；X = 1 时可以用 Two Pointers。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放映时按键（或点击）逐步显示红色答案：①sp[1] 行 ②sp[2] 行 ③k ④两个起点 ⑤答案。先让学生在纸上填，再一下一下揭晓。</a:t>
            </a:r>
          </a:p>
          <a:p>
            <a:r>
              <a:rPr lang="zh-CN" altLang="en-US" dirty="0"/>
              <a:t>答案：sp[1] = 3 4 4 5 9 9 6。sp[2] = 4 5 9 9 9。</a:t>
            </a:r>
          </a:p>
          <a:p>
            <a:r>
              <a:rPr lang="zh-CN" altLang="en-US" dirty="0"/>
              <a:t>查询 [2, 7]：长度 6，k = 2（≤ 6 的最大 2 的幂是 4）。max(sp[2][2], sp[2][4]) = max(5, 9) = 9。</a:t>
            </a:r>
          </a:p>
          <a:p>
            <a:r>
              <a:rPr lang="zh-CN" altLang="en-US" dirty="0"/>
              <a:t>要点：两个长度为 4 的块有重叠（位置 4、5 被算了两次）。对 max 和 min 没关系，但对求和不行：所以求和要用 prefix sum。</a:t>
            </a:r>
          </a:p>
          <a:p>
            <a:r>
              <a:rPr lang="zh-CN" altLang="en-US" dirty="0"/>
              <a:t>预处理 O(N log N)，查询 O(1)。数组不能被修改。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2^17 = 131072 &gt; 10^5，17 层就够了，开 20 层更保险。lg[1] = 0，因为全局数组初始为 0。求区间最小值时把 max 改成 min。和 prefix sum 对比：两者都是"先预处理，再快速回答每个区间问题"。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25 分钟。第一次用 Sparse Table。这里的 Two Pointers 指的是"K 个连续元素组成的滑动窗口"这个想法。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在右侧画数轴，标出 P = 1、4、6（样例 1），K = 2。再标出三个询问 D = 0、5、2。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先问：为什么一定是连续的？让学生在数轴上论证。
答案：在一条线上从最左走到最右，中间的瓢虫都会被经过，签名白拿；所以只要有更远的瓢虫被选上，中间的就可以换进来而不增加时间。
和今天后面的 Beach Umbrellas 呼应：那里的答案也是一整段连续区间。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前两种情况各 O(1)。第三种是难点：每个询问最多 K − 1 个窗口，Q 个询问，K 和 Q 都大时太慢。
提问：有多慢？答案：Q × K，例如 10^10。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这是本题最重要的想法：只和窗口有关的量都可以预处理。和 prefix sum 是同一种思路：把不依赖询问的部分先算好。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放映时按键（或点击）逐步显示红色答案：①–③ D = 0、5、2 各一行。先让学生在纸上填，再一下一下揭晓。</a:t>
            </a:r>
          </a:p>
          <a:p>
            <a:r>
              <a:rPr lang="zh-CN" altLang="en-US" dirty="0"/>
              <a:t>答案：</a:t>
            </a:r>
          </a:p>
          <a:p>
            <a:r>
              <a:rPr lang="zh-CN" altLang="en-US" dirty="0"/>
              <a:t>D = 0：s = 1。全在右边：l = 1，4 − 0 = 4。没有全在左边的，也没有跨过 D 的。答案 4。</a:t>
            </a:r>
          </a:p>
          <a:p>
            <a:r>
              <a:rPr lang="zh-CN" altLang="en-US" dirty="0"/>
              <a:t>D = 5：s = 3。全在右边：无。全在左边：以第 2 只结尾的窗口 [1, 4]，5 − 1 = 4。跨过 D：l = 2（[4, 6]）：2 + min(1, 1) = 3。答案 3。</a:t>
            </a:r>
          </a:p>
          <a:p>
            <a:r>
              <a:rPr lang="zh-CN" altLang="en-US" dirty="0"/>
              <a:t>D = 2：s = 2。全在右边：l = 2，6 − 2 = 4。全在左边：无。跨过 D：l = 1（[1, 4]）：3 + min(1, 2) = 4。答案 4。</a:t>
            </a:r>
          </a:p>
          <a:p>
            <a:r>
              <a:rPr lang="zh-CN" altLang="en-US" dirty="0"/>
              <a:t>期望输出：4 3 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 long long。每个询问：一次 Binary Search O(log N)，加上三种情况各 O(1)。Subtask 台阶：Q = 1 → 枚举所有窗口；K = N → 只有一个窗口；完整 → Binary Search + Sparse Table。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30 分钟。这里的 "Greedy" 指的是一个 Greedy 风格的 key observation（机器人最后总是拿着较大的值），而不是我们做的某个贪心选择。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Brute force：枚举起点和每一步的方向，2^M 种，只能过极小的 subtask。我们需要弄清楚交换到底做了什么。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放映时按键（或点击）逐步显示红色答案：①–④ 第 1 到 4 步各一行。先让学生在纸上填，再一下一下揭晓。</a:t>
            </a:r>
          </a:p>
          <a:p>
            <a:r>
              <a:rPr lang="zh-CN" altLang="en-US" dirty="0"/>
              <a:t>答案：</a:t>
            </a:r>
          </a:p>
          <a:p>
            <a:r>
              <a:rPr lang="zh-CN" altLang="en-US" dirty="0"/>
              <a:t>第 1 步：在格子 3，记录 1，移到 4（值 2），2 &gt; 1 不交换，T = 2 3 1 2 3。</a:t>
            </a:r>
          </a:p>
          <a:p>
            <a:r>
              <a:rPr lang="zh-CN" altLang="en-US" dirty="0"/>
              <a:t>第 2 步：在格子 4，记录 2，移到 3（值 1），1 &lt; 2 交换，T = 2 3 2 1 3。</a:t>
            </a:r>
          </a:p>
          <a:p>
            <a:r>
              <a:rPr lang="zh-CN" altLang="en-US" dirty="0"/>
              <a:t>第 3 步：在格子 3，记录 2，移到 2（值 3），不交换，T = 2 3 2 1 3。</a:t>
            </a:r>
          </a:p>
          <a:p>
            <a:r>
              <a:rPr lang="zh-CN" altLang="en-US" dirty="0"/>
              <a:t>第 4 步：在格子 2，记录 3。</a:t>
            </a:r>
          </a:p>
          <a:p>
            <a:r>
              <a:rPr lang="zh-CN" altLang="en-US" dirty="0"/>
              <a:t>记录下来的是 1 2 2 3 = S，所以 YES。</a:t>
            </a:r>
          </a:p>
          <a:p>
            <a:r>
              <a:rPr lang="zh-CN" altLang="en-US" dirty="0"/>
              <a:t>要注意到的规律：机器人脚下的值从来不会变小。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这一行就把题目里所有的交换都消掉了。较小的值被推到机器人身后，之后再也不重要。Greedy 的味道：机器人总是留下较大的那个数。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在右侧把 T 画成柱子，在 v 处画一条水平线：区域就是线下方的那段谷。和第 3 次课的水位线图对比。找左端点：最小的 l 使 max(T[l..p]) ≤ v，这关于 l 单调，所以用 Binary Search + Sparse Table。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这个奇偶性论证在很多网格题里都出现过（2019 P5 Evading Capture 也用到奇偶距离）。
提问：为什么第一次升级之后，区域总是至少有 2 格？
答案：新区域包含原来的区域加上新踩上的那一格。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放映时按键（或点击）逐步显示红色答案：①–③ 值 2、3、4 各一行 ④样例 3。先让学生在纸上填，再一下一下揭晓。</a:t>
            </a:r>
          </a:p>
          <a:p>
            <a:r>
              <a:rPr lang="zh-CN" altLang="en-US" dirty="0"/>
              <a:t>答案（样例 2）：</a:t>
            </a:r>
          </a:p>
          <a:p>
            <a:r>
              <a:rPr lang="zh-CN" altLang="en-US" dirty="0"/>
              <a:t>值 2，第 1 步首次出现：格子 2，区域 [1, 2]（2 格，OK）。</a:t>
            </a:r>
          </a:p>
          <a:p>
            <a:r>
              <a:rPr lang="zh-CN" altLang="en-US" dirty="0"/>
              <a:t>值 3，第 4 步首次出现：目标格子 3（区域右侧，值 3 ✓），d = 1，dt = 3，3 − 1 = 2 是偶数 ✓。区域变成 [1, 3]。</a:t>
            </a:r>
          </a:p>
          <a:p>
            <a:r>
              <a:rPr lang="zh-CN" altLang="en-US" dirty="0"/>
              <a:t>值 4，第 5 步首次出现：目标格子 4（值 4 ✓），d = 1，dt = 1 ✓。</a:t>
            </a:r>
          </a:p>
          <a:p>
            <a:r>
              <a:rPr lang="zh-CN" altLang="en-US" dirty="0"/>
              <a:t>最后一层之后在区域内来回走即可。YES。</a:t>
            </a:r>
          </a:p>
          <a:p>
            <a:r>
              <a:rPr lang="zh-CN" altLang="en-US" dirty="0"/>
              <a:t>样例 3：起点格子 1，区域 [1, 1] 只有 1 格，第 2 步必须离开，记录到 2。NO。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主循环：把 S 分成若干层（值 lv[k]，首次出现的步数 ti[k]；不要叫 tm，会和系统里的名字冲突）。维护当前层所有可能的位置；对每个位置用 extendLeft/extendRight 求出 [l, r]，检查 l − 1 和 r + 1 两个格子，合格的加入下一层（用 mark[] 去重）。每个格子最多出现在一层里，所以总复杂度 O((N + M) log N)。
常见错误：只要目标格子比 v 大就接受；必须恰好等于新的值。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25 分钟。整个课程最难的题。今天的目标：Greedy 的想法、反例，以及一条清楚的通往 subtask 4 的路线。完整解法作为课后阅读。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相邻也要合并：[2, 4] 和 [5, 6] 合并成 [2, 6]。K × X 可达 10^18，要用 long long。Subtask 1（K = 0）就是合并区间后找最长的 block。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放映时按键（或点击）逐步显示红色答案：①第一把伞放 3–5（跨过 block [4]）②第二把伞放 8–10：覆盖 3..10，长度 8。先让学生在纸上填，再一下一下揭晓。</a:t>
            </a:r>
          </a:p>
          <a:p>
            <a:r>
              <a:rPr lang="zh-CN" altLang="en-US" dirty="0"/>
              <a:t>已覆盖的 block 是 [4]、[6, 7]、[9, 10]。让全班在空白行里放 2 把伞。</a:t>
            </a:r>
          </a:p>
          <a:p>
            <a:r>
              <a:rPr lang="zh-CN" altLang="en-US" dirty="0"/>
              <a:t>错误想法：gap {3}、{5}、{8} 各需要 1 把伞；2 把伞最多连起两个 gap，例如 3..7 或 4..10，长度 7。</a:t>
            </a:r>
          </a:p>
          <a:p>
            <a:r>
              <a:rPr lang="zh-CN" altLang="en-US" dirty="0"/>
              <a:t>正确做法：一把伞放 3–5（跨过格子 4，同时盖住 gap 3 和 gap 5），另一把放 8–10。覆盖 3..10，长度 8。</a:t>
            </a:r>
          </a:p>
          <a:p>
            <a:r>
              <a:rPr lang="zh-CN" altLang="en-US" dirty="0"/>
              <a:t>当 X = 1 时（subtask 2），按 gap 分开算是对的：伞不可能跨过任何东西。这就是用 Two Pointers 的 subtask。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这是经典的区间覆盖（interval covering）Greedy。一句话的 exchange argument：把任何一把伞移到左端贴住第一个未覆盖的格子，覆盖段只会变长。这个 brute force 留着做对拍。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放映时按键（或点击）逐步显示红色答案：①l = 4 ②l = 1 ③最优 ④在上面的格子里画出最优放法。先让学生在纸上填，再一下一下揭晓。</a:t>
            </a:r>
          </a:p>
          <a:p>
            <a:r>
              <a:rPr lang="zh-CN" altLang="en-US" dirty="0"/>
              <a:t>答案：</a:t>
            </a:r>
          </a:p>
          <a:p>
            <a:r>
              <a:rPr lang="zh-CN" altLang="en-US" dirty="0"/>
              <a:t>l = 4：伞放 6–7、8–9、10（第三把被海滩尽头截断，只盖 1 格）。4..10，长度 7。</a:t>
            </a:r>
          </a:p>
          <a:p>
            <a:r>
              <a:rPr lang="zh-CN" altLang="en-US" dirty="0"/>
              <a:t>l = 1：伞放 1–2、3，接上 block，再放 6–7。1..7，长度 7。</a:t>
            </a:r>
          </a:p>
          <a:p>
            <a:r>
              <a:rPr lang="zh-CN" altLang="en-US" dirty="0"/>
              <a:t>最优：伞放 2–3、6–7、8–9 → 2..9，长度 8。最优的左端 2 在 gap 的中间！</a:t>
            </a:r>
          </a:p>
          <a:p>
            <a:r>
              <a:rPr lang="zh-CN" altLang="en-US" dirty="0"/>
              <a:t>结论："从 1 或从某个 block 开始"听起来对，其实是错的。右边被海滩尽头浪费了半把伞，不如把它放到左边。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用反例验证：B = [4, 5]，st_B = 4，X = 2，i = 1 得到 l = 2，正是我们找到的最优答案。和第 3 次课一样的 Greedy 三步法：猜规则，取一个违反规则的最优解，平移 / 交换说明它不会更差。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 K 把伞从 B 出发都到不了 N，就全部放右边。第二种方案避免浪费最后那把会在 N 处被截断的伞（正是反例里发生的情况）。这样候选从 O(U · K) 减少到 O(U)。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只给强的学生。第 2 步的做法：从右往左扫描所有 block，用一棵按"模 X 的余数"建的线段树（segment tree），每个 block 覆盖一段余数。Binary lifting 和 Sparse Table 是同一种倍增思想：sp[k] 覆盖 2^k 个格子，up[p] 覆盖 2^p 次跳转。完整代码：P6 文件夹里的 2020_P6_Beach_Umbrellas.cpp。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比赛建议：subtask 1–4 只用到今天讲的想法，而且分值占很大比重。先拿稳它们，再去追完整解法。
常见错误：按 gap 分开算 ceil(g / X)；只尝试 block 的起点；伞超出 N；忘了合并相邻的区间；int 溢出。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常见 bug：跨过 D 的区间 lo/hi 差一（lo = max(1, s − K + 1)，hi = min(s − 1, w)）；忘了 s = N + 1 的情况（D 在所有瓢虫右边）；2 * p 用 int 溢出；sp 数组开小了。
样例答案：4 3 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按列读，而不是按行读：12 道题中 Binary Search 出现 8 次，Greedy 6 次，Prefix Sum 5 次。几乎每道 P6 都要先有一个 key observation，再用一到两个核心技巧。让每个学生选一行，用 30 秒讲清楚。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Yet Another Lights 不用四大技巧中的任何一个：它考的是奇偶性（parity）和不变量（invariant）。适合喜欢数学的学生。完整讲解见教学讲义第 13 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复杂度回顾（N, K ≤ 10⁹，U ≤ 100 000）：</a:t>
            </a:r>
          </a:p>
          <a:p>
            <a:r>
              <a:rPr lang="zh-CN" altLang="en-US" dirty="0"/>
              <a:t>暴力：每个左端 l 都用 Greedy 一把一把放伞，O(N·K)，N、K 都可达 10⁹。</a:t>
            </a:r>
          </a:p>
          <a:p>
            <a:r>
              <a:rPr lang="zh-CN" altLang="en-US" dirty="0"/>
              <a:t>subtask 4（K ≤ 5）：exchange argument 说明最优左端只有 O(U·K) 个候选，从每个候选跑一次 Greedy。</a:t>
            </a:r>
          </a:p>
          <a:p>
            <a:r>
              <a:rPr lang="zh-CN" altLang="en-US" dirty="0"/>
              <a:t>完整解法：从一个 gap 的起点开始，一把一把放伞会"跳"到下一个 gap 的起点，形成跳转图；用 binary lifting（和 Sparse Table 同样的倍增思想）存 2^p 次跳转，"j 把伞能走多远"只要 O(log U)：总共 O(U log U)，和 N、K 的大小无关。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复杂度回顾（N, M ≤ 200 000）：</a:t>
            </a:r>
          </a:p>
          <a:p>
            <a:r>
              <a:rPr lang="zh-CN" altLang="en-US" dirty="0"/>
              <a:t>暴力：枚举起点和每一步的方向，2^M。</a:t>
            </a:r>
          </a:p>
          <a:p>
            <a:r>
              <a:rPr lang="zh-CN" altLang="en-US" dirty="0"/>
              <a:t>关键观察（Greedy 风格）：机器人脚下永远是走过的最大值，交换可以忽略；只要知道每一层能在哪个区域里走动。逐格扫描找区域是 O(N·M) ≈ 4×10¹⁰。</a:t>
            </a:r>
          </a:p>
          <a:p>
            <a:r>
              <a:rPr lang="zh-CN" altLang="en-US" dirty="0"/>
              <a:t>用 Sparse Table 求区间最大值 + Binary Search 找区域的左右端点（extendLeft / extendRight），每个格子最多出现在一层里：总共 O((N + M) log N) ≈ 7×10⁶。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复杂度回顾（N, Q ≤ 100 000）：</a:t>
            </a:r>
          </a:p>
          <a:p>
            <a:r>
              <a:rPr lang="zh-CN" altLang="en-US" dirty="0"/>
              <a:t>先要观察到：K 只瓢虫一定是连续的一段，所以只有 N − K + 1 个窗口；每个询问都试一遍是 O(Q·N) ≈ 10¹⁰。</a:t>
            </a:r>
          </a:p>
          <a:p>
            <a:r>
              <a:rPr lang="zh-CN" altLang="en-US" dirty="0"/>
              <a:t>Binary Search 找到 D 在哪里后，全在左边、全在右边的情况各 O(1)，但跨过 D 的窗口最多 K − 1 个，O(Q·K) 仍可能到 10¹⁰。</a:t>
            </a:r>
          </a:p>
          <a:p>
            <a:r>
              <a:rPr lang="zh-CN" altLang="en-US" dirty="0"/>
              <a:t>关键：把 D 从公式里拿出来，剩下的只和窗口有关，预处理两个 Sparse Table，区间最小值 O(1)：总共 O(N log N + Q log N) ≈ 3.4×10⁶。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hyperlink" Target="https://orac2.info/problem/21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hyperlink" Target="https://orac2.info/problem/210/" TargetMode="External"/><Relationship Id="rId2" Type="http://schemas.openxmlformats.org/officeDocument/2006/relationships/hyperlink" Target="https://orac2.info/problem/1620/" TargetMode="External"/><Relationship Id="rId3" Type="http://schemas.openxmlformats.org/officeDocument/2006/relationships/hyperlink" Target="https://orac2.info/problem/238/" TargetMode="External"/><Relationship Id="rId4" Type="http://schemas.openxmlformats.org/officeDocument/2006/relationships/hyperlink" Target="https://orac2.info/problem/1300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2D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5968" y="1778000"/>
            <a:ext cx="4523232" cy="595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340"/>
              </a:lnSpc>
              <a:buNone/>
            </a:pPr>
            <a:r>
              <a:rPr lang="en-US" sz="1950" b="1" spc="150" kern="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 PROBLEMS 5 &amp; 6 · LESSON 4 OF 4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6855968" y="2514600"/>
            <a:ext cx="4523232" cy="2388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5985"/>
              </a:lnSpc>
              <a:buNone/>
            </a:pPr>
            <a:r>
              <a:rPr lang="en-US" sz="5700" b="1" spc="100" kern="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TABLE + GREEDY</a:t>
            </a:r>
            <a:endParaRPr lang="en-US" sz="5700" dirty="0"/>
          </a:p>
        </p:txBody>
      </p:sp>
      <p:sp>
        <p:nvSpPr>
          <p:cNvPr id="5" name="Text 2"/>
          <p:cNvSpPr txBox="1"/>
          <p:nvPr/>
        </p:nvSpPr>
        <p:spPr>
          <a:xfrm>
            <a:off x="6855968" y="4972447"/>
            <a:ext cx="4523232" cy="1414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3600"/>
              </a:lnSpc>
              <a:buNone/>
            </a:pPr>
            <a:r>
              <a:rPr lang="en-US" sz="22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 (2020 P5)</a:t>
            </a:r>
            <a:endParaRPr lang="en-US" sz="2250" dirty="0"/>
          </a:p>
          <a:p>
            <a:pPr algn="r" indent="0" marL="0">
              <a:lnSpc>
                <a:spcPts val="3600"/>
              </a:lnSpc>
              <a:buNone/>
            </a:pPr>
            <a:r>
              <a:rPr lang="en-US" sz="22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 (2025 P6)</a:t>
            </a:r>
            <a:endParaRPr lang="en-US" sz="2250" dirty="0"/>
          </a:p>
          <a:p>
            <a:pPr algn="r" indent="0" marL="0">
              <a:lnSpc>
                <a:spcPts val="3600"/>
              </a:lnSpc>
              <a:buNone/>
            </a:pPr>
            <a:r>
              <a:rPr lang="en-US" sz="22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 (2020 P6)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 · 2 HOURS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PLAN</a:t>
            </a:r>
            <a:endParaRPr lang="en-US" sz="3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914400"/>
        </p:xfrm>
        <a:graphic>
          <a:graphicData uri="http://schemas.openxmlformats.org/drawingml/2006/table">
            <a:tbl>
              <a:tblPr/>
              <a:tblGrid>
                <a:gridCol w="2113260"/>
                <a:gridCol w="4754860"/>
                <a:gridCol w="3698280"/>
              </a:tblGrid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Technique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0:00–0:15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tool: the Sparse Table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 min / max in O(1)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0:15–0:40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 P5 Ladybugs II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+ Sparse Table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0:40–1:10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 P6 Robot Writing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 observation + Binary Search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1:10–1:35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 P6 Beach Umbrellas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 + exchange arguments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1:35–1:55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coding: Ladybugs II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program + samples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1:55–2:00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Course recap and homework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CORE TECHNIQUES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ALL FOUR, PLUS ONE TOOL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5194300" cy="1663700"/>
          </a:xfrm>
          <a:prstGeom prst="roundRect">
            <a:avLst>
              <a:gd name="adj" fmla="val 3053"/>
            </a:avLst>
          </a:prstGeom>
          <a:noFill/>
          <a:ln w="6350">
            <a:solidFill>
              <a:srgbClr val="DADD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1903016"/>
            <a:ext cx="63500" cy="1663700"/>
          </a:xfrm>
          <a:prstGeom prst="rect">
            <a:avLst/>
          </a:prstGeom>
          <a:solidFill>
            <a:srgbClr val="3E9A9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9500" y="2087166"/>
            <a:ext cx="5001133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850" dirty="0"/>
          </a:p>
        </p:txBody>
      </p:sp>
      <p:sp>
        <p:nvSpPr>
          <p:cNvPr id="7" name="Text 5"/>
          <p:cNvSpPr txBox="1"/>
          <p:nvPr/>
        </p:nvSpPr>
        <p:spPr>
          <a:xfrm>
            <a:off x="1079500" y="2569766"/>
            <a:ext cx="5001133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sums in O(1). The Sparse Table does the same for range min / max.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184900" y="1903016"/>
            <a:ext cx="5194300" cy="1663700"/>
          </a:xfrm>
          <a:prstGeom prst="roundRect">
            <a:avLst>
              <a:gd name="adj" fmla="val 3053"/>
            </a:avLst>
          </a:prstGeom>
          <a:solidFill>
            <a:srgbClr val="FFFAF0"/>
          </a:solidFill>
          <a:ln w="12700">
            <a:solidFill>
              <a:srgbClr val="E0960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84900" y="1903016"/>
            <a:ext cx="63500" cy="1663700"/>
          </a:xfrm>
          <a:prstGeom prst="rect">
            <a:avLst/>
          </a:prstGeom>
          <a:solidFill>
            <a:srgbClr val="E0960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51600" y="2093516"/>
            <a:ext cx="4994402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endParaRPr lang="en-US" sz="2850" dirty="0"/>
          </a:p>
        </p:txBody>
      </p:sp>
      <p:sp>
        <p:nvSpPr>
          <p:cNvPr id="11" name="Text 9"/>
          <p:cNvSpPr txBox="1"/>
          <p:nvPr/>
        </p:nvSpPr>
        <p:spPr>
          <a:xfrm>
            <a:off x="6451600" y="2576116"/>
            <a:ext cx="4994402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 D among the ladybugs · how far can the robot's region reach?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12800" y="3744516"/>
            <a:ext cx="5194300" cy="1663700"/>
          </a:xfrm>
          <a:prstGeom prst="roundRect">
            <a:avLst>
              <a:gd name="adj" fmla="val 3053"/>
            </a:avLst>
          </a:prstGeom>
          <a:noFill/>
          <a:ln w="6350">
            <a:solidFill>
              <a:srgbClr val="DADD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2800" y="3744516"/>
            <a:ext cx="63500" cy="1663700"/>
          </a:xfrm>
          <a:prstGeom prst="rect">
            <a:avLst/>
          </a:prstGeom>
          <a:solidFill>
            <a:srgbClr val="E46F6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79500" y="3928666"/>
            <a:ext cx="5001133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850" dirty="0"/>
          </a:p>
        </p:txBody>
      </p:sp>
      <p:sp>
        <p:nvSpPr>
          <p:cNvPr id="15" name="Text 13"/>
          <p:cNvSpPr txBox="1"/>
          <p:nvPr/>
        </p:nvSpPr>
        <p:spPr>
          <a:xfrm>
            <a:off x="1079500" y="4411266"/>
            <a:ext cx="5001133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of K ladybugs · Beach Umbrellas subtask 2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184900" y="3744516"/>
            <a:ext cx="5194300" cy="1663700"/>
          </a:xfrm>
          <a:prstGeom prst="roundRect">
            <a:avLst>
              <a:gd name="adj" fmla="val 3053"/>
            </a:avLst>
          </a:prstGeom>
          <a:solidFill>
            <a:srgbClr val="F4F7F9"/>
          </a:solidFill>
          <a:ln w="12700">
            <a:solidFill>
              <a:srgbClr val="0A405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84900" y="3744516"/>
            <a:ext cx="63500" cy="1663700"/>
          </a:xfrm>
          <a:prstGeom prst="rect">
            <a:avLst/>
          </a:prstGeom>
          <a:solidFill>
            <a:srgbClr val="0A405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51600" y="3935016"/>
            <a:ext cx="4994402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850" dirty="0"/>
          </a:p>
        </p:txBody>
      </p:sp>
      <p:sp>
        <p:nvSpPr>
          <p:cNvPr id="19" name="Text 17"/>
          <p:cNvSpPr txBox="1"/>
          <p:nvPr/>
        </p:nvSpPr>
        <p:spPr>
          <a:xfrm>
            <a:off x="6451600" y="4417616"/>
            <a:ext cx="4994402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robot carries the maximum · where to put each umbrella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812800" y="5611416"/>
            <a:ext cx="11200384" cy="703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every problem: brute force? something monotone? something to add up or decide locally?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TOOL · SPARSE TABLE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OF ANY RANGE IN O(1)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sp[k][i] = max of the 2^k numbers starting at i. Each level comes from two halves of the level below.</a:t>
            </a:r>
            <a:endParaRPr lang="en-US" sz="2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887266"/>
          <a:ext cx="10566400" cy="914400"/>
        </p:xfrm>
        <a:graphic>
          <a:graphicData uri="http://schemas.openxmlformats.org/drawingml/2006/table">
            <a:tbl>
              <a:tblPr/>
              <a:tblGrid>
                <a:gridCol w="2113260"/>
                <a:gridCol w="933946"/>
                <a:gridCol w="933946"/>
                <a:gridCol w="933946"/>
                <a:gridCol w="933946"/>
                <a:gridCol w="933946"/>
                <a:gridCol w="1260971"/>
                <a:gridCol w="1260971"/>
                <a:gridCol w="1261467"/>
              </a:tblGrid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= sp[0]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sp[1] (len 2)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sp[2] (len 4)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4925616"/>
            <a:ext cx="11200384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max(a[2..7]): length 6, k = ___, answer = max(sp[k][___], sp[k][___]) = ___</a:t>
            </a:r>
            <a:endParaRPr lang="en-US" sz="2250" dirty="0"/>
          </a:p>
        </p:txBody>
      </p:sp>
      <p:sp>
        <p:nvSpPr>
          <p:cNvPr id="7" name="Text 4"/>
          <p:cNvSpPr txBox="1"/>
          <p:nvPr/>
        </p:nvSpPr>
        <p:spPr>
          <a:xfrm>
            <a:off x="2927350" y="3886200"/>
            <a:ext cx="9334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8" name="Text 5"/>
          <p:cNvSpPr txBox="1"/>
          <p:nvPr/>
        </p:nvSpPr>
        <p:spPr>
          <a:xfrm>
            <a:off x="3860800" y="3886200"/>
            <a:ext cx="9334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9" name="Text 6"/>
          <p:cNvSpPr txBox="1"/>
          <p:nvPr/>
        </p:nvSpPr>
        <p:spPr>
          <a:xfrm>
            <a:off x="4794250" y="3886200"/>
            <a:ext cx="9334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0" name="Text 7"/>
          <p:cNvSpPr txBox="1"/>
          <p:nvPr/>
        </p:nvSpPr>
        <p:spPr>
          <a:xfrm>
            <a:off x="5727700" y="3886200"/>
            <a:ext cx="9334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6661150" y="3886200"/>
            <a:ext cx="9334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50" dirty="0"/>
          </a:p>
        </p:txBody>
      </p:sp>
      <p:sp>
        <p:nvSpPr>
          <p:cNvPr id="12" name="Text 9"/>
          <p:cNvSpPr txBox="1"/>
          <p:nvPr/>
        </p:nvSpPr>
        <p:spPr>
          <a:xfrm>
            <a:off x="7594600" y="3886200"/>
            <a:ext cx="12636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50" dirty="0"/>
          </a:p>
        </p:txBody>
      </p:sp>
      <p:sp>
        <p:nvSpPr>
          <p:cNvPr id="13" name="Text 10"/>
          <p:cNvSpPr txBox="1"/>
          <p:nvPr/>
        </p:nvSpPr>
        <p:spPr>
          <a:xfrm>
            <a:off x="8858250" y="3886200"/>
            <a:ext cx="12636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50" dirty="0"/>
          </a:p>
        </p:txBody>
      </p:sp>
      <p:sp>
        <p:nvSpPr>
          <p:cNvPr id="14" name="Text 11"/>
          <p:cNvSpPr txBox="1"/>
          <p:nvPr/>
        </p:nvSpPr>
        <p:spPr>
          <a:xfrm>
            <a:off x="2927350" y="4349750"/>
            <a:ext cx="9334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5" name="Text 12"/>
          <p:cNvSpPr txBox="1"/>
          <p:nvPr/>
        </p:nvSpPr>
        <p:spPr>
          <a:xfrm>
            <a:off x="3860800" y="4349750"/>
            <a:ext cx="9334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16" name="Text 13"/>
          <p:cNvSpPr txBox="1"/>
          <p:nvPr/>
        </p:nvSpPr>
        <p:spPr>
          <a:xfrm>
            <a:off x="4794250" y="4349750"/>
            <a:ext cx="9334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50" dirty="0"/>
          </a:p>
        </p:txBody>
      </p:sp>
      <p:sp>
        <p:nvSpPr>
          <p:cNvPr id="17" name="Text 14"/>
          <p:cNvSpPr txBox="1"/>
          <p:nvPr/>
        </p:nvSpPr>
        <p:spPr>
          <a:xfrm>
            <a:off x="5727700" y="4349750"/>
            <a:ext cx="9334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50" dirty="0"/>
          </a:p>
        </p:txBody>
      </p:sp>
      <p:sp>
        <p:nvSpPr>
          <p:cNvPr id="18" name="Text 15"/>
          <p:cNvSpPr txBox="1"/>
          <p:nvPr/>
        </p:nvSpPr>
        <p:spPr>
          <a:xfrm>
            <a:off x="6661150" y="4349750"/>
            <a:ext cx="9334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4845050" y="4876800"/>
            <a:ext cx="781050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20" name="Text 17"/>
          <p:cNvSpPr txBox="1"/>
          <p:nvPr/>
        </p:nvSpPr>
        <p:spPr>
          <a:xfrm>
            <a:off x="8045450" y="4876800"/>
            <a:ext cx="781050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21" name="Text 18"/>
          <p:cNvSpPr txBox="1"/>
          <p:nvPr/>
        </p:nvSpPr>
        <p:spPr>
          <a:xfrm>
            <a:off x="9442450" y="4876800"/>
            <a:ext cx="781050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22" name="Text 19"/>
          <p:cNvSpPr txBox="1"/>
          <p:nvPr/>
        </p:nvSpPr>
        <p:spPr>
          <a:xfrm>
            <a:off x="10420350" y="4876800"/>
            <a:ext cx="781050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50" dirty="0"/>
          </a:p>
        </p:txBody>
      </p:sp>
      <p:sp>
        <p:nvSpPr>
          <p:cNvPr id="23" name="Shape 20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TOOL · SPARSE TABLE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ONCE, ASK MANY TIMES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6094016" cy="3460750"/>
          </a:xfrm>
          <a:prstGeom prst="roundRect">
            <a:avLst>
              <a:gd name="adj" fmla="val 1468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2350" y="2061766"/>
            <a:ext cx="6355906" cy="317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 sp[20][100010], lg[100010];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build: O(N log N)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i = 2; i &lt;= n; i ++)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lg[i] = lg[i/2] + 1;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i = 1; i &lt;= n; i ++)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sp[0][i] = a[i];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k = 1; (1 &lt;&lt; k) &lt;= n; k ++)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i = 1; i + (1 &lt;&lt; k) - 1 &lt;= n; i ++)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sp[k][i] = max(sp[k-1][i],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sp[k-1][i + (1 &lt;&lt; (k-1))]);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160816" y="1903016"/>
            <a:ext cx="4218384" cy="3460750"/>
          </a:xfrm>
          <a:prstGeom prst="roundRect">
            <a:avLst>
              <a:gd name="adj" fmla="val 1468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70366" y="2061766"/>
            <a:ext cx="4255199" cy="1743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query: O(1)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 qmax(int l, int r){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k = lg[r - l + 1];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max(sp[k][l],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sp[k][r - (1 &lt;&lt; k) + 1]);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596430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spc="15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1 · 2020 AIO PROBLEM 5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104430"/>
            <a:ext cx="11200384" cy="104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spc="15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254970"/>
            <a:ext cx="8077200" cy="79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K ladybugs on a branch as fast as possible, for many different starting points.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4232870"/>
            <a:ext cx="2939058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2800" y="4232870"/>
            <a:ext cx="293905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3866158" y="4232870"/>
            <a:ext cx="3111500" cy="457200"/>
          </a:xfrm>
          <a:prstGeom prst="roundRect">
            <a:avLst>
              <a:gd name="adj" fmla="val 50000"/>
            </a:avLst>
          </a:prstGeom>
          <a:solidFill>
            <a:srgbClr val="FCE7E5"/>
          </a:solidFill>
          <a:ln w="12700">
            <a:solidFill>
              <a:srgbClr val="E46F6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866158" y="4232870"/>
            <a:ext cx="311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12800" y="4804370"/>
            <a:ext cx="2926854" cy="457200"/>
          </a:xfrm>
          <a:prstGeom prst="roundRect">
            <a:avLst>
              <a:gd name="adj" fmla="val 50000"/>
            </a:avLst>
          </a:prstGeom>
          <a:solidFill>
            <a:srgbClr val="F6F7F7"/>
          </a:solidFill>
          <a:ln w="12700">
            <a:solidFill>
              <a:srgbClr val="5D667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2800" y="4804370"/>
            <a:ext cx="292685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Sparse Table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new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3853954" y="4804370"/>
            <a:ext cx="16344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3853954" y="4804370"/>
            <a:ext cx="16344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5602684" y="4804370"/>
            <a:ext cx="1204813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5602684" y="4804370"/>
            <a:ext cx="120481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ladybugs sit on a branch at positions P[1] ≤ P[2] ≤ … ≤ P[N].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515096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start at position D and walk 1 mm per second. Collect the signatures of K ladybugs (just reach them; no need to come back).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599557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 Q queries, each with its own D. For each one, print the shortest time.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747518"/>
            <a:ext cx="11106150" cy="703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force: try every set of K ladybugs. Way too slow. What does a best answer look like?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 · KEY OBSERVATION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61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10"/>
              </a:lnSpc>
              <a:buNone/>
            </a:pPr>
            <a:r>
              <a:rPr lang="en-US" sz="34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 LADYBUGS ARE ALWAYS CONSECUTIVE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29991"/>
            <a:ext cx="11200384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Walking from the leftmost to the rightmost one, you pass every ladybug in between: their signatures are free.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14452"/>
            <a:ext cx="11200384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choose a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ladybugs l to r = l + K − 1. Go to the nearer end first, then to the other end.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12800" y="4062412"/>
            <a:ext cx="10566400" cy="869950"/>
          </a:xfrm>
          <a:prstGeom prst="roundRect">
            <a:avLst>
              <a:gd name="adj" fmla="val 5839"/>
            </a:avLst>
          </a:prstGeom>
          <a:solidFill>
            <a:srgbClr val="F4F7F9"/>
          </a:solidFill>
          <a:ln/>
        </p:spPr>
      </p:sp>
      <p:sp>
        <p:nvSpPr>
          <p:cNvPr id="7" name="Shape 5"/>
          <p:cNvSpPr/>
          <p:nvPr/>
        </p:nvSpPr>
        <p:spPr>
          <a:xfrm>
            <a:off x="812800" y="4062412"/>
            <a:ext cx="50800" cy="869950"/>
          </a:xfrm>
          <a:prstGeom prst="rect">
            <a:avLst/>
          </a:prstGeom>
          <a:solidFill>
            <a:srgbClr val="0A405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2200" y="4240213"/>
            <a:ext cx="10661904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27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time(l) = (P[r] − P[l]) + min(|D − P[l]|, |D − P[r]|)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812800" y="5135563"/>
            <a:ext cx="11200384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N − K + 1 windows. One query in O(N): enough for subtasks with Q = 1.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 · BINARY SEARCH TO LOCATE 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KINDS OF WINDOW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the first ladybug with P[s] ≥ D (binary search on P).</a:t>
            </a:r>
            <a:endParaRPr lang="en-US" sz="2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36416"/>
          <a:ext cx="10566400" cy="914400"/>
        </p:xfrm>
        <a:graphic>
          <a:graphicData uri="http://schemas.openxmlformats.org/drawingml/2006/table">
            <a:tbl>
              <a:tblPr/>
              <a:tblGrid>
                <a:gridCol w="2535932"/>
                <a:gridCol w="3169841"/>
                <a:gridCol w="4860627"/>
              </a:tblGrid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Which windows to try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right of D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P[r] − D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l = s (leftmost is best)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left of D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 − P[l]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the window ending at s − 1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Straddles D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 next slide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 from s − K + 1 to s − 1: up to K − 1 windows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 · THE TRICK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D OUT OF THE FORMULA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first: (D − P[l]) + (P[r] − P[l]) =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(P[r] − 2P[l])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D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527796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first: (P[r] − D) + (P[r] − P[l]) =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(2P[r] − P[l])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− 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12800" y="3203377"/>
            <a:ext cx="10566400" cy="1803400"/>
          </a:xfrm>
          <a:prstGeom prst="roundRect">
            <a:avLst>
              <a:gd name="adj" fmla="val 2817"/>
            </a:avLst>
          </a:prstGeom>
          <a:solidFill>
            <a:srgbClr val="F4F7F9"/>
          </a:solidFill>
          <a:ln/>
        </p:spPr>
      </p:sp>
      <p:sp>
        <p:nvSpPr>
          <p:cNvPr id="7" name="Shape 5"/>
          <p:cNvSpPr/>
          <p:nvPr/>
        </p:nvSpPr>
        <p:spPr>
          <a:xfrm>
            <a:off x="812800" y="3203377"/>
            <a:ext cx="50800" cy="1803400"/>
          </a:xfrm>
          <a:prstGeom prst="rect">
            <a:avLst/>
          </a:prstGeom>
          <a:solidFill>
            <a:srgbClr val="0A405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2200" y="3381177"/>
            <a:ext cx="10661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f1(l) = P[r] − 2P[l]　　f2(l) = 2P[r] − P[l]　(no D!)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092200" y="3914577"/>
            <a:ext cx="10661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for the straddling windows = min( min f1 + D, min f2 − D ) over l in a range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812800" y="5209977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minimum over a fixed array → Sparse Table, O(1) per query.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1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1 4 6　K = 2　windows: [1, 4] (l = 1) and [4, 6] (l = 2)</a:t>
            </a:r>
            <a:endParaRPr lang="en-US" sz="2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11016"/>
          <a:ext cx="10566400" cy="914400"/>
        </p:xfrm>
        <a:graphic>
          <a:graphicData uri="http://schemas.openxmlformats.org/drawingml/2006/table">
            <a:tbl>
              <a:tblPr/>
              <a:tblGrid>
                <a:gridCol w="1056580"/>
                <a:gridCol w="1056580"/>
                <a:gridCol w="2113260"/>
                <a:gridCol w="2113260"/>
                <a:gridCol w="2641600"/>
                <a:gridCol w="1585119"/>
              </a:tblGrid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right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left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Straddles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866900" y="2946400"/>
            <a:ext cx="1054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4"/>
          <p:cNvSpPr txBox="1"/>
          <p:nvPr/>
        </p:nvSpPr>
        <p:spPr>
          <a:xfrm>
            <a:off x="2927350" y="294640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8" name="Text 5"/>
          <p:cNvSpPr txBox="1"/>
          <p:nvPr/>
        </p:nvSpPr>
        <p:spPr>
          <a:xfrm>
            <a:off x="5041900" y="294640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50" dirty="0"/>
          </a:p>
        </p:txBody>
      </p:sp>
      <p:sp>
        <p:nvSpPr>
          <p:cNvPr id="9" name="Text 6"/>
          <p:cNvSpPr txBox="1"/>
          <p:nvPr/>
        </p:nvSpPr>
        <p:spPr>
          <a:xfrm>
            <a:off x="7150100" y="2946400"/>
            <a:ext cx="26416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50" dirty="0"/>
          </a:p>
        </p:txBody>
      </p:sp>
      <p:sp>
        <p:nvSpPr>
          <p:cNvPr id="10" name="Text 7"/>
          <p:cNvSpPr txBox="1"/>
          <p:nvPr/>
        </p:nvSpPr>
        <p:spPr>
          <a:xfrm>
            <a:off x="9791700" y="294640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1866900" y="3409950"/>
            <a:ext cx="1054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9"/>
          <p:cNvSpPr txBox="1"/>
          <p:nvPr/>
        </p:nvSpPr>
        <p:spPr>
          <a:xfrm>
            <a:off x="2927350" y="340995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50" dirty="0"/>
          </a:p>
        </p:txBody>
      </p:sp>
      <p:sp>
        <p:nvSpPr>
          <p:cNvPr id="13" name="Text 10"/>
          <p:cNvSpPr txBox="1"/>
          <p:nvPr/>
        </p:nvSpPr>
        <p:spPr>
          <a:xfrm>
            <a:off x="5041900" y="340995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4" name="Text 11"/>
          <p:cNvSpPr txBox="1"/>
          <p:nvPr/>
        </p:nvSpPr>
        <p:spPr>
          <a:xfrm>
            <a:off x="7150100" y="3409950"/>
            <a:ext cx="26416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5" name="Text 12"/>
          <p:cNvSpPr txBox="1"/>
          <p:nvPr/>
        </p:nvSpPr>
        <p:spPr>
          <a:xfrm>
            <a:off x="9791700" y="340995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6" name="Text 13"/>
          <p:cNvSpPr txBox="1"/>
          <p:nvPr/>
        </p:nvSpPr>
        <p:spPr>
          <a:xfrm>
            <a:off x="1866900" y="3873500"/>
            <a:ext cx="1054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7" name="Text 14"/>
          <p:cNvSpPr txBox="1"/>
          <p:nvPr/>
        </p:nvSpPr>
        <p:spPr>
          <a:xfrm>
            <a:off x="2927350" y="387350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8" name="Text 15"/>
          <p:cNvSpPr txBox="1"/>
          <p:nvPr/>
        </p:nvSpPr>
        <p:spPr>
          <a:xfrm>
            <a:off x="5041900" y="387350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7150100" y="3873500"/>
            <a:ext cx="26416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20" name="Text 17"/>
          <p:cNvSpPr txBox="1"/>
          <p:nvPr/>
        </p:nvSpPr>
        <p:spPr>
          <a:xfrm>
            <a:off x="9791700" y="387350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21" name="Shape 1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 · CORE CODE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PRECOMPUTE, THEN ANSWER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4946650" cy="2451100"/>
          </a:xfrm>
          <a:prstGeom prst="roundRect">
            <a:avLst>
              <a:gd name="adj" fmla="val 2073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2350" y="2061766"/>
            <a:ext cx="5070856" cy="1859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w = n - K + 1 windows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l = 1; l &lt;= w; l ++){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f1[0][l] = p[l+K-1] - 2 * p[l];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f2[0][l] = 2 * p[l+K-1] - p[l];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build both sparse tables (min)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13450" y="1903016"/>
            <a:ext cx="5365750" cy="2451100"/>
          </a:xfrm>
          <a:prstGeom prst="roundRect">
            <a:avLst>
              <a:gd name="adj" fmla="val 2073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23000" y="2061766"/>
            <a:ext cx="5540248" cy="2164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one query, s found by binary search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 lo = max(1, s - K + 1);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 hi = min(s - 1, w);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(lo &lt;= hi){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ans = min(ans, qmin(f1, lo, hi) + D);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ans = min(ans, qmin(f2, lo, hi) - D);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596430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spc="15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2 · 2025 AIO PROBLEM 6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104430"/>
            <a:ext cx="11200384" cy="104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spc="15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254970"/>
            <a:ext cx="8077200" cy="79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robot walks along a row of numbers, swapping as it goes. Can it write down the sequence S?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4232870"/>
            <a:ext cx="2064445" cy="457200"/>
          </a:xfrm>
          <a:prstGeom prst="roundRect">
            <a:avLst>
              <a:gd name="adj" fmla="val 50000"/>
            </a:avLst>
          </a:prstGeom>
          <a:solidFill>
            <a:srgbClr val="DFE8EC"/>
          </a:solidFill>
          <a:ln w="12700">
            <a:solidFill>
              <a:srgbClr val="0A405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2800" y="4232870"/>
            <a:ext cx="206444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2991545" y="4232870"/>
            <a:ext cx="3250605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991545" y="4232870"/>
            <a:ext cx="32506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12800" y="4804370"/>
            <a:ext cx="2200573" cy="457200"/>
          </a:xfrm>
          <a:prstGeom prst="roundRect">
            <a:avLst>
              <a:gd name="adj" fmla="val 50000"/>
            </a:avLst>
          </a:prstGeom>
          <a:solidFill>
            <a:srgbClr val="F6F7F7"/>
          </a:solidFill>
          <a:ln w="12700">
            <a:solidFill>
              <a:srgbClr val="5D667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2800" y="4804370"/>
            <a:ext cx="220057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Sparse Table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3127673" y="4804370"/>
            <a:ext cx="16344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3127673" y="4804370"/>
            <a:ext cx="16344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4876403" y="4804370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4876403" y="4804370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row of N cells T[1] … T[N]. The robot picks any start cell, then repeats M times: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1094720" cy="20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96240" indent="-396240">
              <a:lnSpc>
                <a:spcPts val="3840"/>
              </a:lnSpc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down the number under it.</a:t>
            </a:r>
            <a:endParaRPr lang="en-US" sz="2400" dirty="0"/>
          </a:p>
          <a:p>
            <a:pPr marL="396240" indent="-396240">
              <a:lnSpc>
                <a:spcPts val="3840"/>
              </a:lnSpc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one cell left or right (inwards at the ends).</a:t>
            </a:r>
            <a:endParaRPr lang="en-US" sz="2400" dirty="0"/>
          </a:p>
          <a:p>
            <a:pPr marL="396240" indent="-396240">
              <a:lnSpc>
                <a:spcPts val="3840"/>
              </a:lnSpc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new cell's number is smaller than the cell it just left, swap the two numbers.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5077817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S (length M): can the robot write exactly S? Print YES or NO.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SAMPLE 1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2 3 1 2 3　start at cell 3　moves: right, left, left</a:t>
            </a:r>
            <a:endParaRPr lang="en-US" sz="2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11016"/>
          <a:ext cx="10566400" cy="914400"/>
        </p:xfrm>
        <a:graphic>
          <a:graphicData uri="http://schemas.openxmlformats.org/drawingml/2006/table">
            <a:tbl>
              <a:tblPr/>
              <a:tblGrid>
                <a:gridCol w="1056580"/>
                <a:gridCol w="1267916"/>
                <a:gridCol w="1479252"/>
                <a:gridCol w="1690588"/>
                <a:gridCol w="1479252"/>
                <a:gridCol w="3592810"/>
              </a:tblGrid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Cell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 to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Swap?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 after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4912916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value under the robot after each move. What do you notice?</a:t>
            </a:r>
            <a:endParaRPr lang="en-US" sz="2250" dirty="0"/>
          </a:p>
        </p:txBody>
      </p:sp>
      <p:sp>
        <p:nvSpPr>
          <p:cNvPr id="7" name="Text 4"/>
          <p:cNvSpPr txBox="1"/>
          <p:nvPr/>
        </p:nvSpPr>
        <p:spPr>
          <a:xfrm>
            <a:off x="3136900" y="29464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5"/>
          <p:cNvSpPr txBox="1"/>
          <p:nvPr/>
        </p:nvSpPr>
        <p:spPr>
          <a:xfrm>
            <a:off x="4616450" y="29464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9" name="Text 6"/>
          <p:cNvSpPr txBox="1"/>
          <p:nvPr/>
        </p:nvSpPr>
        <p:spPr>
          <a:xfrm>
            <a:off x="6305550" y="29464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2250" dirty="0"/>
          </a:p>
        </p:txBody>
      </p:sp>
      <p:sp>
        <p:nvSpPr>
          <p:cNvPr id="10" name="Text 7"/>
          <p:cNvSpPr txBox="1"/>
          <p:nvPr/>
        </p:nvSpPr>
        <p:spPr>
          <a:xfrm>
            <a:off x="7785100" y="2946400"/>
            <a:ext cx="3594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2 3 1 2 3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1866900" y="3409950"/>
            <a:ext cx="1270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2" name="Text 9"/>
          <p:cNvSpPr txBox="1"/>
          <p:nvPr/>
        </p:nvSpPr>
        <p:spPr>
          <a:xfrm>
            <a:off x="3136900" y="34099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0"/>
          <p:cNvSpPr txBox="1"/>
          <p:nvPr/>
        </p:nvSpPr>
        <p:spPr>
          <a:xfrm>
            <a:off x="4616450" y="340995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4" name="Text 11"/>
          <p:cNvSpPr txBox="1"/>
          <p:nvPr/>
        </p:nvSpPr>
        <p:spPr>
          <a:xfrm>
            <a:off x="6305550" y="34099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 dirty="0"/>
          </a:p>
        </p:txBody>
      </p:sp>
      <p:sp>
        <p:nvSpPr>
          <p:cNvPr id="15" name="Text 12"/>
          <p:cNvSpPr txBox="1"/>
          <p:nvPr/>
        </p:nvSpPr>
        <p:spPr>
          <a:xfrm>
            <a:off x="7785100" y="3409950"/>
            <a:ext cx="3594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2 3 2 1 3</a:t>
            </a:r>
            <a:endParaRPr lang="en-US" sz="2250" dirty="0"/>
          </a:p>
        </p:txBody>
      </p:sp>
      <p:sp>
        <p:nvSpPr>
          <p:cNvPr id="16" name="Text 13"/>
          <p:cNvSpPr txBox="1"/>
          <p:nvPr/>
        </p:nvSpPr>
        <p:spPr>
          <a:xfrm>
            <a:off x="1866900" y="3873500"/>
            <a:ext cx="1270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7" name="Text 14"/>
          <p:cNvSpPr txBox="1"/>
          <p:nvPr/>
        </p:nvSpPr>
        <p:spPr>
          <a:xfrm>
            <a:off x="3136900" y="38735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8" name="Text 15"/>
          <p:cNvSpPr txBox="1"/>
          <p:nvPr/>
        </p:nvSpPr>
        <p:spPr>
          <a:xfrm>
            <a:off x="4616450" y="38735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6305550" y="38735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2250" dirty="0"/>
          </a:p>
        </p:txBody>
      </p:sp>
      <p:sp>
        <p:nvSpPr>
          <p:cNvPr id="20" name="Text 17"/>
          <p:cNvSpPr txBox="1"/>
          <p:nvPr/>
        </p:nvSpPr>
        <p:spPr>
          <a:xfrm>
            <a:off x="7785100" y="3873500"/>
            <a:ext cx="3594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2 3 2 1 3</a:t>
            </a:r>
            <a:endParaRPr lang="en-US" sz="2250" dirty="0"/>
          </a:p>
        </p:txBody>
      </p:sp>
      <p:sp>
        <p:nvSpPr>
          <p:cNvPr id="21" name="Text 18"/>
          <p:cNvSpPr txBox="1"/>
          <p:nvPr/>
        </p:nvSpPr>
        <p:spPr>
          <a:xfrm>
            <a:off x="1866900" y="4337050"/>
            <a:ext cx="1270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22" name="Text 19"/>
          <p:cNvSpPr txBox="1"/>
          <p:nvPr/>
        </p:nvSpPr>
        <p:spPr>
          <a:xfrm>
            <a:off x="3136900" y="43370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23" name="Shape 20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 · KEY OBSERVATION 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ROBOT CARRIES THE MAXIMUM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robot stands on a, steps onto b.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515096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&lt; a: swap, so it now stands on a.　b ≥ a: no swap, it stands on b.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12800" y="3190677"/>
            <a:ext cx="10566400" cy="869950"/>
          </a:xfrm>
          <a:prstGeom prst="roundRect">
            <a:avLst>
              <a:gd name="adj" fmla="val 5839"/>
            </a:avLst>
          </a:prstGeom>
          <a:solidFill>
            <a:srgbClr val="F4F7F9"/>
          </a:solidFill>
          <a:ln/>
        </p:spPr>
      </p:sp>
      <p:sp>
        <p:nvSpPr>
          <p:cNvPr id="7" name="Shape 5"/>
          <p:cNvSpPr/>
          <p:nvPr/>
        </p:nvSpPr>
        <p:spPr>
          <a:xfrm>
            <a:off x="812800" y="3190677"/>
            <a:ext cx="50800" cy="869950"/>
          </a:xfrm>
          <a:prstGeom prst="rect">
            <a:avLst/>
          </a:prstGeom>
          <a:solidFill>
            <a:srgbClr val="0A405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2200" y="3368477"/>
            <a:ext cx="10661904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27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value under the robot = max(a, b)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812800" y="4263827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 must be non-decreasing.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Any drop → NO straight away.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812800" y="4939407"/>
            <a:ext cx="11200384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4: S = 2 3 2 → NO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 · KEY OBSERVATION 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TRAPPED IN A REGION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the robot holds v, it can walk freely over the run of cells with values ≤ v around it, and keeps writing v.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1200384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cells outside the run (&gt; v) are never touched, so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region's ends are fixed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4071938"/>
            <a:ext cx="11200384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 goes up from v to w, the robot must step onto one of the two outside cells, and that cell must hold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w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5219898"/>
            <a:ext cx="11200384" cy="703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two candidates per step up. Finding the region's ends = binary search with qmax.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 · KEY OBSERVATION 3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ARRIVE EXACTLY ON TIME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cell p to the target q: distance d = |q − p|, steps available dt.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578596"/>
          <a:ext cx="10566400" cy="914400"/>
        </p:xfrm>
        <a:graphic>
          <a:graphicData uri="http://schemas.openxmlformats.org/drawingml/2006/table">
            <a:tbl>
              <a:tblPr/>
              <a:tblGrid>
                <a:gridCol w="4226520"/>
                <a:gridCol w="6339880"/>
              </a:tblGrid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 ≤ dt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enough steps to get there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dt − d is even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Spare steps are used by stepping back and forth (2 at a time)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 region ≥ 2 cells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 one cell, the robot cannot wait in place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4972546"/>
            <a:ext cx="11200384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first step up, every region already has at least 2 cells, so the last row only matters at the start.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BY LAYER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2: T = 1 2 3 4　S = 2 2 2 3 4 4</a:t>
            </a:r>
            <a:endParaRPr lang="en-US" sz="22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11016"/>
          <a:ext cx="10566400" cy="914400"/>
        </p:xfrm>
        <a:graphic>
          <a:graphicData uri="http://schemas.openxmlformats.org/drawingml/2006/table">
            <a:tbl>
              <a:tblPr/>
              <a:tblGrid>
                <a:gridCol w="1479252"/>
                <a:gridCol w="1479252"/>
                <a:gridCol w="1690588"/>
                <a:gridCol w="1901924"/>
                <a:gridCol w="1267916"/>
                <a:gridCol w="1267916"/>
                <a:gridCol w="1479550"/>
              </a:tblGrid>
              <a:tr h="793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step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Cell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dt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OK?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4779566"/>
            <a:ext cx="1120038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3: T = 1 2 3 4   S = 1 1   → start cell ___   region ______   answer ____</a:t>
            </a:r>
            <a:endParaRPr lang="en-US" sz="2250" dirty="0"/>
          </a:p>
        </p:txBody>
      </p:sp>
      <p:sp>
        <p:nvSpPr>
          <p:cNvPr id="7" name="Text 4"/>
          <p:cNvSpPr txBox="1"/>
          <p:nvPr/>
        </p:nvSpPr>
        <p:spPr>
          <a:xfrm>
            <a:off x="3771900" y="32766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8" name="Text 5"/>
          <p:cNvSpPr txBox="1"/>
          <p:nvPr/>
        </p:nvSpPr>
        <p:spPr>
          <a:xfrm>
            <a:off x="5461000" y="3276600"/>
            <a:ext cx="1905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[1, 2]</a:t>
            </a:r>
            <a:endParaRPr lang="en-US" sz="2250" dirty="0"/>
          </a:p>
        </p:txBody>
      </p:sp>
      <p:sp>
        <p:nvSpPr>
          <p:cNvPr id="9" name="Text 6"/>
          <p:cNvSpPr txBox="1"/>
          <p:nvPr/>
        </p:nvSpPr>
        <p:spPr>
          <a:xfrm>
            <a:off x="9899650" y="32766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 dirty="0"/>
          </a:p>
        </p:txBody>
      </p:sp>
      <p:sp>
        <p:nvSpPr>
          <p:cNvPr id="10" name="Text 7"/>
          <p:cNvSpPr txBox="1"/>
          <p:nvPr/>
        </p:nvSpPr>
        <p:spPr>
          <a:xfrm>
            <a:off x="2292350" y="37401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74015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9"/>
          <p:cNvSpPr txBox="1"/>
          <p:nvPr/>
        </p:nvSpPr>
        <p:spPr>
          <a:xfrm>
            <a:off x="5461000" y="3740150"/>
            <a:ext cx="1905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[1, 3]</a:t>
            </a:r>
            <a:endParaRPr lang="en-US" sz="2250" dirty="0"/>
          </a:p>
        </p:txBody>
      </p:sp>
      <p:sp>
        <p:nvSpPr>
          <p:cNvPr id="13" name="Text 10"/>
          <p:cNvSpPr txBox="1"/>
          <p:nvPr/>
        </p:nvSpPr>
        <p:spPr>
          <a:xfrm>
            <a:off x="7366000" y="3740150"/>
            <a:ext cx="1270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14" name="Text 11"/>
          <p:cNvSpPr txBox="1"/>
          <p:nvPr/>
        </p:nvSpPr>
        <p:spPr>
          <a:xfrm>
            <a:off x="8629650" y="3740150"/>
            <a:ext cx="1270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5" name="Text 12"/>
          <p:cNvSpPr txBox="1"/>
          <p:nvPr/>
        </p:nvSpPr>
        <p:spPr>
          <a:xfrm>
            <a:off x="9899650" y="37401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 dirty="0"/>
          </a:p>
        </p:txBody>
      </p:sp>
      <p:sp>
        <p:nvSpPr>
          <p:cNvPr id="16" name="Text 13"/>
          <p:cNvSpPr txBox="1"/>
          <p:nvPr/>
        </p:nvSpPr>
        <p:spPr>
          <a:xfrm>
            <a:off x="2292350" y="42037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17" name="Text 14"/>
          <p:cNvSpPr txBox="1"/>
          <p:nvPr/>
        </p:nvSpPr>
        <p:spPr>
          <a:xfrm>
            <a:off x="3771900" y="42037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8" name="Text 15"/>
          <p:cNvSpPr txBox="1"/>
          <p:nvPr/>
        </p:nvSpPr>
        <p:spPr>
          <a:xfrm>
            <a:off x="5461000" y="4203700"/>
            <a:ext cx="1905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[1, 4]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7366000" y="4203700"/>
            <a:ext cx="1270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20" name="Text 17"/>
          <p:cNvSpPr txBox="1"/>
          <p:nvPr/>
        </p:nvSpPr>
        <p:spPr>
          <a:xfrm>
            <a:off x="8629650" y="4203700"/>
            <a:ext cx="1270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21" name="Text 18"/>
          <p:cNvSpPr txBox="1"/>
          <p:nvPr/>
        </p:nvSpPr>
        <p:spPr>
          <a:xfrm>
            <a:off x="9899650" y="42037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 dirty="0"/>
          </a:p>
        </p:txBody>
      </p:sp>
      <p:sp>
        <p:nvSpPr>
          <p:cNvPr id="22" name="Text 19"/>
          <p:cNvSpPr txBox="1"/>
          <p:nvPr/>
        </p:nvSpPr>
        <p:spPr>
          <a:xfrm>
            <a:off x="6286500" y="473710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23" name="Text 20"/>
          <p:cNvSpPr txBox="1"/>
          <p:nvPr/>
        </p:nvSpPr>
        <p:spPr>
          <a:xfrm>
            <a:off x="7874000" y="4737100"/>
            <a:ext cx="125730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[1, 1]</a:t>
            </a:r>
            <a:endParaRPr lang="en-US" sz="2250" dirty="0"/>
          </a:p>
        </p:txBody>
      </p:sp>
      <p:sp>
        <p:nvSpPr>
          <p:cNvPr id="24" name="Text 21"/>
          <p:cNvSpPr txBox="1"/>
          <p:nvPr/>
        </p:nvSpPr>
        <p:spPr>
          <a:xfrm>
            <a:off x="10071100" y="4737100"/>
            <a:ext cx="93980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2250" dirty="0"/>
          </a:p>
        </p:txBody>
      </p:sp>
      <p:sp>
        <p:nvSpPr>
          <p:cNvPr id="25" name="Shape 2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 · CORE CODE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SMALL HELPERS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5245100" cy="4203700"/>
          </a:xfrm>
          <a:prstGeom prst="roundRect">
            <a:avLst>
              <a:gd name="adj" fmla="val 1208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2350" y="2061766"/>
            <a:ext cx="5405120" cy="1975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reach q from p in exactly dt steps?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bool check(int p, int q, int dt){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d = abs(q - p);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d &lt;= dt &amp;&amp;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(dt - d) % 2 == 0;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311900" y="1903016"/>
            <a:ext cx="5067300" cy="4203700"/>
          </a:xfrm>
          <a:prstGeom prst="roundRect">
            <a:avLst>
              <a:gd name="adj" fmla="val 1208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21450" y="2061766"/>
            <a:ext cx="5205984" cy="3918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smallest l with t[l..p] all &lt;= v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 extendLeft(int p, int v){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l = 1, r = p;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while (l &lt;= r){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int mid = (l + r) / 2;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(qmax(mid, p) &lt;= v)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r = mid - 1;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else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l = mid + 1;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l;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659235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spc="15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3 · 2020 AIO PROBLEM 6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167235"/>
            <a:ext cx="11200384" cy="904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70"/>
              </a:lnSpc>
              <a:buNone/>
            </a:pPr>
            <a:r>
              <a:rPr lang="en-US" sz="5700" b="1" spc="15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</a:t>
            </a:r>
            <a:endParaRPr lang="en-US" sz="57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192066"/>
            <a:ext cx="8077200" cy="79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K new umbrellas to make the longest possible stretch of shaded beach.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4169966"/>
            <a:ext cx="2064445" cy="457200"/>
          </a:xfrm>
          <a:prstGeom prst="roundRect">
            <a:avLst>
              <a:gd name="adj" fmla="val 50000"/>
            </a:avLst>
          </a:prstGeom>
          <a:solidFill>
            <a:srgbClr val="DFE8EC"/>
          </a:solidFill>
          <a:ln w="12700">
            <a:solidFill>
              <a:srgbClr val="0A405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2800" y="4169966"/>
            <a:ext cx="206444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2991545" y="4169966"/>
            <a:ext cx="3363516" cy="457200"/>
          </a:xfrm>
          <a:prstGeom prst="roundRect">
            <a:avLst>
              <a:gd name="adj" fmla="val 50000"/>
            </a:avLst>
          </a:prstGeom>
          <a:solidFill>
            <a:srgbClr val="FCE7E5"/>
          </a:solidFill>
          <a:ln w="12700">
            <a:solidFill>
              <a:srgbClr val="E46F6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991545" y="4169966"/>
            <a:ext cx="33635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subtask 2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12800" y="4741466"/>
            <a:ext cx="3405485" cy="457200"/>
          </a:xfrm>
          <a:prstGeom prst="roundRect">
            <a:avLst>
              <a:gd name="adj" fmla="val 50000"/>
            </a:avLst>
          </a:prstGeom>
          <a:solidFill>
            <a:srgbClr val="F6F7F7"/>
          </a:solidFill>
          <a:ln w="12700">
            <a:solidFill>
              <a:srgbClr val="5D667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2800" y="4741466"/>
            <a:ext cx="340548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Binary Lifting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reading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4332585" y="4741466"/>
            <a:ext cx="16344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4332585" y="4741466"/>
            <a:ext cx="16344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6081316" y="4741466"/>
            <a:ext cx="200531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6081316" y="4741466"/>
            <a:ext cx="20053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beach of N cells (N up to 10⁹). U umbrellas already shade some intervals.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515096"/>
            <a:ext cx="11200384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K new umbrellas. Each shades up to X consecutive cells, anywhere inside [1, N].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599557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Maximise the length of the longest run of shaded cells.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12800" y="4275138"/>
            <a:ext cx="10566400" cy="1162050"/>
          </a:xfrm>
          <a:prstGeom prst="roundRect">
            <a:avLst>
              <a:gd name="adj" fmla="val 4372"/>
            </a:avLst>
          </a:prstGeom>
          <a:solidFill>
            <a:srgbClr val="F4F7F9"/>
          </a:solidFill>
          <a:ln/>
        </p:spPr>
      </p:sp>
      <p:sp>
        <p:nvSpPr>
          <p:cNvPr id="8" name="Shape 6"/>
          <p:cNvSpPr/>
          <p:nvPr/>
        </p:nvSpPr>
        <p:spPr>
          <a:xfrm>
            <a:off x="812800" y="4275138"/>
            <a:ext cx="50800" cy="1162050"/>
          </a:xfrm>
          <a:prstGeom prst="rect">
            <a:avLst/>
          </a:prstGeom>
          <a:solidFill>
            <a:srgbClr val="0A405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2200" y="4427538"/>
            <a:ext cx="1066190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step: sort and merge overlapping or touching intervals into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empty runs between them are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 · A TEMPTING WRONG IDEA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EACH GAP SEPARATELY?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Idea: gap of length g costs ⌈g / X⌉ umbrellas; pick consecutive blocks whose gaps cost ≤ K in total (two pointers).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15841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2: N = 12, K = 2, X = 3. Expected answer 8.</a:t>
            </a:r>
            <a:endParaRPr lang="en-US" sz="22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3423841"/>
          <a:ext cx="10566400" cy="914400"/>
        </p:xfrm>
        <a:graphic>
          <a:graphicData uri="http://schemas.openxmlformats.org/drawingml/2006/table">
            <a:tbl>
              <a:tblPr/>
              <a:tblGrid>
                <a:gridCol w="799009"/>
                <a:gridCol w="799009"/>
                <a:gridCol w="799009"/>
                <a:gridCol w="799009"/>
                <a:gridCol w="799009"/>
                <a:gridCol w="799009"/>
                <a:gridCol w="799009"/>
                <a:gridCol w="799009"/>
                <a:gridCol w="799009"/>
                <a:gridCol w="1136154"/>
                <a:gridCol w="1102717"/>
                <a:gridCol w="1136452"/>
              </a:tblGrid>
              <a:tr h="43815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1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1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1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1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1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12800" y="4922441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umbrella can reach over a block and close two gaps at once.</a:t>
            </a:r>
            <a:endParaRPr lang="en-US" sz="2250" dirty="0"/>
          </a:p>
        </p:txBody>
      </p:sp>
      <p:sp>
        <p:nvSpPr>
          <p:cNvPr id="8" name="Text 5"/>
          <p:cNvSpPr txBox="1"/>
          <p:nvPr/>
        </p:nvSpPr>
        <p:spPr>
          <a:xfrm>
            <a:off x="2413000" y="4356100"/>
            <a:ext cx="80010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U1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3206750" y="4356100"/>
            <a:ext cx="80010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U1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4006850" y="4356100"/>
            <a:ext cx="80010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U1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6407150" y="4356100"/>
            <a:ext cx="80010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U2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7207250" y="4356100"/>
            <a:ext cx="80010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U2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4356100"/>
            <a:ext cx="113665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U2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 · GREEDY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LEFT END L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Walk right from l, skipping shaded cells.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515096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the first unshaded cell u, put an umbrella on [u, u + X − 1].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127177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Repeat until the umbrellas run out; stop at the next unshaded cell.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802757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start the umbrella exactly at u? Further left only shades cells we already have; further right leaves u unshaded.</a:t>
            </a:r>
            <a:endParaRPr lang="en-US" sz="225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891782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every l: O(N · K). Good for small subtasks and as a brute force.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SHOULD L BE?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10, X = 2, K = 3, one block [4, 5].</a:t>
            </a:r>
            <a:endParaRPr lang="en-US" sz="22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360216"/>
          <a:ext cx="10566400" cy="914400"/>
        </p:xfrm>
        <a:graphic>
          <a:graphicData uri="http://schemas.openxmlformats.org/drawingml/2006/table">
            <a:tbl>
              <a:tblPr/>
              <a:tblGrid>
                <a:gridCol w="1013817"/>
                <a:gridCol w="1013817"/>
                <a:gridCol w="1013817"/>
                <a:gridCol w="1013817"/>
                <a:gridCol w="1013817"/>
                <a:gridCol w="1013817"/>
                <a:gridCol w="1013817"/>
                <a:gridCol w="1013817"/>
                <a:gridCol w="1013817"/>
                <a:gridCol w="1442045"/>
              </a:tblGrid>
              <a:tr h="43815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1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1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3420666"/>
          <a:ext cx="10566400" cy="914400"/>
        </p:xfrm>
        <a:graphic>
          <a:graphicData uri="http://schemas.openxmlformats.org/drawingml/2006/table">
            <a:tbl>
              <a:tblPr/>
              <a:tblGrid>
                <a:gridCol w="2535932"/>
                <a:gridCol w="5494437"/>
                <a:gridCol w="2536031"/>
              </a:tblGrid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Left end l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Umbrellas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Length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(block start)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Best?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3346450" y="3956050"/>
            <a:ext cx="54927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6–7, 8–9, 10</a:t>
            </a:r>
            <a:endParaRPr lang="en-US" sz="2250" dirty="0"/>
          </a:p>
        </p:txBody>
      </p:sp>
      <p:sp>
        <p:nvSpPr>
          <p:cNvPr id="8" name="Text 4"/>
          <p:cNvSpPr txBox="1"/>
          <p:nvPr/>
        </p:nvSpPr>
        <p:spPr>
          <a:xfrm>
            <a:off x="8845550" y="3956050"/>
            <a:ext cx="25336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50" dirty="0"/>
          </a:p>
        </p:txBody>
      </p:sp>
      <p:sp>
        <p:nvSpPr>
          <p:cNvPr id="9" name="Text 5"/>
          <p:cNvSpPr txBox="1"/>
          <p:nvPr/>
        </p:nvSpPr>
        <p:spPr>
          <a:xfrm>
            <a:off x="3346450" y="4419600"/>
            <a:ext cx="54927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1–2, 3, 6–7</a:t>
            </a:r>
            <a:endParaRPr lang="en-US" sz="2250" dirty="0"/>
          </a:p>
        </p:txBody>
      </p:sp>
      <p:sp>
        <p:nvSpPr>
          <p:cNvPr id="10" name="Text 6"/>
          <p:cNvSpPr txBox="1"/>
          <p:nvPr/>
        </p:nvSpPr>
        <p:spPr>
          <a:xfrm>
            <a:off x="8845550" y="4419600"/>
            <a:ext cx="25336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50" dirty="0"/>
          </a:p>
        </p:txBody>
      </p:sp>
      <p:sp>
        <p:nvSpPr>
          <p:cNvPr id="11" name="Text 7"/>
          <p:cNvSpPr txBox="1"/>
          <p:nvPr/>
        </p:nvSpPr>
        <p:spPr>
          <a:xfrm>
            <a:off x="3346450" y="4883150"/>
            <a:ext cx="54927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2–3, 6–7, 8–9</a:t>
            </a:r>
            <a:endParaRPr lang="en-US" sz="2250" dirty="0"/>
          </a:p>
        </p:txBody>
      </p:sp>
      <p:sp>
        <p:nvSpPr>
          <p:cNvPr id="12" name="Text 8"/>
          <p:cNvSpPr txBox="1"/>
          <p:nvPr/>
        </p:nvSpPr>
        <p:spPr>
          <a:xfrm>
            <a:off x="8845550" y="4883150"/>
            <a:ext cx="25336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50" dirty="0"/>
          </a:p>
        </p:txBody>
      </p:sp>
      <p:sp>
        <p:nvSpPr>
          <p:cNvPr id="13" name="Text 9"/>
          <p:cNvSpPr txBox="1"/>
          <p:nvPr/>
        </p:nvSpPr>
        <p:spPr>
          <a:xfrm>
            <a:off x="1828800" y="2851150"/>
            <a:ext cx="101600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2838450" y="2851150"/>
            <a:ext cx="101600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2100" dirty="0"/>
          </a:p>
        </p:txBody>
      </p:sp>
      <p:sp>
        <p:nvSpPr>
          <p:cNvPr id="15" name="Text 11"/>
          <p:cNvSpPr txBox="1"/>
          <p:nvPr/>
        </p:nvSpPr>
        <p:spPr>
          <a:xfrm>
            <a:off x="5880100" y="2851150"/>
            <a:ext cx="101600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6896100" y="2851150"/>
            <a:ext cx="101600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2100" dirty="0"/>
          </a:p>
        </p:txBody>
      </p:sp>
      <p:sp>
        <p:nvSpPr>
          <p:cNvPr id="17" name="Text 13"/>
          <p:cNvSpPr txBox="1"/>
          <p:nvPr/>
        </p:nvSpPr>
        <p:spPr>
          <a:xfrm>
            <a:off x="7912100" y="2851150"/>
            <a:ext cx="101600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8921750" y="2851150"/>
            <a:ext cx="101600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2100" dirty="0"/>
          </a:p>
        </p:txBody>
      </p:sp>
      <p:sp>
        <p:nvSpPr>
          <p:cNvPr id="19" name="Shape 1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 · EXCHANGE ARGUMENT 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LEFT UNTIL YOU TOUCH A BLOCK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 best answer that starts with a run of new umbrellas.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515096"/>
            <a:ext cx="11200384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that run does not end exactly at the start of a block B, shift the whole run one cell left: the shaded length grows by 1. Contradiction.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12800" y="3663057"/>
            <a:ext cx="10566400" cy="1225550"/>
          </a:xfrm>
          <a:prstGeom prst="roundRect">
            <a:avLst>
              <a:gd name="adj" fmla="val 4145"/>
            </a:avLst>
          </a:prstGeom>
          <a:solidFill>
            <a:srgbClr val="F4F7F9"/>
          </a:solidFill>
          <a:ln/>
        </p:spPr>
      </p:sp>
      <p:sp>
        <p:nvSpPr>
          <p:cNvPr id="7" name="Shape 5"/>
          <p:cNvSpPr/>
          <p:nvPr/>
        </p:nvSpPr>
        <p:spPr>
          <a:xfrm>
            <a:off x="812800" y="3663057"/>
            <a:ext cx="50800" cy="1225550"/>
          </a:xfrm>
          <a:prstGeom prst="rect">
            <a:avLst/>
          </a:prstGeom>
          <a:solidFill>
            <a:srgbClr val="0A405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2200" y="3815457"/>
            <a:ext cx="1066190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best left end is one of:</a:t>
            </a:r>
            <a:endParaRPr lang="en-US" sz="2250" dirty="0"/>
          </a:p>
        </p:txBody>
      </p:sp>
      <p:sp>
        <p:nvSpPr>
          <p:cNvPr id="9" name="Text 7"/>
          <p:cNvSpPr txBox="1"/>
          <p:nvPr/>
        </p:nvSpPr>
        <p:spPr>
          <a:xfrm>
            <a:off x="1092200" y="4307582"/>
            <a:ext cx="1066190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= 1　·　l = st[B]　·　l = st[B] − i·X　(i umbrellas placed left of B)</a:t>
            </a:r>
            <a:endParaRPr lang="en-US" sz="2250" dirty="0"/>
          </a:p>
        </p:txBody>
      </p:sp>
      <p:sp>
        <p:nvSpPr>
          <p:cNvPr id="10" name="Text 8"/>
          <p:cNvSpPr txBox="1"/>
          <p:nvPr/>
        </p:nvSpPr>
        <p:spPr>
          <a:xfrm>
            <a:off x="812800" y="5091807"/>
            <a:ext cx="11200384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 4 (K ≤ 5): try all O(U · K) candidates, run the greedy from each.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 · EXCHANGE ARGUMENT 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5"/>
              </a:lnSpc>
              <a:buNone/>
            </a:pPr>
            <a:r>
              <a:rPr lang="en-US" sz="35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SIDE FIRST, UNLESS THE BEACH ENDS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812800" y="1844675"/>
            <a:ext cx="5156200" cy="1606550"/>
          </a:xfrm>
          <a:prstGeom prst="roundRect">
            <a:avLst>
              <a:gd name="adj" fmla="val 3162"/>
            </a:avLst>
          </a:prstGeom>
          <a:noFill/>
          <a:ln w="6350">
            <a:solidFill>
              <a:srgbClr val="DADD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1844675"/>
            <a:ext cx="63500" cy="1606550"/>
          </a:xfrm>
          <a:prstGeom prst="rect">
            <a:avLst/>
          </a:prstGeom>
          <a:solidFill>
            <a:srgbClr val="0A405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9500" y="2028825"/>
            <a:ext cx="4960747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more on the right</a:t>
            </a:r>
            <a:endParaRPr lang="en-US" sz="2550" dirty="0"/>
          </a:p>
        </p:txBody>
      </p:sp>
      <p:sp>
        <p:nvSpPr>
          <p:cNvPr id="7" name="Text 5"/>
          <p:cNvSpPr txBox="1"/>
          <p:nvPr/>
        </p:nvSpPr>
        <p:spPr>
          <a:xfrm>
            <a:off x="1079500" y="2466975"/>
            <a:ext cx="4960747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Grows the run by </a:t>
            </a:r>
            <a:r>
              <a:rPr lang="en-US" sz="2100" b="1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</a:t>
            </a: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X (it may also join the next block)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223000" y="1844675"/>
            <a:ext cx="5156200" cy="1606550"/>
          </a:xfrm>
          <a:prstGeom prst="roundRect">
            <a:avLst>
              <a:gd name="adj" fmla="val 3162"/>
            </a:avLst>
          </a:prstGeom>
          <a:noFill/>
          <a:ln w="6350">
            <a:solidFill>
              <a:srgbClr val="DA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23000" y="1844675"/>
            <a:ext cx="63500" cy="1606550"/>
          </a:xfrm>
          <a:prstGeom prst="rect">
            <a:avLst/>
          </a:prstGeom>
          <a:solidFill>
            <a:srgbClr val="3E9A9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89700" y="2028825"/>
            <a:ext cx="4960747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more on the left</a:t>
            </a:r>
            <a:endParaRPr lang="en-US" sz="2550" dirty="0"/>
          </a:p>
        </p:txBody>
      </p:sp>
      <p:sp>
        <p:nvSpPr>
          <p:cNvPr id="11" name="Text 9"/>
          <p:cNvSpPr txBox="1"/>
          <p:nvPr/>
        </p:nvSpPr>
        <p:spPr>
          <a:xfrm>
            <a:off x="6489700" y="2466975"/>
            <a:ext cx="4960747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Grows the run by </a:t>
            </a:r>
            <a:r>
              <a:rPr lang="en-US" sz="2100" b="1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</a:t>
            </a: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X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812800" y="3654425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block B, only two plans: right side uses j* umbrellas (just enough to reach N) and the rest go left; or right uses j* − 1 and left gets one more.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 · FULL SOLUTION (READING)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FAR DO J UMBRELLAS GO?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3386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713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gap start a, umbrellas sit at a, a + X, a + 2X, … until one lands inside a block.</a:t>
            </a:r>
            <a:endParaRPr lang="en-US" sz="2250" dirty="0"/>
          </a:p>
          <a:p>
            <a:pPr marL="371475" indent="-371475">
              <a:lnSpc>
                <a:spcPts val="3713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"First block hit" = first block to the right that contains a cell ≡ a (mod X).</a:t>
            </a:r>
            <a:endParaRPr lang="en-US" sz="2250" dirty="0"/>
          </a:p>
          <a:p>
            <a:pPr marL="371475" indent="-371475">
              <a:lnSpc>
                <a:spcPts val="3713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 past that block to the next gap start. This builds a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 graph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gap start → next gap start, with a cost in umbrellas.</a:t>
            </a:r>
            <a:endParaRPr lang="en-US" sz="2250" dirty="0"/>
          </a:p>
          <a:p>
            <a:pPr marL="371475" indent="-371475">
              <a:lnSpc>
                <a:spcPts val="3713"/>
              </a:lnSpc>
              <a:buSzPct val="100000"/>
              <a:buFont typeface="+mj-lt"/>
              <a:buAutoNum type="arabicPeriod" startAt="1"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lifting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store the target and cost of 2^p jumps, then answer "where do j umbrellas reach?" in O(log U).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5406628"/>
            <a:ext cx="11200384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O(U log U), whatever the sizes of N and K.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 · SCORING ROUTE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SUBTASK LADDER</a:t>
            </a:r>
            <a:endParaRPr lang="en-US" sz="3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914400"/>
        </p:xfrm>
        <a:graphic>
          <a:graphicData uri="http://schemas.openxmlformats.org/drawingml/2006/table">
            <a:tbl>
              <a:tblPr/>
              <a:tblGrid>
                <a:gridCol w="1267916"/>
                <a:gridCol w="1690588"/>
                <a:gridCol w="4649192"/>
                <a:gridCol w="2958703"/>
              </a:tblGrid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Subtask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Idea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Technique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 = 0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Merge intervals, longest block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Sort + merge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 = 1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 cost = gap length; window of blocks with total ≤ K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Pointers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 = 1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one umbrella at each side of each gap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Enumeration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 ≤ 5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Candidate left ends + greedy from each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</a:t>
                      </a: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+ exchange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Jump graph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lifting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EF3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8A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CODING · 20 MINUTES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LADYBUGS II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2028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= 1 version first: try every window with time(l). This is your brute force.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f1, f2 and two Sparse Tables (min) with a qmin function.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D: binary search s, then the three cases.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sample 1: expect 4 3 4. Compare with step 1 on random small data.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4049316"/>
            <a:ext cx="11200384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early? Write extendLeft for Robot Writing and test it on T = 2 3 1 2 3.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4557316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Submit: </a:t>
            </a:r>
            <a:r>
              <a:rPr lang="en-US" sz="19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orac2.info/problem/210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09600"/>
            <a:ext cx="11200384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RECAP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96950"/>
            <a:ext cx="11200384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38"/>
              </a:lnSpc>
              <a:buNone/>
            </a:pPr>
            <a:r>
              <a:rPr lang="en-US" sz="325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 PROBLEMS, FOUR TECHNIQUES</a:t>
            </a:r>
            <a:endParaRPr lang="en-US" sz="32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624013"/>
          <a:ext cx="10566400" cy="914400"/>
        </p:xfrm>
        <a:graphic>
          <a:graphicData uri="http://schemas.openxmlformats.org/drawingml/2006/table">
            <a:tbl>
              <a:tblPr/>
              <a:tblGrid>
                <a:gridCol w="2535932"/>
                <a:gridCol w="1479252"/>
                <a:gridCol w="1584920"/>
                <a:gridCol w="1584920"/>
                <a:gridCol w="1479252"/>
                <a:gridCol w="1902123"/>
              </a:tblGrid>
              <a:tr h="368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Sum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Pointers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 idea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Spaceship Shuffle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circle → line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Tennis Robot II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round, ÷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Twin Rivers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bridges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2nd difference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Laser Cutter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staircase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 Mission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min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monotone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Lollipops II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counting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 filter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Mundane Square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 λ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water level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Wheeling and Dealing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Fenwick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every 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Prime Minister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right half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water level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Ladybugs II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Sparse Table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Robot Writing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Sparse Table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Beach Umbrellas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subtask 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Lifting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COURSE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2028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II: full program · </a:t>
            </a:r>
            <a:r>
              <a:rPr lang="en-US" sz="22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orac2.info/problem/210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Writing: subtasks 1–4, then the full solution · </a:t>
            </a:r>
            <a:r>
              <a:rPr lang="en-US" sz="22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orac2.info/problem/1620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Umbrellas: subtasks 1–4 · </a:t>
            </a:r>
            <a:r>
              <a:rPr lang="en-US" sz="22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orac2.info/problem/238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reading: Yet Another Lights (parity puzzle) · </a:t>
            </a:r>
            <a:r>
              <a:rPr lang="en-US" sz="22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orac2.info/problem/1300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4049316"/>
            <a:ext cx="11200384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 problem: write the brute force first and keep it for stress testing.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 · COMPLEXITY RECAP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O(N · K) TO O(U LOG U)</a:t>
            </a:r>
            <a:endParaRPr lang="en-US" sz="3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2216"/>
          <a:ext cx="10566400" cy="914400"/>
        </p:xfrm>
        <a:graphic>
          <a:graphicData uri="http://schemas.openxmlformats.org/drawingml/2006/table">
            <a:tbl>
              <a:tblPr/>
              <a:tblGrid>
                <a:gridCol w="5494536"/>
                <a:gridCol w="2324596"/>
                <a:gridCol w="2747268"/>
              </a:tblGrid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every left end l, place umbrellas greedily one at a time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O(N · K)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10¹⁸ 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O(U · K) candidate left ends, greedy from each (subtask 4, K ≤ 5)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O(U · K²)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2.5 × 10⁶ ✓ (small K only)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</a:t>
                      </a: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jumps gap to gap + </a:t>
                      </a: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lifting</a:t>
                      </a: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over the jump graph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O(U log U)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1.7 × 10⁶ 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709716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fixes how to place umbrellas from a left end; binary lifting answers "how far do j umbrellas go?" in O(log U).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 · COMPLEXITY RECAP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2^M TO O((N + M) LOG N)</a:t>
            </a:r>
            <a:endParaRPr lang="en-US" sz="3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2216"/>
          <a:ext cx="10566400" cy="914400"/>
        </p:xfrm>
        <a:graphic>
          <a:graphicData uri="http://schemas.openxmlformats.org/drawingml/2006/table">
            <a:tbl>
              <a:tblPr/>
              <a:tblGrid>
                <a:gridCol w="5494536"/>
                <a:gridCol w="2324596"/>
                <a:gridCol w="2747268"/>
              </a:tblGrid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every start cell and every sequence of moves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O(N · 2^M)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Simulate layer by layer, scan cells one by one to find each region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O(N · M)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× 10¹⁰ 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"Robot carries the max" + </a:t>
                      </a: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Sparse Table</a:t>
                      </a: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max + </a:t>
                      </a: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</a:t>
                      </a: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for region ends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O((N + M) log N)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7 × 10⁶ 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703366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observation removes the swaps; Sparse Table + Binary Search find each region in O(log N).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 · COMPLEXITY RECAP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O(Q · K) TO O((N + Q) LOG N)</a:t>
            </a:r>
            <a:endParaRPr lang="en-US" sz="3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2216"/>
          <a:ext cx="10566400" cy="914400"/>
        </p:xfrm>
        <a:graphic>
          <a:graphicData uri="http://schemas.openxmlformats.org/drawingml/2006/table">
            <a:tbl>
              <a:tblPr/>
              <a:tblGrid>
                <a:gridCol w="5494536"/>
                <a:gridCol w="2324596"/>
                <a:gridCol w="2747268"/>
              </a:tblGrid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every window of K consecutive ladybugs, for every query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O(Q · N)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10¹⁰ 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</a:t>
                      </a: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for D; one-sided windows in O(1); straddling windows one by one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O(Q · K)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 to 10¹⁰ 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Pull D out of the formula + </a:t>
                      </a: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Sparse Table</a:t>
                      </a: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range minimum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O((N + Q) log N)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3.4 × 10⁶ 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703366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finds where D sits; the Sparse Table answers "best straddling window" in O(1).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AIO Lessons">
  <a:themeElements>
    <a:clrScheme name="AIO Lessons">
      <a:dk1>
        <a:srgbClr val="1F2328"/>
      </a:dk1>
      <a:lt1>
        <a:srgbClr val="FFFFFF"/>
      </a:lt1>
      <a:dk2>
        <a:srgbClr val="0A4054"/>
      </a:dk2>
      <a:lt2>
        <a:srgbClr val="F6F7F7"/>
      </a:lt2>
      <a:accent1>
        <a:srgbClr val="66B2B0"/>
      </a:accent1>
      <a:accent2>
        <a:srgbClr val="F2494C"/>
      </a:accent2>
      <a:accent3>
        <a:srgbClr val="F9AA19"/>
      </a:accent3>
      <a:accent4>
        <a:srgbClr val="F9C996"/>
      </a:accent4>
      <a:accent5>
        <a:srgbClr val="3E9A97"/>
      </a:accent5>
      <a:accent6>
        <a:srgbClr val="9FD1D0"/>
      </a:accent6>
      <a:hlink>
        <a:srgbClr val="287673"/>
      </a:hlink>
      <a:folHlink>
        <a:srgbClr val="0A4054"/>
      </a:folHlink>
    </a:clrScheme>
    <a:fontScheme name="AIO Lesson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 Lesson 4: Sparse Table + Greedy</dc:title>
  <dc:subject>PptxGenJS Presentation</dc:subject>
  <dc:creator>Bryan</dc:creator>
  <cp:lastModifiedBy>Bryan</cp:lastModifiedBy>
  <cp:revision>1</cp:revision>
  <dcterms:created xsi:type="dcterms:W3CDTF">2026-10-02T13:29:14Z</dcterms:created>
  <dcterms:modified xsi:type="dcterms:W3CDTF">2026-10-02T13:29:14Z</dcterms:modified>
</cp:coreProperties>
</file>