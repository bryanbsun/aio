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4" r:id="rId47"/>
    <p:sldId id="268" r:id="rId14"/>
    <p:sldId id="269" r:id="rId15"/>
    <p:sldId id="270" r:id="rId16"/>
    <p:sldId id="271" r:id="rId17"/>
    <p:sldId id="272" r:id="rId18"/>
    <p:sldId id="273" r:id="rId19"/>
    <p:sldId id="293" r:id="rId46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9" r:id="rId31"/>
    <p:sldId id="285" r:id="rId32"/>
    <p:sldId id="291" r:id="rId33"/>
    <p:sldId id="290" r:id="rId34"/>
    <p:sldId id="292" r:id="rId45"/>
    <p:sldId id="286" r:id="rId35"/>
    <p:sldId id="287" r:id="rId36"/>
    <p:sldId id="288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the four core techniques and the three questions" id="{D5778487-FED3-5AB8-1C90-42C68646F77C}">
          <p14:sldIdLst>
            <p14:sldId id="256"/>
            <p14:sldId id="257"/>
            <p14:sldId id="258"/>
            <p14:sldId id="259"/>
          </p14:sldIdLst>
        </p14:section>
        <p14:section name="2022 P6 Spaceship Shuffle: prefix sums and the median" id="{9C9038D2-AC7E-3534-42ED-B5414938FCD8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94"/>
          </p14:sldIdLst>
        </p14:section>
        <p14:section name="2024 P5 Tennis Robot II: net change per round and binary search on rounds" id="{B175B0B7-192C-D671-E92C-360DB115C191}">
          <p14:sldIdLst>
            <p14:sldId id="268"/>
            <p14:sldId id="269"/>
            <p14:sldId id="270"/>
            <p14:sldId id="271"/>
            <p14:sldId id="272"/>
            <p14:sldId id="273"/>
            <p14:sldId id="293"/>
          </p14:sldIdLst>
        </p14:section>
        <p14:section name="2024 P6 Twin Rivers: second-order differences" id="{CF19CFFA-171E-FB97-0315-B9F8E69D1C76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9"/>
            <p14:sldId id="285"/>
            <p14:sldId id="291"/>
            <p14:sldId id="290"/>
            <p14:sldId id="292"/>
          </p14:sldIdLst>
        </p14:section>
        <p14:section name="Live coding, recap and homework" id="{CB9D1C20-385A-B97F-34EE-74524D9C406C}">
          <p14:sldIdLst>
            <p14:sldId id="286"/>
            <p14:sldId id="287"/>
            <p14:sldId id="28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8ECE58-2F4A-DF4B-A3A4-9905376B23C2}" v="3" dt="2026-10-03T00:55:07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  <Relationship Id="rId45" Type="http://schemas.openxmlformats.org/officeDocument/2006/relationships/slide" Target="slides/slide37.xml"/>
  <Relationship Id="rId46" Type="http://schemas.openxmlformats.org/officeDocument/2006/relationships/slide" Target="slides/slide38.xml"/>
  <Relationship Id="rId47" Type="http://schemas.openxmlformats.org/officeDocument/2006/relationships/slide" Target="slides/slide39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9CD94D5E-0A18-4CEF-A655-0E4C15651F93}"/>
    <pc:docChg chg="custSel modSld">
      <pc:chgData name="Bryan Sun" userId="851caa7714272873" providerId="LiveId" clId="{9CD94D5E-0A18-4CEF-A655-0E4C15651F93}" dt="2026-10-03T00:55:07.317" v="2" actId="7634"/>
      <pc:docMkLst>
        <pc:docMk/>
      </pc:docMkLst>
      <pc:sldChg chg="addSp mod">
        <pc:chgData name="Bryan Sun" userId="851caa7714272873" providerId="LiveId" clId="{9CD94D5E-0A18-4CEF-A655-0E4C15651F93}" dt="2026-10-03T00:49:24.863" v="0" actId="7634"/>
        <pc:sldMkLst>
          <pc:docMk/>
          <pc:sldMk cId="0" sldId="258"/>
        </pc:sldMkLst>
        <pc:inkChg chg="add">
          <ac:chgData name="Bryan Sun" userId="851caa7714272873" providerId="LiveId" clId="{9CD94D5E-0A18-4CEF-A655-0E4C15651F93}" dt="2026-10-03T00:49:24.863" v="0" actId="7634"/>
          <ac:inkMkLst>
            <pc:docMk/>
            <pc:sldMk cId="0" sldId="258"/>
            <ac:inkMk id="11" creationId="{DF0BDEFD-F21B-D14D-4AE0-2B0295A03C6F}"/>
          </ac:inkMkLst>
        </pc:inkChg>
      </pc:sldChg>
      <pc:sldChg chg="addSp delSp mod">
        <pc:chgData name="Bryan Sun" userId="851caa7714272873" providerId="LiveId" clId="{9CD94D5E-0A18-4CEF-A655-0E4C15651F93}" dt="2026-10-03T00:55:07.317" v="2" actId="7634"/>
        <pc:sldMkLst>
          <pc:docMk/>
          <pc:sldMk cId="0" sldId="275"/>
        </pc:sldMkLst>
        <pc:inkChg chg="add del">
          <ac:chgData name="Bryan Sun" userId="851caa7714272873" providerId="LiveId" clId="{9CD94D5E-0A18-4CEF-A655-0E4C15651F93}" dt="2026-10-03T00:49:42.122" v="1" actId="478"/>
          <ac:inkMkLst>
            <pc:docMk/>
            <pc:sldMk cId="0" sldId="275"/>
            <ac:inkMk id="9" creationId="{3E66E205-A01E-9B5D-DCF0-89D381A80D95}"/>
          </ac:inkMkLst>
        </pc:inkChg>
        <pc:inkChg chg="add">
          <ac:chgData name="Bryan Sun" userId="851caa7714272873" providerId="LiveId" clId="{9CD94D5E-0A18-4CEF-A655-0E4C15651F93}" dt="2026-10-03T00:55:07.317" v="2" actId="7634"/>
          <ac:inkMkLst>
            <pc:docMk/>
            <pc:sldMk cId="0" sldId="275"/>
            <ac:inkMk id="10" creationId="{F055BB84-6931-6216-9597-472950E3A5BF}"/>
          </ac:inkMkLst>
        </pc:inkChg>
      </pc:sldChg>
      <pc:sldChg chg="addSp mod">
        <pc:chgData name="Bryan Sun" userId="851caa7714272873" providerId="LiveId" clId="{9CD94D5E-0A18-4CEF-A655-0E4C15651F93}" dt="2026-10-03T00:49:24.863" v="0" actId="7634"/>
        <pc:sldMkLst>
          <pc:docMk/>
          <pc:sldMk cId="0" sldId="276"/>
        </pc:sldMkLst>
        <pc:inkChg chg="add">
          <ac:chgData name="Bryan Sun" userId="851caa7714272873" providerId="LiveId" clId="{9CD94D5E-0A18-4CEF-A655-0E4C15651F93}" dt="2026-10-03T00:49:24.863" v="0" actId="7634"/>
          <ac:inkMkLst>
            <pc:docMk/>
            <pc:sldMk cId="0" sldId="276"/>
            <ac:inkMk id="12" creationId="{C757C451-2503-D6D4-4915-8B986021F655}"/>
          </ac:inkMkLst>
        </pc:inkChg>
      </pc:sldChg>
    </pc:docChg>
  </pc:docChgLst>
  <pc:docChgLst>
    <pc:chgData name="Bryan Sun" userId="851caa7714272873" providerId="LiveId" clId="{1DF0C224-3A3E-55A6-A8D1-F8F2208D385B}"/>
    <pc:docChg chg="custSel modSld">
      <pc:chgData name="Bryan Sun" userId="851caa7714272873" providerId="LiveId" clId="{1DF0C224-3A3E-55A6-A8D1-F8F2208D385B}" dt="2026-10-03T12:02:15.643" v="9" actId="478"/>
      <pc:docMkLst>
        <pc:docMk/>
      </pc:docMkLst>
      <pc:sldChg chg="modSp mod">
        <pc:chgData name="Bryan Sun" userId="851caa7714272873" providerId="LiveId" clId="{1DF0C224-3A3E-55A6-A8D1-F8F2208D385B}" dt="2026-10-02T13:32:05.172" v="4" actId="242"/>
        <pc:sldMkLst>
          <pc:docMk/>
          <pc:sldMk cId="0" sldId="256"/>
        </pc:sldMkLst>
        <pc:spChg chg="mod">
          <ac:chgData name="Bryan Sun" userId="851caa7714272873" providerId="LiveId" clId="{1DF0C224-3A3E-55A6-A8D1-F8F2208D385B}" dt="2026-10-02T13:32:05.172" v="4" actId="242"/>
          <ac:spMkLst>
            <pc:docMk/>
            <pc:sldMk cId="0" sldId="256"/>
            <ac:spMk id="3" creationId="{00000000-0000-0000-0000-000000000000}"/>
          </ac:spMkLst>
        </pc:spChg>
      </pc:sldChg>
      <pc:sldChg chg="delSp mod">
        <pc:chgData name="Bryan Sun" userId="851caa7714272873" providerId="LiveId" clId="{1DF0C224-3A3E-55A6-A8D1-F8F2208D385B}" dt="2026-10-03T12:02:00.041" v="7" actId="478"/>
        <pc:sldMkLst>
          <pc:docMk/>
          <pc:sldMk cId="0" sldId="258"/>
        </pc:sldMkLst>
        <pc:inkChg chg="del">
          <ac:chgData name="Bryan Sun" userId="851caa7714272873" providerId="LiveId" clId="{1DF0C224-3A3E-55A6-A8D1-F8F2208D385B}" dt="2026-10-03T12:02:00.041" v="7" actId="478"/>
          <ac:inkMkLst>
            <pc:docMk/>
            <pc:sldMk cId="0" sldId="258"/>
            <ac:inkMk id="11" creationId="{DF0BDEFD-F21B-D14D-4AE0-2B0295A03C6F}"/>
          </ac:inkMkLst>
        </pc:inkChg>
      </pc:sldChg>
      <pc:sldChg chg="modSp mod">
        <pc:chgData name="Bryan Sun" userId="851caa7714272873" providerId="LiveId" clId="{1DF0C224-3A3E-55A6-A8D1-F8F2208D385B}" dt="2026-10-02T13:33:05.227" v="5" actId="20577"/>
        <pc:sldMkLst>
          <pc:docMk/>
          <pc:sldMk cId="0" sldId="268"/>
        </pc:sldMkLst>
        <pc:spChg chg="mod">
          <ac:chgData name="Bryan Sun" userId="851caa7714272873" providerId="LiveId" clId="{1DF0C224-3A3E-55A6-A8D1-F8F2208D385B}" dt="2026-10-02T13:33:05.227" v="5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2T13:33:21.920" v="6" actId="20577"/>
        <pc:sldMkLst>
          <pc:docMk/>
          <pc:sldMk cId="0" sldId="274"/>
        </pc:sldMkLst>
        <pc:spChg chg="mod">
          <ac:chgData name="Bryan Sun" userId="851caa7714272873" providerId="LiveId" clId="{1DF0C224-3A3E-55A6-A8D1-F8F2208D385B}" dt="2026-10-02T13:33:21.920" v="6" actId="20577"/>
          <ac:spMkLst>
            <pc:docMk/>
            <pc:sldMk cId="0" sldId="274"/>
            <ac:spMk id="3" creationId="{00000000-0000-0000-0000-000000000000}"/>
          </ac:spMkLst>
        </pc:spChg>
      </pc:sldChg>
      <pc:sldChg chg="delSp mod">
        <pc:chgData name="Bryan Sun" userId="851caa7714272873" providerId="LiveId" clId="{1DF0C224-3A3E-55A6-A8D1-F8F2208D385B}" dt="2026-10-03T12:02:09.740" v="8" actId="478"/>
        <pc:sldMkLst>
          <pc:docMk/>
          <pc:sldMk cId="0" sldId="275"/>
        </pc:sldMkLst>
        <pc:inkChg chg="del">
          <ac:chgData name="Bryan Sun" userId="851caa7714272873" providerId="LiveId" clId="{1DF0C224-3A3E-55A6-A8D1-F8F2208D385B}" dt="2026-10-03T12:02:09.740" v="8" actId="478"/>
          <ac:inkMkLst>
            <pc:docMk/>
            <pc:sldMk cId="0" sldId="275"/>
            <ac:inkMk id="10" creationId="{F055BB84-6931-6216-9597-472950E3A5BF}"/>
          </ac:inkMkLst>
        </pc:inkChg>
      </pc:sldChg>
      <pc:sldChg chg="delSp mod">
        <pc:chgData name="Bryan Sun" userId="851caa7714272873" providerId="LiveId" clId="{1DF0C224-3A3E-55A6-A8D1-F8F2208D385B}" dt="2026-10-03T12:02:15.643" v="9" actId="478"/>
        <pc:sldMkLst>
          <pc:docMk/>
          <pc:sldMk cId="0" sldId="276"/>
        </pc:sldMkLst>
        <pc:inkChg chg="del">
          <ac:chgData name="Bryan Sun" userId="851caa7714272873" providerId="LiveId" clId="{1DF0C224-3A3E-55A6-A8D1-F8F2208D385B}" dt="2026-10-03T12:02:15.643" v="9" actId="478"/>
          <ac:inkMkLst>
            <pc:docMk/>
            <pc:sldMk cId="0" sldId="276"/>
            <ac:inkMk id="12" creationId="{C757C451-2503-D6D4-4915-8B986021F655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280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这一系列共 4 次课，每次约 2 小时。贯穿全部课程的主线是 AMT 的四大核心技巧：Prefix Sum、Binary Search、Two Pointers 和 Greedy。
第 1 次课讲 Prefix Sum：先讲普通的 prefix sum，再讲"一轮的净变化"（net change per round），最后讲二阶差分（second-order differences）。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四种颜色在 4 次课里保持不变：青色 = Prefix Sum，橙色 = Binary Search，珊瑚红 = Two Pointers，深蓝 = Greedy。每道题开始时都先标出它用到哪几个技巧。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强调：P6 很少是"直接套模板"。四大技巧只是骨架，真正的难点是找到 key observation，把题目化简到能套模板为止。右侧空白用来写学生的回答。
参考答案（以今天的题为例）：
1. Brute force：Spaceship 枚举每条边的流量；Tennis 直接模拟（可达 2×10^11 步）；Twin Rivers 枚举新桥位置 p 再重算所有行程，O(L·T)。
2. 单调的量：Tennis 中每个箱子的球数随轮数线性变化；Twin Rivers 中桥的位置已排序，可以 Binary Search 找最近的桥。
3. 可累加 / 局部决定的量：Spaceship 的边流量是 prefix sum；Tennis 的一轮净变化是 prefix sum；Twin Rivers 的总代价可用二阶差分累加。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每道 Problem 5 都和同一次课的一道 Problem 6 配对：核心想法相同，化简步骤更短，用来巩固。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约 30 分钟。讲解路线：把环剪成链（纯 prefix sum）→ 回到环（多一个变量 f）→ 中位数（median）。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提问：为什么只看净流量（net flow）？
答案：如果同一条边上有人往左、有人往右，让他们互换身份，花费只会减少。所以最优解里每条边只有一个方向。
右侧空白可以画一个 6 个 cabin 的环。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在黑板上画链 5 2 1 6 5 1 → 3 3 2 7 3 2，从左往右逐条边算 P[i]，让学生看到"左边多出来的人必须穿过这条边"。
参考：A − B = 2 −1 −1 −1 2 −1，P = 2 1 0 −1 1 0，链上答案 Σ|P[i]| = 2+1+0+1+1+0 = 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提问：为什么 flow[N] = f 也符合公式 P[N] + f？
答案：因为 ΣA = ΣB，所以 P[N] =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在下方空白画数轴，标出 P = −1 0 0 1 1 2。让学生站在不同位置，算到所有点的距离之和。
参考答案：站在 −1：0+1+1+2+2+3 = 9；站在 0：1+0+0+1+1+2 = 5；站在 1：2+1+1+0+0+1 = 5；站在 2：3+2+2+1+1+0 = 9。
最小值 5 出现在 0 和 1 之间（两个中位数之间都可以）。这就是 Greedy：一直往更好的方向走，直到走不动为止。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放映时按键（或点击）逐步显示红色答案：①A − B 行 ②P 行 ③排序 ④median ⑤答案。先让学生在纸上填，再一下一下揭晓。</a:t>
            </a:r>
          </a:p>
          <a:p>
            <a:r>
              <a:rPr lang="zh-CN" altLang="en-US" dirty="0"/>
              <a:t>答案：A − B = 2 −1 −1 −1 2 −1；P = 2 1 0 −1 1 0；排序后 −1 0 0 1 1 2；median 取 1（取 0 也可以）；答案 Σ|P − med| = 5。</a:t>
            </a:r>
          </a:p>
          <a:p>
            <a:r>
              <a:rPr lang="zh-CN" altLang="en-US" dirty="0"/>
              <a:t>再看样例 2：A = 5 0 0 0 0，B = 1 1 1 1 1，P = 4 3 2 1 0，median = 2，答案 6。如果只能单方向走（f = 0），答案是 10：这就是"环"带来的好处。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强调 long long：P 最大可到 10^5 × 10^5 = 10^10。复杂度 O(N log N)，瓶颈是 sort。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挑战题：如果第 i 条边每人收 w[i] 元，中位数还成立吗？
答案：不能用普通中位数，要用带权中位数（weighted median）：把每个 P[i] 看成权重为 w[i] 的点，取使左右权重平衡的点。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约 25 分钟。Spaceship 的循环在空间上（cabin 围成一圈），这题的循环在时间上（指令一轮一轮重复）。同一个技巧：把一整轮压缩成一个摘要。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问"三问"中的第 1 问：brute force 是什么？为什么慢？
答案：直接模拟；最多约 10^6 轮 × 2×10^5 条指令 = 2×10^11 步。慢在"轮数太多"，接下来就要把轮数压缩掉。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特殊情况：s &lt; 1 表示箱子在第 1 轮就出问题（t = 0）；d[i] ≥ 0 表示箱子永远不会出问题（跳过）；如果没有任何箱子会出问题，输出 FOREVER。
为什么不用 Binary Search？每个箱子的条件都是关于 r 的一次不等式，可以直接解出来。对 R 二分也可以（条件是单调的），但除法更短，边界情况更少。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先让学生口头比较两题，再显示表格。
参考答案就是表格内容：循环分别在时间上 / 空间上；Prefix Sum 分别求最低点 mn[i] 和净变化 d[i] / 每条边的流量 P[i]；之后分别用除法算轮数再模拟一轮 / 取中位数。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放映时按键（或点击）逐步显示红色答案：①–⑤ 箱子 1–5 各一行 ⑥R ⑦停在第几条指令 ⑧答案。先让学生在纸上填，再一下一下揭晓。</a:t>
            </a:r>
          </a:p>
          <a:p>
            <a:r>
              <a:rPr lang="zh-CN" altLang="en-US" dirty="0"/>
              <a:t>答案：</a:t>
            </a:r>
          </a:p>
          <a:p>
            <a:r>
              <a:rPr lang="zh-CN" altLang="en-US" dirty="0"/>
              <a:t>箱子 1：指令 1 前变化 0 → mn = 0，d = −1，s = 3 → t = (3 − 1) / 1 + 1 = 3。</a:t>
            </a:r>
          </a:p>
          <a:p>
            <a:r>
              <a:rPr lang="zh-CN" altLang="en-US" dirty="0"/>
              <a:t>箱子 2：指令 3 前变化 0 → mn = 0，d = 0，s = 2 → 永远不会出问题。</a:t>
            </a:r>
          </a:p>
          <a:p>
            <a:r>
              <a:rPr lang="zh-CN" altLang="en-US" dirty="0"/>
              <a:t>箱子 3：没被取过，d = +2。</a:t>
            </a:r>
          </a:p>
          <a:p>
            <a:r>
              <a:rPr lang="zh-CN" altLang="en-US" dirty="0"/>
              <a:t>箱子 4：指令 2 前变化 0，指令 4 前变化 −1 → mn = −1，d = −2，s = 3 → t = (3 − 1) / 2 + 1 = 2。</a:t>
            </a:r>
          </a:p>
          <a:p>
            <a:r>
              <a:rPr lang="zh-CN" altLang="en-US" dirty="0"/>
              <a:t>箱子 5：没被取过，d = +1。</a:t>
            </a:r>
          </a:p>
          <a:p>
            <a:r>
              <a:rPr lang="zh-CN" altLang="en-US" dirty="0"/>
              <a:t>所以 R = min(3, 2) = 2。第 3 轮开始时箱子 1 有 1 个、箱子 4 有 0 个。指令 1（1→5）成功；指令 2 要从箱子 4 取球，空了，停下。答案 = 2 × 4 + 1 = 9。</a:t>
            </a:r>
          </a:p>
          <a:p>
            <a:r>
              <a:rPr lang="zh-CN" altLang="en-US" dirty="0"/>
              <a:t>手动验证箱子 4：第 2 轮最低点 3 − 2 = 1（可以），第 3 轮最低点 3 − 4 = −1（失败）。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答案最大可到 10^6 × 2×10^5 = 2×10^11，必须用 long long。整数除法向下取整，正好是公式需要的 floor。
之后：b[i] = x[i] + R·d[i]，从这里模拟一轮，答案 = R·M + 这一轮成功的条数。完整程序见 2024_P5_Tennis_Robot_II.cpp。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约 30 分钟。目标：学生要记住"差分数组 + 一次 prefix sum"能还原分段常数函数（step function），"二阶差分 + 两次 prefix sum"能还原分段线性函数（piecewise-linear function）。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在右侧画出三条陆地和两条河，用样例 1：River 1 的桥在 2 和 6，River 2 的桥在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Brute force：枚举每个 p，再重算所有行程，O(L·T) ≈ 10^11，只能过 subtask 1。
参考：去 Strip 3 的行程 X = 4，经桥 2 和 4：2 + 2·(4 − 2) = 6；经桥 6 和 4 也是 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两种行程的代价函数都是折线：
去 Strip 2：V 形 1 + 2|X − p|，在 old 处被截平（新桥离 X 太远就不如旧桥）。
去 Strip 3：trough（槽形）：在 [u2, X]（或 [X, w2]）上是平底，离开平底每 1 km 增加 2，同样被 old 截平。平底高度是 2 + 2·(X − u2)。
红点是拐点（转折点）：斜率只在这些地方改变（−2、0、+2 之间切换）。每个行程最多只有几个拐点，这就是后面能用二阶差分的关键。
具体例子（样例 1，新桥建在 River 1）：行程 X = 4 去 Strip 3：u2 = 4，平底只有一个点，w = 6 6 4 2 4 6 6；行程 X = 3 去 Strip 3：只有右边的 w2 = 4，平底是 [3, 4]、高度 4，w = 6 6 4 4 6 6 6（p = 1..7）。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Brute force：L 约 10^6 个位置 p，每个 p 都要把 2×10^5 个行程的代价加起来，共约 2×10^11 次运算，远远超时（1 秒大约只能做 10^8 次）。
关键：每个行程的 w(p) 是一条折线，只有少数几个拐点（转折点）。我们只记下拐点处的信息（每个行程 O(1) 个位置），最后用两次 prefix sum 一次性还原出所有 p 上的总代价（O(L)）。再加上每个行程用 Binary Search 找最近的桥 O(log N)，总复杂度 O(T log N + L)，约 2×10^5 × 18 + 10^6 ≈ 5×10^6。
提问：能不能每个行程只算几个 p？答案：我们要的是"所有行程代价之和"在每个 p 上的值，最小值可能出现在任何 p，所以每个 p 的总和都要知道——但不需要一个 p 一个 p 地去加。
为了做到这一点，需要两个工具：差分数组（下一页）和二阶差分（再下一页）。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放映时按键（或点击）逐步显示红色答案：①D 行 ②D 的前缀和。先让学生在纸上填，再一下一下揭晓。</a:t>
            </a:r>
          </a:p>
          <a:p>
            <a:r>
              <a:rPr lang="zh-CN" altLang="en-US" dirty="0"/>
              <a:t>差分（difference）就是相邻两项的差：D[i] = a[i] − a[i−1]。它记录的是"在哪里、跳了多少"。</a:t>
            </a:r>
          </a:p>
          <a:p>
            <a:r>
              <a:rPr lang="zh-CN" altLang="en-US" dirty="0"/>
              <a:t>答案：D = 3 0 0 4 0 0 −5 0；D 的前缀和 = 3 3 3 7 7 7 2 2 = a。差分和 prefix sum 互为逆运算。</a:t>
            </a:r>
          </a:p>
          <a:p>
            <a:r>
              <a:rPr lang="zh-CN" altLang="en-US" dirty="0"/>
              <a:t>经典用法（区间加）：把 a[2..4] 都加 5 → 只改 D[2] += 5、D[5] −= 5，最后做一次前缀和得到 3 8 8 12 7 7 2 2。每次修改 O(1)，最后还原 O(n)。</a:t>
            </a:r>
          </a:p>
          <a:p>
            <a:r>
              <a:rPr lang="zh-CN" altLang="en-US" dirty="0"/>
              <a:t>局限：差分数组只在"阶梯形"（分段常数，step function）的数据上省事。如果数据是斜线（每一格都在变），D 处处不为 0，就没有节省了——这就是下一页要讲二阶差分的原因。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放映时按键（或点击）逐步显示红色答案：①斜率行 ②d2 行。先让学生在纸上填，再一下一下揭晓。</a:t>
            </a:r>
          </a:p>
          <a:p>
            <a:r>
              <a:rPr lang="zh-CN" altLang="en-US" dirty="0"/>
              <a:t>答案：斜率（一阶差分）w(p) − w(p−1)，p = 2..7：0, −2, −2, 2, 2, 0。</a:t>
            </a:r>
          </a:p>
          <a:p>
            <a:r>
              <a:rPr lang="zh-CN" altLang="en-US" dirty="0"/>
              <a:t>d2（斜率的变化），p = 2..6：−2, 0, 4, 0, −2。只有在拐点 p = 2、4、6 处不为 0。</a:t>
            </a:r>
          </a:p>
          <a:p>
            <a:r>
              <a:rPr lang="zh-CN" altLang="en-US" dirty="0"/>
              <a:t>为什么？折线在两个拐点之间是直线，斜率不变，所以斜率的差是 0；只有在拐点处斜率才改变。一阶差分（斜率）在斜线上处处不为 0，二阶差分只在拐点不为 0，所以每个行程只需要写 O(1) 个位置。</a:t>
            </a:r>
          </a:p>
          <a:p>
            <a:r>
              <a:rPr lang="zh-CN" altLang="en-US" dirty="0"/>
              <a:t>还原（两次 prefix sum）：已知 w(0) = 6、w(1) = 6，所以 slope(1) = 0。slope 依次加上 d2：0, −2, −2, 2, 2, 0；w 依次加上 slope：6, 4, 2, 4, 6, 6。和原来的 w 完全一样。</a:t>
            </a:r>
          </a:p>
          <a:p>
            <a:r>
              <a:rPr lang="zh-CN" altLang="en-US" dirty="0"/>
              <a:t>代码里的 tot[q+1] = 2·tot[q] − tot[q−1] + d2[q] 就是把这两次 prefix sum 合并成一行：tot[q+1] − tot[q] = (tot[q] − tot[q−1]) + d2[q]，即"新斜率 = 旧斜率 + 斜率变化"。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多个行程怎么办？二阶差分是线性的：总代价的 d2 = 每个行程的 d2 相加。所以所有行程都往同一个 d2 数组里写，最后只还原一次。</a:t>
            </a:r>
          </a:p>
          <a:p>
            <a:r>
              <a:rPr lang="zh-CN" altLang="en-US"/>
              <a:t>重点讲还原公式：tot[q+1] = 2·tot[q] − tot[q−1] + d2[q]。把它移项：tot[q+1] − tot[q] = (tot[q] − tot[q−1]) + d2[q]，左边是 q 到 q+1 的斜率，括号里是上一段的斜率，d2[q] 是斜率的变化。所以这一行其实就是两次 prefix sum：先累加 d2 得到斜率，再累加斜率得到 tot。需要两个起点 tot[0] 和 tot[1]（代码里每个行程直接把 f(w, 0)、f(w, 1) 加进 tot[w][0]、tot[w][1]）。</a:t>
            </a:r>
          </a:p>
          <a:p>
            <a:r>
              <a:rPr lang="zh-CN" altLang="en-US"/>
              <a:t>用样例 1 的行程验证：w(0) = 6、w(1) = 6，d2[1..6] = 0, −2, 0, 4, 0, −2 → w(2) = 2·6 − 6 + 0 = 6，w(3) = 2·6 − 6 − 2 = 4，w(4) = 2·4 − 6 + 0 = 2，w(5) = 2·2 − 4 + 4 = 4，w(6) = 2·4 − 2 + 0 = 6，w(7) = 2·6 − 4 − 2 = 6。</a:t>
            </a:r>
          </a:p>
          <a:p>
            <a:r>
              <a:rPr lang="zh-CN" altLang="en-US"/>
              <a:t>复杂度从 O(T·L) 降到 O(T log N + L)。</a:t>
            </a:r>
          </a:p>
          <a:p>
            <a:r>
              <a:rPr lang="zh-CN" altLang="en-US"/>
              <a:t>提问：普通差分数组（一次 prefix sum）能还原什么样的函数？答案：只能还原分段常数函数（step function）。分段线性函数（折线）需要二阶差分 + 两次 prefix sum。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放映时按键（或点击）逐步显示红色答案：①Old cost ②w(p) 行 ③d2 行 ④整个样例的总和。先让学生在纸上填，再一下一下揭晓。</a:t>
            </a:r>
          </a:p>
          <a:p>
            <a:r>
              <a:rPr lang="zh-CN" altLang="en-US" dirty="0"/>
              <a:t>答案：原代价 Old cost：经桥 2 和 4 → 2 + 2·2 = 6（经桥 6 和 4 也是 6）。</a:t>
            </a:r>
          </a:p>
          <a:p>
            <a:r>
              <a:rPr lang="zh-CN" altLang="en-US" dirty="0"/>
              <a:t>w(p)，p = 1..7：6 6 4 2 4 6 6。</a:t>
            </a:r>
          </a:p>
          <a:p>
            <a:r>
              <a:rPr lang="zh-CN" altLang="en-US" dirty="0"/>
              <a:t>d2[p]，p = 2..6：−2, 0, 4, 0, −2（只有转折点 2、4、6 处不为 0）。</a:t>
            </a:r>
          </a:p>
          <a:p>
            <a:r>
              <a:rPr lang="zh-CN" altLang="en-US" dirty="0"/>
              <a:t>整个样例在 River 1 的 p = 4 建新桥：四个行程的代价是 4、2、4、3 → 总和 13。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先讲整体流程，再看代码。程序分 5 步：</a:t>
            </a:r>
          </a:p>
          <a:p>
            <a:r>
              <a:rPr lang="zh-CN" altLang="en-US"/>
              <a:t>① 读入，把桥按河分开存（每条河的桥排好序）。</a:t>
            </a:r>
          </a:p>
          <a:p>
            <a:r>
              <a:rPr lang="zh-CN" altLang="en-US"/>
              <a:t>② 对每个行程：用 Binary Search 找 X 左右最近的桥（pred / succ），算出不建新桥的代价 oldCost；新桥建在第 w 条河的 p 时，这个行程的代价记作 f(w, p)（w = 1 是 River 1，w = 2 是 River 2）；再用 addTrip(w) 把它加进总和——只在拐点写 d2，所以每个行程只写 O(1) 个位置。</a:t>
            </a:r>
          </a:p>
          <a:p>
            <a:r>
              <a:rPr lang="zh-CN" altLang="en-US"/>
              <a:t>③ build：两次 prefix sum，还原出每个 p 的总代价 tot[w][p]。</a:t>
            </a:r>
          </a:p>
          <a:p>
            <a:r>
              <a:rPr lang="zh-CN" altLang="en-US"/>
              <a:t>④ 扫一遍所有 p，两条河都看，取最小值。</a:t>
            </a:r>
          </a:p>
          <a:p>
            <a:r>
              <a:rPr lang="zh-CN" altLang="en-US"/>
              <a:t>⑤ 输出答案。</a:t>
            </a:r>
          </a:p>
          <a:p>
            <a:r>
              <a:rPr lang="zh-CN" altLang="en-US"/>
              <a:t>提问：循环里每个行程花多少时间？答案：两次二分 O(log N)，加上 O(1) 个转折点。总复杂度 O(T log N + L)。</a:t>
            </a:r>
          </a:p>
          <a:p>
            <a:r>
              <a:rPr lang="zh-CN" altLang="en-US"/>
              <a:t>提问：④ 里为什么有时不能把新桥建在 River 1？答案：如果有行程要去 Strip 3，而 River 2 上一座桥都没有，这些行程原本就完成不了，新桥必须建在 River 2（样例 3 就是这种情况）。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左边的编号 ①–⑤ 就是上一页流程图的 5 步；下面三行是三个辅助函数：f（一个行程的代价）、addTrip（写 d2）、build（两次 prefix sum）。pred / succ 是两个二分函数。</a:t>
            </a:r>
          </a:p>
          <a:p>
            <a:r>
              <a:rPr lang="zh-CN" altLang="en-US"/>
              <a:t>f(w, p) 不需要任何结构体：它直接按定义算——不建新桥的代价 oldCost，和"用上位置 p 的新桥"的代价，取较小的那个。</a:t>
            </a:r>
          </a:p>
          <a:p>
            <a:r>
              <a:rPr lang="zh-CN" altLang="en-US"/>
              <a:t>用样例 1 的行程（X = 4，去 Strip 3）验证：River 2 上最近的桥 u2 = w2 = 4，oldCost = 6。新桥建在 River 1 的 p：f(1, p) = min(6, 2 + 2·(max(4, p) − min(4, p))) → p = 1..7：6 6 4 2 4 6 6，和手算页一致。</a:t>
            </a:r>
          </a:p>
          <a:p>
            <a:r>
              <a:rPr lang="zh-CN" altLang="en-US"/>
              <a:t>去 Strip 2 的行程：新桥建在 River 2 对它没有帮助，所以 f(2, p) = oldCost（常数，d2 全是 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这一页是整个程序里最"直观"的部分：一个行程的代价完全按题意算，没有任何结构体。</a:t>
            </a:r>
          </a:p>
          <a:p>
            <a:r>
              <a:rPr lang="zh-CN" altLang="en-US"/>
              <a:t>way2(a)：去 Strip 2，走到 River 1 上的桥 a，过桥（1 km），再走回 X：1 + 2|X − a|。</a:t>
            </a:r>
          </a:p>
          <a:p>
            <a:r>
              <a:rPr lang="zh-CN" altLang="en-US"/>
              <a:t>way3(a, b)：去 Strip 3，要用 River 1 的桥 a 和 River 2 的桥 b。从 X 出发，必须走到 X、a、b 中最左和最右的位置，来回两遍这一段，再加两座桥：2 + 2·(最大 − 最小)。</a:t>
            </a:r>
          </a:p>
          <a:p>
            <a:r>
              <a:rPr lang="zh-CN" altLang="en-US"/>
              <a:t>f(w, p)：先取不建新桥时的 oldCost；如果新桥（位置 p，在第 w 条河上）能用上，就和"用新桥"的走法比较取小。另一条河上只需要考虑 X 左右最近的两座桥（u、w），这是二分找出来的。</a:t>
            </a:r>
          </a:p>
          <a:p>
            <a:r>
              <a:rPr lang="zh-CN" altLang="en-US"/>
              <a:t>INF 表示"这座桥不存在"，所以 min 时自动被忽略。</a:t>
            </a:r>
          </a:p>
          <a:p>
            <a:r>
              <a:rPr lang="zh-CN" altLang="en-US"/>
              <a:t>提问：为什么去 Strip 2 的行程，新桥建在 River 2 时代价不变？答案：去 Strip 2 只过 River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为什么拐点只可能在这些地方？f 是若干条直线取 min：斜率 −2（往 X 靠近）、0（平底）、+2（离开）。</a:t>
            </a:r>
          </a:p>
          <a:p>
            <a:r>
              <a:rPr lang="zh-CN" altLang="en-US"/>
              <a:t>① 走法改变的地方：X 本身、另一条河上最近的桥 a、b；还有"用 a 和用 b 一样长"的点 a + b − X（例如 p 在 a、X 之间时，用 a 的代价是平的 X − a，用 b 的代价是 b − p，二者相等时 p = a + b − X）。</a:t>
            </a:r>
          </a:p>
          <a:p>
            <a:r>
              <a:rPr lang="zh-CN" altLang="en-US"/>
              <a:t>② f 碰到 oldCost 被截平的地方：oldCost = (S − 1) + 2k，离某个关键点正好 k 步。</a:t>
            </a:r>
          </a:p>
          <a:p>
            <a:r>
              <a:rPr lang="zh-CN" altLang="en-US"/>
              <a:t>所有坐标都是整数，所以拐点都在整数上（这是比旧版代码简单的原因：不再需要 2 倍坐标）。</a:t>
            </a:r>
          </a:p>
          <a:p>
            <a:r>
              <a:rPr lang="zh-CN" altLang="en-US"/>
              <a:t>多写几个候选点没关系：不是拐点的地方，f(q+1) − 2f(q) + f(q−1) 正好是 0。去 Strip 2 的行程只有一个关键点 X，候选点就是 X − k、X、X + k。</a:t>
            </a:r>
          </a:p>
          <a:p>
            <a:r>
              <a:rPr lang="zh-CN" altLang="en-US"/>
              <a:t>用样例 1 验证（X = 4，去 Strip 3，a = b = 4，k = 2）：关键点只有 4，候选点 2、4、6，d2 = −2、4、−2，和手算页一致。</a:t>
            </a:r>
          </a:p>
          <a:p>
            <a:r>
              <a:rPr lang="zh-CN" altLang="en-US"/>
              <a:t>陷阱：如果有行程要去 Strip 3，而 River 2 上没有桥，新桥必须建在 River 2（w = 2）。完整程序：2024_P6_Twin_Rivers.cpp，复杂度 O(T log N + L)。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这一页用两个例子解释上一页的候选拐点。设定：X = 4，去 Strip 3，新桥建在 River 1；River 1 原有的桥在 11，所以 oldCost = 2 + 2·(11 − 4) = 16，k = 7。橙色虚线是"经过 a"的走法，紫色虚线是"经过 b"的走法，灰色点线是 oldCost，绿线 f(1, p) 是三者取最小。红圈是 d2 ≠ 0 的地方。</a:t>
            </a:r>
          </a:p>
          <a:p>
            <a:r>
              <a:rPr lang="zh-CN" altLang="en-US"/>
              <a:t>情况 1（River 2 上有 a = 2、b = 7）：拐点 2、4、5、7、11，分别是 a（进入经过 a 的平底）、X（新桥越过出发点，开始变远）、a + b − X = 5（经过 a 和经过 b 一样长，之后改走 b）、b（走出经过 b 的平底）、X + k = 11（碰到 oldCost，新桥不再有用）。</a:t>
            </a:r>
          </a:p>
          <a:p>
            <a:r>
              <a:rPr lang="zh-CN" altLang="en-US"/>
              <a:t>情况 2（River 2 上只有 b = 7，a = −1）：只有一个槽，没有切换点 a + b − X，拐点只有 4、7、11。左边在 p = 0 碰到 oldCost，对应 b − k = 0；它在边界上，程序只在 1 … L − 1 写 d2，f(0) 直接加进 tot[w][0]。这就是代码里要先判断 a &gt;= 0、b &gt;= 0 的原因：不存在的桥（−1）不能当关键点。</a:t>
            </a:r>
          </a:p>
          <a:p>
            <a:r>
              <a:rPr lang="zh-CN" altLang="en-US"/>
              <a:t>提问：p = 1 和 p = 3 为什么不是拐点？答案：左右两段斜率相同（都是 −2 或都是 0），二阶差分是 0；即使把它们当候选点算，结果也是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提问：两个槽有没有可能分开？答案：不可能。</a:t>
            </a:r>
          </a:p>
          <a:p>
            <a:r>
              <a:rPr lang="zh-CN" altLang="en-US"/>
              <a:t>① 平底在 X 处相接：a ≤ X ≤ b，经过 a 的槽平底是 [a, X]，经过 b 的槽平底是 [X, b]，两段都以 X 为端点。</a:t>
            </a:r>
          </a:p>
          <a:p>
            <a:r>
              <a:rPr lang="zh-CN" altLang="en-US"/>
              <a:t>② 两条折线一定相交：在 a 左边经过 a 一定更短（都要往右走，a 比 b 近）；在 b 右边经过 b 一定更短。两端较短的走法不同，中间必然交叉一次，交点 p = a + b − X（由 X − a = b − p 得到），一定在 [a, b] 里。</a:t>
            </a:r>
          </a:p>
          <a:p>
            <a:r>
              <a:rPr lang="zh-CN" altLang="en-US"/>
              <a:t>三种情况：a 更近时交点在 X 和 b 之间（左图，交点 9）；b 更近时交点在 a 和 X 之间（中图，交点 3）；一样近时交点就是 X，两段平底高度相同，合成一段更长的平底（右图）。</a:t>
            </a:r>
          </a:p>
          <a:p>
            <a:r>
              <a:rPr lang="zh-CN" altLang="en-US"/>
              <a:t>③ 所以两槽取最小在 X 左边只降不升、在 X 右边只升不降，低于 oldCost 的部分连成一段，只有一个"坑"。和 oldCost 取最小后，左右各最多碰一次 oldCost：这就是候选点只需要"关键点 ± k"的原因。</a:t>
            </a:r>
          </a:p>
          <a:p>
            <a:r>
              <a:rPr lang="zh-CN" altLang="en-US"/>
              <a:t>特殊情况：X 正好是一座桥时 a = b = X，两个槽都退化成以 X 为尖的 V 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下去巡视。最常见的 bug：用 int 而不是 long long；q 没有从下标 1 开始排序；把 p 原地排序后又拿来用（应该排序一份拷贝）。
样例答案：样例 1 = 5，样例 2 = 6，样例 3 =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让每个学生说出今天的一道题，以及它用了哪个技巧。
参考答案：Spaceship Shuffle：Prefix Sum（每条边的流量）+ Greedy（中位数）；Tennis Robot II：Prefix Sum（一轮的最低点和净变化）+ 除法算轮数；Twin Rivers：二阶差分 + 两次 Prefix Sum，再用 Binary Search 找最近的桥。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下次课：Binary Search 和 Two Pointers。提醒学生把课程笔记里的 binary search 模板带来。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复杂度回顾（L ≤ 10⁶，N, T ≤ 2×10⁵）：</a:t>
            </a:r>
          </a:p>
          <a:p>
            <a:r>
              <a:rPr lang="zh-CN" altLang="en-US" dirty="0"/>
              <a:t>最朴素：枚举新桥位置 p，每个行程再扫一遍所有桥，O(L·T·N) ≈ 4×10¹⁶。</a:t>
            </a:r>
          </a:p>
          <a:p>
            <a:r>
              <a:rPr lang="zh-CN" altLang="en-US" dirty="0"/>
              <a:t>用 Binary Search 先为每个行程找到左右最近的桥后，每个 p 每个行程只要 O(1)，但仍是 O(L·T) ≈ 2×10¹¹。</a:t>
            </a:r>
          </a:p>
          <a:p>
            <a:r>
              <a:rPr lang="zh-CN" altLang="en-US" dirty="0"/>
              <a:t>完整解法：每个行程的代价 f(p) 是折线，只在 O(1) 个拐点写二阶差分 d2，最后两次 prefix sum 一起还原所有 p 的总代价：O(T log N + L) ≈ 4.6×10⁶。</a:t>
            </a:r>
          </a:p>
          <a:p>
            <a:r>
              <a:rPr lang="zh-CN" altLang="en-US" dirty="0"/>
              <a:t>提问：两次 prefix sum 省掉了什么？答案：省掉了"对每个 p 把 T 个行程加一遍"，变成"每个行程只写几个数，最后统一还原"。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复杂度回顾（N, M ≤ 200 000，X[i] ≤ 10⁶）：</a:t>
            </a:r>
          </a:p>
          <a:p>
            <a:r>
              <a:rPr lang="zh-CN" altLang="en-US" dirty="0"/>
              <a:t>暴力：一条一条指令模拟，最多约 10⁶ 轮 × 2×10⁵ 条指令 ≈ 2×10¹¹。</a:t>
            </a:r>
          </a:p>
          <a:p>
            <a:r>
              <a:rPr lang="zh-CN" altLang="en-US" dirty="0"/>
              <a:t>关键：一轮的效果用 Prefix Sum 概括成每个箱子的 mn[i]（取球前的最低变化）和 d[i]（一轮的净变化），O(N + M)。</a:t>
            </a:r>
          </a:p>
          <a:p>
            <a:r>
              <a:rPr lang="zh-CN" altLang="en-US" dirty="0"/>
              <a:t>之后可以二分"能撑过几轮"（O((N + M) log X)），也可以像本课一样，对每个箱子直接用除法算出撑过的轮数 t，再只模拟最后一轮：总共 O(N + M)。</a:t>
            </a:r>
          </a:p>
          <a:p>
            <a:r>
              <a:rPr lang="zh-CN" altLang="en-US" dirty="0"/>
              <a:t>提问：为什么不需要模拟前 R 轮？答案：每一轮对每个箱子的影响都一样（d[i]），可以直接乘。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 ≤ 100 000，A[i], B[i] ≤ 100 000）：</a:t>
            </a:r>
          </a:p>
          <a:p>
            <a:r>
              <a:rPr lang="zh-CN" altLang="en-US" dirty="0"/>
              <a:t>暴力：枚举经过边 N → 1 的流量 f，f 可能大到 ΣA ≈ 10¹⁰，每个 f 算一次 O(N)，约 10¹⁵。</a:t>
            </a:r>
          </a:p>
          <a:p>
            <a:r>
              <a:rPr lang="zh-CN" altLang="en-US" dirty="0"/>
              <a:t>subtask 3 的想法：最优的 f 一定是某个 −P[i]，只试这 N 个，O(N²) = 10¹⁰，仍然太慢。</a:t>
            </a:r>
          </a:p>
          <a:p>
            <a:r>
              <a:rPr lang="zh-CN" altLang="en-US" dirty="0"/>
              <a:t>完整解法：Prefix Sum 算出每条边的流量 P[i]，答案是 Σ|P[i] + f|，取中位数即可，只需一次排序 O(N log N) ≈ 1.7×10⁶。</a:t>
            </a:r>
          </a:p>
          <a:p>
            <a:r>
              <a:rPr lang="zh-CN" altLang="en-US" dirty="0"/>
              <a:t>提问：哪一步用到了 Greedy？答案："往更好的方向走一步，直到走不动"推出中位数。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198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466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rac2.info/problem/1462/" TargetMode="Externa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905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ts val="2340"/>
              </a:lnSpc>
              <a:buNone/>
            </a:pPr>
            <a:r>
              <a:rPr lang="en-US" sz="1200" b="1" kern="0" spc="15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AIO HIGH ACHIEVERS CAMP· SESSION 1</a:t>
            </a:r>
            <a:endParaRPr lang="en-US" sz="1200"/>
          </a:p>
        </p:txBody>
      </p:sp>
      <p:sp>
        <p:nvSpPr>
          <p:cNvPr id="4" name="Text 1"/>
          <p:cNvSpPr txBox="1"/>
          <p:nvPr/>
        </p:nvSpPr>
        <p:spPr>
          <a:xfrm>
            <a:off x="6855968" y="2641600"/>
            <a:ext cx="4523232" cy="80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5565"/>
              </a:lnSpc>
              <a:buNone/>
            </a:pPr>
            <a:r>
              <a:rPr lang="en-US" sz="5300" b="1" kern="0" spc="10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5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THREAD THROUGH ALL 4 SESSIONS</a:t>
            </a:r>
            <a:endParaRPr lang="en-US" sz="1600"/>
          </a:p>
        </p:txBody>
      </p:sp>
      <p:sp>
        <p:nvSpPr>
          <p:cNvPr id="3" name="Text 1"/>
          <p:cNvSpPr txBox="1"/>
          <p:nvPr/>
        </p:nvSpPr>
        <p:spPr>
          <a:xfrm>
            <a:off x="812800" y="1098550"/>
            <a:ext cx="1120038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AMT'S FOUR CORE TECHNIQUES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812800" y="1739900"/>
            <a:ext cx="5194300" cy="2254250"/>
          </a:xfrm>
          <a:prstGeom prst="roundRect">
            <a:avLst>
              <a:gd name="adj" fmla="val 2254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12800" y="1739900"/>
            <a:ext cx="63500" cy="2254250"/>
          </a:xfrm>
          <a:prstGeom prst="rect">
            <a:avLst/>
          </a:prstGeom>
          <a:solidFill>
            <a:srgbClr val="3E9A9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79500" y="1924050"/>
            <a:ext cx="5001133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5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 txBox="1"/>
              <p:nvPr/>
            </p:nvSpPr>
            <p:spPr>
              <a:xfrm>
                <a:off x="1079500" y="2362200"/>
                <a:ext cx="5001133" cy="148399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9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Signal: range sums, running totals, "net change per round"</a:t>
                </a:r>
                <a:endParaRPr lang="en-US" sz="1900"/>
              </a:p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9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Tool: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19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9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sz="19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US" sz="19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9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US" sz="1900" i="0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9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9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US" sz="19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9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; sum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19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m:rPr>
                        <m:sty m:val="p"/>
                      </m:rPr>
                      <a:rPr lang="en-US" sz="19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9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US" sz="19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US" sz="19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9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9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US" sz="19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9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US" sz="19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US" sz="19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9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m:rPr>
                            <m:sty m:val="p"/>
                          </m:rPr>
                          <a:rPr lang="en-US" sz="1900" i="0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9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900"/>
              </a:p>
            </p:txBody>
          </p:sp>
        </mc:Choice>
        <mc:Fallback>
          <p:sp>
            <p:nvSpPr>
              <p:cNvPr id="7" name="Text 5"/>
              <p:cNvSpPr txBox="1"/>
              <p:nvPr/>
            </p:nvSpPr>
            <p:spPr>
              <a:xfrm>
                <a:off x="1079500" y="2362200"/>
                <a:ext cx="5001133" cy="148399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9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Signal: range sums, running totals, "net change per round"</a:t>
                </a:r>
                <a:endParaRPr lang="en-US" sz="1900"/>
              </a:p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9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Tool: P[i] = P[i-1] + a[i]; sum of a[l..r] = P[r] − P[l-1]</a:t>
                </a:r>
                <a:endParaRPr lang="en-US" sz="190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6184900" y="1739900"/>
            <a:ext cx="5194300" cy="2254250"/>
          </a:xfrm>
          <a:prstGeom prst="roundRect">
            <a:avLst>
              <a:gd name="adj" fmla="val 2254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184900" y="1739900"/>
            <a:ext cx="63500" cy="2254250"/>
          </a:xfrm>
          <a:prstGeom prst="rect">
            <a:avLst/>
          </a:prstGeom>
          <a:solidFill>
            <a:srgbClr val="E0960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6451600" y="1924050"/>
            <a:ext cx="5001133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550"/>
          </a:p>
        </p:txBody>
      </p:sp>
      <p:sp>
        <p:nvSpPr>
          <p:cNvPr id="11" name="Text 9"/>
          <p:cNvSpPr txBox="1"/>
          <p:nvPr/>
        </p:nvSpPr>
        <p:spPr>
          <a:xfrm>
            <a:off x="6451600" y="2362200"/>
            <a:ext cx="5001133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Signal: a bigger answer is harder (or easier) to reach → monotone</a:t>
            </a:r>
            <a:endParaRPr lang="en-US" sz="1900"/>
          </a:p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write check(x), use the while (l &lt;= r) template</a:t>
            </a:r>
            <a:endParaRPr lang="en-US" sz="1900"/>
          </a:p>
        </p:txBody>
      </p:sp>
      <p:sp>
        <p:nvSpPr>
          <p:cNvPr id="12" name="Shape 10"/>
          <p:cNvSpPr/>
          <p:nvPr/>
        </p:nvSpPr>
        <p:spPr>
          <a:xfrm>
            <a:off x="812800" y="4171950"/>
            <a:ext cx="5194300" cy="2254250"/>
          </a:xfrm>
          <a:prstGeom prst="roundRect">
            <a:avLst>
              <a:gd name="adj" fmla="val 2254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812800" y="4171950"/>
            <a:ext cx="63500" cy="2254250"/>
          </a:xfrm>
          <a:prstGeom prst="rect">
            <a:avLst/>
          </a:prstGeom>
          <a:solidFill>
            <a:srgbClr val="E46F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 txBox="1"/>
          <p:nvPr/>
        </p:nvSpPr>
        <p:spPr>
          <a:xfrm>
            <a:off x="1079500" y="4356100"/>
            <a:ext cx="5001133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5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3"/>
              <p:cNvSpPr txBox="1"/>
              <p:nvPr/>
            </p:nvSpPr>
            <p:spPr>
              <a:xfrm>
                <a:off x="1079500" y="4794250"/>
                <a:ext cx="5001133" cy="148399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9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Signal: two indices that only ever move forward</a:t>
                </a:r>
                <a:endParaRPr lang="en-US" sz="1900"/>
              </a:p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9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Tool: outer loop moves one, inner while pushes the other: </a:t>
                </a:r>
                <a14:m>
                  <m:oMath xmlns:m="http://schemas.openxmlformats.org/officeDocument/2006/math">
                    <m:r>
                      <a:rPr lang="en-US" sz="19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9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19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total</a:t>
                </a:r>
                <a:endParaRPr lang="en-US" sz="1900"/>
              </a:p>
            </p:txBody>
          </p:sp>
        </mc:Choice>
        <mc:Fallback>
          <p:sp>
            <p:nvSpPr>
              <p:cNvPr id="15" name="Text 13"/>
              <p:cNvSpPr txBox="1"/>
              <p:nvPr/>
            </p:nvSpPr>
            <p:spPr>
              <a:xfrm>
                <a:off x="1079500" y="4794250"/>
                <a:ext cx="5001133" cy="148399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9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Signal: two indices that only ever move forward</a:t>
                </a:r>
                <a:endParaRPr lang="en-US" sz="1900"/>
              </a:p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9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Tool: outer loop moves one, inner while pushes the other: O(N) total</a:t>
                </a:r>
                <a:endParaRPr lang="en-US" sz="1900"/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6184900" y="4171950"/>
            <a:ext cx="5194300" cy="2254250"/>
          </a:xfrm>
          <a:prstGeom prst="roundRect">
            <a:avLst>
              <a:gd name="adj" fmla="val 2254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184900" y="4171950"/>
            <a:ext cx="63500" cy="225425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 txBox="1"/>
          <p:nvPr/>
        </p:nvSpPr>
        <p:spPr>
          <a:xfrm>
            <a:off x="6451600" y="4356100"/>
            <a:ext cx="5001133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550"/>
          </a:p>
        </p:txBody>
      </p:sp>
      <p:sp>
        <p:nvSpPr>
          <p:cNvPr id="19" name="Text 17"/>
          <p:cNvSpPr txBox="1"/>
          <p:nvPr/>
        </p:nvSpPr>
        <p:spPr>
          <a:xfrm>
            <a:off x="6451600" y="4794250"/>
            <a:ext cx="5001133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Signal: each step has an "obviously best" choice</a:t>
            </a:r>
            <a:endParaRPr lang="en-US" sz="1900"/>
          </a:p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guess the rule, then prove it with an exchange argument</a:t>
            </a:r>
            <a:endParaRPr lang="en-US" sz="1900"/>
          </a:p>
        </p:txBody>
      </p:sp>
      <p:sp>
        <p:nvSpPr>
          <p:cNvPr id="20" name="Shape 1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THESE BEFORE EVERY PROBLEM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53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the brute force?</a:t>
            </a:r>
            <a:r>
              <a:rPr lang="en-US" sz="27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slow is it, and why?</a:t>
            </a:r>
            <a:endParaRPr lang="en-US" sz="2700"/>
          </a:p>
        </p:txBody>
      </p:sp>
      <p:sp>
        <p:nvSpPr>
          <p:cNvPr id="5" name="Text 3"/>
          <p:cNvSpPr txBox="1"/>
          <p:nvPr/>
        </p:nvSpPr>
        <p:spPr>
          <a:xfrm>
            <a:off x="812800" y="2522736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 = the first subtasks, and your checker for testing later</a:t>
            </a:r>
            <a:endParaRPr lang="en-US" sz="2100"/>
          </a:p>
        </p:txBody>
      </p:sp>
      <p:sp>
        <p:nvSpPr>
          <p:cNvPr id="6" name="Text 4"/>
          <p:cNvSpPr txBox="1"/>
          <p:nvPr/>
        </p:nvSpPr>
        <p:spPr>
          <a:xfrm>
            <a:off x="812800" y="2967236"/>
            <a:ext cx="11106150" cy="53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Is anything monotone?</a:t>
            </a:r>
            <a:endParaRPr lang="en-US" sz="2700"/>
          </a:p>
        </p:txBody>
      </p:sp>
      <p:sp>
        <p:nvSpPr>
          <p:cNvPr id="7" name="Text 5"/>
          <p:cNvSpPr txBox="1"/>
          <p:nvPr/>
        </p:nvSpPr>
        <p:spPr>
          <a:xfrm>
            <a:off x="812800" y="3586956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Binary Search or Two Pointers</a:t>
            </a:r>
            <a:endParaRPr lang="en-US" sz="2100"/>
          </a:p>
        </p:txBody>
      </p:sp>
      <p:sp>
        <p:nvSpPr>
          <p:cNvPr id="8" name="Text 6"/>
          <p:cNvSpPr txBox="1"/>
          <p:nvPr/>
        </p:nvSpPr>
        <p:spPr>
          <a:xfrm>
            <a:off x="812800" y="4031456"/>
            <a:ext cx="11106150" cy="53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Can anything be accumulated, split up or decided locally?</a:t>
            </a:r>
            <a:endParaRPr lang="en-US" sz="2700"/>
          </a:p>
        </p:txBody>
      </p:sp>
      <p:sp>
        <p:nvSpPr>
          <p:cNvPr id="9" name="Text 7"/>
          <p:cNvSpPr txBox="1"/>
          <p:nvPr/>
        </p:nvSpPr>
        <p:spPr>
          <a:xfrm>
            <a:off x="812800" y="4651177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Prefix Sum or Greedy</a:t>
            </a:r>
            <a:endParaRPr lang="en-US" sz="210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8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5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ROUTE</a:t>
            </a:r>
            <a:endParaRPr lang="en-US" sz="1750"/>
          </a:p>
        </p:txBody>
      </p:sp>
      <p:sp>
        <p:nvSpPr>
          <p:cNvPr id="3" name="Text 1"/>
          <p:cNvSpPr txBox="1"/>
          <p:nvPr/>
        </p:nvSpPr>
        <p:spPr>
          <a:xfrm>
            <a:off x="812800" y="1117600"/>
            <a:ext cx="11200384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65"/>
              </a:lnSpc>
              <a:buNone/>
            </a:pPr>
            <a:r>
              <a:rPr lang="en-US" sz="31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TECHNIQUE PER SESSION</a:t>
            </a:r>
            <a:endParaRPr lang="en-US" sz="31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73535"/>
          <a:ext cx="10566400" cy="3747455"/>
        </p:xfrm>
        <a:graphic>
          <a:graphicData uri="http://schemas.openxmlformats.org/drawingml/2006/table">
            <a:tbl>
              <a:tblPr/>
              <a:tblGrid>
                <a:gridCol w="120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6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8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Theme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Problems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 (2022 P6) · Tennis Robot II (2024 P5) · Twin Rivers (2024 P6)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+ Two Pointers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 (2021 P6) · Space Mission (2021 P5) · Lollipops II (2019 P6)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("water level") + binary search on the answer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Mundane Square (2026 P6) · Wheeling and Dealing (2023 P5) · Prime Minister (2026 P5)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Sparse Table + Greedy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Ladybugs II (2020 P5) · Robot Writing (2025 P6) · Beach Umbrellas (2020 P6)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812800" y="5634335"/>
            <a:ext cx="11200384" cy="820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5"/>
              </a:lnSpc>
              <a:buNone/>
            </a:pPr>
            <a:r>
              <a:rPr lang="en-US" sz="20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 Another Lights (2023 P6) is a parity construction that uses none of the four techniques: optional reading.</a:t>
            </a:r>
            <a:endParaRPr lang="en-US" sz="205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67322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AIO PROBLEM 6</a:t>
            </a:r>
            <a:endParaRPr lang="en-US" sz="1950"/>
          </a:p>
        </p:txBody>
      </p:sp>
      <p:sp>
        <p:nvSpPr>
          <p:cNvPr id="4" name="Text 1"/>
          <p:cNvSpPr txBox="1"/>
          <p:nvPr/>
        </p:nvSpPr>
        <p:spPr>
          <a:xfrm>
            <a:off x="812800" y="2181225"/>
            <a:ext cx="11200384" cy="87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55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</a:t>
            </a:r>
            <a:endParaRPr lang="en-US" sz="5500"/>
          </a:p>
        </p:txBody>
      </p:sp>
      <p:sp>
        <p:nvSpPr>
          <p:cNvPr id="5" name="Text 2"/>
          <p:cNvSpPr txBox="1"/>
          <p:nvPr/>
        </p:nvSpPr>
        <p:spPr>
          <a:xfrm>
            <a:off x="812800" y="3178175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Cabins in a ring: move the crew into place as cheaply as possible.</a:t>
            </a:r>
            <a:endParaRPr lang="en-US" sz="2550"/>
          </a:p>
        </p:txBody>
      </p:sp>
      <p:sp>
        <p:nvSpPr>
          <p:cNvPr id="6" name="Shape 3"/>
          <p:cNvSpPr/>
          <p:nvPr/>
        </p:nvSpPr>
        <p:spPr>
          <a:xfrm>
            <a:off x="812800" y="4156075"/>
            <a:ext cx="2538611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156075"/>
            <a:ext cx="253861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/>
          </a:p>
        </p:txBody>
      </p:sp>
      <p:sp>
        <p:nvSpPr>
          <p:cNvPr id="8" name="Shape 5"/>
          <p:cNvSpPr/>
          <p:nvPr/>
        </p:nvSpPr>
        <p:spPr>
          <a:xfrm>
            <a:off x="3465711" y="4156075"/>
            <a:ext cx="3502422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465711" y="4156075"/>
            <a:ext cx="350242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 (median)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812800" y="4727575"/>
            <a:ext cx="200531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727575"/>
            <a:ext cx="20053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100"/>
          </a:p>
        </p:txBody>
      </p:sp>
      <p:sp>
        <p:nvSpPr>
          <p:cNvPr id="12" name="Shape 9"/>
          <p:cNvSpPr/>
          <p:nvPr/>
        </p:nvSpPr>
        <p:spPr>
          <a:xfrm>
            <a:off x="2932410" y="472757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932410" y="472757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0096500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cabins form a ring. Cabin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has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crew now and needs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/>
              </a:p>
            </p:txBody>
          </p:sp>
        </mc:Choice>
        <mc:Fallback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0096500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 cabins form a ring. Cabin i has A[i] crew now and needs B[i].</a:t>
                </a:r>
                <a:endParaRPr lang="en-US" sz="240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009650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Moving one person to an adjacent cabin costs $1. Find the minimum total cost.</a:t>
                </a:r>
                <a:endParaRPr lang="en-US" sz="2400"/>
              </a:p>
            </p:txBody>
          </p:sp>
        </mc:Choice>
        <mc:Fallback>
          <p:sp>
            <p:nvSpPr>
              <p:cNvPr id="5" name="Text 3"/>
              <p:cNvSpPr txBox="1"/>
              <p:nvPr/>
            </p:nvSpPr>
            <p:spPr>
              <a:xfrm>
                <a:off x="812800" y="2515096"/>
                <a:ext cx="1009650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Moving one person to an adjacent cabin costs $1. Find the minimum total cost.</a:t>
                </a:r>
                <a:endParaRPr lang="en-US" sz="240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 txBox="1"/>
              <p:nvPr/>
            </p:nvSpPr>
            <p:spPr>
              <a:xfrm>
                <a:off x="812800" y="3599557"/>
                <a:ext cx="10096500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100"/>
              </a:p>
            </p:txBody>
          </p:sp>
        </mc:Choice>
        <mc:Fallback>
          <p:sp>
            <p:nvSpPr>
              <p:cNvPr id="6" name="Text 4"/>
              <p:cNvSpPr txBox="1"/>
              <p:nvPr/>
            </p:nvSpPr>
            <p:spPr>
              <a:xfrm>
                <a:off x="812800" y="3599557"/>
                <a:ext cx="10096500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 ≤ 100 000, A[i], B[i] ≤ 100 000, ΣA = ΣB</a:t>
                </a:r>
                <a:endParaRPr lang="en-US" sz="210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 txBox="1"/>
              <p:nvPr/>
            </p:nvSpPr>
            <p:spPr>
              <a:xfrm>
                <a:off x="812800" y="4044057"/>
                <a:ext cx="1009650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Restate it:</a:t>
                </a: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the ring has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edges. Let flow be the </a:t>
                </a:r>
                <a:r>
                  <a:rPr lang="en-US" sz="2400" i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net</a:t>
                </a: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number of people crossing an edge (it can be negative).</a:t>
                </a:r>
                <a:endParaRPr lang="en-US" sz="2400"/>
              </a:p>
            </p:txBody>
          </p:sp>
        </mc:Choice>
        <mc:Fallback>
          <p:sp>
            <p:nvSpPr>
              <p:cNvPr id="7" name="Text 5"/>
              <p:cNvSpPr txBox="1"/>
              <p:nvPr/>
            </p:nvSpPr>
            <p:spPr>
              <a:xfrm>
                <a:off x="812800" y="4044057"/>
                <a:ext cx="1009650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Restate it:</a:t>
                </a: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the ring has N edges. Let flow be the </a:t>
                </a:r>
                <a:r>
                  <a:rPr lang="en-US" sz="2400" i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net</a:t>
                </a: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number of people crossing an edge (it can be negative).</a:t>
                </a:r>
                <a:endParaRPr lang="en-US" sz="240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 txBox="1"/>
              <p:nvPr/>
            </p:nvSpPr>
            <p:spPr>
              <a:xfrm>
                <a:off x="812800" y="5128518"/>
                <a:ext cx="10096500" cy="5505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953"/>
                  </a:lnSpc>
                  <a:buNone/>
                </a:pPr>
                <a:r>
                  <a:rPr lang="en-US" sz="2550" b="1">
                    <a:solidFill>
                      <a:srgbClr val="C8373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Total cost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50" b="1" i="0">
                        <a:solidFill>
                          <a:srgbClr val="C8373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550" b="1" i="0">
                        <a:solidFill>
                          <a:srgbClr val="C8373A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US" sz="2550" b="1" i="0">
                        <a:solidFill>
                          <a:srgbClr val="C8373A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  <m:sty m:val="p"/>
                      </m:rPr>
                      <a:rPr lang="en-US" sz="2550" b="1" i="0">
                        <a:solidFill>
                          <a:srgbClr val="C8373A"/>
                        </a:solidFill>
                        <a:latin typeface="Cambria Math" panose="02040503050406030204" pitchFamily="18" charset="0"/>
                      </a:rPr>
                      <m:t>flow</m:t>
                    </m:r>
                    <m:r>
                      <m:rPr>
                        <m:sty m:val="p"/>
                      </m:rPr>
                      <a:rPr lang="en-US" sz="2550" b="1" i="0">
                        <a:solidFill>
                          <a:srgbClr val="C8373A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550"/>
              </a:p>
            </p:txBody>
          </p:sp>
        </mc:Choice>
        <mc:Fallback>
          <p:sp>
            <p:nvSpPr>
              <p:cNvPr id="8" name="Text 6"/>
              <p:cNvSpPr txBox="1"/>
              <p:nvPr/>
            </p:nvSpPr>
            <p:spPr>
              <a:xfrm>
                <a:off x="812800" y="5128518"/>
                <a:ext cx="10096500" cy="5505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953"/>
                  </a:lnSpc>
                  <a:buNone/>
                </a:pPr>
                <a:r>
                  <a:rPr lang="en-US" sz="2550" b="1">
                    <a:solidFill>
                      <a:srgbClr val="C8373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Total cost = Σ |flow|</a:t>
                </a:r>
                <a:endParaRPr lang="en-US" sz="2550"/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START SIMPLE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THE RING INTO A CHAIN</a:t>
            </a:r>
            <a:endParaRPr lang="en-US" sz="3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10615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Subtask 2: nobody crosses the edge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Every extra person left of edge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must cross it:</a:t>
                </a:r>
                <a:endParaRPr lang="en-US" sz="2400"/>
              </a:p>
            </p:txBody>
          </p:sp>
        </mc:Choice>
        <mc:Fallback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10615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Subtask 2: nobody crosses the edge N → 1. Every extra person left of edge i → i+1 must cross it:</a:t>
                </a:r>
                <a:endParaRPr lang="en-US" sz="2400"/>
              </a:p>
            </p:txBody>
          </p:sp>
        </mc:Fallback>
      </mc:AlternateContent>
      <p:sp>
        <p:nvSpPr>
          <p:cNvPr id="5" name="Shape 3"/>
          <p:cNvSpPr/>
          <p:nvPr/>
        </p:nvSpPr>
        <p:spPr>
          <a:xfrm>
            <a:off x="812800" y="3000177"/>
            <a:ext cx="11106150" cy="768350"/>
          </a:xfrm>
          <a:prstGeom prst="roundRect">
            <a:avLst>
              <a:gd name="adj" fmla="val 6612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 txBox="1"/>
              <p:nvPr/>
            </p:nvSpPr>
            <p:spPr>
              <a:xfrm>
                <a:off x="1016000" y="3127177"/>
                <a:ext cx="10699750" cy="56578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050"/>
                  </a:lnSpc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US" sz="27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en-US" sz="27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sz="27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sz="27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sz="27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sz="27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b>
                          <m:e>
                            <m:r>
                              <a:rPr lang="en-US" sz="27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7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US" sz="27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sz="27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7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US" sz="27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b>
                          <m:e>
                            <m:r>
                              <a:rPr lang="en-US" sz="27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7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US" sz="27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sz="27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7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7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7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700"/>
              </a:p>
            </p:txBody>
          </p:sp>
        </mc:Choice>
        <mc:Fallback>
          <p:sp>
            <p:nvSpPr>
              <p:cNvPr id="6" name="Text 4"/>
              <p:cNvSpPr txBox="1"/>
              <p:nvPr/>
            </p:nvSpPr>
            <p:spPr>
              <a:xfrm>
                <a:off x="1016000" y="3127177"/>
                <a:ext cx="10699750" cy="56578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050"/>
                  </a:lnSpc>
                  <a:buNone/>
                </a:pPr>
                <a:r>
                  <a:rPr lang="en-US" sz="27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flow[i] = (A[1]−B[1]) + … + (A[i]−B[i]) = </a:t>
                </a:r>
                <a:r>
                  <a:rPr lang="en-US" sz="270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P[i]</a:t>
                </a:r>
                <a:endParaRPr lang="en-US" sz="270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 txBox="1"/>
              <p:nvPr/>
            </p:nvSpPr>
            <p:spPr>
              <a:xfrm>
                <a:off x="812800" y="3920927"/>
                <a:ext cx="11106150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That is a </a:t>
                </a:r>
                <a:r>
                  <a:rPr lang="en-US" sz="240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Prefix Sum</a:t>
                </a: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Answer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bHide m:val="off"/>
                        <m:supHide m:val="on"/>
                      </m:naryPr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24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sSub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in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/>
              </a:p>
            </p:txBody>
          </p:sp>
        </mc:Choice>
        <mc:Fallback>
          <p:sp>
            <p:nvSpPr>
              <p:cNvPr id="7" name="Text 5"/>
              <p:cNvSpPr txBox="1"/>
              <p:nvPr/>
            </p:nvSpPr>
            <p:spPr>
              <a:xfrm>
                <a:off x="812800" y="3920927"/>
                <a:ext cx="11106150" cy="5181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That is a </a:t>
                </a:r>
                <a:r>
                  <a:rPr lang="en-US" sz="240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Prefix Sum</a:t>
                </a: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Answer = Σ |P[i]|, in O(N).</a:t>
                </a:r>
                <a:endParaRPr lang="en-US" sz="240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KEY OBSERVATION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98"/>
              </a:lnSpc>
              <a:buNone/>
            </a:pPr>
            <a:r>
              <a:rPr lang="en-US" sz="36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RING: ONE EXTRA VARIABLE</a:t>
            </a:r>
            <a:endParaRPr lang="en-US" sz="36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812800" y="1866503"/>
                <a:ext cx="1110615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people cross the edge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Cabin 1 effectively gains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people, so every edge shifts by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</a:t>
                </a:r>
                <a:endParaRPr lang="en-US" sz="2400"/>
              </a:p>
            </p:txBody>
          </p:sp>
        </mc:Choice>
        <mc:Fallback>
          <p:sp>
            <p:nvSpPr>
              <p:cNvPr id="4" name="Text 2"/>
              <p:cNvSpPr txBox="1"/>
              <p:nvPr/>
            </p:nvSpPr>
            <p:spPr>
              <a:xfrm>
                <a:off x="812800" y="1866503"/>
                <a:ext cx="1110615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Say f people cross the edge N → 1. Cabin 1 effectively gains f people, so every edge shifts by f:</a:t>
                </a:r>
                <a:endParaRPr lang="en-US" sz="2400"/>
              </a:p>
            </p:txBody>
          </p:sp>
        </mc:Fallback>
      </mc:AlternateContent>
      <p:sp>
        <p:nvSpPr>
          <p:cNvPr id="5" name="Shape 3"/>
          <p:cNvSpPr/>
          <p:nvPr/>
        </p:nvSpPr>
        <p:spPr>
          <a:xfrm>
            <a:off x="812800" y="2963664"/>
            <a:ext cx="11106150" cy="768350"/>
          </a:xfrm>
          <a:prstGeom prst="roundRect">
            <a:avLst>
              <a:gd name="adj" fmla="val 6612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 txBox="1"/>
              <p:nvPr/>
            </p:nvSpPr>
            <p:spPr>
              <a:xfrm>
                <a:off x="1016000" y="3090664"/>
                <a:ext cx="10699750" cy="56578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050"/>
                  </a:lnSpc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US" sz="27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en-US" sz="27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sz="27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sz="27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sz="27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sz="27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US" sz="27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7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sz="27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7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7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　　cost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7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bHide m:val="off"/>
                        <m:supHide m:val="on"/>
                      </m:naryPr>
                      <m:sub>
                        <m:r>
                          <a:rPr lang="en-US" sz="27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7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27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sSub>
                      <m:e>
                        <m:r>
                          <a:rPr lang="en-US" sz="27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7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sz="27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7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US" sz="27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700"/>
              </a:p>
            </p:txBody>
          </p:sp>
        </mc:Choice>
        <mc:Fallback>
          <p:sp>
            <p:nvSpPr>
              <p:cNvPr id="6" name="Text 4"/>
              <p:cNvSpPr txBox="1"/>
              <p:nvPr/>
            </p:nvSpPr>
            <p:spPr>
              <a:xfrm>
                <a:off x="1016000" y="3090664"/>
                <a:ext cx="10699750" cy="56578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050"/>
                  </a:lnSpc>
                  <a:buNone/>
                </a:pPr>
                <a:r>
                  <a:rPr lang="en-US" sz="27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flow[i] = P[i] + f　　cost = Σ |P[i] + f|</a:t>
                </a:r>
                <a:endParaRPr lang="en-US" sz="270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 txBox="1"/>
              <p:nvPr/>
            </p:nvSpPr>
            <p:spPr>
              <a:xfrm>
                <a:off x="812800" y="3884414"/>
                <a:ext cx="1110615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Now: the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lie on a number line. Pick one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that </a:t>
                </a:r>
                <a:r>
                  <a:rPr lang="en-US" sz="240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minimises the total distance</a:t>
                </a: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all of them.</a:t>
                </a:r>
                <a:endParaRPr lang="en-US" sz="2400"/>
              </a:p>
            </p:txBody>
          </p:sp>
        </mc:Choice>
        <mc:Fallback>
          <p:sp>
            <p:nvSpPr>
              <p:cNvPr id="7" name="Text 5"/>
              <p:cNvSpPr txBox="1"/>
              <p:nvPr/>
            </p:nvSpPr>
            <p:spPr>
              <a:xfrm>
                <a:off x="812800" y="3884414"/>
                <a:ext cx="1110615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Now: the points P[i] lie on a number line. Pick one point −f that </a:t>
                </a:r>
                <a:r>
                  <a:rPr lang="en-US" sz="240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minimises the total distance</a:t>
                </a: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all of them.</a:t>
                </a:r>
                <a:endParaRPr lang="en-US" sz="240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WHY THE MEDIAN</a:t>
            </a:r>
            <a:endParaRPr lang="en-US" sz="1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STAND AT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900" b="1" kern="0" spc="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STEP ONE TO THE RIGHT</a:t>
                </a:r>
                <a:endParaRPr lang="en-US" sz="3900"/>
              </a:p>
            </p:txBody>
          </p:sp>
        </mc:Choice>
        <mc:Fallback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STAND AT X, STEP ONE TO THE RIGHT</a:t>
                </a:r>
                <a:endParaRPr lang="en-US" sz="3900"/>
              </a:p>
            </p:txBody>
          </p:sp>
        </mc:Fallback>
      </mc:AlternateContent>
      <p:sp>
        <p:nvSpPr>
          <p:cNvPr id="4" name="Text 2"/>
          <p:cNvSpPr txBox="1"/>
          <p:nvPr/>
        </p:nvSpPr>
        <p:spPr>
          <a:xfrm>
            <a:off x="812800" y="1903016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point on your left gets 1 further away; every point on your right gets 1 closer.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974777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points on the right → keep going. Equal on both sides → stop.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12800" y="3574157"/>
            <a:ext cx="11106150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stop at the median.</a:t>
            </a:r>
            <a:endParaRPr lang="en-US" sz="2700"/>
          </a:p>
        </p:txBody>
      </p:sp>
      <p:sp>
        <p:nvSpPr>
          <p:cNvPr id="7" name="Text 5"/>
          <p:cNvSpPr txBox="1"/>
          <p:nvPr/>
        </p:nvSpPr>
        <p:spPr>
          <a:xfrm>
            <a:off x="812800" y="4215507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Greedy: keep stepping in the better direction until no step helps.</a:t>
            </a:r>
            <a:endParaRPr lang="en-US" sz="21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</a:t>
            </a:r>
            <a:endParaRPr lang="en-US" sz="3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452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88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5 2 1 6 5 1　　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3 3 2 7 3 2</a:t>
                </a:r>
                <a:endParaRPr lang="en-US" sz="2400" dirty="0"/>
              </a:p>
            </p:txBody>
          </p:sp>
        </mc:Choice>
        <mc:Fallback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452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88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= 5 2 1 6 5 1　　B = 3 3 2 7 3 2</a:t>
                </a:r>
                <a:endParaRPr lang="en-US" sz="24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5126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1690588"/>
                    <a:gridCol w="1479252"/>
                    <a:gridCol w="1479252"/>
                    <a:gridCol w="1479252"/>
                    <a:gridCol w="1479252"/>
                    <a:gridCol w="1479252"/>
                    <a:gridCol w="1479550"/>
                  </a:tblGrid>
                  <a:tr h="4826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8577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m:rPr>
                                  <m:sty m:val="p"/>
                                </m:rPr>
                                <a:rPr lang="en-US" sz="24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826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e>
                                  <m:r>
                                    <a:rPr lang="en-US" sz="24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5126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1690588"/>
                    <a:gridCol w="1479252"/>
                    <a:gridCol w="1479252"/>
                    <a:gridCol w="1479252"/>
                    <a:gridCol w="1479252"/>
                    <a:gridCol w="1479252"/>
                    <a:gridCol w="1479550"/>
                  </a:tblGrid>
                  <a:tr h="4826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i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8577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 − B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826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P[i]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3"/>
              <p:cNvSpPr txBox="1"/>
              <p:nvPr/>
            </p:nvSpPr>
            <p:spPr>
              <a:xfrm>
                <a:off x="812800" y="4169966"/>
                <a:ext cx="11200384" cy="655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8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sorted: ____________   Median: _____   Answer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_____</a:t>
                </a:r>
                <a:endParaRPr lang="en-US" sz="2400" dirty="0"/>
              </a:p>
            </p:txBody>
          </p:sp>
        </mc:Choice>
        <mc:Fallback>
          <p:sp>
            <p:nvSpPr>
              <p:cNvPr id="6" name="Text 3"/>
              <p:cNvSpPr txBox="1"/>
              <p:nvPr/>
            </p:nvSpPr>
            <p:spPr>
              <a:xfrm>
                <a:off x="812800" y="4169966"/>
                <a:ext cx="11200384" cy="655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800"/>
                  </a:lnSpc>
                  <a:buNone/>
                </a:pPr>
                <a:r>
                  <a:rPr lang="en-US" sz="24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 sorted: ____________   Median: _____   Answer Σ |P − med| = _____</a:t>
                </a:r>
                <a:endParaRPr lang="en-US" sz="2400" dirty="0"/>
              </a:p>
            </p:txBody>
          </p:sp>
        </mc:Fallback>
      </mc:AlternateContent>
      <p:sp>
        <p:nvSpPr>
          <p:cNvPr id="7" name="Text 4"/>
          <p:cNvSpPr txBox="1"/>
          <p:nvPr/>
        </p:nvSpPr>
        <p:spPr>
          <a:xfrm>
            <a:off x="2501900" y="3073400"/>
            <a:ext cx="147955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3981450" y="3073400"/>
            <a:ext cx="147955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461000" y="3073400"/>
            <a:ext cx="147955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940550" y="3073400"/>
            <a:ext cx="147955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8420100" y="3073400"/>
            <a:ext cx="147955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9899650" y="3073400"/>
            <a:ext cx="147955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2501900" y="3556000"/>
            <a:ext cx="147955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3981450" y="3556000"/>
            <a:ext cx="147955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5461000" y="3556000"/>
            <a:ext cx="147955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940550" y="3556000"/>
            <a:ext cx="147955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8420100" y="3556000"/>
            <a:ext cx="147955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9899650" y="3556000"/>
            <a:ext cx="147955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1962150" y="4121150"/>
            <a:ext cx="2336800" cy="65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−1 0 0 1 1 2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5416550" y="4121150"/>
            <a:ext cx="1149350" cy="65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9537700" y="4121150"/>
            <a:ext cx="1149350" cy="65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CORE CODE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SUMS, THEN SORT FOR THE MEDIAN</a:t>
            </a:r>
            <a:endParaRPr lang="en-US" sz="3500"/>
          </a:p>
        </p:txBody>
      </p:sp>
      <p:sp>
        <p:nvSpPr>
          <p:cNvPr id="4" name="Shape 2"/>
          <p:cNvSpPr/>
          <p:nvPr/>
        </p:nvSpPr>
        <p:spPr>
          <a:xfrm>
            <a:off x="812800" y="1844675"/>
            <a:ext cx="9493250" cy="4578350"/>
          </a:xfrm>
          <a:prstGeom prst="roundRect">
            <a:avLst>
              <a:gd name="adj" fmla="val 1110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47750" y="2028825"/>
            <a:ext cx="10106152" cy="424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prefix sum: p[i] is the flow on edge i -&gt; i+1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1; i &lt;= n; i ++){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p[i] = p[i-1] + a[i] - b[i];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q[i] = p[i];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sort(q + 1, q + n + 1);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med = q[(n + 1) / 2];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ans = 0;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1; i &lt;= n; i ++){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(p[i] &gt; med) ans += p[i] - med;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 ans += med - p[i];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70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SCORING ROUTE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SUBTASKS AND COMMON MISTAKES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ladder</a:t>
            </a:r>
            <a:endParaRPr lang="en-US" sz="25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 txBox="1"/>
              <p:nvPr/>
            </p:nvSpPr>
            <p:spPr>
              <a:xfrm>
                <a:off x="812800" y="2379266"/>
                <a:ext cx="5334000" cy="22132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Everyone starts in cabin 1: choose how many go left vs right</a:t>
                </a:r>
                <a:endParaRPr lang="en-US" sz="210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No flow across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plain prefix sums</a:t>
                </a:r>
                <a:endParaRPr lang="en-US" sz="210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try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for each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a:rPr lang="en-US" sz="2100" i="1">
                                <a:solidFill>
                                  <a:srgbClr val="4D556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2100" i="1">
                                <a:solidFill>
                                  <a:srgbClr val="4D55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10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Full: the median</a:t>
                </a:r>
                <a:endParaRPr lang="en-US" sz="2100"/>
              </a:p>
            </p:txBody>
          </p:sp>
        </mc:Choice>
        <mc:Fallback>
          <p:sp>
            <p:nvSpPr>
              <p:cNvPr id="5" name="Text 3"/>
              <p:cNvSpPr txBox="1"/>
              <p:nvPr/>
            </p:nvSpPr>
            <p:spPr>
              <a:xfrm>
                <a:off x="812800" y="2379266"/>
                <a:ext cx="5334000" cy="22132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Everyone starts in cabin 1: choose how many go left vs right</a:t>
                </a:r>
                <a:endParaRPr lang="en-US" sz="210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No flow across N → 1: plain prefix sums</a:t>
                </a:r>
                <a:endParaRPr lang="en-US" sz="210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 ≤ 1000: try f = −P[i] for each i, O(N²)</a:t>
                </a:r>
                <a:endParaRPr lang="en-US" sz="210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Full: the median</a:t>
                </a:r>
                <a:endParaRPr lang="en-US" sz="2100"/>
              </a:p>
            </p:txBody>
          </p:sp>
        </mc:Fallback>
      </mc:AlternateContent>
      <p:sp>
        <p:nvSpPr>
          <p:cNvPr id="6" name="Text 4"/>
          <p:cNvSpPr txBox="1"/>
          <p:nvPr/>
        </p:nvSpPr>
        <p:spPr>
          <a:xfrm>
            <a:off x="62992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25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 txBox="1"/>
              <p:nvPr/>
            </p:nvSpPr>
            <p:spPr>
              <a:xfrm>
                <a:off x="6299200" y="2379266"/>
                <a:ext cx="5334000" cy="178657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Using int: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the answer overflow</a:t>
                </a:r>
                <a:endParaRPr lang="en-US" sz="210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Assuming one direction only, forgetting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sz="210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Trying every value of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(range up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</a:t>
                </a:r>
                <a:endParaRPr lang="en-US" sz="2100"/>
              </a:p>
            </p:txBody>
          </p:sp>
        </mc:Choice>
        <mc:Fallback>
          <p:sp>
            <p:nvSpPr>
              <p:cNvPr id="7" name="Text 5"/>
              <p:cNvSpPr txBox="1"/>
              <p:nvPr/>
            </p:nvSpPr>
            <p:spPr>
              <a:xfrm>
                <a:off x="6299200" y="2379266"/>
                <a:ext cx="5334000" cy="178657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Using int: P and the answer overflow</a:t>
                </a:r>
                <a:endParaRPr lang="en-US" sz="210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Assuming one direction only, forgetting f</a:t>
                </a:r>
                <a:endParaRPr lang="en-US" sz="2100"/>
              </a:p>
              <a:p>
                <a:pPr marL="293370" indent="-293370">
                  <a:lnSpc>
                    <a:spcPts val="3360"/>
                  </a:lnSpc>
                  <a:buSzPct val="100000"/>
                  <a:buChar char="•"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Trying every value of f (range up to 10^10)</a:t>
                </a:r>
                <a:endParaRPr lang="en-US" sz="210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9643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AIO PROBLEM 5</a:t>
            </a:r>
            <a:endParaRPr lang="en-US" sz="1950"/>
          </a:p>
        </p:txBody>
      </p:sp>
      <p:sp>
        <p:nvSpPr>
          <p:cNvPr id="4" name="Text 1"/>
          <p:cNvSpPr txBox="1"/>
          <p:nvPr/>
        </p:nvSpPr>
        <p:spPr>
          <a:xfrm>
            <a:off x="812800" y="2104430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</a:t>
            </a:r>
            <a:endParaRPr lang="en-US" sz="6600"/>
          </a:p>
        </p:txBody>
      </p:sp>
      <p:sp>
        <p:nvSpPr>
          <p:cNvPr id="5" name="Text 2"/>
          <p:cNvSpPr txBox="1"/>
          <p:nvPr/>
        </p:nvSpPr>
        <p:spPr>
          <a:xfrm>
            <a:off x="812800" y="3254970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Spaceship: squeeze a repeating loop into "net change per round".</a:t>
            </a:r>
            <a:endParaRPr lang="en-US" sz="2550"/>
          </a:p>
        </p:txBody>
      </p:sp>
      <p:sp>
        <p:nvSpPr>
          <p:cNvPr id="6" name="Shape 3"/>
          <p:cNvSpPr/>
          <p:nvPr/>
        </p:nvSpPr>
        <p:spPr>
          <a:xfrm>
            <a:off x="812800" y="4232870"/>
            <a:ext cx="2538611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232870"/>
            <a:ext cx="253861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/>
          </a:p>
        </p:txBody>
      </p:sp>
      <p:sp>
        <p:nvSpPr>
          <p:cNvPr id="8" name="Shape 5"/>
          <p:cNvSpPr/>
          <p:nvPr/>
        </p:nvSpPr>
        <p:spPr>
          <a:xfrm>
            <a:off x="3465711" y="4232870"/>
            <a:ext cx="200531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465711" y="4232870"/>
            <a:ext cx="20053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5585321" y="4232870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5585321" y="4232870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/>
          </a:p>
        </p:txBody>
      </p:sp>
      <p:sp>
        <p:nvSpPr>
          <p:cNvPr id="12" name="Shape 9"/>
          <p:cNvSpPr/>
          <p:nvPr/>
        </p:nvSpPr>
        <p:spPr>
          <a:xfrm>
            <a:off x="812800" y="4804370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812800" y="4804370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10615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bins; bin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starts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balls.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instructions repeat forever: instruction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moves one ball from bin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bin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/>
              </a:p>
            </p:txBody>
          </p:sp>
        </mc:Choice>
        <mc:Fallback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10615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 bins; bin i starts with X[i] balls. M instructions repeat forever: instruction j moves one ball from bin A[j] to bin B[j].</a:t>
                </a:r>
                <a:endParaRPr lang="en-US" sz="2400"/>
              </a:p>
            </p:txBody>
          </p:sp>
        </mc:Fallback>
      </mc:AlternateContent>
      <p:sp>
        <p:nvSpPr>
          <p:cNvPr id="5" name="Text 3"/>
          <p:cNvSpPr txBox="1"/>
          <p:nvPr/>
        </p:nvSpPr>
        <p:spPr>
          <a:xfrm>
            <a:off x="812800" y="2987477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robot must take from an empty bin, it stops. How many instructions succeed? Or print FOREVER.</a:t>
            </a:r>
            <a:endParaRPr 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 txBox="1"/>
              <p:nvPr/>
            </p:nvSpPr>
            <p:spPr>
              <a:xfrm>
                <a:off x="812800" y="4071938"/>
                <a:ext cx="11106150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US" sz="2100"/>
              </a:p>
            </p:txBody>
          </p:sp>
        </mc:Choice>
        <mc:Fallback>
          <p:sp>
            <p:nvSpPr>
              <p:cNvPr id="6" name="Text 4"/>
              <p:cNvSpPr txBox="1"/>
              <p:nvPr/>
            </p:nvSpPr>
            <p:spPr>
              <a:xfrm>
                <a:off x="812800" y="4071938"/>
                <a:ext cx="11106150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N, M ≤ 200 000, X[i] ≤ 1 000 000</a:t>
                </a:r>
                <a:endParaRPr lang="en-US" sz="210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 txBox="1"/>
              <p:nvPr/>
            </p:nvSpPr>
            <p:spPr>
              <a:xfrm>
                <a:off x="812800" y="4516438"/>
                <a:ext cx="1110615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Brute force:</a:t>
                </a: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simulate. Up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rounds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instructions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4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steps. Far too slow.</a:t>
                </a:r>
                <a:endParaRPr lang="en-US" sz="2400"/>
              </a:p>
            </p:txBody>
          </p:sp>
        </mc:Choice>
        <mc:Fallback>
          <p:sp>
            <p:nvSpPr>
              <p:cNvPr id="7" name="Text 5"/>
              <p:cNvSpPr txBox="1"/>
              <p:nvPr/>
            </p:nvSpPr>
            <p:spPr>
              <a:xfrm>
                <a:off x="812800" y="4516438"/>
                <a:ext cx="1110615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Brute force:</a:t>
                </a: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simulate. Up to ~10⁶ rounds × 2×10⁵ instructions = 2×10¹¹ steps. Far too slow.</a:t>
                </a:r>
                <a:endParaRPr lang="en-US" sz="240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 · KEY OBSERVATION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 ONE ROUND</a:t>
            </a:r>
            <a:endParaRPr lang="en-US" sz="3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13287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1.</a:t>
                </a: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Walk through the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instructions once. For each bin record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25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5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net change per round,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US" sz="225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sz="225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sz="225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the lowest change seen just before a take (a prefix-sum minimum).</a:t>
                </a:r>
                <a:endParaRPr lang="en-US" sz="2250"/>
              </a:p>
            </p:txBody>
          </p:sp>
        </mc:Choice>
        <mc:Fallback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13287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1.</a:t>
                </a: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Walk through the M instructions once. For each bin record </a:t>
                </a:r>
                <a:r>
                  <a:rPr lang="en-US" sz="225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d[i]</a:t>
                </a: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net change per round, and </a:t>
                </a:r>
                <a:r>
                  <a:rPr lang="en-US" sz="225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mn[i]</a:t>
                </a: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the lowest change seen just before a take (a prefix-sum minimum).</a:t>
                </a:r>
                <a:endParaRPr lang="en-US" sz="225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 txBox="1"/>
              <p:nvPr/>
            </p:nvSpPr>
            <p:spPr>
              <a:xfrm>
                <a:off x="812800" y="3252391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2.</a:t>
                </a: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Round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starts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balls. Let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Bin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survives round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endParaRPr lang="en-US" sz="2250"/>
              </a:p>
            </p:txBody>
          </p:sp>
        </mc:Choice>
        <mc:Fallback>
          <p:sp>
            <p:nvSpPr>
              <p:cNvPr id="5" name="Text 3"/>
              <p:cNvSpPr txBox="1"/>
              <p:nvPr/>
            </p:nvSpPr>
            <p:spPr>
              <a:xfrm>
                <a:off x="812800" y="3252391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2.</a:t>
                </a: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Round r starts with X[i] + (r−1)·d[i] balls. Let s = X[i] + mn[i]. Bin i survives round r ⇔</a:t>
                </a:r>
                <a:endParaRPr lang="en-US" sz="2250"/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812800" y="4223941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 txBox="1"/>
              <p:nvPr/>
            </p:nvSpPr>
            <p:spPr>
              <a:xfrm>
                <a:off x="1016000" y="4325541"/>
                <a:ext cx="10793984" cy="4232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06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5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US" sz="25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5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US" sz="25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5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25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US" sz="25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5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sz="25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5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550"/>
              </a:p>
            </p:txBody>
          </p:sp>
        </mc:Choice>
        <mc:Fallback>
          <p:sp>
            <p:nvSpPr>
              <p:cNvPr id="7" name="Text 5"/>
              <p:cNvSpPr txBox="1"/>
              <p:nvPr/>
            </p:nvSpPr>
            <p:spPr>
              <a:xfrm>
                <a:off x="1016000" y="4325541"/>
                <a:ext cx="10793984" cy="4232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060"/>
                  </a:lnSpc>
                  <a:buNone/>
                </a:pPr>
                <a:r>
                  <a:rPr lang="en-US" sz="25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 + (r−1)·d[i] ≥ 1</a:t>
                </a:r>
                <a:endParaRPr lang="en-US" sz="255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 txBox="1"/>
              <p:nvPr/>
            </p:nvSpPr>
            <p:spPr>
              <a:xfrm>
                <a:off x="812800" y="4916091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3.</a:t>
                </a: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Solve it with </a:t>
                </a:r>
                <a:r>
                  <a:rPr lang="en-US" sz="225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one division</a:t>
                </a: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bin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survives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22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2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rounds.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the smallest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/>
              </a:p>
            </p:txBody>
          </p:sp>
        </mc:Choice>
        <mc:Fallback>
          <p:sp>
            <p:nvSpPr>
              <p:cNvPr id="8" name="Text 6"/>
              <p:cNvSpPr txBox="1"/>
              <p:nvPr/>
            </p:nvSpPr>
            <p:spPr>
              <a:xfrm>
                <a:off x="812800" y="4916091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3.</a:t>
                </a: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Solve it with </a:t>
                </a:r>
                <a:r>
                  <a:rPr lang="en-US" sz="225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one division</a:t>
                </a: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if d[i] &lt; 0, bin i survives t = (s − 1) / (−d[i]) + 1 rounds. R = the smallest t.</a:t>
                </a:r>
                <a:endParaRPr lang="en-US" sz="225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 txBox="1"/>
              <p:nvPr/>
            </p:nvSpPr>
            <p:spPr>
              <a:xfrm>
                <a:off x="812800" y="5887641"/>
                <a:ext cx="11200384" cy="471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4.</a:t>
                </a: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Then simulate round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only. Answer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+ successes in that round.</a:t>
                </a:r>
                <a:endParaRPr lang="en-US" sz="2250"/>
              </a:p>
            </p:txBody>
          </p:sp>
        </mc:Choice>
        <mc:Fallback>
          <p:sp>
            <p:nvSpPr>
              <p:cNvPr id="9" name="Text 7"/>
              <p:cNvSpPr txBox="1"/>
              <p:nvPr/>
            </p:nvSpPr>
            <p:spPr>
              <a:xfrm>
                <a:off x="812800" y="5887641"/>
                <a:ext cx="11200384" cy="471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4.</a:t>
                </a: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Then simulate round R+1 only. Answer = R·M + successes in that round.</a:t>
                </a:r>
                <a:endParaRPr lang="en-US" sz="2250"/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PAIR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IDEA: COMPRESS THE LOOP</a:t>
            </a:r>
            <a:endParaRPr lang="en-US" sz="390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903016"/>
              <a:ext cx="10566400" cy="2444750"/>
            </p:xfrm>
            <a:graphic>
              <a:graphicData uri="http://schemas.openxmlformats.org/drawingml/2006/table">
                <a:tbl>
                  <a:tblPr/>
                  <a:tblGrid>
                    <a:gridCol w="25359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151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0152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Tennis Robot II (P5)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Spaceship Shuffle (P6)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13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The loop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In time: instructions repeat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In space: cabins form a ring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Sum gives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Lowest point </a:t>
                          </a:r>
                          <a14:m>
                            <m:oMath xmlns:m="http://schemas.openxmlformats.org/officeDocument/2006/math"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10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10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and net change </a:t>
                          </a:r>
                          <a14:m>
                            <m:oMath xmlns:m="http://schemas.openxmlformats.org/officeDocument/2006/math">
                              <m:sSub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per round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Flow </a:t>
                          </a:r>
                          <a14:m>
                            <m:oMath xmlns:m="http://schemas.openxmlformats.org/officeDocument/2006/math">
                              <m:sSub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on every edge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Then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Divide to get the rounds, simulate one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Take the median, done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903016"/>
              <a:ext cx="10566400" cy="2444750"/>
            </p:xfrm>
            <a:graphic>
              <a:graphicData uri="http://schemas.openxmlformats.org/drawingml/2006/table">
                <a:tbl>
                  <a:tblPr/>
                  <a:tblGrid>
                    <a:gridCol w="25359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151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0152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Tennis Robot II (P5)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Spaceship Shuffle (P6)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13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The loop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In time: instructions repeat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In space: cabins form a ring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Sum gives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Lowest point mn[i] and net change d[i] per round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Flow P[i] on every edge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429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Then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Divide to get the rounds, simulate one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Take the median, done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 2"/>
          <p:cNvSpPr txBox="1"/>
          <p:nvPr/>
        </p:nvSpPr>
        <p:spPr>
          <a:xfrm>
            <a:off x="812800" y="4474766"/>
            <a:ext cx="1120038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Whenever something repeats, ask: what changes over one full loop?</a:t>
            </a:r>
            <a:endParaRPr lang="en-US" sz="225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3</a:t>
            </a:r>
            <a:endParaRPr lang="en-US" sz="3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4238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3 2 6 4 5　　Instructions: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250" dirty="0"/>
              </a:p>
            </p:txBody>
          </p:sp>
        </mc:Choice>
        <mc:Fallback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4238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X = 3 2 6 4 5　　Instructions: 1→5, 4→3, 2→3, 4→2</a:t>
                </a:r>
                <a:endParaRPr lang="en-US" sz="225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110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950913"/>
                    <a:gridCol w="3275509"/>
                    <a:gridCol w="1162248"/>
                    <a:gridCol w="1162248"/>
                    <a:gridCol w="1479252"/>
                    <a:gridCol w="2536230"/>
                  </a:tblGrid>
                  <a:tr h="7937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Change before each take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2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sz="22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oMath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m:rPr>
                                  <m:sty m:val="p"/>
                                </m:rPr>
                                <a:rPr lang="en-US" sz="22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m:rPr>
                                  <m:sty m:val="p"/>
                                </m:rPr>
                                <a:rPr lang="en-US" sz="22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2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sz="2250" b="1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oMath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Rounds </a:t>
                          </a:r>
                          <a14:m>
                            <m:oMath xmlns:m="http://schemas.openxmlformats.org/officeDocument/2006/math">
                              <m:r>
                                <a:rPr lang="en-US" sz="2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67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9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110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950913"/>
                    <a:gridCol w="3275509"/>
                    <a:gridCol w="1162248"/>
                    <a:gridCol w="1162248"/>
                    <a:gridCol w="1479252"/>
                    <a:gridCol w="2536230"/>
                  </a:tblGrid>
                  <a:tr h="7937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Bin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Change before each take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mn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d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 = X + mn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Rounds t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67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3"/>
              <p:cNvSpPr txBox="1"/>
              <p:nvPr/>
            </p:nvSpPr>
            <p:spPr>
              <a:xfrm>
                <a:off x="812800" y="5706666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___   Round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stops at instruction ___   Answer = ___</a:t>
                </a:r>
                <a:endParaRPr lang="en-US" sz="2250" dirty="0"/>
              </a:p>
            </p:txBody>
          </p:sp>
        </mc:Choice>
        <mc:Fallback>
          <p:sp>
            <p:nvSpPr>
              <p:cNvPr id="6" name="Text 3"/>
              <p:cNvSpPr txBox="1"/>
              <p:nvPr/>
            </p:nvSpPr>
            <p:spPr>
              <a:xfrm>
                <a:off x="812800" y="5706666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 = min t = ___   Round R+1 stops at instruction ___   Answer = ___</a:t>
                </a:r>
                <a:endParaRPr lang="en-US" sz="2250" dirty="0"/>
              </a:p>
            </p:txBody>
          </p:sp>
        </mc:Fallback>
      </mc:AlternateContent>
      <p:sp>
        <p:nvSpPr>
          <p:cNvPr id="7" name="Text 4"/>
          <p:cNvSpPr txBox="1"/>
          <p:nvPr/>
        </p:nvSpPr>
        <p:spPr>
          <a:xfrm>
            <a:off x="1765300" y="3276600"/>
            <a:ext cx="32766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5041900" y="3276600"/>
            <a:ext cx="11620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6203950" y="3276600"/>
            <a:ext cx="11620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7366000" y="32766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8845550" y="3276600"/>
            <a:ext cx="25336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1765300" y="3740150"/>
            <a:ext cx="32766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5041900" y="3740150"/>
            <a:ext cx="11620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6203950" y="3740150"/>
            <a:ext cx="11620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7366000" y="37401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8845550" y="3740150"/>
            <a:ext cx="25336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6203950" y="4203700"/>
            <a:ext cx="11620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1765300" y="4667250"/>
            <a:ext cx="32766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 −1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5041900" y="4667250"/>
            <a:ext cx="11620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6203950" y="4667250"/>
            <a:ext cx="11620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7366000" y="46672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8845550" y="4667250"/>
            <a:ext cx="25336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3" name="Text 20"/>
          <p:cNvSpPr txBox="1"/>
          <p:nvPr/>
        </p:nvSpPr>
        <p:spPr>
          <a:xfrm>
            <a:off x="6203950" y="5130800"/>
            <a:ext cx="11620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2139950" y="562610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5" name="Text 22"/>
          <p:cNvSpPr txBox="1"/>
          <p:nvPr/>
        </p:nvSpPr>
        <p:spPr>
          <a:xfrm>
            <a:off x="6845300" y="562610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6" name="Text 23"/>
          <p:cNvSpPr txBox="1"/>
          <p:nvPr/>
        </p:nvSpPr>
        <p:spPr>
          <a:xfrm>
            <a:off x="8839200" y="562610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27" name="Shape 2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 · CORE CODE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ROUNDS BY DIVISION</a:t>
            </a:r>
            <a:endParaRPr lang="en-US" sz="390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8763000" cy="4511675"/>
          </a:xfrm>
          <a:prstGeom prst="roundRect">
            <a:avLst>
              <a:gd name="adj" fmla="val 1126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47750" y="2087166"/>
            <a:ext cx="9288272" cy="417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R = -1;            </a:t>
            </a:r>
            <a:r>
              <a:rPr lang="en-US" sz="14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-1: no bin ever fails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1; i &lt;= n; i ++)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(take[i]){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long long s = x[i] + mn[i];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long long t;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(s &lt; 1)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t = 0;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 if (d[i] &gt;= 0)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continue;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t = (s - 1) / (-d[i]) + 1;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(R == -1 || t &lt; R)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 = t;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(R == -1) </a:t>
            </a:r>
            <a:r>
              <a:rPr lang="en-US" sz="14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print FOREVER</a:t>
            </a:r>
            <a:endParaRPr lang="en-US" sz="145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322784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AIO PROBLEM 6</a:t>
            </a:r>
            <a:endParaRPr lang="en-US" sz="1950"/>
          </a:p>
        </p:txBody>
      </p:sp>
      <p:sp>
        <p:nvSpPr>
          <p:cNvPr id="4" name="Text 1"/>
          <p:cNvSpPr txBox="1"/>
          <p:nvPr/>
        </p:nvSpPr>
        <p:spPr>
          <a:xfrm>
            <a:off x="812800" y="1830784"/>
            <a:ext cx="11200384" cy="1969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ATLANTIS III:</a:t>
            </a:r>
            <a:endParaRPr lang="en-US" sz="6600"/>
          </a:p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</a:t>
            </a:r>
            <a:endParaRPr lang="en-US" sz="6600"/>
          </a:p>
        </p:txBody>
      </p:sp>
      <p:sp>
        <p:nvSpPr>
          <p:cNvPr id="5" name="Text 2"/>
          <p:cNvSpPr txBox="1"/>
          <p:nvPr/>
        </p:nvSpPr>
        <p:spPr>
          <a:xfrm>
            <a:off x="812800" y="3903266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Sum, levelled up: second-order differences.</a:t>
            </a:r>
            <a:endParaRPr lang="en-US" sz="2550"/>
          </a:p>
        </p:txBody>
      </p:sp>
      <p:sp>
        <p:nvSpPr>
          <p:cNvPr id="6" name="Shape 3"/>
          <p:cNvSpPr/>
          <p:nvPr/>
        </p:nvSpPr>
        <p:spPr>
          <a:xfrm>
            <a:off x="812800" y="4506516"/>
            <a:ext cx="2538611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506516"/>
            <a:ext cx="253861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/>
          </a:p>
        </p:txBody>
      </p:sp>
      <p:sp>
        <p:nvSpPr>
          <p:cNvPr id="8" name="Shape 5"/>
          <p:cNvSpPr/>
          <p:nvPr/>
        </p:nvSpPr>
        <p:spPr>
          <a:xfrm>
            <a:off x="3465711" y="4506516"/>
            <a:ext cx="3250605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465711" y="4506516"/>
            <a:ext cx="32506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812800" y="5078016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5078016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/>
          </a:p>
        </p:txBody>
      </p:sp>
      <p:sp>
        <p:nvSpPr>
          <p:cNvPr id="12" name="Shape 9"/>
          <p:cNvSpPr/>
          <p:nvPr/>
        </p:nvSpPr>
        <p:spPr>
          <a:xfrm>
            <a:off x="2798961" y="5078016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798961" y="5078016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strips of land, two rivers between them; every bridge is 1 km long.</a:t>
            </a:r>
            <a:endParaRPr 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 txBox="1"/>
              <p:nvPr/>
            </p:nvSpPr>
            <p:spPr>
              <a:xfrm>
                <a:off x="812800" y="2987477"/>
                <a:ext cx="1009650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bridges exist.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trips each go from Strip 1 at position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Strip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(2 or 3) at the same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400"/>
              </a:p>
            </p:txBody>
          </p:sp>
        </mc:Choice>
        <mc:Fallback>
          <p:sp>
            <p:nvSpPr>
              <p:cNvPr id="5" name="Text 3"/>
              <p:cNvSpPr txBox="1"/>
              <p:nvPr/>
            </p:nvSpPr>
            <p:spPr>
              <a:xfrm>
                <a:off x="812800" y="2987477"/>
                <a:ext cx="1009650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 bridges exist. T trips each go from Strip 1 at position X to Strip S (2 or 3) at the same X.</a:t>
                </a:r>
                <a:endParaRPr lang="en-US" sz="240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 txBox="1"/>
              <p:nvPr/>
            </p:nvSpPr>
            <p:spPr>
              <a:xfrm>
                <a:off x="812800" y="4071938"/>
                <a:ext cx="1009650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Build </a:t>
                </a:r>
                <a:r>
                  <a:rPr lang="en-US" sz="240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one</a:t>
                </a: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new bridge (either river, integer position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to minimise the total length of all trips.</a:t>
                </a:r>
                <a:endParaRPr lang="en-US" sz="2400"/>
              </a:p>
            </p:txBody>
          </p:sp>
        </mc:Choice>
        <mc:Fallback>
          <p:sp>
            <p:nvSpPr>
              <p:cNvPr id="6" name="Text 4"/>
              <p:cNvSpPr txBox="1"/>
              <p:nvPr/>
            </p:nvSpPr>
            <p:spPr>
              <a:xfrm>
                <a:off x="812800" y="4071938"/>
                <a:ext cx="10096500" cy="99048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72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Build </a:t>
                </a:r>
                <a:r>
                  <a:rPr lang="en-US" sz="240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one</a:t>
                </a: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new bridge (either river, integer position p) to minimise the total length of all trips.</a:t>
                </a:r>
                <a:endParaRPr lang="en-US" sz="240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 txBox="1"/>
              <p:nvPr/>
            </p:nvSpPr>
            <p:spPr>
              <a:xfrm>
                <a:off x="812800" y="5156398"/>
                <a:ext cx="10096500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sz="2100"/>
              </a:p>
            </p:txBody>
          </p:sp>
        </mc:Choice>
        <mc:Fallback>
          <p:sp>
            <p:nvSpPr>
              <p:cNvPr id="7" name="Text 5"/>
              <p:cNvSpPr txBox="1"/>
              <p:nvPr/>
            </p:nvSpPr>
            <p:spPr>
              <a:xfrm>
                <a:off x="812800" y="5156398"/>
                <a:ext cx="10096500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 ≤ 10⁶, N, T ≤ 2×10⁵</a:t>
                </a:r>
                <a:endParaRPr lang="en-US" sz="210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ONE TRIP FIRST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IS ONE TRIP?</a:t>
            </a:r>
            <a:endParaRPr lang="en-US" sz="3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60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 Strip 2 via bridge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</a:t>
                </a:r>
                <a:endParaRPr lang="en-US" sz="2400"/>
              </a:p>
            </p:txBody>
          </p:sp>
        </mc:Choice>
        <mc:Fallback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200384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60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 Strip 2 via bridge b:</a:t>
                </a:r>
                <a:endParaRPr lang="en-US" sz="2400"/>
              </a:p>
            </p:txBody>
          </p:sp>
        </mc:Fallback>
      </mc:AlternateContent>
      <p:sp>
        <p:nvSpPr>
          <p:cNvPr id="5" name="Shape 3"/>
          <p:cNvSpPr/>
          <p:nvPr/>
        </p:nvSpPr>
        <p:spPr>
          <a:xfrm>
            <a:off x="812800" y="2499916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 txBox="1"/>
              <p:nvPr/>
            </p:nvSpPr>
            <p:spPr>
              <a:xfrm>
                <a:off x="1016000" y="2601516"/>
                <a:ext cx="10793984" cy="4232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06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5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25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5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5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5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US" sz="25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5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US" sz="25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550"/>
              </a:p>
            </p:txBody>
          </p:sp>
        </mc:Choice>
        <mc:Fallback>
          <p:sp>
            <p:nvSpPr>
              <p:cNvPr id="6" name="Text 4"/>
              <p:cNvSpPr txBox="1"/>
              <p:nvPr/>
            </p:nvSpPr>
            <p:spPr>
              <a:xfrm>
                <a:off x="1016000" y="2601516"/>
                <a:ext cx="10793984" cy="4232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060"/>
                  </a:lnSpc>
                  <a:buNone/>
                </a:pPr>
                <a:r>
                  <a:rPr lang="en-US" sz="25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 + 2·|X − b|</a:t>
                </a:r>
                <a:endParaRPr lang="en-US" sz="255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 txBox="1"/>
              <p:nvPr/>
            </p:nvSpPr>
            <p:spPr>
              <a:xfrm>
                <a:off x="812800" y="3217466"/>
                <a:ext cx="11200384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60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 Strip 3 via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(walk out and back covers the span twice):</a:t>
                </a:r>
                <a:endParaRPr lang="en-US" sz="2400"/>
              </a:p>
            </p:txBody>
          </p:sp>
        </mc:Choice>
        <mc:Fallback>
          <p:sp>
            <p:nvSpPr>
              <p:cNvPr id="7" name="Text 5"/>
              <p:cNvSpPr txBox="1"/>
              <p:nvPr/>
            </p:nvSpPr>
            <p:spPr>
              <a:xfrm>
                <a:off x="812800" y="3217466"/>
                <a:ext cx="11200384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600"/>
                  </a:lnSpc>
                  <a:buNone/>
                </a:pPr>
                <a:r>
                  <a:rPr lang="en-US" sz="24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 Strip 3 via b₁ then b₂ (walk out and back covers the span twice):</a:t>
                </a:r>
                <a:endParaRPr lang="en-US" sz="240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812800" y="3814366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 txBox="1"/>
              <p:nvPr/>
            </p:nvSpPr>
            <p:spPr>
              <a:xfrm>
                <a:off x="1016000" y="3915966"/>
                <a:ext cx="10793984" cy="4232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06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5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5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5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25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25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m:rPr>
                                <m:sty m:val="p"/>
                              </m:rPr>
                              <a:rPr lang="en-US" sz="2550" i="0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e>
                                <m:r>
                                  <a:rPr lang="en-US" sz="25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5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z="2550" i="0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e>
                                <m:r>
                                  <a:rPr lang="en-US" sz="25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5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en-US" sz="25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5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25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m:rPr>
                                <m:sty m:val="p"/>
                              </m:rPr>
                              <a:rPr lang="en-US" sz="2550" i="0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e>
                                <m:r>
                                  <a:rPr lang="en-US" sz="25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5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z="2550" i="0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e>
                                <m:r>
                                  <a:rPr lang="en-US" sz="25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550" i="1">
                                    <a:solidFill>
                                      <a:srgbClr val="1F2328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sz="2550"/>
              </a:p>
            </p:txBody>
          </p:sp>
        </mc:Choice>
        <mc:Fallback>
          <p:sp>
            <p:nvSpPr>
              <p:cNvPr id="9" name="Text 7"/>
              <p:cNvSpPr txBox="1"/>
              <p:nvPr/>
            </p:nvSpPr>
            <p:spPr>
              <a:xfrm>
                <a:off x="1016000" y="3915966"/>
                <a:ext cx="10793984" cy="4232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060"/>
                  </a:lnSpc>
                  <a:buNone/>
                </a:pPr>
                <a:r>
                  <a:rPr lang="en-US" sz="25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2 + 2·(max(X, b₁, b₂) − min(X, b₁, b₂))</a:t>
                </a:r>
                <a:endParaRPr lang="en-US" sz="255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 txBox="1"/>
              <p:nvPr/>
            </p:nvSpPr>
            <p:spPr>
              <a:xfrm>
                <a:off x="812800" y="453191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Only the nearest bridge left and right of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can be best → </a:t>
                </a:r>
                <a:r>
                  <a:rPr lang="en-US" sz="225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Binary Search</a:t>
                </a: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on the sorted bridges.</a:t>
                </a:r>
                <a:endParaRPr lang="en-US" sz="2250"/>
              </a:p>
            </p:txBody>
          </p:sp>
        </mc:Choice>
        <mc:Fallback>
          <p:sp>
            <p:nvSpPr>
              <p:cNvPr id="10" name="Text 8"/>
              <p:cNvSpPr txBox="1"/>
              <p:nvPr/>
            </p:nvSpPr>
            <p:spPr>
              <a:xfrm>
                <a:off x="812800" y="453191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Only the nearest bridge left and right of X can be best → </a:t>
                </a:r>
                <a:r>
                  <a:rPr lang="en-US" sz="225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Binary Search</a:t>
                </a: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on the sorted bridges.</a:t>
                </a:r>
                <a:endParaRPr lang="en-US" sz="2250"/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KEY OBSERVATION</a:t>
            </a:r>
            <a:endParaRPr lang="en-US" sz="15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/>
              <p:cNvSpPr txBox="1"/>
              <p:nvPr/>
            </p:nvSpPr>
            <p:spPr>
              <a:xfrm>
                <a:off x="812800" y="1054100"/>
                <a:ext cx="11200384" cy="47051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278"/>
                  </a:lnSpc>
                  <a:buNone/>
                </a:pPr>
                <a:r>
                  <a:rPr lang="en-US" sz="2850" b="1" kern="0" spc="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EACH TRIP'S COST IS A SIMPLE SHAPE IN </a:t>
                </a:r>
                <a14:m>
                  <m:oMath xmlns:m="http://schemas.openxmlformats.org/officeDocument/2006/math">
                    <m:r>
                      <a:rPr lang="en-US" sz="285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850"/>
              </a:p>
            </p:txBody>
          </p:sp>
        </mc:Choice>
        <mc:Fallback>
          <p:sp>
            <p:nvSpPr>
              <p:cNvPr id="3" name="Text 1"/>
              <p:cNvSpPr txBox="1"/>
              <p:nvPr/>
            </p:nvSpPr>
            <p:spPr>
              <a:xfrm>
                <a:off x="812800" y="1054100"/>
                <a:ext cx="11200384" cy="47051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278"/>
                  </a:lnSpc>
                  <a:buNone/>
                </a:pPr>
                <a:r>
                  <a:rPr lang="en-US" sz="2850" b="1" kern="0" spc="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EACH TRIP'S COST IS A SIMPLE SHAPE IN P</a:t>
                </a:r>
                <a:endParaRPr lang="en-US" sz="2850"/>
              </a:p>
            </p:txBody>
          </p:sp>
        </mc:Fallback>
      </mc:AlternateContent>
      <p:sp>
        <p:nvSpPr>
          <p:cNvPr id="4" name="Text 2"/>
          <p:cNvSpPr txBox="1"/>
          <p:nvPr/>
        </p:nvSpPr>
        <p:spPr>
          <a:xfrm>
            <a:off x="812800" y="2997498"/>
            <a:ext cx="5775198" cy="39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2: a "V" capped flat by the old cost.</a:t>
            </a:r>
            <a:endParaRPr lang="en-US" sz="1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 txBox="1"/>
              <p:nvPr/>
            </p:nvSpPr>
            <p:spPr>
              <a:xfrm>
                <a:off x="812800" y="3486448"/>
                <a:ext cx="5775198" cy="76009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9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 Strip 3: a </a:t>
                </a:r>
                <a:r>
                  <a:rPr lang="en-US" sz="190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trough</a:t>
                </a:r>
                <a:r>
                  <a:rPr lang="en-US" sz="19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flat bottom, slopes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9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9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9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on each side.</a:t>
                </a:r>
                <a:endParaRPr lang="en-US" sz="1900"/>
              </a:p>
            </p:txBody>
          </p:sp>
        </mc:Choice>
        <mc:Fallback>
          <p:sp>
            <p:nvSpPr>
              <p:cNvPr id="5" name="Text 3"/>
              <p:cNvSpPr txBox="1"/>
              <p:nvPr/>
            </p:nvSpPr>
            <p:spPr>
              <a:xfrm>
                <a:off x="812800" y="3486448"/>
                <a:ext cx="5775198" cy="76009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9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 Strip 3: a </a:t>
                </a:r>
                <a:r>
                  <a:rPr lang="en-US" sz="190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trough</a:t>
                </a:r>
                <a:r>
                  <a:rPr lang="en-US" sz="19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flat bottom, slopes of ±2 on each side.</a:t>
                </a:r>
                <a:endParaRPr lang="en-US" sz="190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 txBox="1"/>
              <p:nvPr/>
            </p:nvSpPr>
            <p:spPr>
              <a:xfrm>
                <a:off x="812800" y="4337348"/>
                <a:ext cx="5775198" cy="76009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9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9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m:rPr>
                        <m:sty m:val="p"/>
                      </m:rPr>
                      <a:rPr lang="en-US" sz="19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9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nor/>
                            <m:sty m:val="p"/>
                          </m:rPr>
                          <a:rPr lang="en-US" sz="19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old</m:t>
                        </m:r>
                        <m:r>
                          <m:rPr>
                            <m:sty m:val="p"/>
                          </m:rPr>
                          <a:rPr lang="en-US" sz="19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  <m:sty m:val="p"/>
                          </m:rPr>
                          <a:rPr lang="en-US" sz="19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trough</m:t>
                        </m:r>
                        <m:r>
                          <m:rPr>
                            <m:sty m:val="p"/>
                          </m:rPr>
                          <a:rPr lang="en-US" sz="19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9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lang="en-US" sz="19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slopes are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9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9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9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9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9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9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9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9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with a few turning points.</a:t>
                </a:r>
                <a:endParaRPr lang="en-US" sz="1900"/>
              </a:p>
            </p:txBody>
          </p:sp>
        </mc:Choice>
        <mc:Fallback>
          <p:sp>
            <p:nvSpPr>
              <p:cNvPr id="6" name="Text 4"/>
              <p:cNvSpPr txBox="1"/>
              <p:nvPr/>
            </p:nvSpPr>
            <p:spPr>
              <a:xfrm>
                <a:off x="812800" y="4337348"/>
                <a:ext cx="5775198" cy="76009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9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w(p) = min(old, trough, …): slopes are only −2, 0, +2, with a few turning points.</a:t>
                </a:r>
                <a:endParaRPr lang="en-US" sz="1900"/>
              </a:p>
            </p:txBody>
          </p:sp>
        </mc:Fallback>
      </mc:AlternateContent>
      <p:pic>
        <p:nvPicPr>
          <p:cNvPr id="7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700" y="1648123"/>
            <a:ext cx="4762500" cy="1905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5"/>
              <p:cNvSpPr txBox="1"/>
              <p:nvPr/>
            </p:nvSpPr>
            <p:spPr>
              <a:xfrm>
                <a:off x="6616700" y="3591223"/>
                <a:ext cx="5048250" cy="2444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00"/>
                  </a:lnSpc>
                  <a:buNone/>
                </a:pPr>
                <a:r>
                  <a:rPr lang="en-US" sz="1500" b="1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 Strip 2:</a:t>
                </a:r>
                <a:r>
                  <a:rPr lang="en-US" sz="15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 shape </a:t>
                </a:r>
                <a14:m>
                  <m:oMath xmlns:m="http://schemas.openxmlformats.org/officeDocument/2006/math">
                    <m:r>
                      <a:rPr lang="en-US" sz="15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15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5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5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US" sz="15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5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US" sz="15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15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capped by old</a:t>
                </a:r>
                <a:endParaRPr lang="en-US" sz="1500"/>
              </a:p>
            </p:txBody>
          </p:sp>
        </mc:Choice>
        <mc:Fallback>
          <p:sp>
            <p:nvSpPr>
              <p:cNvPr id="8" name="Text 5"/>
              <p:cNvSpPr txBox="1"/>
              <p:nvPr/>
            </p:nvSpPr>
            <p:spPr>
              <a:xfrm>
                <a:off x="6616700" y="3591223"/>
                <a:ext cx="5048250" cy="2444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00"/>
                  </a:lnSpc>
                  <a:buNone/>
                </a:pPr>
                <a:r>
                  <a:rPr lang="en-US" sz="1500" b="1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 Strip 2:</a:t>
                </a:r>
                <a:r>
                  <a:rPr lang="en-US" sz="15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V shape 1 + 2|X − p|, capped by old</a:t>
                </a:r>
                <a:endParaRPr lang="en-US" sz="1500"/>
              </a:p>
            </p:txBody>
          </p:sp>
        </mc:Fallback>
      </mc:AlternateContent>
      <p:pic>
        <p:nvPicPr>
          <p:cNvPr id="9" name="Image 1" descr="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00" y="3921423"/>
            <a:ext cx="4762500" cy="1905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6"/>
              <p:cNvSpPr txBox="1"/>
              <p:nvPr/>
            </p:nvSpPr>
            <p:spPr>
              <a:xfrm>
                <a:off x="6616700" y="5864523"/>
                <a:ext cx="5048250" cy="2444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00"/>
                  </a:lnSpc>
                  <a:buNone/>
                </a:pPr>
                <a:r>
                  <a:rPr lang="en-US" sz="1500" b="1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 Strip 3:</a:t>
                </a:r>
                <a:r>
                  <a:rPr lang="en-US" sz="15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trough, flat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15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5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5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15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5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capped by old</a:t>
                </a:r>
                <a:endParaRPr lang="en-US" sz="1500"/>
              </a:p>
            </p:txBody>
          </p:sp>
        </mc:Choice>
        <mc:Fallback>
          <p:sp>
            <p:nvSpPr>
              <p:cNvPr id="10" name="Text 6"/>
              <p:cNvSpPr txBox="1"/>
              <p:nvPr/>
            </p:nvSpPr>
            <p:spPr>
              <a:xfrm>
                <a:off x="6616700" y="5864523"/>
                <a:ext cx="5048250" cy="2444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800"/>
                  </a:lnSpc>
                  <a:buNone/>
                </a:pPr>
                <a:r>
                  <a:rPr lang="en-US" sz="1500" b="1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 Strip 3:</a:t>
                </a:r>
                <a:r>
                  <a:rPr lang="en-US" sz="15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trough, flat from u2 to X, capped by old</a:t>
                </a:r>
                <a:endParaRPr lang="en-US" sz="1500"/>
              </a:p>
            </p:txBody>
          </p:sp>
        </mc:Fallback>
      </mc:AlternateContent>
      <p:sp>
        <p:nvSpPr>
          <p:cNvPr id="11" name="Text 7"/>
          <p:cNvSpPr txBox="1"/>
          <p:nvPr/>
        </p:nvSpPr>
        <p:spPr>
          <a:xfrm>
            <a:off x="6616700" y="6194723"/>
            <a:ext cx="504825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>
                <a:solidFill>
                  <a:srgbClr val="E4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= corner (turning point)</a:t>
            </a:r>
            <a:endParaRPr lang="en-US" sz="1500"/>
          </a:p>
        </p:txBody>
      </p:sp>
      <p:sp>
        <p:nvSpPr>
          <p:cNvPr id="12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WHY A NEW TOOL?</a:t>
            </a:r>
            <a:endParaRPr lang="en-US" sz="1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WHY NOT JUST TRY EVERY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900" b="1" kern="0" spc="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?</a:t>
                </a:r>
                <a:endParaRPr lang="en-US" sz="3900"/>
              </a:p>
            </p:txBody>
          </p:sp>
        </mc:Choice>
        <mc:Fallback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WHY NOT JUST TRY EVERY P?</a:t>
                </a:r>
                <a:endParaRPr lang="en-US" sz="390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471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Brute force: for each of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positions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add up the cost of all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trips.</a:t>
                </a:r>
                <a:endParaRPr lang="en-US" sz="2250"/>
              </a:p>
            </p:txBody>
          </p:sp>
        </mc:Choice>
        <mc:Fallback>
          <p:sp>
            <p:nvSpPr>
              <p:cNvPr id="4" name="Text 2"/>
              <p:cNvSpPr txBox="1"/>
              <p:nvPr/>
            </p:nvSpPr>
            <p:spPr>
              <a:xfrm>
                <a:off x="812800" y="1852216"/>
                <a:ext cx="11200384" cy="471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Brute force: for each of the ~10⁶ positions p, add up the cost of all 2×10⁵ trips.</a:t>
                </a:r>
                <a:endParaRPr lang="en-US" sz="225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4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58641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23245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698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74736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Work per trip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Then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Total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767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 value at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oMath>
                          </a14:m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10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9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Second differences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only its few corners: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 prefix sums: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oMath>
                          </a14:m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10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10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4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58641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23245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698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245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74736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Work per trip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Then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Total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767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p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 value at every p: O(L)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O(T·L) ≈ 2×10¹¹ ✗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930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Second differences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only its few corners: O(1)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 prefix sums: O(L)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O(T log N + L) ≈ 5×10⁶ ✓</a:t>
                          </a:r>
                          <a:endParaRPr lang="en-US" sz="210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Shape 3"/>
          <p:cNvSpPr/>
          <p:nvPr/>
        </p:nvSpPr>
        <p:spPr>
          <a:xfrm>
            <a:off x="812800" y="4274741"/>
            <a:ext cx="10566400" cy="1162050"/>
          </a:xfrm>
          <a:prstGeom prst="roundRect">
            <a:avLst>
              <a:gd name="adj" fmla="val 4372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>
            <a:off x="812800" y="4274741"/>
            <a:ext cx="50800" cy="116205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5"/>
              <p:cNvSpPr txBox="1"/>
              <p:nvPr/>
            </p:nvSpPr>
            <p:spPr>
              <a:xfrm>
                <a:off x="1092200" y="4427141"/>
                <a:ext cx="1066190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Each trip's cost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is a broken line with only a few corners. </a:t>
                </a:r>
                <a:r>
                  <a:rPr lang="en-US" sz="225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Write down the corners only</a:t>
                </a: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then rebuild the total at every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in one pass.</a:t>
                </a:r>
                <a:endParaRPr lang="en-US" sz="2250"/>
              </a:p>
            </p:txBody>
          </p:sp>
        </mc:Choice>
        <mc:Fallback>
          <p:sp>
            <p:nvSpPr>
              <p:cNvPr id="8" name="Text 5"/>
              <p:cNvSpPr txBox="1"/>
              <p:nvPr/>
            </p:nvSpPr>
            <p:spPr>
              <a:xfrm>
                <a:off x="1092200" y="4427141"/>
                <a:ext cx="1066190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375"/>
                  </a:lnSpc>
                  <a:buNone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Each trip's cost w(p) is a broken line with only a few corners. </a:t>
                </a:r>
                <a:r>
                  <a:rPr lang="en-US" sz="225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Write down the corners only</a:t>
                </a: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then rebuild the total at every p in one pass.</a:t>
                </a:r>
                <a:endParaRPr lang="en-US" sz="2250"/>
              </a:p>
            </p:txBody>
          </p:sp>
        </mc:Fallback>
      </mc:AlternateContent>
      <p:sp>
        <p:nvSpPr>
          <p:cNvPr id="9" name="Text 6"/>
          <p:cNvSpPr txBox="1"/>
          <p:nvPr/>
        </p:nvSpPr>
        <p:spPr>
          <a:xfrm>
            <a:off x="812800" y="5614591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 that we need two ideas: the difference array, and the second difference.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8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5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STEP 1: DIFFERENCE ARRAY</a:t>
            </a:r>
            <a:endParaRPr lang="en-US" sz="175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92200"/>
            <a:ext cx="1120038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75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JUMPS, NOT THE VALUES</a:t>
            </a:r>
            <a:endParaRPr lang="en-US" sz="37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812800" y="1817688"/>
                <a:ext cx="11200384" cy="4610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300"/>
                  </a:lnSpc>
                  <a:buNone/>
                </a:pPr>
                <a:r>
                  <a:rPr lang="en-US" sz="2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Difference array: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US" sz="22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).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is non-zero only where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22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jumps</a:t>
                </a:r>
                <a:r>
                  <a:rPr lang="en-US" sz="2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00" dirty="0"/>
              </a:p>
            </p:txBody>
          </p:sp>
        </mc:Choice>
        <mc:Fallback>
          <p:sp>
            <p:nvSpPr>
              <p:cNvPr id="4" name="Text 2"/>
              <p:cNvSpPr txBox="1"/>
              <p:nvPr/>
            </p:nvSpPr>
            <p:spPr>
              <a:xfrm>
                <a:off x="812800" y="1817688"/>
                <a:ext cx="11200384" cy="4610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300"/>
                  </a:lnSpc>
                  <a:buNone/>
                </a:pPr>
                <a:r>
                  <a:rPr lang="en-US" sz="2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Difference array: D[i] = a[i] − a[i−1] (with a[0] = 0). D is non-zero only where a </a:t>
                </a:r>
                <a:r>
                  <a:rPr lang="en-US" sz="22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jumps</a:t>
                </a:r>
                <a:r>
                  <a:rPr lang="en-US" sz="2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7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14588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2113260"/>
                    <a:gridCol w="1056580"/>
                    <a:gridCol w="1056580"/>
                    <a:gridCol w="1056580"/>
                    <a:gridCol w="1056580"/>
                    <a:gridCol w="1056580"/>
                    <a:gridCol w="1056580"/>
                    <a:gridCol w="1056580"/>
                    <a:gridCol w="1057077"/>
                  </a:tblGrid>
                  <a:tr h="4508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2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8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540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e>
                                  <m:r>
                                    <a:rPr lang="en-US" sz="22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508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e>
                                  <m:r>
                                    <a:rPr lang="en-US" sz="22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508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sum of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27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14588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2113260"/>
                    <a:gridCol w="1056580"/>
                    <a:gridCol w="1056580"/>
                    <a:gridCol w="1056580"/>
                    <a:gridCol w="1056580"/>
                    <a:gridCol w="1056580"/>
                    <a:gridCol w="1056580"/>
                    <a:gridCol w="1056580"/>
                    <a:gridCol w="1057077"/>
                  </a:tblGrid>
                  <a:tr h="4508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i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8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540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a[i]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508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D[i]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508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sum of D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640"/>
                            </a:lnSpc>
                            <a:buNone/>
                          </a:pPr>
                          <a:r>
                            <a:rPr lang="en-US" sz="22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Shape 3"/>
          <p:cNvSpPr/>
          <p:nvPr/>
        </p:nvSpPr>
        <p:spPr>
          <a:xfrm>
            <a:off x="812800" y="4402138"/>
            <a:ext cx="10566400" cy="1612900"/>
          </a:xfrm>
          <a:prstGeom prst="roundRect">
            <a:avLst>
              <a:gd name="adj" fmla="val 3150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812800" y="4402138"/>
            <a:ext cx="50800" cy="1612900"/>
          </a:xfrm>
          <a:prstGeom prst="rect">
            <a:avLst/>
          </a:prstGeom>
          <a:solidFill>
            <a:srgbClr val="0A4054"/>
          </a:solidFill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5"/>
              <p:cNvSpPr txBox="1"/>
              <p:nvPr/>
            </p:nvSpPr>
            <p:spPr>
              <a:xfrm>
                <a:off x="1092200" y="4554538"/>
                <a:ext cx="10661904" cy="4610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300"/>
                  </a:lnSpc>
                  <a:buNone/>
                </a:pPr>
                <a:r>
                  <a:rPr lang="en-US" sz="22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Prefix sum of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gives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2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back.</a:t>
                </a:r>
                <a:r>
                  <a:rPr lang="en-US" sz="2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Difference and prefix sum undo each other.</a:t>
                </a:r>
                <a:endParaRPr lang="en-US" sz="2200" dirty="0"/>
              </a:p>
            </p:txBody>
          </p:sp>
        </mc:Choice>
        <mc:Fallback>
          <p:sp>
            <p:nvSpPr>
              <p:cNvPr id="8" name="Text 5"/>
              <p:cNvSpPr txBox="1"/>
              <p:nvPr/>
            </p:nvSpPr>
            <p:spPr>
              <a:xfrm>
                <a:off x="1092200" y="4554538"/>
                <a:ext cx="10661904" cy="4610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300"/>
                  </a:lnSpc>
                  <a:buNone/>
                </a:pPr>
                <a:r>
                  <a:rPr lang="en-US" sz="220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Prefix sum of D gives a back.</a:t>
                </a:r>
                <a:r>
                  <a:rPr lang="en-US" sz="2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Difference and prefix sum undo each other.</a:t>
                </a:r>
                <a:endParaRPr lang="en-US" sz="22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6"/>
              <p:cNvSpPr txBox="1"/>
              <p:nvPr/>
            </p:nvSpPr>
            <p:spPr>
              <a:xfrm>
                <a:off x="1092200" y="5024438"/>
                <a:ext cx="10661904" cy="880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300"/>
                  </a:lnSpc>
                  <a:buNone/>
                </a:pPr>
                <a:r>
                  <a:rPr lang="en-US" sz="2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Classic use: "add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2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US" sz="22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" →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2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US" sz="220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2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2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2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per update, one prefix sum at the end.</a:t>
                </a:r>
                <a:endParaRPr lang="en-US" sz="2200" dirty="0"/>
              </a:p>
            </p:txBody>
          </p:sp>
        </mc:Choice>
        <mc:Fallback>
          <p:sp>
            <p:nvSpPr>
              <p:cNvPr id="9" name="Text 6"/>
              <p:cNvSpPr txBox="1"/>
              <p:nvPr/>
            </p:nvSpPr>
            <p:spPr>
              <a:xfrm>
                <a:off x="1092200" y="5024438"/>
                <a:ext cx="10661904" cy="880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300"/>
                  </a:lnSpc>
                  <a:buNone/>
                </a:pPr>
                <a:r>
                  <a:rPr lang="en-US" sz="220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Classic use: "add v to a[l..r]" → D[l] += v, D[r+1] −= v. O(1) per update, one prefix sum at the end.</a:t>
                </a:r>
                <a:endParaRPr lang="en-US" sz="2200" dirty="0"/>
              </a:p>
            </p:txBody>
          </p:sp>
        </mc:Fallback>
      </mc:AlternateContent>
      <p:sp>
        <p:nvSpPr>
          <p:cNvPr id="10" name="Text 7"/>
          <p:cNvSpPr txBox="1"/>
          <p:nvPr/>
        </p:nvSpPr>
        <p:spPr>
          <a:xfrm>
            <a:off x="2927350" y="3384550"/>
            <a:ext cx="1054100" cy="35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981450" y="3384550"/>
            <a:ext cx="1054100" cy="35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041900" y="3384550"/>
            <a:ext cx="1054100" cy="35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096000" y="3384550"/>
            <a:ext cx="1054100" cy="35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7150100" y="3384550"/>
            <a:ext cx="1054100" cy="35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210550" y="3384550"/>
            <a:ext cx="1054100" cy="35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9264650" y="3384550"/>
            <a:ext cx="1054100" cy="35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10325100" y="3384550"/>
            <a:ext cx="1054100" cy="35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2927350" y="3835400"/>
            <a:ext cx="1054100" cy="35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3981450" y="3835400"/>
            <a:ext cx="1054100" cy="35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5041900" y="3835400"/>
            <a:ext cx="1054100" cy="35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6096000" y="3835400"/>
            <a:ext cx="1054100" cy="35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7150100" y="3835400"/>
            <a:ext cx="1054100" cy="35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8210550" y="3835400"/>
            <a:ext cx="1054100" cy="35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9264650" y="3835400"/>
            <a:ext cx="1054100" cy="35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10325100" y="3835400"/>
            <a:ext cx="1054100" cy="35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2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STEP 2: SECOND DIFFERENCE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47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BENDS, NOT THE VALUES</a:t>
            </a:r>
            <a:endParaRPr lang="en-US" sz="285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698923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broken line, the first difference is the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second difference is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the slope changes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non-zero only at the corners.</a:t>
            </a:r>
            <a:endParaRPr lang="en-US" sz="22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8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733973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3169841"/>
                    <a:gridCol w="1296789"/>
                    <a:gridCol w="960537"/>
                    <a:gridCol w="960537"/>
                    <a:gridCol w="960537"/>
                    <a:gridCol w="960537"/>
                    <a:gridCol w="960537"/>
                    <a:gridCol w="1297087"/>
                  </a:tblGrid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25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67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22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(trip </a:t>
                          </a:r>
                          <a14:m>
                            <m:oMath xmlns:m="http://schemas.openxmlformats.org/officeDocument/2006/math">
                              <m:r>
                                <a:rPr lang="en-US" sz="2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m:rPr>
                                  <m:sty m:val="p"/>
                                </m:rPr>
                                <a:rPr lang="en-US" sz="2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oMath>
                          </a14:m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slope: </a:t>
                          </a:r>
                          <a14:m>
                            <m:oMath xmlns:m="http://schemas.openxmlformats.org/officeDocument/2006/math">
                              <m:r>
                                <a:rPr lang="en-US" sz="2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22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22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25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en-US" sz="22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: change of slope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28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733973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3169841"/>
                    <a:gridCol w="1296789"/>
                    <a:gridCol w="960537"/>
                    <a:gridCol w="960537"/>
                    <a:gridCol w="960537"/>
                    <a:gridCol w="960537"/>
                    <a:gridCol w="960537"/>
                    <a:gridCol w="1297087"/>
                  </a:tblGrid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67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w(p) (trip X = 4)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slope: w(p) − w(p−1)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635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d2: change of slope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2250" dirty="0">
                              <a:solidFill>
                                <a:srgbClr val="B4BAC0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2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3"/>
              <p:cNvSpPr txBox="1"/>
              <p:nvPr/>
            </p:nvSpPr>
            <p:spPr>
              <a:xfrm>
                <a:off x="812800" y="4772323"/>
                <a:ext cx="11200384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520"/>
                  </a:lnSpc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US" sz="2100" i="0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en-US" sz="2100" i="0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US" sz="2100" i="0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US" sz="2100" i="0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US" sz="2100" i="0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100" dirty="0"/>
              </a:p>
            </p:txBody>
          </p:sp>
        </mc:Choice>
        <mc:Fallback>
          <p:sp>
            <p:nvSpPr>
              <p:cNvPr id="6" name="Text 3"/>
              <p:cNvSpPr txBox="1"/>
              <p:nvPr/>
            </p:nvSpPr>
            <p:spPr>
              <a:xfrm>
                <a:off x="812800" y="4772323"/>
                <a:ext cx="11200384" cy="344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520"/>
                  </a:lnSpc>
                  <a:buNone/>
                </a:pPr>
                <a:r>
                  <a:rPr lang="en-US" sz="2100" dirty="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d2[p] = slope(p+1) − slope(p) = w(p+1) − 2w(p) + w(p−1)</a:t>
                </a:r>
                <a:endParaRPr lang="en-US" sz="2100" dirty="0"/>
              </a:p>
            </p:txBody>
          </p:sp>
        </mc:Fallback>
      </mc:AlternateContent>
      <p:sp>
        <p:nvSpPr>
          <p:cNvPr id="7" name="Shape 4"/>
          <p:cNvSpPr/>
          <p:nvPr/>
        </p:nvSpPr>
        <p:spPr>
          <a:xfrm>
            <a:off x="812800" y="5254923"/>
            <a:ext cx="10566400" cy="1162050"/>
          </a:xfrm>
          <a:prstGeom prst="roundRect">
            <a:avLst>
              <a:gd name="adj" fmla="val 4372"/>
            </a:avLst>
          </a:prstGeom>
          <a:solidFill>
            <a:srgbClr val="E6F3F2"/>
          </a:solidFill>
          <a:ln/>
        </p:spPr>
      </p:sp>
      <p:sp>
        <p:nvSpPr>
          <p:cNvPr id="8" name="Shape 5"/>
          <p:cNvSpPr/>
          <p:nvPr/>
        </p:nvSpPr>
        <p:spPr>
          <a:xfrm>
            <a:off x="812800" y="5254923"/>
            <a:ext cx="50800" cy="1162050"/>
          </a:xfrm>
          <a:prstGeom prst="rect">
            <a:avLst/>
          </a:prstGeom>
          <a:solidFill>
            <a:srgbClr val="3E9A97"/>
          </a:solidFill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6"/>
              <p:cNvSpPr txBox="1"/>
              <p:nvPr/>
            </p:nvSpPr>
            <p:spPr>
              <a:xfrm>
                <a:off x="1092200" y="5407323"/>
                <a:ext cx="1066190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375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Rebuild: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→ </a:t>
                </a: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prefix sum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→ slopes → </a:t>
                </a: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prefix sum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→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Start from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250" dirty="0"/>
              </a:p>
            </p:txBody>
          </p:sp>
        </mc:Choice>
        <mc:Fallback>
          <p:sp>
            <p:nvSpPr>
              <p:cNvPr id="9" name="Text 6"/>
              <p:cNvSpPr txBox="1"/>
              <p:nvPr/>
            </p:nvSpPr>
            <p:spPr>
              <a:xfrm>
                <a:off x="1092200" y="5407323"/>
                <a:ext cx="1066190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375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Rebuild: d2 → </a:t>
                </a: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prefix sum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→ slopes → </a:t>
                </a:r>
                <a:r>
                  <a:rPr lang="en-US" sz="2250" b="1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prefix sum</a:t>
                </a: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→ w(p). Start from w(0) and w(1).</a:t>
                </a:r>
                <a:endParaRPr lang="en-US" sz="2250" dirty="0"/>
              </a:p>
            </p:txBody>
          </p:sp>
        </mc:Fallback>
      </mc:AlternateContent>
      <p:sp>
        <p:nvSpPr>
          <p:cNvPr id="10" name="Text 7"/>
          <p:cNvSpPr txBox="1"/>
          <p:nvPr/>
        </p:nvSpPr>
        <p:spPr>
          <a:xfrm>
            <a:off x="5276850" y="3733800"/>
            <a:ext cx="9588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6242050" y="3733800"/>
            <a:ext cx="9588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7200900" y="3733800"/>
            <a:ext cx="9588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8159750" y="3733800"/>
            <a:ext cx="9588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9118600" y="3733800"/>
            <a:ext cx="9588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10083800" y="3733800"/>
            <a:ext cx="12954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5276850" y="4197350"/>
            <a:ext cx="9588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6242050" y="4197350"/>
            <a:ext cx="9588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7200900" y="4197350"/>
            <a:ext cx="9588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8159750" y="4197350"/>
            <a:ext cx="9588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9118600" y="4197350"/>
            <a:ext cx="9588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PUTTING IT TOGETHER</a:t>
            </a:r>
            <a:endParaRPr lang="en-US" sz="1700"/>
          </a:p>
        </p:txBody>
      </p:sp>
      <p:sp>
        <p:nvSpPr>
          <p:cNvPr id="3" name="Text 1"/>
          <p:cNvSpPr txBox="1"/>
          <p:nvPr/>
        </p:nvSpPr>
        <p:spPr>
          <a:xfrm>
            <a:off x="812800" y="107315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CHANGES, REBUILD WITH PREFIX SUMS</a:t>
            </a:r>
            <a:endParaRPr lang="en-US" sz="32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7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712913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25359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8605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1699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Shape</a:t>
                          </a:r>
                          <a:endParaRPr lang="en-US" sz="195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Store</a:t>
                          </a:r>
                          <a:endParaRPr lang="en-US" sz="195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Rebuild with</a:t>
                          </a:r>
                          <a:endParaRPr lang="en-US" sz="195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59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Step function</a:t>
                          </a:r>
                          <a:endParaRPr lang="en-US" sz="195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e>
                                  <m:r>
                                    <a:rPr lang="en-US" sz="19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9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9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9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19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19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9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19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95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9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endParaRPr lang="en-US" sz="195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 prefix sum</a:t>
                          </a:r>
                          <a:endParaRPr lang="en-US" sz="195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Piecewise linear</a:t>
                          </a:r>
                          <a:endParaRPr lang="en-US" sz="195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95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95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b>
                                  <m:r>
                                    <a:rPr lang="en-US" sz="19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9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9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19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95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9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19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9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9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19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195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95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19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95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95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endParaRPr lang="en-US" sz="195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 prefix sums</a:t>
                          </a:r>
                          <a:endParaRPr lang="en-US" sz="195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7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712913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25359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8605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1699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Shape</a:t>
                          </a:r>
                          <a:endParaRPr lang="en-US" sz="195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Store</a:t>
                          </a:r>
                          <a:endParaRPr lang="en-US" sz="195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 b="1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Rebuild with</a:t>
                          </a:r>
                          <a:endParaRPr lang="en-US" sz="195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592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Step function</a:t>
                          </a:r>
                          <a:endParaRPr lang="en-US" sz="195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d[q] = w(q) − w(q−1)</a:t>
                          </a:r>
                          <a:endParaRPr lang="en-US" sz="195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 prefix sum</a:t>
                          </a:r>
                          <a:endParaRPr lang="en-US" sz="195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Piecewise linear</a:t>
                          </a:r>
                          <a:endParaRPr lang="en-US" sz="195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d2[q] = w(q+1) − 2w(q) + w(q−1)</a:t>
                          </a:r>
                          <a:endParaRPr lang="en-US" sz="195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2340"/>
                            </a:lnSpc>
                            <a:buNone/>
                          </a:pPr>
                          <a:r>
                            <a:rPr lang="en-US" sz="195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 prefix sums</a:t>
                          </a:r>
                          <a:endParaRPr lang="en-US" sz="195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2"/>
              <p:cNvSpPr txBox="1"/>
              <p:nvPr/>
            </p:nvSpPr>
            <p:spPr>
              <a:xfrm>
                <a:off x="812800" y="3122613"/>
                <a:ext cx="11200384" cy="8666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255"/>
                  </a:lnSpc>
                  <a:buNone/>
                </a:pPr>
                <a:r>
                  <a:rPr lang="en-US" sz="2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Each trip adds its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only near its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1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corners into </a:t>
                </a:r>
                <a:r>
                  <a:rPr lang="en-US" sz="210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one shared</a:t>
                </a:r>
                <a:r>
                  <a:rPr lang="en-US" sz="2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array (sums of broken lines are broken lines). Then two prefix sums give the total cost at </a:t>
                </a:r>
                <a:r>
                  <a:rPr lang="en-US" sz="210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every</a:t>
                </a:r>
                <a:r>
                  <a:rPr lang="en-US" sz="2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10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sz="2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100"/>
              </a:p>
            </p:txBody>
          </p:sp>
        </mc:Choice>
        <mc:Fallback>
          <p:sp>
            <p:nvSpPr>
              <p:cNvPr id="5" name="Text 2"/>
              <p:cNvSpPr txBox="1"/>
              <p:nvPr/>
            </p:nvSpPr>
            <p:spPr>
              <a:xfrm>
                <a:off x="812800" y="3122613"/>
                <a:ext cx="11200384" cy="8666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255"/>
                  </a:lnSpc>
                  <a:buNone/>
                </a:pPr>
                <a:r>
                  <a:rPr lang="en-US" sz="2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Each trip adds its d2 only near its O(1) corners into </a:t>
                </a:r>
                <a:r>
                  <a:rPr lang="en-US" sz="210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one shared</a:t>
                </a:r>
                <a:r>
                  <a:rPr lang="en-US" sz="2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d2 array (sums of broken lines are broken lines). Then two prefix sums give the total cost at </a:t>
                </a:r>
                <a:r>
                  <a:rPr lang="en-US" sz="210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every</a:t>
                </a:r>
                <a:r>
                  <a:rPr lang="en-US" sz="2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p in O(L).</a:t>
                </a:r>
                <a:endParaRPr lang="en-US" sz="2100"/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812800" y="4114403"/>
            <a:ext cx="10566400" cy="1718270"/>
          </a:xfrm>
          <a:prstGeom prst="roundRect">
            <a:avLst>
              <a:gd name="adj" fmla="val 2956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>
            <a:off x="812800" y="4114403"/>
            <a:ext cx="50800" cy="1718270"/>
          </a:xfrm>
          <a:prstGeom prst="rect">
            <a:avLst/>
          </a:prstGeom>
          <a:solidFill>
            <a:srgbClr val="3E9A97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5"/>
              <p:cNvSpPr txBox="1"/>
              <p:nvPr/>
            </p:nvSpPr>
            <p:spPr>
              <a:xfrm>
                <a:off x="1092200" y="4254103"/>
                <a:ext cx="10661904" cy="28003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040"/>
                  </a:lnSpc>
                  <a:buNone/>
                </a:pPr>
                <a:r>
                  <a:rPr lang="en-US" sz="1700" b="1" kern="0" spc="100">
                    <a:solidFill>
                      <a:srgbClr val="28767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REBUILD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 b="1" i="0">
                        <a:solidFill>
                          <a:srgbClr val="287673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US" sz="1700" b="1" i="0">
                        <a:solidFill>
                          <a:srgbClr val="287673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700" b="1" kern="0" spc="100">
                    <a:solidFill>
                      <a:srgbClr val="28767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TWO PREFIX SUMS IN ONE LINE</a:t>
                </a:r>
                <a:endParaRPr lang="en-US" sz="1700"/>
              </a:p>
            </p:txBody>
          </p:sp>
        </mc:Choice>
        <mc:Fallback>
          <p:sp>
            <p:nvSpPr>
              <p:cNvPr id="8" name="Text 5"/>
              <p:cNvSpPr txBox="1"/>
              <p:nvPr/>
            </p:nvSpPr>
            <p:spPr>
              <a:xfrm>
                <a:off x="1092200" y="4254103"/>
                <a:ext cx="10661904" cy="28003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040"/>
                  </a:lnSpc>
                  <a:buNone/>
                </a:pPr>
                <a:r>
                  <a:rPr lang="en-US" sz="1700" b="1" kern="0" spc="100">
                    <a:solidFill>
                      <a:srgbClr val="28767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REBUILD FROM d2: TWO PREFIX SUMS IN ONE LINE</a:t>
                </a:r>
                <a:endParaRPr lang="en-US" sz="1700"/>
              </a:p>
            </p:txBody>
          </p:sp>
        </mc:Fallback>
      </mc:AlternateContent>
      <p:sp>
        <p:nvSpPr>
          <p:cNvPr id="9" name="Text 6"/>
          <p:cNvSpPr txBox="1"/>
          <p:nvPr/>
        </p:nvSpPr>
        <p:spPr>
          <a:xfrm>
            <a:off x="1092200" y="4552553"/>
            <a:ext cx="10661904" cy="3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1950" b="1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tot[q+1] = 2·tot[q] − tot[q−1] + d2[q]</a:t>
            </a:r>
            <a:endParaRPr lang="en-US" sz="19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7"/>
              <p:cNvSpPr txBox="1"/>
              <p:nvPr/>
            </p:nvSpPr>
            <p:spPr>
              <a:xfrm>
                <a:off x="1092200" y="4950023"/>
                <a:ext cx="10661904" cy="78009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925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9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b>
                      <m:e>
                        <m:r>
                          <m:rPr>
                            <m:sty m:val="p"/>
                          </m:rPr>
                          <a:rPr lang="en-US" sz="19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9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sz="19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9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US" sz="19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9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9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US" sz="19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9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sz="19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9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m:rPr>
                        <m:sty m:val="p"/>
                      </m:rPr>
                      <a:rPr lang="en-US" sz="19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US" sz="1950" i="0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m:rPr>
                                <m:sty m:val="p"/>
                              </m:rPr>
                              <a:rPr lang="en-US" sz="1950" i="0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  <m:r>
                              <m:rPr>
                                <m:sty m:val="p"/>
                              </m:rPr>
                              <a:rPr lang="en-US" sz="1950" i="0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sz="19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19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US" sz="1950" i="0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m:rPr>
                                <m:sty m:val="p"/>
                              </m:rPr>
                              <a:rPr lang="en-US" sz="1950" i="0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  <m:r>
                              <m:rPr>
                                <m:sty m:val="p"/>
                              </m:rPr>
                              <a:rPr lang="en-US" sz="1950" i="0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sz="19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m:rPr>
                                <m:sty m:val="p"/>
                              </m:rPr>
                              <a:rPr lang="en-US" sz="1950" i="0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950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sz="19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US" sz="19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en-US" sz="19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9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19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　i.e. </a:t>
                </a:r>
                <a:r>
                  <a:rPr lang="en-US" sz="195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new slope = old slope + change of slope</a:t>
                </a:r>
                <a:r>
                  <a:rPr lang="en-US" sz="19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Start from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US" sz="19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9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sz="19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9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9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US" sz="19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9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sz="1950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9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9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950"/>
              </a:p>
            </p:txBody>
          </p:sp>
        </mc:Choice>
        <mc:Fallback>
          <p:sp>
            <p:nvSpPr>
              <p:cNvPr id="10" name="Text 7"/>
              <p:cNvSpPr txBox="1"/>
              <p:nvPr/>
            </p:nvSpPr>
            <p:spPr>
              <a:xfrm>
                <a:off x="1092200" y="4950023"/>
                <a:ext cx="10661904" cy="78009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925"/>
                  </a:lnSpc>
                  <a:buNone/>
                </a:pPr>
                <a:r>
                  <a:rPr lang="en-US" sz="19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⇔ tot[q+1] − tot[q] = (tot[q] − tot[q−1]) + d2[q]　i.e. </a:t>
                </a:r>
                <a:r>
                  <a:rPr lang="en-US" sz="1950" b="1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new slope = old slope + change of slope</a:t>
                </a:r>
                <a:r>
                  <a:rPr lang="en-US" sz="19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Start from tot[0], tot[1].</a:t>
                </a:r>
                <a:endParaRPr lang="en-US" sz="195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8"/>
              <p:cNvSpPr txBox="1"/>
              <p:nvPr/>
            </p:nvSpPr>
            <p:spPr>
              <a:xfrm>
                <a:off x="812800" y="5997773"/>
                <a:ext cx="11200384" cy="4533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255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10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10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m:rPr>
                            <m:sty m:val="p"/>
                          </m:rPr>
                          <a:rPr lang="en-US" sz="2100" b="1" i="0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210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m:rPr>
                        <m:sty m:val="p"/>
                      </m:rPr>
                      <a:rPr lang="en-US" sz="2100" b="1" i="0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10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10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m:rPr>
                            <m:sty m:val="p"/>
                          </m:rPr>
                          <a:rPr lang="en-US" sz="2100" b="1" i="0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10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US" sz="2100" b="1" i="0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100" b="1" i="1">
                            <a:solidFill>
                              <a:srgbClr val="0A405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endParaRPr lang="en-US" sz="2100"/>
              </a:p>
            </p:txBody>
          </p:sp>
        </mc:Choice>
        <mc:Fallback>
          <p:sp>
            <p:nvSpPr>
              <p:cNvPr id="11" name="Text 8"/>
              <p:cNvSpPr txBox="1"/>
              <p:nvPr/>
            </p:nvSpPr>
            <p:spPr>
              <a:xfrm>
                <a:off x="812800" y="5997773"/>
                <a:ext cx="11200384" cy="4533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255"/>
                  </a:lnSpc>
                  <a:buNone/>
                </a:pPr>
                <a:r>
                  <a:rPr lang="en-US" sz="2100" b="1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O(T·L) → O(T log N + L)</a:t>
                </a:r>
                <a:endParaRPr lang="en-US" sz="2100"/>
              </a:p>
            </p:txBody>
          </p:sp>
        </mc:Fallback>
      </mc:AlternateContent>
      <p:sp>
        <p:nvSpPr>
          <p:cNvPr id="12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WORK IT BY HAND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TRIP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US" sz="390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STRIP 3 (SAMPLE 1)</a:t>
                </a:r>
                <a:endParaRPr lang="en-US" sz="3900" dirty="0"/>
              </a:p>
            </p:txBody>
          </p:sp>
        </mc:Choice>
        <mc:Fallback>
          <p:sp>
            <p:nvSpPr>
              <p:cNvPr id="3" name="Text 1"/>
              <p:cNvSpPr txBox="1"/>
              <p:nvPr/>
            </p:nvSpPr>
            <p:spPr>
              <a:xfrm>
                <a:off x="812800" y="11303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TRIP X = 4 TO STRIP 3 (SAMPLE 1)</a:t>
                </a:r>
                <a:endParaRPr lang="en-US" sz="3900" dirty="0"/>
              </a:p>
            </p:txBody>
          </p:sp>
        </mc:Fallback>
      </mc:AlternateContent>
      <p:sp>
        <p:nvSpPr>
          <p:cNvPr id="4" name="Text 2"/>
          <p:cNvSpPr txBox="1"/>
          <p:nvPr/>
        </p:nvSpPr>
        <p:spPr>
          <a:xfrm>
            <a:off x="812800" y="19030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Bridges: River 1 at 2 and 6, River 2 at 4. Old cost = ___</a:t>
            </a:r>
            <a:endParaRPr lang="en-US" sz="22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364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1690588"/>
                    <a:gridCol w="1267916"/>
                    <a:gridCol w="1267916"/>
                    <a:gridCol w="1267916"/>
                    <a:gridCol w="1267916"/>
                    <a:gridCol w="1267916"/>
                    <a:gridCol w="1267916"/>
                    <a:gridCol w="1268313"/>
                  </a:tblGrid>
                  <a:tr h="4826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8577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oMath>
                          </a14:m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826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oMath>
                          </a14:m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0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24364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1690588"/>
                    <a:gridCol w="1267916"/>
                    <a:gridCol w="1267916"/>
                    <a:gridCol w="1267916"/>
                    <a:gridCol w="1267916"/>
                    <a:gridCol w="1267916"/>
                    <a:gridCol w="1267916"/>
                    <a:gridCol w="1268313"/>
                  </a:tblGrid>
                  <a:tr h="4826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3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5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6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7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8577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w(p)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826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d2[p]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 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880"/>
                            </a:lnSpc>
                            <a:buNone/>
                          </a:pPr>
                          <a:r>
                            <a:rPr lang="en-US" sz="24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—</a:t>
                          </a:r>
                          <a:endParaRPr lang="en-US" sz="24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3"/>
              <p:cNvSpPr txBox="1"/>
              <p:nvPr/>
            </p:nvSpPr>
            <p:spPr>
              <a:xfrm>
                <a:off x="812800" y="4093766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Whole sample, new bridge on River 1 at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total = ___</a:t>
                </a:r>
                <a:endParaRPr lang="en-US" sz="2250" dirty="0"/>
              </a:p>
            </p:txBody>
          </p:sp>
        </mc:Choice>
        <mc:Fallback>
          <p:sp>
            <p:nvSpPr>
              <p:cNvPr id="6" name="Text 3"/>
              <p:cNvSpPr txBox="1"/>
              <p:nvPr/>
            </p:nvSpPr>
            <p:spPr>
              <a:xfrm>
                <a:off x="812800" y="4093766"/>
                <a:ext cx="11200384" cy="3730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2700"/>
                  </a:lnSpc>
                  <a:buNone/>
                </a:pPr>
                <a:r>
                  <a:rPr lang="en-US" sz="225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Whole sample, new bridge on River 1 at p = 4: total = ___</a:t>
                </a:r>
                <a:endParaRPr lang="en-US" sz="2250" dirty="0"/>
              </a:p>
            </p:txBody>
          </p:sp>
        </mc:Fallback>
      </mc:AlternateContent>
      <p:sp>
        <p:nvSpPr>
          <p:cNvPr id="7" name="Text 4"/>
          <p:cNvSpPr txBox="1"/>
          <p:nvPr/>
        </p:nvSpPr>
        <p:spPr>
          <a:xfrm>
            <a:off x="2501900" y="29972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3771900" y="29972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041900" y="29972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305550" y="29972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575550" y="29972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845550" y="29972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0109200" y="29972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3771900" y="34798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5041900" y="34798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305550" y="34798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7575550" y="34798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845550" y="34798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7194550" y="18224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7473950" y="401320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PROGRAM FLOW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 BEFORE THE CODE</a:t>
            </a:r>
            <a:endParaRPr lang="en-US" sz="3250"/>
          </a:p>
        </p:txBody>
      </p:sp>
      <p:pic>
        <p:nvPicPr>
          <p:cNvPr id="4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663700"/>
            <a:ext cx="10566400" cy="406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PSEUDOCODE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STEPS, THREE HELPERS</a:t>
            </a:r>
            <a:endParaRPr lang="en-US" sz="3900"/>
          </a:p>
        </p:txBody>
      </p:sp>
      <p:sp>
        <p:nvSpPr>
          <p:cNvPr id="4" name="Shape 2"/>
          <p:cNvSpPr/>
          <p:nvPr/>
        </p:nvSpPr>
        <p:spPr>
          <a:xfrm>
            <a:off x="812800" y="1852216"/>
            <a:ext cx="10566400" cy="4451350"/>
          </a:xfrm>
          <a:prstGeom prst="roundRect">
            <a:avLst>
              <a:gd name="adj" fmla="val 1141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10966"/>
            <a:ext cx="11042650" cy="416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① read the bridges, sort each river; read the trips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② for each trip (X, S):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u1, w1 = pred(1, X), succ(1, X)        </a:t>
            </a:r>
            <a:r>
              <a:rPr lang="en-US" sz="15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Binary Search: nearest bridges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u2, w2 = pred(2, X), succ(2, X)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oldCost = shortest trip with the existing bridges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addTrip(1);  addTrip(2)                </a:t>
            </a:r>
            <a:r>
              <a:rPr lang="en-US" sz="15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d2 only at the turning points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③ build(1);  build(2)                         </a:t>
            </a:r>
            <a:r>
              <a:rPr lang="en-US" sz="15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two prefix sums → tot[w][p]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④ scan p = 0 … L, keep the smallest tot[1][p] and tot[2][p]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⑤ print it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f(w, p)    = this trip's cost if the new bridge is at p on river w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addTrip(w) : tot[w][0] += f(w, 0);  tot[w][1] += f(w, 1)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for each candidate turning point q: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    d2[w][q] += f(w, q+1) − 2·f(w, q) + f(w, q−1)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CORE CODE 1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65"/>
              </a:lnSpc>
              <a:buNone/>
            </a:pPr>
            <a:r>
              <a:rPr lang="en-US" sz="31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TRIP'S COST, STRAIGHT FROM THE PROBLEM</a:t>
            </a:r>
            <a:endParaRPr lang="en-US" sz="3100"/>
          </a:p>
        </p:txBody>
      </p:sp>
      <p:sp>
        <p:nvSpPr>
          <p:cNvPr id="4" name="Shape 2"/>
          <p:cNvSpPr/>
          <p:nvPr/>
        </p:nvSpPr>
        <p:spPr>
          <a:xfrm>
            <a:off x="812800" y="1735435"/>
            <a:ext cx="10566400" cy="4603750"/>
          </a:xfrm>
          <a:prstGeom prst="roundRect">
            <a:avLst>
              <a:gd name="adj" fmla="val 1103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1894185"/>
            <a:ext cx="11042650" cy="431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go to Strip 2: cross River 1 at bridge a, walk back to X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 long way2(long long a){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 (a &lt; 0) return INF;                    </a:t>
            </a:r>
            <a:r>
              <a:rPr lang="en-US" sz="12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no such bridge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 1 + 2 * abs(X - a);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go to Strip 3: River 1 bridge a, River 2 bridge b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 long way3(long long a, long long b){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 (a &lt; 0 || b &lt; 0) return INF;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 2 + 2 * (max(X, max(a, b)) - min(X, min(a, b)));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this trip's cost if the new bridge is at p on river w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 long f(int w, long long p){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 long c = oldCost;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 (S == 2 &amp;&amp; w == 1) c = min(c, way2(p));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 (S == 3 &amp;&amp; w == 1) c = min(c, min(way3(p, u2), way3(p, w2)));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 (S == 3 &amp;&amp; w == 2) c = min(c, min(way3(u1, p), way3(w1, p)));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 c;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CORE CODE 2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98"/>
              </a:lnSpc>
              <a:buNone/>
            </a:pPr>
            <a:r>
              <a:rPr lang="en-US" sz="36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POINTS, THEN TWO PREFIX SUMS</a:t>
            </a:r>
            <a:endParaRPr lang="en-US" sz="36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812800" y="1815703"/>
                <a:ext cx="11200384" cy="12401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15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bends only where the best route changes: at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at the nearest bridges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and at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1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1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(two routes equally long). It also bends where it reaches oldCost,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steps from one of those points.</a:t>
                </a:r>
                <a:endParaRPr lang="en-US" sz="2100"/>
              </a:p>
            </p:txBody>
          </p:sp>
        </mc:Choice>
        <mc:Fallback>
          <p:sp>
            <p:nvSpPr>
              <p:cNvPr id="4" name="Text 2"/>
              <p:cNvSpPr txBox="1"/>
              <p:nvPr/>
            </p:nvSpPr>
            <p:spPr>
              <a:xfrm>
                <a:off x="812800" y="1815703"/>
                <a:ext cx="11200384" cy="12401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150"/>
                  </a:lnSpc>
                  <a:buNone/>
                </a:pPr>
                <a:r>
                  <a:rPr lang="en-US" sz="2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 bends only where the best route changes: at X, at the nearest bridges a, b, and at a + b − X (two routes equally long). It also bends where it reaches oldCost, k steps from one of those points.</a:t>
                </a:r>
                <a:endParaRPr lang="en-US" sz="210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 txBox="1"/>
              <p:nvPr/>
            </p:nvSpPr>
            <p:spPr>
              <a:xfrm>
                <a:off x="812800" y="3092053"/>
                <a:ext cx="11200384" cy="4400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150"/>
                  </a:lnSpc>
                  <a:buNone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Extra candidates are harmless: where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does not bend, 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US" sz="2100" i="0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US" sz="2100" i="0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1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100"/>
              </a:p>
            </p:txBody>
          </p:sp>
        </mc:Choice>
        <mc:Fallback>
          <p:sp>
            <p:nvSpPr>
              <p:cNvPr id="5" name="Text 3"/>
              <p:cNvSpPr txBox="1"/>
              <p:nvPr/>
            </p:nvSpPr>
            <p:spPr>
              <a:xfrm>
                <a:off x="812800" y="3092053"/>
                <a:ext cx="11200384" cy="4400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3150"/>
                  </a:lnSpc>
                  <a:buNone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Extra candidates are harmless: where f does not bend, f(q+1) − 2f(q) + f(q−1) = 0.</a:t>
                </a:r>
                <a:endParaRPr lang="en-US" sz="2100"/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812800" y="3669903"/>
            <a:ext cx="10566400" cy="2698750"/>
          </a:xfrm>
          <a:prstGeom prst="roundRect">
            <a:avLst>
              <a:gd name="adj" fmla="val 1882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22350" y="3828653"/>
            <a:ext cx="11042650" cy="2405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a, b = nearest bridges on the OTHER river;  oldCost = (S − 1) + 2k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 points:  X,  a,  b,  a + b − X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candidates:  every key point,  and every key point ± k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 each candidate q (once, 1 &lt;= q &lt;= L − 1)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d2[w][q] += f(w, q + 1) - 2 * f(w, q) + f(w, q - 1);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 two prefix sums in one line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 (int q = 1; q + 1 &lt;= L; q ++)</a:t>
            </a:r>
            <a:endParaRPr lang="en-US" sz="125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tot[w][q+1] = 2 * tot[w][q] - tot[w][q-1] + d2[w][q];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CORE CODE 2, TWO EXAMPLES</a:t>
            </a:r>
            <a:endParaRPr lang="en-US" sz="1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/>
              <p:cNvSpPr txBox="1"/>
              <p:nvPr/>
            </p:nvSpPr>
            <p:spPr>
              <a:xfrm>
                <a:off x="812800" y="10795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WHERE DOES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3900" b="1" kern="0" spc="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BEND?</a:t>
                </a:r>
                <a:endParaRPr lang="en-US" sz="3900"/>
              </a:p>
            </p:txBody>
          </p:sp>
        </mc:Choice>
        <mc:Fallback>
          <p:sp>
            <p:nvSpPr>
              <p:cNvPr id="3" name="Text 1"/>
              <p:cNvSpPr txBox="1"/>
              <p:nvPr/>
            </p:nvSpPr>
            <p:spPr>
              <a:xfrm>
                <a:off x="812800" y="10795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4485"/>
                  </a:lnSpc>
                  <a:buNone/>
                </a:pPr>
                <a:r>
                  <a:rPr lang="en-US" sz="3900" b="1" kern="0" spc="10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WHERE DOES F BEND?</a:t>
                </a:r>
                <a:endParaRPr lang="en-US" sz="3900"/>
              </a:p>
            </p:txBody>
          </p:sp>
        </mc:Fallback>
      </mc:AlternateContent>
      <p:pic>
        <p:nvPicPr>
          <p:cNvPr id="4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801416"/>
            <a:ext cx="10566400" cy="34514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2"/>
              <p:cNvSpPr txBox="1"/>
              <p:nvPr/>
            </p:nvSpPr>
            <p:spPr>
              <a:xfrm>
                <a:off x="812800" y="5405239"/>
                <a:ext cx="11200384" cy="6742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18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Strip 3, existing River 1 bridge at 11 → oldCost = 16,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18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Every red circle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8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is a key point or a key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8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1800"/>
              </a:p>
            </p:txBody>
          </p:sp>
        </mc:Choice>
        <mc:Fallback>
          <p:sp>
            <p:nvSpPr>
              <p:cNvPr id="5" name="Text 2"/>
              <p:cNvSpPr txBox="1"/>
              <p:nvPr/>
            </p:nvSpPr>
            <p:spPr>
              <a:xfrm>
                <a:off x="812800" y="5405239"/>
                <a:ext cx="11200384" cy="6742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18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X = 4 to Strip 3, existing River 1 bridge at 11 → oldCost = 16, k = 7. Every red circle (d2 ≠ 0) is a key point or a key point ± k.</a:t>
                </a:r>
                <a:endParaRPr lang="en-US" sz="1800"/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WHY SO FEW TURNING POINTS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TWO TROUGHS COME APART?</a:t>
            </a:r>
            <a:endParaRPr lang="en-US" sz="3900"/>
          </a:p>
        </p:txBody>
      </p:sp>
      <p:pic>
        <p:nvPicPr>
          <p:cNvPr id="4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801416"/>
            <a:ext cx="10566400" cy="34514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2"/>
              <p:cNvSpPr txBox="1"/>
              <p:nvPr/>
            </p:nvSpPr>
            <p:spPr>
              <a:xfrm>
                <a:off x="812800" y="5405239"/>
                <a:ext cx="11200384" cy="6742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18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No. Their flat parts meet at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and the two lines always cross once at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inside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"/>
                        <m:grow/>
                      </m:dPr>
                      <m:e>
                        <m:r>
                          <a:rPr lang="en-US" sz="18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solidFill>
                              <a:srgbClr val="4D55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18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So the minimum has a single dip.</a:t>
                </a:r>
                <a:endParaRPr lang="en-US" sz="1800"/>
              </a:p>
            </p:txBody>
          </p:sp>
        </mc:Choice>
        <mc:Fallback>
          <p:sp>
            <p:nvSpPr>
              <p:cNvPr id="5" name="Text 2"/>
              <p:cNvSpPr txBox="1"/>
              <p:nvPr/>
            </p:nvSpPr>
            <p:spPr>
              <a:xfrm>
                <a:off x="812800" y="5405239"/>
                <a:ext cx="11200384" cy="6742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18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No. Their flat parts meet at X, and the two lines always cross once at a + b − X, inside [a, b]. So the minimum has a single dip.</a:t>
                </a:r>
                <a:endParaRPr lang="en-US" sz="1800"/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E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20 MINUTES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SPACESHIP SHUFFLE FROM SCRATCH</a:t>
            </a:r>
            <a:endParaRPr lang="en-US" sz="35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812800" y="1844675"/>
                <a:ext cx="11094720" cy="2514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Read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(arrays from index 1, long long)</a:t>
                </a:r>
                <a:endParaRPr lang="en-US" sz="225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p[i] = p[i-1] + a[i] - b[i]</a:t>
                </a:r>
                <a:endParaRPr lang="en-US" sz="225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Copy into q, sort, take q[(n+1)/2]</a:t>
                </a:r>
                <a:endParaRPr lang="en-US" sz="225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Add up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50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US" sz="2250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25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Test the samples: expect 5, 6, 3</a:t>
                </a:r>
                <a:endParaRPr lang="en-US" sz="2250"/>
              </a:p>
            </p:txBody>
          </p:sp>
        </mc:Choice>
        <mc:Fallback>
          <p:sp>
            <p:nvSpPr>
              <p:cNvPr id="4" name="Text 2"/>
              <p:cNvSpPr txBox="1"/>
              <p:nvPr/>
            </p:nvSpPr>
            <p:spPr>
              <a:xfrm>
                <a:off x="812800" y="1844675"/>
                <a:ext cx="11094720" cy="2514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Read N, A, B (arrays from index 1, long long)</a:t>
                </a:r>
                <a:endParaRPr lang="en-US" sz="225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p[i] = p[i-1] + a[i] - b[i]</a:t>
                </a:r>
                <a:endParaRPr lang="en-US" sz="225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Copy into q, sort, take q[(n+1)/2]</a:t>
                </a:r>
                <a:endParaRPr lang="en-US" sz="225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Add up |p[i] − med|</a:t>
                </a:r>
                <a:endParaRPr lang="en-US" sz="225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Test the samples: expect 5, 6, 3</a:t>
                </a:r>
                <a:endParaRPr lang="en-US" sz="225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 txBox="1"/>
              <p:nvPr/>
            </p:nvSpPr>
            <p:spPr>
              <a:xfrm>
                <a:off x="812800" y="4476750"/>
                <a:ext cx="11200384" cy="6496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Finished early? Print the "cut the chain" answer (</a:t>
                </a:r>
                <a14:m>
                  <m:oMath xmlns:m="http://schemas.openxmlformats.org/officeDocument/2006/math"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US" sz="2100" i="0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00" i="1">
                        <a:solidFill>
                          <a:srgbClr val="4D55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too and compare: sample 2 gives 10 vs 6.</a:t>
                </a:r>
                <a:endParaRPr lang="en-US" sz="2100"/>
              </a:p>
            </p:txBody>
          </p:sp>
        </mc:Choice>
        <mc:Fallback>
          <p:sp>
            <p:nvSpPr>
              <p:cNvPr id="5" name="Text 3"/>
              <p:cNvSpPr txBox="1"/>
              <p:nvPr/>
            </p:nvSpPr>
            <p:spPr>
              <a:xfrm>
                <a:off x="812800" y="4476750"/>
                <a:ext cx="11200384" cy="6496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520"/>
                  </a:lnSpc>
                  <a:buNone/>
                </a:pPr>
                <a:r>
                  <a:rPr lang="en-US" sz="2100">
                    <a:solidFill>
                      <a:srgbClr val="4D556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Finished early? Print the "cut the chain" answer (f = 0) too and compare: sample 2 gives 10 vs 6.</a:t>
                </a:r>
                <a:endParaRPr lang="en-US" sz="2100"/>
              </a:p>
            </p:txBody>
          </p:sp>
        </mc:Fallback>
      </mc:AlternateContent>
      <p:sp>
        <p:nvSpPr>
          <p:cNvPr id="6" name="Text 4"/>
          <p:cNvSpPr txBox="1"/>
          <p:nvPr/>
        </p:nvSpPr>
        <p:spPr>
          <a:xfrm>
            <a:off x="812800" y="528955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orac2.info/problem/1198</a:t>
            </a:r>
            <a:endParaRPr lang="en-US" sz="195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FACES OF PREFIX SUM</a:t>
            </a:r>
            <a:endParaRPr lang="en-US" sz="390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914400"/>
        </p:xfrm>
        <a:graphic>
          <a:graphicData uri="http://schemas.openxmlformats.org/drawingml/2006/table">
            <a:tbl>
              <a:tblPr/>
              <a:tblGrid>
                <a:gridCol w="2747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9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0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Prefix Sum is used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Also uses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 = flow on each edge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Greedy: the median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 prefix value + net change per round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Division: rounds each bin survives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 Rivers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 differences + two prefix sums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Search: nearest bridge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47476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"running total", "per round" or "range"? Think Prefix Sum first.</a:t>
            </a:r>
            <a:endParaRPr lang="en-US" sz="240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LESSON 2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094720" cy="30003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Tennis Robot II: full program (one round of prefix sums + division + simulate one round) · </a:t>
                </a:r>
                <a:r>
                  <a:rPr lang="en-US" sz="2250" u="sng">
                    <a:solidFill>
                      <a:srgbClr val="28767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orac2.info/problem/1466</a:t>
                </a:r>
                <a:endParaRPr lang="en-US" sz="225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Twin Rivers subtasks 1–2: brute force over </a:t>
                </a:r>
                <a14:m>
                  <m:oMath xmlns:m="http://schemas.openxmlformats.org/officeDocument/2006/math">
                    <m:r>
                      <a:rPr lang="en-US" sz="2250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first, then second differences · </a:t>
                </a:r>
                <a:r>
                  <a:rPr lang="en-US" sz="2250" u="sng">
                    <a:solidFill>
                      <a:srgbClr val="28767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orac2.info/problem/1462</a:t>
                </a:r>
                <a:endParaRPr lang="en-US" sz="225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Think: if each edge in Spaceship has its own price per person, does the median still work?</a:t>
                </a:r>
                <a:endParaRPr lang="en-US" sz="2250"/>
              </a:p>
            </p:txBody>
          </p:sp>
        </mc:Choice>
        <mc:Fallback>
          <p:sp>
            <p:nvSpPr>
              <p:cNvPr id="4" name="Text 2"/>
              <p:cNvSpPr txBox="1"/>
              <p:nvPr/>
            </p:nvSpPr>
            <p:spPr>
              <a:xfrm>
                <a:off x="812800" y="1903016"/>
                <a:ext cx="11094720" cy="30003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Tennis Robot II: full program (one round of prefix sums + division + simulate one round) · </a:t>
                </a:r>
                <a:r>
                  <a:rPr lang="en-US" sz="2250" u="sng">
                    <a:solidFill>
                      <a:srgbClr val="28767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orac2.info/problem/1466</a:t>
                </a:r>
                <a:endParaRPr lang="en-US" sz="225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Twin Rivers subtasks 1–2: brute force over p first, then second differences · </a:t>
                </a:r>
                <a:r>
                  <a:rPr lang="en-US" sz="2250" u="sng">
                    <a:solidFill>
                      <a:srgbClr val="28767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orac2.info/problem/1462</a:t>
                </a:r>
                <a:endParaRPr lang="en-US" sz="2250"/>
              </a:p>
              <a:p>
                <a:pPr marL="371475" indent="-371475">
                  <a:lnSpc>
                    <a:spcPts val="3825"/>
                  </a:lnSpc>
                  <a:buSzPct val="100000"/>
                  <a:buFont typeface="+mj-lt"/>
                  <a:buAutoNum type="arabicPeriod"/>
                </a:pPr>
                <a:r>
                  <a:rPr lang="en-US" sz="225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Think: if each edge in Spaceship has its own price per person, does the median still work?</a:t>
                </a:r>
                <a:endParaRPr lang="en-US" sz="2250"/>
              </a:p>
            </p:txBody>
          </p:sp>
        </mc:Fallback>
      </mc:AlternateContent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COMPLEXITY RECAP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sty m:val="p"/>
                          </m:rPr>
                          <a:rPr lang="en-US" sz="39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m:rPr>
                            <m:sty m:val="p"/>
                          </m:rPr>
                          <a:rPr lang="en-US" sz="39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US" sz="39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endParaRPr lang="en-US" sz="3900" dirty="0"/>
              </a:p>
            </p:txBody>
          </p:sp>
        </mc:Choice>
        <mc:Fallback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O(L · T) TO O(T LOG N + L)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7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8522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5494536"/>
                    <a:gridCol w="2324596"/>
                    <a:gridCol w="2747268"/>
                  </a:tblGrid>
                  <a:tr h="4381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4767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, rescan all bridges for every trip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21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100" b="1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1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100" b="1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1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C8373A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C8373A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e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29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, nearest bridges found once by Binary Search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21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100" b="1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1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C8373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C8373A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e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29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Second differences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at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turning points +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two prefix sums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21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100" b="1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US" sz="21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100" b="1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1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2100" i="1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4.6</m:t>
                              </m:r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e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7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8522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5494536"/>
                    <a:gridCol w="2324596"/>
                    <a:gridCol w="2747268"/>
                  </a:tblGrid>
                  <a:tr h="4381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4767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p, rescan all bridges for every trip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O(L · T · N)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4 × 10¹⁶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29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p, nearest bridges found once by Binary Search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O(L · T)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2 × 10¹¹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29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Second differences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at O(1) turning points +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two prefix sums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O(T log N + L)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≈ 4.6 × 10⁶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2"/>
              <p:cNvSpPr txBox="1"/>
              <p:nvPr/>
            </p:nvSpPr>
            <p:spPr>
              <a:xfrm>
                <a:off x="812800" y="440491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Each trip writes only a few numbers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50" b="1" i="0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US" sz="2250" b="1" i="0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; two prefix sums then give the total cost at every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at once.</a:t>
                </a:r>
                <a:endParaRPr lang="en-US" sz="2250" dirty="0"/>
              </a:p>
            </p:txBody>
          </p:sp>
        </mc:Choice>
        <mc:Fallback>
          <p:sp>
            <p:nvSpPr>
              <p:cNvPr id="5" name="Text 2"/>
              <p:cNvSpPr txBox="1"/>
              <p:nvPr/>
            </p:nvSpPr>
            <p:spPr>
              <a:xfrm>
                <a:off x="812800" y="440491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Each trip writes only a few numbers into d2; two prefix sums then give the total cost at every p at once.</a:t>
                </a:r>
                <a:endParaRPr lang="en-US" sz="2250" dirty="0"/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 · COMPLEXITY RECAP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3900" b="1" i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STEPS TO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US" sz="39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endParaRPr lang="en-US" sz="3900" dirty="0"/>
              </a:p>
            </p:txBody>
          </p:sp>
        </mc:Choice>
        <mc:Fallback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2 × 10¹¹ STEPS TO O(N + M)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8522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5494536"/>
                    <a:gridCol w="2324596"/>
                    <a:gridCol w="2747268"/>
                  </a:tblGrid>
                  <a:tr h="4381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61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Simulate every instruction until a bin is empty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rPr>
                                      <m:nor/>
                                      <m:sty m:val="p"/>
                                    </m:rPr>
                                    <a:rPr lang="en-US" sz="2100" b="1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rounds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100" b="1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1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</m:d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up to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C8373A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C8373A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e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29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One round with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Sum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) + binary search on the rounds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d>
                                    <m:dPr>
                                      <m:begChr m:val="("/>
                                      <m:endChr m:val=")"/>
                                      <m:sepChr m:val=""/>
                                      <m:grow/>
                                    </m:dPr>
                                    <m:e>
                                      <m:r>
                                        <a:rPr lang="en-US" sz="2100" b="1" i="1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100" b="1" i="0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100" b="1" i="1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sz="2100" b="1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US" sz="21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2100" i="1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e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29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One round with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Sum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+ one division per bin, then simulate one round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21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100" b="1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1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</m:d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2100" i="1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e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21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8522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5494536"/>
                    <a:gridCol w="2324596"/>
                    <a:gridCol w="2747268"/>
                  </a:tblGrid>
                  <a:tr h="4381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61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Simulate every instruction until a bin is empty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O(rounds · M)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up to 2 × 10¹¹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29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One round with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Sum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(mn, d) + binary search on the rounds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O((N + M) log X)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≈ 8 × 10⁶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29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One round with </a:t>
                          </a: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Sum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+ one division per bin, then simulate one round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O(N + M)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≈ 4 × 10⁵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Text 2"/>
          <p:cNvSpPr txBox="1"/>
          <p:nvPr/>
        </p:nvSpPr>
        <p:spPr>
          <a:xfrm>
            <a:off x="812800" y="470336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 summarises a whole round in one pass; division jumps straight to the first round that fails.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COMPLEXITY RECAP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sSup>
                          <m:e>
                            <m: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3900" b="1" i="1">
                                <a:solidFill>
                                  <a:srgbClr val="1F2328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3900" b="1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US" sz="3900" b="1" i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3900" b="1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US" sz="3900" dirty="0"/>
              </a:p>
            </p:txBody>
          </p:sp>
        </mc:Choice>
        <mc:Fallback>
          <p:sp>
            <p:nvSpPr>
              <p:cNvPr id="3" name="Text 1"/>
              <p:cNvSpPr txBox="1"/>
              <p:nvPr/>
            </p:nvSpPr>
            <p:spPr>
              <a:xfrm>
                <a:off x="812800" y="1104900"/>
                <a:ext cx="11200384" cy="6438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4485"/>
                  </a:lnSpc>
                  <a:buNone/>
                </a:pPr>
                <a:r>
                  <a:rPr lang="en-US" sz="3900" b="1" spc="100" kern="0" dirty="0">
                    <a:solidFill>
                      <a:srgbClr val="1F232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FROM O(N²) TO O(N LOG N)</a:t>
                </a:r>
                <a:endParaRPr lang="en-US" sz="39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8522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5494536"/>
                    <a:gridCol w="2324596"/>
                    <a:gridCol w="2747268"/>
                  </a:tblGrid>
                  <a:tr h="4381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61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flow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across edge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up to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21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100" b="1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100" b="1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∑</m:t>
                                  </m:r>
                                  <m:r>
                                    <a:rPr lang="en-US" sz="21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e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445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Only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can be best: try each one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sSup>
                                    <m:e>
                                      <m:r>
                                        <a:rPr lang="en-US" sz="2100" b="1" i="1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p>
                                      <m:r>
                                        <a:rPr lang="en-US" sz="2100" b="1" i="1">
                                          <a:solidFill>
                                            <a:srgbClr val="1F232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e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C8373A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29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Sum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flows </a:t>
                          </a:r>
                          <a14:m>
                            <m:oMath xmlns:m="http://schemas.openxmlformats.org/officeDocument/2006/math">
                              <m:sSub>
                                <m:e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100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+ the median (one sort)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100" b="1" i="1">
                                  <a:solidFill>
                                    <a:srgbClr val="1F2328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21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100" b="1" i="0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US" sz="2100" b="1" i="1">
                                      <a:solidFill>
                                        <a:srgbClr val="1F2328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oMath>
                          </a14:m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sz="2100" i="1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1.7</m:t>
                              </m:r>
                              <m:r>
                                <m:rPr>
                                  <m:sty m:val="p"/>
                                </m:rPr>
                                <a:rPr lang="en-US" sz="2100" i="0">
                                  <a:solidFill>
                                    <a:srgbClr val="287673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e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287673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9011935"/>
                  </p:ext>
                </p:extLst>
              </p:nvPr>
            </p:nvGraphicFramePr>
            <p:xfrm>
              <a:off x="812800" y="1852216"/>
              <a:ext cx="10566400" cy="914400"/>
            </p:xfrm>
            <a:graphic>
              <a:graphicData uri="http://schemas.openxmlformats.org/drawingml/2006/table">
                <a:tbl>
                  <a:tblPr/>
                  <a:tblGrid>
                    <a:gridCol w="5494536"/>
                    <a:gridCol w="2324596"/>
                    <a:gridCol w="2747268"/>
                  </a:tblGrid>
                  <a:tr h="4381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Approach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Time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Operations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7620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12700" cap="flat" cmpd="sng" algn="ctr">
                          <a:solidFill>
                            <a:srgbClr val="1F232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6125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Try every flow f across edge N → 1 (|f| up to ΣA)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O(N · ΣA)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10¹⁵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4450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Only f = −P[i] can be best: try each one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O(N²)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C8373A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10¹⁰ ✗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2950"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Prefix Sum</a:t>
                          </a:r>
                          <a:r>
                            <a:rPr lang="en-US" sz="2100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 flows P[i] + the median (one sort)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1F2328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O(N log N)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indent="0" marL="0">
                            <a:lnSpc>
                              <a:spcPts val="2520"/>
                            </a:lnSpc>
                            <a:buNone/>
                          </a:pPr>
                          <a:r>
                            <a:rPr lang="en-US" sz="2100" dirty="0">
                              <a:solidFill>
                                <a:srgbClr val="287673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≈ 1.7 × 10⁶ ✓</a:t>
                          </a:r>
                          <a:endParaRPr lang="en-US" sz="21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1600" marR="101600" marT="63500" marB="69850" anchor="t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6350" cap="flat" cmpd="sng" algn="ctr">
                          <a:solidFill>
                            <a:srgbClr val="DADDE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6F3F2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2"/>
              <p:cNvSpPr txBox="1"/>
              <p:nvPr/>
            </p:nvSpPr>
            <p:spPr>
              <a:xfrm>
                <a:off x="812800" y="440491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Prefix Sum turns the ring into points on a line; the median picks the best </a:t>
                </a:r>
                <a14:m>
                  <m:oMath xmlns:m="http://schemas.openxmlformats.org/officeDocument/2006/math">
                    <m:r>
                      <a:rPr lang="en-US" sz="2250" b="1" i="1">
                        <a:solidFill>
                          <a:srgbClr val="0A4054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without trying them all.</a:t>
                </a:r>
                <a:endParaRPr lang="en-US" sz="2250" dirty="0"/>
              </a:p>
            </p:txBody>
          </p:sp>
        </mc:Choice>
        <mc:Fallback>
          <p:sp>
            <p:nvSpPr>
              <p:cNvPr id="5" name="Text 2"/>
              <p:cNvSpPr txBox="1"/>
              <p:nvPr/>
            </p:nvSpPr>
            <p:spPr>
              <a:xfrm>
                <a:off x="812800" y="4404916"/>
                <a:ext cx="11200384" cy="9001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indent="0" marL="0">
                  <a:lnSpc>
                    <a:spcPts val="3375"/>
                  </a:lnSpc>
                  <a:buNone/>
                </a:pPr>
                <a:r>
                  <a:rPr lang="en-US" sz="2250" b="1" dirty="0">
                    <a:solidFill>
                      <a:srgbClr val="0A40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Prefix Sum turns the ring into points on a line; the median picks the best f without trying them all.</a:t>
                </a:r>
                <a:endParaRPr lang="en-US" sz="2250" dirty="0"/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36</Slides>
  <Notes>36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AIO Lessons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1: Prefix Sum</dc:title>
  <dc:subject>PptxGenJS Presentation</dc:subject>
  <dc:creator>Bryan</dc:creator>
  <cp:revision>1</cp:revision>
  <dcterms:created xsi:type="dcterms:W3CDTF">2026-10-02T13:29:13Z</dcterms:created>
  <dcterms:modified xsi:type="dcterms:W3CDTF">2026-10-03T13:22:39Z</dcterms:modified>
</cp:coreProperties>
</file>