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Today's goal: recognise sliding-window problems and code them cleanly in C++. Two named AIO problems anchor the two patterns. Set expectations: ~1 hour, two worked problems, then two exercises they'll code themselves.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tour. Two halves: the two window flavours, then general tooling, then hands-on. Tell them the exercises come with test cases so they get real feedback.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eye to the overlap between the three highlighted windows — they share almost everything. That shared work is what we're paying for twice. Plant the question: can we reuse it? (~2.5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course in one line. Everything else is variations on which summary you keep and how the two edges move. Say the mantra out loud; make them repeat it.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Naming the pattern early pays off. Most mistakes come from forcing a fixed window onto a variable-window problem. The tell is in the question: 'exactly K' vs 'longest/shortest satisfying a condition'.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to the first pattern. Keep it snappy. (~0.5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them eyeball the answer before you reveal it — 11 from the tail 4,1,6. Gets them engaged with the structure.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scores partial marks and is worth writing first in a contest to lock in easy subtasks. But we can do better by killing the inner loop.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Physically point at the unchanged middle. This picture is the justification for the O(1) update — make sure it lands before showing code.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three phases: read, build first window (O(K)), slide (O(1) each). Note the deliberately classic style — arrays not vectors, scanf not cin — because that's what they'll write under contest constraints.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back to prefix sums if they've seen that tutorial: same asymptotics, different tool. Choice is taste.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pattern that gives the technique its name. This is the harder, more examinable half. (~0.5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constraints at once (enough chairs AND enough dry) makes this richer than Mansion. Make sure they parse N-K = dry needed. (~2.5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Again: write this first in a real contest for guaranteed partial marks, then optimise. The break helps but doesn't change the worst case.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crux slide. If they leave with one idea, it's this. The right pointer only moving forward is what makes the sweep both correct and linear. Ask them to explain why in their own words before revealing the panel.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resume-don't-reset point on step 1 is the single most common place students accidentally fall back to O(C^2). Emphasise r lives OUTSIDE the outer loop.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it live on the C=10 example if time allows. Point out r is declared before the for-loop — that single placement is the difference between O(C) and O(C^2).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examinable idea and the one students most often get wrong when asked to justify complexity. Have them articulate the charging argument. Fast enough for 100.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them this skeleton to copy. Sometimes roles swap (loop l, push r) as in Wet Chairs — same idea, choose whichever makes 'valid' easiest to state.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map one-to-one to the errors you'll see when marking their exercises. Reset-the-fast-pointer and recompute-don't-repair are the big two. (~2.5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Balance the enthusiasm — students over-apply this. The Snack Bar exercise works precisely because prices are positive; flag that link.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the statements and tests here. Budget the remaining class time for them to attempt at least Exercise 1. (~0.5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Warm-up. Most should finish this fast. Watch for people who re-sum the window — nudge them to the add/subtract update.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real two-pointer practice. Common bugs: resetting the left pointer per r, and forgetting the empty-window case (test 03/04 catch it).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progressively if you're walking the room. The 'Both' hint is the meta-lesson of the whole class.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them to photograph this slide. It's the reference they'll actually use in a contest.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takeaway line. Point them at the ORAC exercises to keep practising. Thank them.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118"/>
        </a:solidFill>
      </p:bgPr>
    </p:bg>
    <p:spTree>
      <p:nvGrpSpPr>
        <p:cNvPr id="1" name=""/>
        <p:cNvGrpSpPr/>
        <p:nvPr/>
      </p:nvGrpSpPr>
      <p:grpSpPr>
        <a:xfrm>
          <a:off x="0" y="0"/>
          <a:ext cx="0" cy="0"/>
          <a:chOff x="0" y="0"/>
          <a:chExt cx="0" cy="0"/>
        </a:xfrm>
      </p:grpSpPr>
      <p:sp>
        <p:nvSpPr>
          <p:cNvPr id="2" name="Shape 0"/>
          <p:cNvSpPr/>
          <p:nvPr/>
        </p:nvSpPr>
        <p:spPr>
          <a:xfrm>
            <a:off x="2331720" y="960120"/>
            <a:ext cx="658368" cy="658368"/>
          </a:xfrm>
          <a:prstGeom prst="roundRect">
            <a:avLst>
              <a:gd name="adj" fmla="val 8333"/>
            </a:avLst>
          </a:prstGeom>
          <a:solidFill>
            <a:srgbClr val="20242E"/>
          </a:solidFill>
          <a:ln w="15875">
            <a:solidFill>
              <a:srgbClr val="2A3140"/>
            </a:solidFill>
            <a:prstDash val="solid"/>
          </a:ln>
        </p:spPr>
      </p:sp>
      <p:sp>
        <p:nvSpPr>
          <p:cNvPr id="3" name="Text 1"/>
          <p:cNvSpPr/>
          <p:nvPr/>
        </p:nvSpPr>
        <p:spPr>
          <a:xfrm>
            <a:off x="2331720" y="960120"/>
            <a:ext cx="658368" cy="65836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3</a:t>
            </a:r>
            <a:endParaRPr lang="en-US" sz="1500" dirty="0"/>
          </a:p>
        </p:txBody>
      </p:sp>
      <p:sp>
        <p:nvSpPr>
          <p:cNvPr id="4" name="Shape 2"/>
          <p:cNvSpPr/>
          <p:nvPr/>
        </p:nvSpPr>
        <p:spPr>
          <a:xfrm>
            <a:off x="3118104" y="960120"/>
            <a:ext cx="658368" cy="658368"/>
          </a:xfrm>
          <a:prstGeom prst="roundRect">
            <a:avLst>
              <a:gd name="adj" fmla="val 8333"/>
            </a:avLst>
          </a:prstGeom>
          <a:solidFill>
            <a:srgbClr val="20242E"/>
          </a:solidFill>
          <a:ln w="15875">
            <a:solidFill>
              <a:srgbClr val="2A3140"/>
            </a:solidFill>
            <a:prstDash val="solid"/>
          </a:ln>
        </p:spPr>
      </p:sp>
      <p:sp>
        <p:nvSpPr>
          <p:cNvPr id="5" name="Text 3"/>
          <p:cNvSpPr/>
          <p:nvPr/>
        </p:nvSpPr>
        <p:spPr>
          <a:xfrm>
            <a:off x="3118104" y="960120"/>
            <a:ext cx="658368" cy="65836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1</a:t>
            </a:r>
            <a:endParaRPr lang="en-US" sz="1500" dirty="0"/>
          </a:p>
        </p:txBody>
      </p:sp>
      <p:sp>
        <p:nvSpPr>
          <p:cNvPr id="6" name="Shape 4"/>
          <p:cNvSpPr/>
          <p:nvPr/>
        </p:nvSpPr>
        <p:spPr>
          <a:xfrm>
            <a:off x="3904488" y="960120"/>
            <a:ext cx="658368" cy="658368"/>
          </a:xfrm>
          <a:prstGeom prst="roundRect">
            <a:avLst>
              <a:gd name="adj" fmla="val 8333"/>
            </a:avLst>
          </a:prstGeom>
          <a:solidFill>
            <a:srgbClr val="10312E"/>
          </a:solidFill>
          <a:ln w="15875">
            <a:solidFill>
              <a:srgbClr val="34D8C0"/>
            </a:solidFill>
            <a:prstDash val="solid"/>
          </a:ln>
        </p:spPr>
      </p:sp>
      <p:sp>
        <p:nvSpPr>
          <p:cNvPr id="7" name="Text 5"/>
          <p:cNvSpPr/>
          <p:nvPr/>
        </p:nvSpPr>
        <p:spPr>
          <a:xfrm>
            <a:off x="3904488" y="960120"/>
            <a:ext cx="658368" cy="65836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4</a:t>
            </a:r>
            <a:endParaRPr lang="en-US" sz="1500" dirty="0"/>
          </a:p>
        </p:txBody>
      </p:sp>
      <p:sp>
        <p:nvSpPr>
          <p:cNvPr id="8" name="Shape 6"/>
          <p:cNvSpPr/>
          <p:nvPr/>
        </p:nvSpPr>
        <p:spPr>
          <a:xfrm>
            <a:off x="4690872" y="960120"/>
            <a:ext cx="658368" cy="658368"/>
          </a:xfrm>
          <a:prstGeom prst="roundRect">
            <a:avLst>
              <a:gd name="adj" fmla="val 8333"/>
            </a:avLst>
          </a:prstGeom>
          <a:solidFill>
            <a:srgbClr val="10312E"/>
          </a:solidFill>
          <a:ln w="15875">
            <a:solidFill>
              <a:srgbClr val="34D8C0"/>
            </a:solidFill>
            <a:prstDash val="solid"/>
          </a:ln>
        </p:spPr>
      </p:sp>
      <p:sp>
        <p:nvSpPr>
          <p:cNvPr id="9" name="Text 7"/>
          <p:cNvSpPr/>
          <p:nvPr/>
        </p:nvSpPr>
        <p:spPr>
          <a:xfrm>
            <a:off x="4690872" y="960120"/>
            <a:ext cx="658368" cy="65836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1</a:t>
            </a:r>
            <a:endParaRPr lang="en-US" sz="1500" dirty="0"/>
          </a:p>
        </p:txBody>
      </p:sp>
      <p:sp>
        <p:nvSpPr>
          <p:cNvPr id="10" name="Shape 8"/>
          <p:cNvSpPr/>
          <p:nvPr/>
        </p:nvSpPr>
        <p:spPr>
          <a:xfrm>
            <a:off x="5477256" y="960120"/>
            <a:ext cx="658368" cy="658368"/>
          </a:xfrm>
          <a:prstGeom prst="roundRect">
            <a:avLst>
              <a:gd name="adj" fmla="val 8333"/>
            </a:avLst>
          </a:prstGeom>
          <a:solidFill>
            <a:srgbClr val="10312E"/>
          </a:solidFill>
          <a:ln w="15875">
            <a:solidFill>
              <a:srgbClr val="34D8C0"/>
            </a:solidFill>
            <a:prstDash val="solid"/>
          </a:ln>
        </p:spPr>
      </p:sp>
      <p:sp>
        <p:nvSpPr>
          <p:cNvPr id="11" name="Text 9"/>
          <p:cNvSpPr/>
          <p:nvPr/>
        </p:nvSpPr>
        <p:spPr>
          <a:xfrm>
            <a:off x="5477256" y="960120"/>
            <a:ext cx="658368" cy="65836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5</a:t>
            </a:r>
            <a:endParaRPr lang="en-US" sz="1500" dirty="0"/>
          </a:p>
        </p:txBody>
      </p:sp>
      <p:sp>
        <p:nvSpPr>
          <p:cNvPr id="12" name="Shape 10"/>
          <p:cNvSpPr/>
          <p:nvPr/>
        </p:nvSpPr>
        <p:spPr>
          <a:xfrm>
            <a:off x="6263640" y="960120"/>
            <a:ext cx="658368" cy="658368"/>
          </a:xfrm>
          <a:prstGeom prst="roundRect">
            <a:avLst>
              <a:gd name="adj" fmla="val 8333"/>
            </a:avLst>
          </a:prstGeom>
          <a:solidFill>
            <a:srgbClr val="20242E"/>
          </a:solidFill>
          <a:ln w="15875">
            <a:solidFill>
              <a:srgbClr val="2A3140"/>
            </a:solidFill>
            <a:prstDash val="solid"/>
          </a:ln>
        </p:spPr>
      </p:sp>
      <p:sp>
        <p:nvSpPr>
          <p:cNvPr id="13" name="Text 11"/>
          <p:cNvSpPr/>
          <p:nvPr/>
        </p:nvSpPr>
        <p:spPr>
          <a:xfrm>
            <a:off x="6263640" y="960120"/>
            <a:ext cx="658368" cy="65836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9</a:t>
            </a:r>
            <a:endParaRPr lang="en-US" sz="1500" dirty="0"/>
          </a:p>
        </p:txBody>
      </p:sp>
      <p:sp>
        <p:nvSpPr>
          <p:cNvPr id="14" name="Shape 12"/>
          <p:cNvSpPr/>
          <p:nvPr/>
        </p:nvSpPr>
        <p:spPr>
          <a:xfrm>
            <a:off x="7050024" y="960120"/>
            <a:ext cx="658368" cy="658368"/>
          </a:xfrm>
          <a:prstGeom prst="roundRect">
            <a:avLst>
              <a:gd name="adj" fmla="val 8333"/>
            </a:avLst>
          </a:prstGeom>
          <a:solidFill>
            <a:srgbClr val="20242E"/>
          </a:solidFill>
          <a:ln w="15875">
            <a:solidFill>
              <a:srgbClr val="2A3140"/>
            </a:solidFill>
            <a:prstDash val="solid"/>
          </a:ln>
        </p:spPr>
      </p:sp>
      <p:sp>
        <p:nvSpPr>
          <p:cNvPr id="15" name="Text 13"/>
          <p:cNvSpPr/>
          <p:nvPr/>
        </p:nvSpPr>
        <p:spPr>
          <a:xfrm>
            <a:off x="7050024" y="960120"/>
            <a:ext cx="658368" cy="65836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2</a:t>
            </a:r>
            <a:endParaRPr lang="en-US" sz="1500" dirty="0"/>
          </a:p>
        </p:txBody>
      </p:sp>
      <p:sp>
        <p:nvSpPr>
          <p:cNvPr id="16" name="Shape 14"/>
          <p:cNvSpPr/>
          <p:nvPr/>
        </p:nvSpPr>
        <p:spPr>
          <a:xfrm>
            <a:off x="7836408" y="960120"/>
            <a:ext cx="658368" cy="658368"/>
          </a:xfrm>
          <a:prstGeom prst="roundRect">
            <a:avLst>
              <a:gd name="adj" fmla="val 8333"/>
            </a:avLst>
          </a:prstGeom>
          <a:solidFill>
            <a:srgbClr val="20242E"/>
          </a:solidFill>
          <a:ln w="15875">
            <a:solidFill>
              <a:srgbClr val="2A3140"/>
            </a:solidFill>
            <a:prstDash val="solid"/>
          </a:ln>
        </p:spPr>
      </p:sp>
      <p:sp>
        <p:nvSpPr>
          <p:cNvPr id="17" name="Text 15"/>
          <p:cNvSpPr/>
          <p:nvPr/>
        </p:nvSpPr>
        <p:spPr>
          <a:xfrm>
            <a:off x="7836408" y="960120"/>
            <a:ext cx="658368" cy="65836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6</a:t>
            </a:r>
            <a:endParaRPr lang="en-US" sz="1500" dirty="0"/>
          </a:p>
        </p:txBody>
      </p:sp>
      <p:sp>
        <p:nvSpPr>
          <p:cNvPr id="18" name="Text 16"/>
          <p:cNvSpPr/>
          <p:nvPr/>
        </p:nvSpPr>
        <p:spPr>
          <a:xfrm>
            <a:off x="3904488" y="1636776"/>
            <a:ext cx="658368" cy="219456"/>
          </a:xfrm>
          <a:prstGeom prst="rect">
            <a:avLst/>
          </a:prstGeom>
          <a:noFill/>
          <a:ln/>
        </p:spPr>
        <p:txBody>
          <a:bodyPr wrap="square" lIns="0" tIns="0" rIns="0" bIns="0" rtlCol="0" anchor="ctr"/>
          <a:lstStyle/>
          <a:p>
            <a:pPr algn="ctr" indent="0" marL="0">
              <a:buNone/>
            </a:pPr>
            <a:r>
              <a:rPr lang="en-US" sz="1200" dirty="0">
                <a:solidFill>
                  <a:srgbClr val="34D8C0"/>
                </a:solidFill>
                <a:latin typeface="Calibri" pitchFamily="34" charset="0"/>
                <a:ea typeface="Calibri" pitchFamily="34" charset="-122"/>
                <a:cs typeface="Calibri" pitchFamily="34" charset="-120"/>
              </a:rPr>
              <a:t>▲</a:t>
            </a:r>
            <a:endParaRPr lang="en-US" sz="1200" dirty="0"/>
          </a:p>
        </p:txBody>
      </p:sp>
      <p:sp>
        <p:nvSpPr>
          <p:cNvPr id="19" name="Text 17"/>
          <p:cNvSpPr/>
          <p:nvPr/>
        </p:nvSpPr>
        <p:spPr>
          <a:xfrm>
            <a:off x="3904488" y="1837944"/>
            <a:ext cx="658368" cy="237744"/>
          </a:xfrm>
          <a:prstGeom prst="rect">
            <a:avLst/>
          </a:prstGeom>
          <a:noFill/>
          <a:ln/>
        </p:spPr>
        <p:txBody>
          <a:bodyPr wrap="square" lIns="0" tIns="0" rIns="0" bIns="0" rtlCol="0" anchor="ctr"/>
          <a:lstStyle/>
          <a:p>
            <a:pPr algn="ctr" indent="0" marL="0">
              <a:buNone/>
            </a:pPr>
            <a:r>
              <a:rPr lang="en-US" sz="1300" b="1" dirty="0">
                <a:solidFill>
                  <a:srgbClr val="34D8C0"/>
                </a:solidFill>
                <a:latin typeface="Courier New" pitchFamily="34" charset="0"/>
                <a:ea typeface="Courier New" pitchFamily="34" charset="-122"/>
                <a:cs typeface="Courier New" pitchFamily="34" charset="-120"/>
              </a:rPr>
              <a:t>l</a:t>
            </a:r>
            <a:endParaRPr lang="en-US" sz="1300" dirty="0"/>
          </a:p>
        </p:txBody>
      </p:sp>
      <p:sp>
        <p:nvSpPr>
          <p:cNvPr id="20" name="Text 18"/>
          <p:cNvSpPr/>
          <p:nvPr/>
        </p:nvSpPr>
        <p:spPr>
          <a:xfrm>
            <a:off x="5477256" y="1636776"/>
            <a:ext cx="658368" cy="219456"/>
          </a:xfrm>
          <a:prstGeom prst="rect">
            <a:avLst/>
          </a:prstGeom>
          <a:noFill/>
          <a:ln/>
        </p:spPr>
        <p:txBody>
          <a:bodyPr wrap="square" lIns="0" tIns="0" rIns="0" bIns="0" rtlCol="0" anchor="ctr"/>
          <a:lstStyle/>
          <a:p>
            <a:pPr algn="ctr" indent="0" marL="0">
              <a:buNone/>
            </a:pPr>
            <a:r>
              <a:rPr lang="en-US" sz="1200" dirty="0">
                <a:solidFill>
                  <a:srgbClr val="F2B441"/>
                </a:solidFill>
                <a:latin typeface="Calibri" pitchFamily="34" charset="0"/>
                <a:ea typeface="Calibri" pitchFamily="34" charset="-122"/>
                <a:cs typeface="Calibri" pitchFamily="34" charset="-120"/>
              </a:rPr>
              <a:t>▲</a:t>
            </a:r>
            <a:endParaRPr lang="en-US" sz="1200" dirty="0"/>
          </a:p>
        </p:txBody>
      </p:sp>
      <p:sp>
        <p:nvSpPr>
          <p:cNvPr id="21" name="Text 19"/>
          <p:cNvSpPr/>
          <p:nvPr/>
        </p:nvSpPr>
        <p:spPr>
          <a:xfrm>
            <a:off x="5477256" y="1837944"/>
            <a:ext cx="658368" cy="237744"/>
          </a:xfrm>
          <a:prstGeom prst="rect">
            <a:avLst/>
          </a:prstGeom>
          <a:noFill/>
          <a:ln/>
        </p:spPr>
        <p:txBody>
          <a:bodyPr wrap="square" lIns="0" tIns="0" rIns="0" bIns="0" rtlCol="0" anchor="ctr"/>
          <a:lstStyle/>
          <a:p>
            <a:pPr algn="ctr" indent="0" marL="0">
              <a:buNone/>
            </a:pPr>
            <a:r>
              <a:rPr lang="en-US" sz="1300" b="1" dirty="0">
                <a:solidFill>
                  <a:srgbClr val="F2B441"/>
                </a:solidFill>
                <a:latin typeface="Courier New" pitchFamily="34" charset="0"/>
                <a:ea typeface="Courier New" pitchFamily="34" charset="-122"/>
                <a:cs typeface="Courier New" pitchFamily="34" charset="-120"/>
              </a:rPr>
              <a:t>r</a:t>
            </a:r>
            <a:endParaRPr lang="en-US" sz="1300" dirty="0"/>
          </a:p>
        </p:txBody>
      </p:sp>
      <p:sp>
        <p:nvSpPr>
          <p:cNvPr id="22" name="Text 20"/>
          <p:cNvSpPr/>
          <p:nvPr/>
        </p:nvSpPr>
        <p:spPr>
          <a:xfrm>
            <a:off x="822960" y="2880360"/>
            <a:ext cx="3657600" cy="292608"/>
          </a:xfrm>
          <a:prstGeom prst="rect">
            <a:avLst/>
          </a:prstGeom>
          <a:noFill/>
          <a:ln/>
        </p:spPr>
        <p:txBody>
          <a:bodyPr wrap="square" lIns="0" tIns="0" rIns="0" bIns="0" rtlCol="0" anchor="ctr"/>
          <a:lstStyle/>
          <a:p>
            <a:pPr algn="l" indent="0" marL="0">
              <a:buNone/>
            </a:pPr>
            <a:r>
              <a:rPr lang="en-US" sz="1200" b="1" spc="300" kern="0" dirty="0">
                <a:solidFill>
                  <a:srgbClr val="34D8C0"/>
                </a:solidFill>
                <a:latin typeface="Calibri" pitchFamily="34" charset="0"/>
                <a:ea typeface="Calibri" pitchFamily="34" charset="-122"/>
                <a:cs typeface="Calibri" pitchFamily="34" charset="-120"/>
              </a:rPr>
              <a:t>AIO MASTERCLASS · COMPETITIVE PROGRAMMING</a:t>
            </a:r>
            <a:endParaRPr lang="en-US" sz="1200" dirty="0"/>
          </a:p>
        </p:txBody>
      </p:sp>
      <p:sp>
        <p:nvSpPr>
          <p:cNvPr id="23" name="Text 21"/>
          <p:cNvSpPr/>
          <p:nvPr/>
        </p:nvSpPr>
        <p:spPr>
          <a:xfrm>
            <a:off x="777240" y="3200400"/>
            <a:ext cx="10607040" cy="914400"/>
          </a:xfrm>
          <a:prstGeom prst="rect">
            <a:avLst/>
          </a:prstGeom>
          <a:noFill/>
          <a:ln/>
        </p:spPr>
        <p:txBody>
          <a:bodyPr wrap="square" lIns="0" tIns="0" rIns="0" bIns="0" rtlCol="0" anchor="ctr"/>
          <a:lstStyle/>
          <a:p>
            <a:pPr algn="l" indent="0" marL="0">
              <a:buNone/>
            </a:pPr>
            <a:r>
              <a:rPr lang="en-US" sz="6000" b="1" dirty="0">
                <a:solidFill>
                  <a:srgbClr val="EAECEF"/>
                </a:solidFill>
                <a:latin typeface="Cambria" pitchFamily="34" charset="0"/>
                <a:ea typeface="Cambria" pitchFamily="34" charset="-122"/>
                <a:cs typeface="Cambria" pitchFamily="34" charset="-120"/>
              </a:rPr>
              <a:t>Two Pointers</a:t>
            </a:r>
            <a:endParaRPr lang="en-US" sz="6000" dirty="0"/>
          </a:p>
        </p:txBody>
      </p:sp>
      <p:sp>
        <p:nvSpPr>
          <p:cNvPr id="24" name="Text 22"/>
          <p:cNvSpPr/>
          <p:nvPr/>
        </p:nvSpPr>
        <p:spPr>
          <a:xfrm>
            <a:off x="777240" y="4160520"/>
            <a:ext cx="10607040" cy="822960"/>
          </a:xfrm>
          <a:prstGeom prst="rect">
            <a:avLst/>
          </a:prstGeom>
          <a:noFill/>
          <a:ln/>
        </p:spPr>
        <p:txBody>
          <a:bodyPr wrap="square" lIns="0" tIns="0" rIns="0" bIns="0" rtlCol="0" anchor="ctr"/>
          <a:lstStyle/>
          <a:p>
            <a:pPr algn="l" indent="0" marL="0">
              <a:buNone/>
            </a:pPr>
            <a:r>
              <a:rPr lang="en-US" sz="4000" b="1" dirty="0">
                <a:solidFill>
                  <a:srgbClr val="34D8C0"/>
                </a:solidFill>
                <a:latin typeface="Cambria" pitchFamily="34" charset="0"/>
                <a:ea typeface="Cambria" pitchFamily="34" charset="-122"/>
                <a:cs typeface="Cambria" pitchFamily="34" charset="-120"/>
              </a:rPr>
              <a:t>&amp; the Sliding Window</a:t>
            </a:r>
            <a:endParaRPr lang="en-US" sz="4000" dirty="0"/>
          </a:p>
        </p:txBody>
      </p:sp>
      <p:sp>
        <p:nvSpPr>
          <p:cNvPr id="25" name="Text 23"/>
          <p:cNvSpPr/>
          <p:nvPr/>
        </p:nvSpPr>
        <p:spPr>
          <a:xfrm>
            <a:off x="822960" y="5120640"/>
            <a:ext cx="10058400" cy="457200"/>
          </a:xfrm>
          <a:prstGeom prst="rect">
            <a:avLst/>
          </a:prstGeom>
          <a:noFill/>
          <a:ln/>
        </p:spPr>
        <p:txBody>
          <a:bodyPr wrap="square" lIns="0" tIns="0" rIns="0" bIns="0" rtlCol="0" anchor="ctr"/>
          <a:lstStyle/>
          <a:p>
            <a:pPr algn="l" indent="0" marL="0">
              <a:buNone/>
            </a:pPr>
            <a:r>
              <a:rPr lang="en-US" sz="1700" dirty="0">
                <a:solidFill>
                  <a:srgbClr val="9AA5B4"/>
                </a:solidFill>
                <a:latin typeface="Calibri" pitchFamily="34" charset="0"/>
                <a:ea typeface="Calibri" pitchFamily="34" charset="-122"/>
                <a:cs typeface="Calibri" pitchFamily="34" charset="-120"/>
              </a:rPr>
              <a:t>Turning O(N²) scans into O(N) sweeps — with Mansion (AIO 2007) and Wet Chairs (AIO 2015)</a:t>
            </a:r>
            <a:endParaRPr lang="en-US" sz="1700" dirty="0"/>
          </a:p>
        </p:txBody>
      </p:sp>
      <p:sp>
        <p:nvSpPr>
          <p:cNvPr id="26" name="Text 24"/>
          <p:cNvSpPr/>
          <p:nvPr/>
        </p:nvSpPr>
        <p:spPr>
          <a:xfrm>
            <a:off x="822960" y="5715000"/>
            <a:ext cx="4572000" cy="365760"/>
          </a:xfrm>
          <a:prstGeom prst="rect">
            <a:avLst/>
          </a:prstGeom>
          <a:noFill/>
          <a:ln/>
        </p:spPr>
        <p:txBody>
          <a:bodyPr wrap="square" lIns="0" tIns="0" rIns="0" bIns="0" rtlCol="0" anchor="ctr"/>
          <a:lstStyle/>
          <a:p>
            <a:pPr algn="l" indent="0" marL="0">
              <a:buNone/>
            </a:pPr>
            <a:r>
              <a:rPr lang="en-US" sz="1400" i="1" dirty="0">
                <a:solidFill>
                  <a:srgbClr val="F2B441"/>
                </a:solidFill>
                <a:latin typeface="Calibri" pitchFamily="34" charset="0"/>
                <a:ea typeface="Calibri" pitchFamily="34" charset="-122"/>
                <a:cs typeface="Calibri" pitchFamily="34" charset="-120"/>
              </a:rPr>
              <a:t>~60 minute class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71F"/>
        </a:solidFill>
      </p:bgPr>
    </p:bg>
    <p:spTree>
      <p:nvGrpSpPr>
        <p:cNvPr id="1" name=""/>
        <p:cNvGrpSpPr/>
        <p:nvPr/>
      </p:nvGrpSpPr>
      <p:grpSpPr>
        <a:xfrm>
          <a:off x="0" y="0"/>
          <a:ext cx="0" cy="0"/>
          <a:chOff x="0" y="0"/>
          <a:chExt cx="0" cy="0"/>
        </a:xfrm>
      </p:grpSpPr>
      <p:sp>
        <p:nvSpPr>
          <p:cNvPr id="2" name="Text 0"/>
          <p:cNvSpPr/>
          <p:nvPr/>
        </p:nvSpPr>
        <p:spPr>
          <a:xfrm>
            <a:off x="502920" y="457200"/>
            <a:ext cx="3657600" cy="292608"/>
          </a:xfrm>
          <a:prstGeom prst="rect">
            <a:avLst/>
          </a:prstGeom>
          <a:noFill/>
          <a:ln/>
        </p:spPr>
        <p:txBody>
          <a:bodyPr wrap="square" lIns="0" tIns="0" rIns="0" bIns="0" rtlCol="0" anchor="ctr"/>
          <a:lstStyle/>
          <a:p>
            <a:pPr algn="l" indent="0" marL="0">
              <a:buNone/>
            </a:pPr>
            <a:r>
              <a:rPr lang="en-US" sz="1200" b="1" spc="300" kern="0" dirty="0">
                <a:solidFill>
                  <a:srgbClr val="34D8C0"/>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502920" y="777240"/>
            <a:ext cx="10972800" cy="822960"/>
          </a:xfrm>
          <a:prstGeom prst="rect">
            <a:avLst/>
          </a:prstGeom>
          <a:noFill/>
          <a:ln/>
        </p:spPr>
        <p:txBody>
          <a:bodyPr wrap="square" lIns="0" tIns="0" rIns="0" bIns="0" rtlCol="0" anchor="ctr"/>
          <a:lstStyle/>
          <a:p>
            <a:pPr algn="l" indent="0" marL="0">
              <a:buNone/>
            </a:pPr>
            <a:r>
              <a:rPr lang="en-US" sz="3400" b="1" dirty="0">
                <a:solidFill>
                  <a:srgbClr val="EAECEF"/>
                </a:solidFill>
                <a:latin typeface="Cambria" pitchFamily="34" charset="0"/>
                <a:ea typeface="Cambria" pitchFamily="34" charset="-122"/>
                <a:cs typeface="Cambria" pitchFamily="34" charset="-120"/>
              </a:rPr>
              <a:t>What we'll cover</a:t>
            </a:r>
            <a:endParaRPr lang="en-US" sz="3400" dirty="0"/>
          </a:p>
        </p:txBody>
      </p:sp>
      <p:sp>
        <p:nvSpPr>
          <p:cNvPr id="4" name="Shape 2"/>
          <p:cNvSpPr/>
          <p:nvPr/>
        </p:nvSpPr>
        <p:spPr>
          <a:xfrm>
            <a:off x="502920" y="1783080"/>
            <a:ext cx="3611880" cy="1371600"/>
          </a:xfrm>
          <a:prstGeom prst="roundRect">
            <a:avLst>
              <a:gd name="adj" fmla="val 6000"/>
            </a:avLst>
          </a:prstGeom>
          <a:solidFill>
            <a:srgbClr val="20242E"/>
          </a:solidFill>
          <a:ln w="12700">
            <a:solidFill>
              <a:srgbClr val="2A3140"/>
            </a:solidFill>
            <a:prstDash val="solid"/>
          </a:ln>
        </p:spPr>
      </p:sp>
      <p:sp>
        <p:nvSpPr>
          <p:cNvPr id="5" name="Text 3"/>
          <p:cNvSpPr/>
          <p:nvPr/>
        </p:nvSpPr>
        <p:spPr>
          <a:xfrm>
            <a:off x="704088" y="1947672"/>
            <a:ext cx="1097280" cy="548640"/>
          </a:xfrm>
          <a:prstGeom prst="rect">
            <a:avLst/>
          </a:prstGeom>
          <a:noFill/>
          <a:ln/>
        </p:spPr>
        <p:txBody>
          <a:bodyPr wrap="square" lIns="0" tIns="0" rIns="0" bIns="0" rtlCol="0" anchor="ctr"/>
          <a:lstStyle/>
          <a:p>
            <a:pPr algn="l" indent="0" marL="0">
              <a:buNone/>
            </a:pPr>
            <a:r>
              <a:rPr lang="en-US" sz="3000" b="1" dirty="0">
                <a:solidFill>
                  <a:srgbClr val="34D8C0"/>
                </a:solidFill>
                <a:latin typeface="Cambria" pitchFamily="34" charset="0"/>
                <a:ea typeface="Cambria" pitchFamily="34" charset="-122"/>
                <a:cs typeface="Cambria" pitchFamily="34" charset="-120"/>
              </a:rPr>
              <a:t>01</a:t>
            </a:r>
            <a:endParaRPr lang="en-US" sz="3000" dirty="0"/>
          </a:p>
        </p:txBody>
      </p:sp>
      <p:sp>
        <p:nvSpPr>
          <p:cNvPr id="6" name="Text 4"/>
          <p:cNvSpPr/>
          <p:nvPr/>
        </p:nvSpPr>
        <p:spPr>
          <a:xfrm>
            <a:off x="1463040" y="1984248"/>
            <a:ext cx="2514600" cy="457200"/>
          </a:xfrm>
          <a:prstGeom prst="rect">
            <a:avLst/>
          </a:prstGeom>
          <a:noFill/>
          <a:ln/>
        </p:spPr>
        <p:txBody>
          <a:bodyPr wrap="square" lIns="0" tIns="0" rIns="0" bIns="0" rtlCol="0" anchor="ctr"/>
          <a:lstStyle/>
          <a:p>
            <a:pPr algn="l" indent="0" marL="0">
              <a:buNone/>
            </a:pPr>
            <a:r>
              <a:rPr lang="en-US" sz="1600" b="1" dirty="0">
                <a:solidFill>
                  <a:srgbClr val="EAECEF"/>
                </a:solidFill>
                <a:latin typeface="Calibri" pitchFamily="34" charset="0"/>
                <a:ea typeface="Calibri" pitchFamily="34" charset="-122"/>
                <a:cs typeface="Calibri" pitchFamily="34" charset="-120"/>
              </a:rPr>
              <a:t>The core idea</a:t>
            </a:r>
            <a:endParaRPr lang="en-US" sz="1600" dirty="0"/>
          </a:p>
        </p:txBody>
      </p:sp>
      <p:sp>
        <p:nvSpPr>
          <p:cNvPr id="7" name="Text 5"/>
          <p:cNvSpPr/>
          <p:nvPr/>
        </p:nvSpPr>
        <p:spPr>
          <a:xfrm>
            <a:off x="722376" y="2441448"/>
            <a:ext cx="3191256" cy="640080"/>
          </a:xfrm>
          <a:prstGeom prst="rect">
            <a:avLst/>
          </a:prstGeom>
          <a:noFill/>
          <a:ln/>
        </p:spPr>
        <p:txBody>
          <a:bodyPr wrap="square" lIns="0" tIns="0" rIns="0" bIns="0" rtlCol="0" anchor="t"/>
          <a:lstStyle/>
          <a:p>
            <a:pPr algn="l" indent="0" marL="0">
              <a:buNone/>
            </a:pPr>
            <a:r>
              <a:rPr lang="en-US" sz="1250" dirty="0">
                <a:solidFill>
                  <a:srgbClr val="9AA5B4"/>
                </a:solidFill>
                <a:latin typeface="Calibri" pitchFamily="34" charset="0"/>
                <a:ea typeface="Calibri" pitchFamily="34" charset="-122"/>
                <a:cs typeface="Calibri" pitchFamily="34" charset="-120"/>
              </a:rPr>
              <a:t>Why re-scanning is wasteful, and the one-line fix: repair the window instead of rebuilding it.</a:t>
            </a:r>
            <a:endParaRPr lang="en-US" sz="1250" dirty="0"/>
          </a:p>
        </p:txBody>
      </p:sp>
      <p:sp>
        <p:nvSpPr>
          <p:cNvPr id="8" name="Shape 6"/>
          <p:cNvSpPr/>
          <p:nvPr/>
        </p:nvSpPr>
        <p:spPr>
          <a:xfrm>
            <a:off x="4370832" y="1783080"/>
            <a:ext cx="3611880" cy="1371600"/>
          </a:xfrm>
          <a:prstGeom prst="roundRect">
            <a:avLst>
              <a:gd name="adj" fmla="val 6000"/>
            </a:avLst>
          </a:prstGeom>
          <a:solidFill>
            <a:srgbClr val="20242E"/>
          </a:solidFill>
          <a:ln w="12700">
            <a:solidFill>
              <a:srgbClr val="2A3140"/>
            </a:solidFill>
            <a:prstDash val="solid"/>
          </a:ln>
        </p:spPr>
      </p:sp>
      <p:sp>
        <p:nvSpPr>
          <p:cNvPr id="9" name="Text 7"/>
          <p:cNvSpPr/>
          <p:nvPr/>
        </p:nvSpPr>
        <p:spPr>
          <a:xfrm>
            <a:off x="4572000" y="1947672"/>
            <a:ext cx="1097280" cy="548640"/>
          </a:xfrm>
          <a:prstGeom prst="rect">
            <a:avLst/>
          </a:prstGeom>
          <a:noFill/>
          <a:ln/>
        </p:spPr>
        <p:txBody>
          <a:bodyPr wrap="square" lIns="0" tIns="0" rIns="0" bIns="0" rtlCol="0" anchor="ctr"/>
          <a:lstStyle/>
          <a:p>
            <a:pPr algn="l" indent="0" marL="0">
              <a:buNone/>
            </a:pPr>
            <a:r>
              <a:rPr lang="en-US" sz="3000" b="1" dirty="0">
                <a:solidFill>
                  <a:srgbClr val="34D8C0"/>
                </a:solidFill>
                <a:latin typeface="Cambria" pitchFamily="34" charset="0"/>
                <a:ea typeface="Cambria" pitchFamily="34" charset="-122"/>
                <a:cs typeface="Cambria" pitchFamily="34" charset="-120"/>
              </a:rPr>
              <a:t>02</a:t>
            </a:r>
            <a:endParaRPr lang="en-US" sz="3000" dirty="0"/>
          </a:p>
        </p:txBody>
      </p:sp>
      <p:sp>
        <p:nvSpPr>
          <p:cNvPr id="10" name="Text 8"/>
          <p:cNvSpPr/>
          <p:nvPr/>
        </p:nvSpPr>
        <p:spPr>
          <a:xfrm>
            <a:off x="5330952" y="1984248"/>
            <a:ext cx="2514600" cy="457200"/>
          </a:xfrm>
          <a:prstGeom prst="rect">
            <a:avLst/>
          </a:prstGeom>
          <a:noFill/>
          <a:ln/>
        </p:spPr>
        <p:txBody>
          <a:bodyPr wrap="square" lIns="0" tIns="0" rIns="0" bIns="0" rtlCol="0" anchor="ctr"/>
          <a:lstStyle/>
          <a:p>
            <a:pPr algn="l" indent="0" marL="0">
              <a:buNone/>
            </a:pPr>
            <a:r>
              <a:rPr lang="en-US" sz="1600" b="1" dirty="0">
                <a:solidFill>
                  <a:srgbClr val="EAECEF"/>
                </a:solidFill>
                <a:latin typeface="Calibri" pitchFamily="34" charset="0"/>
                <a:ea typeface="Calibri" pitchFamily="34" charset="-122"/>
                <a:cs typeface="Calibri" pitchFamily="34" charset="-120"/>
              </a:rPr>
              <a:t>Fixed-size window</a:t>
            </a:r>
            <a:endParaRPr lang="en-US" sz="1600" dirty="0"/>
          </a:p>
        </p:txBody>
      </p:sp>
      <p:sp>
        <p:nvSpPr>
          <p:cNvPr id="11" name="Text 9"/>
          <p:cNvSpPr/>
          <p:nvPr/>
        </p:nvSpPr>
        <p:spPr>
          <a:xfrm>
            <a:off x="4590288" y="2441448"/>
            <a:ext cx="3191256" cy="640080"/>
          </a:xfrm>
          <a:prstGeom prst="rect">
            <a:avLst/>
          </a:prstGeom>
          <a:noFill/>
          <a:ln/>
        </p:spPr>
        <p:txBody>
          <a:bodyPr wrap="square" lIns="0" tIns="0" rIns="0" bIns="0" rtlCol="0" anchor="t"/>
          <a:lstStyle/>
          <a:p>
            <a:pPr algn="l" indent="0" marL="0">
              <a:buNone/>
            </a:pPr>
            <a:r>
              <a:rPr lang="en-US" sz="1250" dirty="0">
                <a:solidFill>
                  <a:srgbClr val="9AA5B4"/>
                </a:solidFill>
                <a:latin typeface="Calibri" pitchFamily="34" charset="0"/>
                <a:ea typeface="Calibri" pitchFamily="34" charset="-122"/>
                <a:cs typeface="Calibri" pitchFamily="34" charset="-120"/>
              </a:rPr>
              <a:t>Mansion (AIO 2007). Both edges move in lockstep. Add one, drop one.</a:t>
            </a:r>
            <a:endParaRPr lang="en-US" sz="1250" dirty="0"/>
          </a:p>
        </p:txBody>
      </p:sp>
      <p:sp>
        <p:nvSpPr>
          <p:cNvPr id="12" name="Shape 10"/>
          <p:cNvSpPr/>
          <p:nvPr/>
        </p:nvSpPr>
        <p:spPr>
          <a:xfrm>
            <a:off x="8238744" y="1783080"/>
            <a:ext cx="3611880" cy="1371600"/>
          </a:xfrm>
          <a:prstGeom prst="roundRect">
            <a:avLst>
              <a:gd name="adj" fmla="val 6000"/>
            </a:avLst>
          </a:prstGeom>
          <a:solidFill>
            <a:srgbClr val="20242E"/>
          </a:solidFill>
          <a:ln w="12700">
            <a:solidFill>
              <a:srgbClr val="2A3140"/>
            </a:solidFill>
            <a:prstDash val="solid"/>
          </a:ln>
        </p:spPr>
      </p:sp>
      <p:sp>
        <p:nvSpPr>
          <p:cNvPr id="13" name="Text 11"/>
          <p:cNvSpPr/>
          <p:nvPr/>
        </p:nvSpPr>
        <p:spPr>
          <a:xfrm>
            <a:off x="8439912" y="1947672"/>
            <a:ext cx="1097280" cy="548640"/>
          </a:xfrm>
          <a:prstGeom prst="rect">
            <a:avLst/>
          </a:prstGeom>
          <a:noFill/>
          <a:ln/>
        </p:spPr>
        <p:txBody>
          <a:bodyPr wrap="square" lIns="0" tIns="0" rIns="0" bIns="0" rtlCol="0" anchor="ctr"/>
          <a:lstStyle/>
          <a:p>
            <a:pPr algn="l" indent="0" marL="0">
              <a:buNone/>
            </a:pPr>
            <a:r>
              <a:rPr lang="en-US" sz="3000" b="1" dirty="0">
                <a:solidFill>
                  <a:srgbClr val="34D8C0"/>
                </a:solidFill>
                <a:latin typeface="Cambria" pitchFamily="34" charset="0"/>
                <a:ea typeface="Cambria" pitchFamily="34" charset="-122"/>
                <a:cs typeface="Cambria" pitchFamily="34" charset="-120"/>
              </a:rPr>
              <a:t>03</a:t>
            </a:r>
            <a:endParaRPr lang="en-US" sz="3000" dirty="0"/>
          </a:p>
        </p:txBody>
      </p:sp>
      <p:sp>
        <p:nvSpPr>
          <p:cNvPr id="14" name="Text 12"/>
          <p:cNvSpPr/>
          <p:nvPr/>
        </p:nvSpPr>
        <p:spPr>
          <a:xfrm>
            <a:off x="9198864" y="1984248"/>
            <a:ext cx="2514600" cy="457200"/>
          </a:xfrm>
          <a:prstGeom prst="rect">
            <a:avLst/>
          </a:prstGeom>
          <a:noFill/>
          <a:ln/>
        </p:spPr>
        <p:txBody>
          <a:bodyPr wrap="square" lIns="0" tIns="0" rIns="0" bIns="0" rtlCol="0" anchor="ctr"/>
          <a:lstStyle/>
          <a:p>
            <a:pPr algn="l" indent="0" marL="0">
              <a:buNone/>
            </a:pPr>
            <a:r>
              <a:rPr lang="en-US" sz="1600" b="1" dirty="0">
                <a:solidFill>
                  <a:srgbClr val="EAECEF"/>
                </a:solidFill>
                <a:latin typeface="Calibri" pitchFamily="34" charset="0"/>
                <a:ea typeface="Calibri" pitchFamily="34" charset="-122"/>
                <a:cs typeface="Calibri" pitchFamily="34" charset="-120"/>
              </a:rPr>
              <a:t>Two pointers</a:t>
            </a:r>
            <a:endParaRPr lang="en-US" sz="1600" dirty="0"/>
          </a:p>
        </p:txBody>
      </p:sp>
      <p:sp>
        <p:nvSpPr>
          <p:cNvPr id="15" name="Text 13"/>
          <p:cNvSpPr/>
          <p:nvPr/>
        </p:nvSpPr>
        <p:spPr>
          <a:xfrm>
            <a:off x="8458200" y="2441448"/>
            <a:ext cx="3191256" cy="640080"/>
          </a:xfrm>
          <a:prstGeom prst="rect">
            <a:avLst/>
          </a:prstGeom>
          <a:noFill/>
          <a:ln/>
        </p:spPr>
        <p:txBody>
          <a:bodyPr wrap="square" lIns="0" tIns="0" rIns="0" bIns="0" rtlCol="0" anchor="t"/>
          <a:lstStyle/>
          <a:p>
            <a:pPr algn="l" indent="0" marL="0">
              <a:buNone/>
            </a:pPr>
            <a:r>
              <a:rPr lang="en-US" sz="1250" dirty="0">
                <a:solidFill>
                  <a:srgbClr val="9AA5B4"/>
                </a:solidFill>
                <a:latin typeface="Calibri" pitchFamily="34" charset="0"/>
                <a:ea typeface="Calibri" pitchFamily="34" charset="-122"/>
                <a:cs typeface="Calibri" pitchFamily="34" charset="-120"/>
              </a:rPr>
              <a:t>Wet Chairs (AIO 2015). Edges move independently. Monotonicity + amortised O(N).</a:t>
            </a:r>
            <a:endParaRPr lang="en-US" sz="1250" dirty="0"/>
          </a:p>
        </p:txBody>
      </p:sp>
      <p:sp>
        <p:nvSpPr>
          <p:cNvPr id="16" name="Shape 14"/>
          <p:cNvSpPr/>
          <p:nvPr/>
        </p:nvSpPr>
        <p:spPr>
          <a:xfrm>
            <a:off x="502920" y="3447288"/>
            <a:ext cx="3611880" cy="1371600"/>
          </a:xfrm>
          <a:prstGeom prst="roundRect">
            <a:avLst>
              <a:gd name="adj" fmla="val 6000"/>
            </a:avLst>
          </a:prstGeom>
          <a:solidFill>
            <a:srgbClr val="20242E"/>
          </a:solidFill>
          <a:ln w="12700">
            <a:solidFill>
              <a:srgbClr val="2A3140"/>
            </a:solidFill>
            <a:prstDash val="solid"/>
          </a:ln>
        </p:spPr>
      </p:sp>
      <p:sp>
        <p:nvSpPr>
          <p:cNvPr id="17" name="Text 15"/>
          <p:cNvSpPr/>
          <p:nvPr/>
        </p:nvSpPr>
        <p:spPr>
          <a:xfrm>
            <a:off x="704088" y="3611880"/>
            <a:ext cx="1097280" cy="548640"/>
          </a:xfrm>
          <a:prstGeom prst="rect">
            <a:avLst/>
          </a:prstGeom>
          <a:noFill/>
          <a:ln/>
        </p:spPr>
        <p:txBody>
          <a:bodyPr wrap="square" lIns="0" tIns="0" rIns="0" bIns="0" rtlCol="0" anchor="ctr"/>
          <a:lstStyle/>
          <a:p>
            <a:pPr algn="l" indent="0" marL="0">
              <a:buNone/>
            </a:pPr>
            <a:r>
              <a:rPr lang="en-US" sz="3000" b="1" dirty="0">
                <a:solidFill>
                  <a:srgbClr val="34D8C0"/>
                </a:solidFill>
                <a:latin typeface="Cambria" pitchFamily="34" charset="0"/>
                <a:ea typeface="Cambria" pitchFamily="34" charset="-122"/>
                <a:cs typeface="Cambria" pitchFamily="34" charset="-120"/>
              </a:rPr>
              <a:t>04</a:t>
            </a:r>
            <a:endParaRPr lang="en-US" sz="3000" dirty="0"/>
          </a:p>
        </p:txBody>
      </p:sp>
      <p:sp>
        <p:nvSpPr>
          <p:cNvPr id="18" name="Text 16"/>
          <p:cNvSpPr/>
          <p:nvPr/>
        </p:nvSpPr>
        <p:spPr>
          <a:xfrm>
            <a:off x="1463040" y="3648456"/>
            <a:ext cx="2514600" cy="457200"/>
          </a:xfrm>
          <a:prstGeom prst="rect">
            <a:avLst/>
          </a:prstGeom>
          <a:noFill/>
          <a:ln/>
        </p:spPr>
        <p:txBody>
          <a:bodyPr wrap="square" lIns="0" tIns="0" rIns="0" bIns="0" rtlCol="0" anchor="ctr"/>
          <a:lstStyle/>
          <a:p>
            <a:pPr algn="l" indent="0" marL="0">
              <a:buNone/>
            </a:pPr>
            <a:r>
              <a:rPr lang="en-US" sz="1600" b="1" dirty="0">
                <a:solidFill>
                  <a:srgbClr val="EAECEF"/>
                </a:solidFill>
                <a:latin typeface="Calibri" pitchFamily="34" charset="0"/>
                <a:ea typeface="Calibri" pitchFamily="34" charset="-122"/>
                <a:cs typeface="Calibri" pitchFamily="34" charset="-120"/>
              </a:rPr>
              <a:t>Template &amp; pitfalls</a:t>
            </a:r>
            <a:endParaRPr lang="en-US" sz="1600" dirty="0"/>
          </a:p>
        </p:txBody>
      </p:sp>
      <p:sp>
        <p:nvSpPr>
          <p:cNvPr id="19" name="Text 17"/>
          <p:cNvSpPr/>
          <p:nvPr/>
        </p:nvSpPr>
        <p:spPr>
          <a:xfrm>
            <a:off x="722376" y="4105656"/>
            <a:ext cx="3191256" cy="640080"/>
          </a:xfrm>
          <a:prstGeom prst="rect">
            <a:avLst/>
          </a:prstGeom>
          <a:noFill/>
          <a:ln/>
        </p:spPr>
        <p:txBody>
          <a:bodyPr wrap="square" lIns="0" tIns="0" rIns="0" bIns="0" rtlCol="0" anchor="t"/>
          <a:lstStyle/>
          <a:p>
            <a:pPr algn="l" indent="0" marL="0">
              <a:buNone/>
            </a:pPr>
            <a:r>
              <a:rPr lang="en-US" sz="1250" dirty="0">
                <a:solidFill>
                  <a:srgbClr val="9AA5B4"/>
                </a:solidFill>
                <a:latin typeface="Calibri" pitchFamily="34" charset="0"/>
                <a:ea typeface="Calibri" pitchFamily="34" charset="-122"/>
                <a:cs typeface="Calibri" pitchFamily="34" charset="-120"/>
              </a:rPr>
              <a:t>A reusable skeleton, the three questions to ask, and the bugs that cost marks.</a:t>
            </a:r>
            <a:endParaRPr lang="en-US" sz="1250" dirty="0"/>
          </a:p>
        </p:txBody>
      </p:sp>
      <p:sp>
        <p:nvSpPr>
          <p:cNvPr id="20" name="Shape 18"/>
          <p:cNvSpPr/>
          <p:nvPr/>
        </p:nvSpPr>
        <p:spPr>
          <a:xfrm>
            <a:off x="4370832" y="3447288"/>
            <a:ext cx="3611880" cy="1371600"/>
          </a:xfrm>
          <a:prstGeom prst="roundRect">
            <a:avLst>
              <a:gd name="adj" fmla="val 6000"/>
            </a:avLst>
          </a:prstGeom>
          <a:solidFill>
            <a:srgbClr val="20242E"/>
          </a:solidFill>
          <a:ln w="12700">
            <a:solidFill>
              <a:srgbClr val="2A3140"/>
            </a:solidFill>
            <a:prstDash val="solid"/>
          </a:ln>
        </p:spPr>
      </p:sp>
      <p:sp>
        <p:nvSpPr>
          <p:cNvPr id="21" name="Text 19"/>
          <p:cNvSpPr/>
          <p:nvPr/>
        </p:nvSpPr>
        <p:spPr>
          <a:xfrm>
            <a:off x="4572000" y="3611880"/>
            <a:ext cx="1097280" cy="548640"/>
          </a:xfrm>
          <a:prstGeom prst="rect">
            <a:avLst/>
          </a:prstGeom>
          <a:noFill/>
          <a:ln/>
        </p:spPr>
        <p:txBody>
          <a:bodyPr wrap="square" lIns="0" tIns="0" rIns="0" bIns="0" rtlCol="0" anchor="ctr"/>
          <a:lstStyle/>
          <a:p>
            <a:pPr algn="l" indent="0" marL="0">
              <a:buNone/>
            </a:pPr>
            <a:r>
              <a:rPr lang="en-US" sz="3000" b="1" dirty="0">
                <a:solidFill>
                  <a:srgbClr val="34D8C0"/>
                </a:solidFill>
                <a:latin typeface="Cambria" pitchFamily="34" charset="0"/>
                <a:ea typeface="Cambria" pitchFamily="34" charset="-122"/>
                <a:cs typeface="Cambria" pitchFamily="34" charset="-120"/>
              </a:rPr>
              <a:t>05</a:t>
            </a:r>
            <a:endParaRPr lang="en-US" sz="3000" dirty="0"/>
          </a:p>
        </p:txBody>
      </p:sp>
      <p:sp>
        <p:nvSpPr>
          <p:cNvPr id="22" name="Text 20"/>
          <p:cNvSpPr/>
          <p:nvPr/>
        </p:nvSpPr>
        <p:spPr>
          <a:xfrm>
            <a:off x="5330952" y="3648456"/>
            <a:ext cx="2514600" cy="457200"/>
          </a:xfrm>
          <a:prstGeom prst="rect">
            <a:avLst/>
          </a:prstGeom>
          <a:noFill/>
          <a:ln/>
        </p:spPr>
        <p:txBody>
          <a:bodyPr wrap="square" lIns="0" tIns="0" rIns="0" bIns="0" rtlCol="0" anchor="ctr"/>
          <a:lstStyle/>
          <a:p>
            <a:pPr algn="l" indent="0" marL="0">
              <a:buNone/>
            </a:pPr>
            <a:r>
              <a:rPr lang="en-US" sz="1600" b="1" dirty="0">
                <a:solidFill>
                  <a:srgbClr val="EAECEF"/>
                </a:solidFill>
                <a:latin typeface="Calibri" pitchFamily="34" charset="0"/>
                <a:ea typeface="Calibri" pitchFamily="34" charset="-122"/>
                <a:cs typeface="Calibri" pitchFamily="34" charset="-120"/>
              </a:rPr>
              <a:t>Exercise: Assembly Line</a:t>
            </a:r>
            <a:endParaRPr lang="en-US" sz="1600" dirty="0"/>
          </a:p>
        </p:txBody>
      </p:sp>
      <p:sp>
        <p:nvSpPr>
          <p:cNvPr id="23" name="Text 21"/>
          <p:cNvSpPr/>
          <p:nvPr/>
        </p:nvSpPr>
        <p:spPr>
          <a:xfrm>
            <a:off x="4590288" y="4105656"/>
            <a:ext cx="3191256" cy="640080"/>
          </a:xfrm>
          <a:prstGeom prst="rect">
            <a:avLst/>
          </a:prstGeom>
          <a:noFill/>
          <a:ln/>
        </p:spPr>
        <p:txBody>
          <a:bodyPr wrap="square" lIns="0" tIns="0" rIns="0" bIns="0" rtlCol="0" anchor="t"/>
          <a:lstStyle/>
          <a:p>
            <a:pPr algn="l" indent="0" marL="0">
              <a:buNone/>
            </a:pPr>
            <a:r>
              <a:rPr lang="en-US" sz="1250" dirty="0">
                <a:solidFill>
                  <a:srgbClr val="9AA5B4"/>
                </a:solidFill>
                <a:latin typeface="Calibri" pitchFamily="34" charset="0"/>
                <a:ea typeface="Calibri" pitchFamily="34" charset="-122"/>
                <a:cs typeface="Calibri" pitchFamily="34" charset="-120"/>
              </a:rPr>
              <a:t>Code a fixed-window solution against real test data.</a:t>
            </a:r>
            <a:endParaRPr lang="en-US" sz="1250" dirty="0"/>
          </a:p>
        </p:txBody>
      </p:sp>
      <p:sp>
        <p:nvSpPr>
          <p:cNvPr id="24" name="Shape 22"/>
          <p:cNvSpPr/>
          <p:nvPr/>
        </p:nvSpPr>
        <p:spPr>
          <a:xfrm>
            <a:off x="8238744" y="3447288"/>
            <a:ext cx="3611880" cy="1371600"/>
          </a:xfrm>
          <a:prstGeom prst="roundRect">
            <a:avLst>
              <a:gd name="adj" fmla="val 6000"/>
            </a:avLst>
          </a:prstGeom>
          <a:solidFill>
            <a:srgbClr val="20242E"/>
          </a:solidFill>
          <a:ln w="12700">
            <a:solidFill>
              <a:srgbClr val="2A3140"/>
            </a:solidFill>
            <a:prstDash val="solid"/>
          </a:ln>
        </p:spPr>
      </p:sp>
      <p:sp>
        <p:nvSpPr>
          <p:cNvPr id="25" name="Text 23"/>
          <p:cNvSpPr/>
          <p:nvPr/>
        </p:nvSpPr>
        <p:spPr>
          <a:xfrm>
            <a:off x="8439912" y="3611880"/>
            <a:ext cx="1097280" cy="548640"/>
          </a:xfrm>
          <a:prstGeom prst="rect">
            <a:avLst/>
          </a:prstGeom>
          <a:noFill/>
          <a:ln/>
        </p:spPr>
        <p:txBody>
          <a:bodyPr wrap="square" lIns="0" tIns="0" rIns="0" bIns="0" rtlCol="0" anchor="ctr"/>
          <a:lstStyle/>
          <a:p>
            <a:pPr algn="l" indent="0" marL="0">
              <a:buNone/>
            </a:pPr>
            <a:r>
              <a:rPr lang="en-US" sz="3000" b="1" dirty="0">
                <a:solidFill>
                  <a:srgbClr val="34D8C0"/>
                </a:solidFill>
                <a:latin typeface="Cambria" pitchFamily="34" charset="0"/>
                <a:ea typeface="Cambria" pitchFamily="34" charset="-122"/>
                <a:cs typeface="Cambria" pitchFamily="34" charset="-120"/>
              </a:rPr>
              <a:t>06</a:t>
            </a:r>
            <a:endParaRPr lang="en-US" sz="3000" dirty="0"/>
          </a:p>
        </p:txBody>
      </p:sp>
      <p:sp>
        <p:nvSpPr>
          <p:cNvPr id="26" name="Text 24"/>
          <p:cNvSpPr/>
          <p:nvPr/>
        </p:nvSpPr>
        <p:spPr>
          <a:xfrm>
            <a:off x="9198864" y="3648456"/>
            <a:ext cx="2514600" cy="457200"/>
          </a:xfrm>
          <a:prstGeom prst="rect">
            <a:avLst/>
          </a:prstGeom>
          <a:noFill/>
          <a:ln/>
        </p:spPr>
        <p:txBody>
          <a:bodyPr wrap="square" lIns="0" tIns="0" rIns="0" bIns="0" rtlCol="0" anchor="ctr"/>
          <a:lstStyle/>
          <a:p>
            <a:pPr algn="l" indent="0" marL="0">
              <a:buNone/>
            </a:pPr>
            <a:r>
              <a:rPr lang="en-US" sz="1600" b="1" dirty="0">
                <a:solidFill>
                  <a:srgbClr val="EAECEF"/>
                </a:solidFill>
                <a:latin typeface="Calibri" pitchFamily="34" charset="0"/>
                <a:ea typeface="Calibri" pitchFamily="34" charset="-122"/>
                <a:cs typeface="Calibri" pitchFamily="34" charset="-120"/>
              </a:rPr>
              <a:t>Exercise: Snack Bar</a:t>
            </a:r>
            <a:endParaRPr lang="en-US" sz="1600" dirty="0"/>
          </a:p>
        </p:txBody>
      </p:sp>
      <p:sp>
        <p:nvSpPr>
          <p:cNvPr id="27" name="Text 25"/>
          <p:cNvSpPr/>
          <p:nvPr/>
        </p:nvSpPr>
        <p:spPr>
          <a:xfrm>
            <a:off x="8458200" y="4105656"/>
            <a:ext cx="3191256" cy="640080"/>
          </a:xfrm>
          <a:prstGeom prst="rect">
            <a:avLst/>
          </a:prstGeom>
          <a:noFill/>
          <a:ln/>
        </p:spPr>
        <p:txBody>
          <a:bodyPr wrap="square" lIns="0" tIns="0" rIns="0" bIns="0" rtlCol="0" anchor="t"/>
          <a:lstStyle/>
          <a:p>
            <a:pPr algn="l" indent="0" marL="0">
              <a:buNone/>
            </a:pPr>
            <a:r>
              <a:rPr lang="en-US" sz="1250" dirty="0">
                <a:solidFill>
                  <a:srgbClr val="9AA5B4"/>
                </a:solidFill>
                <a:latin typeface="Calibri" pitchFamily="34" charset="0"/>
                <a:ea typeface="Calibri" pitchFamily="34" charset="-122"/>
                <a:cs typeface="Calibri" pitchFamily="34" charset="-120"/>
              </a:rPr>
              <a:t>Code a two-pointer solution against real test data.</a:t>
            </a:r>
            <a:endParaRPr lang="en-US" sz="1250" dirty="0"/>
          </a:p>
        </p:txBody>
      </p:sp>
      <p:sp>
        <p:nvSpPr>
          <p:cNvPr id="28" name="Text 26"/>
          <p:cNvSpPr/>
          <p:nvPr/>
        </p:nvSpPr>
        <p:spPr>
          <a:xfrm>
            <a:off x="502920" y="6455664"/>
            <a:ext cx="5486400" cy="274320"/>
          </a:xfrm>
          <a:prstGeom prst="rect">
            <a:avLst/>
          </a:prstGeom>
          <a:noFill/>
          <a:ln/>
        </p:spPr>
        <p:txBody>
          <a:bodyPr wrap="square" lIns="0" tIns="0" rIns="0" bIns="0" rtlCol="0" anchor="ctr"/>
          <a:lstStyle/>
          <a:p>
            <a:pPr algn="l" indent="0" marL="0">
              <a:buNone/>
            </a:pPr>
            <a:r>
              <a:rPr lang="en-US" sz="1000" dirty="0">
                <a:solidFill>
                  <a:srgbClr val="9AA5B4"/>
                </a:solidFill>
                <a:latin typeface="Calibri" pitchFamily="34" charset="0"/>
                <a:ea typeface="Calibri" pitchFamily="34" charset="-122"/>
                <a:cs typeface="Calibri" pitchFamily="34" charset="-120"/>
              </a:rPr>
              <a:t>Two Pointers &amp; Sliding Window</a:t>
            </a:r>
            <a:endParaRPr lang="en-US" sz="1000" dirty="0"/>
          </a:p>
        </p:txBody>
      </p:sp>
      <p:sp>
        <p:nvSpPr>
          <p:cNvPr id="29" name="Text 27"/>
          <p:cNvSpPr/>
          <p:nvPr/>
        </p:nvSpPr>
        <p:spPr>
          <a:xfrm>
            <a:off x="11228832" y="6455664"/>
            <a:ext cx="457200" cy="274320"/>
          </a:xfrm>
          <a:prstGeom prst="rect">
            <a:avLst/>
          </a:prstGeom>
          <a:noFill/>
          <a:ln/>
        </p:spPr>
        <p:txBody>
          <a:bodyPr wrap="square" lIns="0" tIns="0" rIns="0" bIns="0" rtlCol="0" anchor="ctr"/>
          <a:lstStyle/>
          <a:p>
            <a:pPr algn="r" indent="0" marL="0">
              <a:buNone/>
            </a:pPr>
            <a:r>
              <a:rPr lang="en-US" sz="1000" dirty="0">
                <a:solidFill>
                  <a:srgbClr val="9AA5B4"/>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71F"/>
        </a:solidFill>
      </p:bgPr>
    </p:bg>
    <p:spTree>
      <p:nvGrpSpPr>
        <p:cNvPr id="1" name=""/>
        <p:cNvGrpSpPr/>
        <p:nvPr/>
      </p:nvGrpSpPr>
      <p:grpSpPr>
        <a:xfrm>
          <a:off x="0" y="0"/>
          <a:ext cx="0" cy="0"/>
          <a:chOff x="0" y="0"/>
          <a:chExt cx="0" cy="0"/>
        </a:xfrm>
      </p:grpSpPr>
      <p:sp>
        <p:nvSpPr>
          <p:cNvPr id="2" name="Text 0"/>
          <p:cNvSpPr/>
          <p:nvPr/>
        </p:nvSpPr>
        <p:spPr>
          <a:xfrm>
            <a:off x="502920" y="457200"/>
            <a:ext cx="3657600" cy="292608"/>
          </a:xfrm>
          <a:prstGeom prst="rect">
            <a:avLst/>
          </a:prstGeom>
          <a:noFill/>
          <a:ln/>
        </p:spPr>
        <p:txBody>
          <a:bodyPr wrap="square" lIns="0" tIns="0" rIns="0" bIns="0" rtlCol="0" anchor="ctr"/>
          <a:lstStyle/>
          <a:p>
            <a:pPr algn="l" indent="0" marL="0">
              <a:buNone/>
            </a:pPr>
            <a:r>
              <a:rPr lang="en-US" sz="1200" b="1" spc="300" kern="0" dirty="0">
                <a:solidFill>
                  <a:srgbClr val="F2B441"/>
                </a:solidFill>
                <a:latin typeface="Calibri" pitchFamily="34" charset="0"/>
                <a:ea typeface="Calibri" pitchFamily="34" charset="-122"/>
                <a:cs typeface="Calibri" pitchFamily="34" charset="-120"/>
              </a:rPr>
              <a:t>MOTIVATION</a:t>
            </a:r>
            <a:endParaRPr lang="en-US" sz="1200" dirty="0"/>
          </a:p>
        </p:txBody>
      </p:sp>
      <p:sp>
        <p:nvSpPr>
          <p:cNvPr id="3" name="Text 1"/>
          <p:cNvSpPr/>
          <p:nvPr/>
        </p:nvSpPr>
        <p:spPr>
          <a:xfrm>
            <a:off x="502920" y="777240"/>
            <a:ext cx="10972800" cy="822960"/>
          </a:xfrm>
          <a:prstGeom prst="rect">
            <a:avLst/>
          </a:prstGeom>
          <a:noFill/>
          <a:ln/>
        </p:spPr>
        <p:txBody>
          <a:bodyPr wrap="square" lIns="0" tIns="0" rIns="0" bIns="0" rtlCol="0" anchor="ctr"/>
          <a:lstStyle/>
          <a:p>
            <a:pPr algn="l" indent="0" marL="0">
              <a:buNone/>
            </a:pPr>
            <a:r>
              <a:rPr lang="en-US" sz="3400" b="1" dirty="0">
                <a:solidFill>
                  <a:srgbClr val="EAECEF"/>
                </a:solidFill>
                <a:latin typeface="Cambria" pitchFamily="34" charset="0"/>
                <a:ea typeface="Cambria" pitchFamily="34" charset="-122"/>
                <a:cs typeface="Cambria" pitchFamily="34" charset="-120"/>
              </a:rPr>
              <a:t>The trap: re-scanning every window</a:t>
            </a:r>
            <a:endParaRPr lang="en-US" sz="3400" dirty="0"/>
          </a:p>
        </p:txBody>
      </p:sp>
      <p:sp>
        <p:nvSpPr>
          <p:cNvPr id="4" name="Text 2"/>
          <p:cNvSpPr/>
          <p:nvPr/>
        </p:nvSpPr>
        <p:spPr>
          <a:xfrm>
            <a:off x="502920" y="1600200"/>
            <a:ext cx="11155680" cy="457200"/>
          </a:xfrm>
          <a:prstGeom prst="rect">
            <a:avLst/>
          </a:prstGeom>
          <a:noFill/>
          <a:ln/>
        </p:spPr>
        <p:txBody>
          <a:bodyPr wrap="square" lIns="0" tIns="0" rIns="0" bIns="0" rtlCol="0" anchor="ctr"/>
          <a:lstStyle/>
          <a:p>
            <a:pPr algn="l" indent="0" marL="0">
              <a:buNone/>
            </a:pPr>
            <a:r>
              <a:rPr lang="en-US" sz="1600" dirty="0">
                <a:solidFill>
                  <a:srgbClr val="EAECEF"/>
                </a:solidFill>
                <a:latin typeface="Calibri" pitchFamily="34" charset="0"/>
                <a:ea typeface="Calibri" pitchFamily="34" charset="-122"/>
                <a:cs typeface="Calibri" pitchFamily="34" charset="-120"/>
              </a:rPr>
              <a:t>Many problems ask you to look at every contiguous block of an array and compute a sum, a count, a min…</a:t>
            </a:r>
            <a:endParaRPr lang="en-US" sz="1600" dirty="0"/>
          </a:p>
        </p:txBody>
      </p:sp>
      <p:sp>
        <p:nvSpPr>
          <p:cNvPr id="5" name="Shape 3"/>
          <p:cNvSpPr/>
          <p:nvPr/>
        </p:nvSpPr>
        <p:spPr>
          <a:xfrm>
            <a:off x="1371600" y="2331720"/>
            <a:ext cx="566928" cy="566928"/>
          </a:xfrm>
          <a:prstGeom prst="roundRect">
            <a:avLst>
              <a:gd name="adj" fmla="val 9677"/>
            </a:avLst>
          </a:prstGeom>
          <a:solidFill>
            <a:srgbClr val="10312E"/>
          </a:solidFill>
          <a:ln w="15875">
            <a:solidFill>
              <a:srgbClr val="34D8C0"/>
            </a:solidFill>
            <a:prstDash val="solid"/>
          </a:ln>
        </p:spPr>
      </p:sp>
      <p:sp>
        <p:nvSpPr>
          <p:cNvPr id="6" name="Text 4"/>
          <p:cNvSpPr/>
          <p:nvPr/>
        </p:nvSpPr>
        <p:spPr>
          <a:xfrm>
            <a:off x="1371600" y="2331720"/>
            <a:ext cx="566928" cy="56692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3</a:t>
            </a:r>
            <a:endParaRPr lang="en-US" sz="1500" dirty="0"/>
          </a:p>
        </p:txBody>
      </p:sp>
      <p:sp>
        <p:nvSpPr>
          <p:cNvPr id="7" name="Shape 5"/>
          <p:cNvSpPr/>
          <p:nvPr/>
        </p:nvSpPr>
        <p:spPr>
          <a:xfrm>
            <a:off x="2048256" y="2331720"/>
            <a:ext cx="566928" cy="566928"/>
          </a:xfrm>
          <a:prstGeom prst="roundRect">
            <a:avLst>
              <a:gd name="adj" fmla="val 9677"/>
            </a:avLst>
          </a:prstGeom>
          <a:solidFill>
            <a:srgbClr val="10312E"/>
          </a:solidFill>
          <a:ln w="15875">
            <a:solidFill>
              <a:srgbClr val="34D8C0"/>
            </a:solidFill>
            <a:prstDash val="solid"/>
          </a:ln>
        </p:spPr>
      </p:sp>
      <p:sp>
        <p:nvSpPr>
          <p:cNvPr id="8" name="Text 6"/>
          <p:cNvSpPr/>
          <p:nvPr/>
        </p:nvSpPr>
        <p:spPr>
          <a:xfrm>
            <a:off x="2048256" y="2331720"/>
            <a:ext cx="566928" cy="56692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1</a:t>
            </a:r>
            <a:endParaRPr lang="en-US" sz="1500" dirty="0"/>
          </a:p>
        </p:txBody>
      </p:sp>
      <p:sp>
        <p:nvSpPr>
          <p:cNvPr id="9" name="Shape 7"/>
          <p:cNvSpPr/>
          <p:nvPr/>
        </p:nvSpPr>
        <p:spPr>
          <a:xfrm>
            <a:off x="2724912" y="2331720"/>
            <a:ext cx="566928" cy="566928"/>
          </a:xfrm>
          <a:prstGeom prst="roundRect">
            <a:avLst>
              <a:gd name="adj" fmla="val 9677"/>
            </a:avLst>
          </a:prstGeom>
          <a:solidFill>
            <a:srgbClr val="10312E"/>
          </a:solidFill>
          <a:ln w="15875">
            <a:solidFill>
              <a:srgbClr val="34D8C0"/>
            </a:solidFill>
            <a:prstDash val="solid"/>
          </a:ln>
        </p:spPr>
      </p:sp>
      <p:sp>
        <p:nvSpPr>
          <p:cNvPr id="10" name="Text 8"/>
          <p:cNvSpPr/>
          <p:nvPr/>
        </p:nvSpPr>
        <p:spPr>
          <a:xfrm>
            <a:off x="2724912" y="2331720"/>
            <a:ext cx="566928" cy="56692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4</a:t>
            </a:r>
            <a:endParaRPr lang="en-US" sz="1500" dirty="0"/>
          </a:p>
        </p:txBody>
      </p:sp>
      <p:sp>
        <p:nvSpPr>
          <p:cNvPr id="11" name="Shape 9"/>
          <p:cNvSpPr/>
          <p:nvPr/>
        </p:nvSpPr>
        <p:spPr>
          <a:xfrm>
            <a:off x="3401568" y="2331720"/>
            <a:ext cx="566928" cy="566928"/>
          </a:xfrm>
          <a:prstGeom prst="roundRect">
            <a:avLst>
              <a:gd name="adj" fmla="val 9677"/>
            </a:avLst>
          </a:prstGeom>
          <a:solidFill>
            <a:srgbClr val="10312E"/>
          </a:solidFill>
          <a:ln w="15875">
            <a:solidFill>
              <a:srgbClr val="34D8C0"/>
            </a:solidFill>
            <a:prstDash val="solid"/>
          </a:ln>
        </p:spPr>
      </p:sp>
      <p:sp>
        <p:nvSpPr>
          <p:cNvPr id="12" name="Text 10"/>
          <p:cNvSpPr/>
          <p:nvPr/>
        </p:nvSpPr>
        <p:spPr>
          <a:xfrm>
            <a:off x="3401568" y="2331720"/>
            <a:ext cx="566928" cy="56692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1</a:t>
            </a:r>
            <a:endParaRPr lang="en-US" sz="1500" dirty="0"/>
          </a:p>
        </p:txBody>
      </p:sp>
      <p:sp>
        <p:nvSpPr>
          <p:cNvPr id="13" name="Shape 11"/>
          <p:cNvSpPr/>
          <p:nvPr/>
        </p:nvSpPr>
        <p:spPr>
          <a:xfrm>
            <a:off x="4078224" y="2331720"/>
            <a:ext cx="566928" cy="566928"/>
          </a:xfrm>
          <a:prstGeom prst="roundRect">
            <a:avLst>
              <a:gd name="adj" fmla="val 9677"/>
            </a:avLst>
          </a:prstGeom>
          <a:solidFill>
            <a:srgbClr val="20242E"/>
          </a:solidFill>
          <a:ln w="15875">
            <a:solidFill>
              <a:srgbClr val="2A3140"/>
            </a:solidFill>
            <a:prstDash val="solid"/>
          </a:ln>
        </p:spPr>
      </p:sp>
      <p:sp>
        <p:nvSpPr>
          <p:cNvPr id="14" name="Text 12"/>
          <p:cNvSpPr/>
          <p:nvPr/>
        </p:nvSpPr>
        <p:spPr>
          <a:xfrm>
            <a:off x="4078224" y="2331720"/>
            <a:ext cx="566928" cy="56692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5</a:t>
            </a:r>
            <a:endParaRPr lang="en-US" sz="1500" dirty="0"/>
          </a:p>
        </p:txBody>
      </p:sp>
      <p:sp>
        <p:nvSpPr>
          <p:cNvPr id="15" name="Shape 13"/>
          <p:cNvSpPr/>
          <p:nvPr/>
        </p:nvSpPr>
        <p:spPr>
          <a:xfrm>
            <a:off x="4754880" y="2331720"/>
            <a:ext cx="566928" cy="566928"/>
          </a:xfrm>
          <a:prstGeom prst="roundRect">
            <a:avLst>
              <a:gd name="adj" fmla="val 9677"/>
            </a:avLst>
          </a:prstGeom>
          <a:solidFill>
            <a:srgbClr val="20242E"/>
          </a:solidFill>
          <a:ln w="15875">
            <a:solidFill>
              <a:srgbClr val="2A3140"/>
            </a:solidFill>
            <a:prstDash val="solid"/>
          </a:ln>
        </p:spPr>
      </p:sp>
      <p:sp>
        <p:nvSpPr>
          <p:cNvPr id="16" name="Text 14"/>
          <p:cNvSpPr/>
          <p:nvPr/>
        </p:nvSpPr>
        <p:spPr>
          <a:xfrm>
            <a:off x="4754880" y="2331720"/>
            <a:ext cx="566928" cy="56692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9</a:t>
            </a:r>
            <a:endParaRPr lang="en-US" sz="1500" dirty="0"/>
          </a:p>
        </p:txBody>
      </p:sp>
      <p:sp>
        <p:nvSpPr>
          <p:cNvPr id="17" name="Shape 15"/>
          <p:cNvSpPr/>
          <p:nvPr/>
        </p:nvSpPr>
        <p:spPr>
          <a:xfrm>
            <a:off x="5431536" y="2331720"/>
            <a:ext cx="566928" cy="566928"/>
          </a:xfrm>
          <a:prstGeom prst="roundRect">
            <a:avLst>
              <a:gd name="adj" fmla="val 9677"/>
            </a:avLst>
          </a:prstGeom>
          <a:solidFill>
            <a:srgbClr val="20242E"/>
          </a:solidFill>
          <a:ln w="15875">
            <a:solidFill>
              <a:srgbClr val="2A3140"/>
            </a:solidFill>
            <a:prstDash val="solid"/>
          </a:ln>
        </p:spPr>
      </p:sp>
      <p:sp>
        <p:nvSpPr>
          <p:cNvPr id="18" name="Text 16"/>
          <p:cNvSpPr/>
          <p:nvPr/>
        </p:nvSpPr>
        <p:spPr>
          <a:xfrm>
            <a:off x="5431536" y="2331720"/>
            <a:ext cx="566928" cy="56692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2</a:t>
            </a:r>
            <a:endParaRPr lang="en-US" sz="1500" dirty="0"/>
          </a:p>
        </p:txBody>
      </p:sp>
      <p:sp>
        <p:nvSpPr>
          <p:cNvPr id="19" name="Shape 17"/>
          <p:cNvSpPr/>
          <p:nvPr/>
        </p:nvSpPr>
        <p:spPr>
          <a:xfrm>
            <a:off x="6108192" y="2331720"/>
            <a:ext cx="566928" cy="566928"/>
          </a:xfrm>
          <a:prstGeom prst="roundRect">
            <a:avLst>
              <a:gd name="adj" fmla="val 9677"/>
            </a:avLst>
          </a:prstGeom>
          <a:solidFill>
            <a:srgbClr val="20242E"/>
          </a:solidFill>
          <a:ln w="15875">
            <a:solidFill>
              <a:srgbClr val="2A3140"/>
            </a:solidFill>
            <a:prstDash val="solid"/>
          </a:ln>
        </p:spPr>
      </p:sp>
      <p:sp>
        <p:nvSpPr>
          <p:cNvPr id="20" name="Text 18"/>
          <p:cNvSpPr/>
          <p:nvPr/>
        </p:nvSpPr>
        <p:spPr>
          <a:xfrm>
            <a:off x="6108192" y="2331720"/>
            <a:ext cx="566928" cy="56692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6</a:t>
            </a:r>
            <a:endParaRPr lang="en-US" sz="1500" dirty="0"/>
          </a:p>
        </p:txBody>
      </p:sp>
      <p:sp>
        <p:nvSpPr>
          <p:cNvPr id="21" name="Shape 19"/>
          <p:cNvSpPr/>
          <p:nvPr/>
        </p:nvSpPr>
        <p:spPr>
          <a:xfrm>
            <a:off x="6784848" y="2331720"/>
            <a:ext cx="566928" cy="566928"/>
          </a:xfrm>
          <a:prstGeom prst="roundRect">
            <a:avLst>
              <a:gd name="adj" fmla="val 9677"/>
            </a:avLst>
          </a:prstGeom>
          <a:solidFill>
            <a:srgbClr val="20242E"/>
          </a:solidFill>
          <a:ln w="15875">
            <a:solidFill>
              <a:srgbClr val="2A3140"/>
            </a:solidFill>
            <a:prstDash val="solid"/>
          </a:ln>
        </p:spPr>
      </p:sp>
      <p:sp>
        <p:nvSpPr>
          <p:cNvPr id="22" name="Text 20"/>
          <p:cNvSpPr/>
          <p:nvPr/>
        </p:nvSpPr>
        <p:spPr>
          <a:xfrm>
            <a:off x="6784848" y="2331720"/>
            <a:ext cx="566928" cy="56692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5</a:t>
            </a:r>
            <a:endParaRPr lang="en-US" sz="1500" dirty="0"/>
          </a:p>
        </p:txBody>
      </p:sp>
      <p:sp>
        <p:nvSpPr>
          <p:cNvPr id="23" name="Shape 21"/>
          <p:cNvSpPr/>
          <p:nvPr/>
        </p:nvSpPr>
        <p:spPr>
          <a:xfrm>
            <a:off x="7461504" y="2331720"/>
            <a:ext cx="566928" cy="566928"/>
          </a:xfrm>
          <a:prstGeom prst="roundRect">
            <a:avLst>
              <a:gd name="adj" fmla="val 9677"/>
            </a:avLst>
          </a:prstGeom>
          <a:solidFill>
            <a:srgbClr val="20242E"/>
          </a:solidFill>
          <a:ln w="15875">
            <a:solidFill>
              <a:srgbClr val="2A3140"/>
            </a:solidFill>
            <a:prstDash val="solid"/>
          </a:ln>
        </p:spPr>
      </p:sp>
      <p:sp>
        <p:nvSpPr>
          <p:cNvPr id="24" name="Text 22"/>
          <p:cNvSpPr/>
          <p:nvPr/>
        </p:nvSpPr>
        <p:spPr>
          <a:xfrm>
            <a:off x="7461504" y="2331720"/>
            <a:ext cx="566928" cy="56692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3</a:t>
            </a:r>
            <a:endParaRPr lang="en-US" sz="1500" dirty="0"/>
          </a:p>
        </p:txBody>
      </p:sp>
      <p:sp>
        <p:nvSpPr>
          <p:cNvPr id="25" name="Shape 23"/>
          <p:cNvSpPr/>
          <p:nvPr/>
        </p:nvSpPr>
        <p:spPr>
          <a:xfrm>
            <a:off x="1371600" y="3154680"/>
            <a:ext cx="566928" cy="566928"/>
          </a:xfrm>
          <a:prstGeom prst="roundRect">
            <a:avLst>
              <a:gd name="adj" fmla="val 9677"/>
            </a:avLst>
          </a:prstGeom>
          <a:solidFill>
            <a:srgbClr val="20242E"/>
          </a:solidFill>
          <a:ln w="15875">
            <a:solidFill>
              <a:srgbClr val="2A3140"/>
            </a:solidFill>
            <a:prstDash val="solid"/>
          </a:ln>
        </p:spPr>
      </p:sp>
      <p:sp>
        <p:nvSpPr>
          <p:cNvPr id="26" name="Text 24"/>
          <p:cNvSpPr/>
          <p:nvPr/>
        </p:nvSpPr>
        <p:spPr>
          <a:xfrm>
            <a:off x="1371600" y="3154680"/>
            <a:ext cx="566928" cy="56692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3</a:t>
            </a:r>
            <a:endParaRPr lang="en-US" sz="1500" dirty="0"/>
          </a:p>
        </p:txBody>
      </p:sp>
      <p:sp>
        <p:nvSpPr>
          <p:cNvPr id="27" name="Shape 25"/>
          <p:cNvSpPr/>
          <p:nvPr/>
        </p:nvSpPr>
        <p:spPr>
          <a:xfrm>
            <a:off x="2048256" y="3154680"/>
            <a:ext cx="566928" cy="566928"/>
          </a:xfrm>
          <a:prstGeom prst="roundRect">
            <a:avLst>
              <a:gd name="adj" fmla="val 9677"/>
            </a:avLst>
          </a:prstGeom>
          <a:solidFill>
            <a:srgbClr val="10312E"/>
          </a:solidFill>
          <a:ln w="15875">
            <a:solidFill>
              <a:srgbClr val="34D8C0"/>
            </a:solidFill>
            <a:prstDash val="solid"/>
          </a:ln>
        </p:spPr>
      </p:sp>
      <p:sp>
        <p:nvSpPr>
          <p:cNvPr id="28" name="Text 26"/>
          <p:cNvSpPr/>
          <p:nvPr/>
        </p:nvSpPr>
        <p:spPr>
          <a:xfrm>
            <a:off x="2048256" y="3154680"/>
            <a:ext cx="566928" cy="56692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1</a:t>
            </a:r>
            <a:endParaRPr lang="en-US" sz="1500" dirty="0"/>
          </a:p>
        </p:txBody>
      </p:sp>
      <p:sp>
        <p:nvSpPr>
          <p:cNvPr id="29" name="Shape 27"/>
          <p:cNvSpPr/>
          <p:nvPr/>
        </p:nvSpPr>
        <p:spPr>
          <a:xfrm>
            <a:off x="2724912" y="3154680"/>
            <a:ext cx="566928" cy="566928"/>
          </a:xfrm>
          <a:prstGeom prst="roundRect">
            <a:avLst>
              <a:gd name="adj" fmla="val 9677"/>
            </a:avLst>
          </a:prstGeom>
          <a:solidFill>
            <a:srgbClr val="10312E"/>
          </a:solidFill>
          <a:ln w="15875">
            <a:solidFill>
              <a:srgbClr val="34D8C0"/>
            </a:solidFill>
            <a:prstDash val="solid"/>
          </a:ln>
        </p:spPr>
      </p:sp>
      <p:sp>
        <p:nvSpPr>
          <p:cNvPr id="30" name="Text 28"/>
          <p:cNvSpPr/>
          <p:nvPr/>
        </p:nvSpPr>
        <p:spPr>
          <a:xfrm>
            <a:off x="2724912" y="3154680"/>
            <a:ext cx="566928" cy="56692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4</a:t>
            </a:r>
            <a:endParaRPr lang="en-US" sz="1500" dirty="0"/>
          </a:p>
        </p:txBody>
      </p:sp>
      <p:sp>
        <p:nvSpPr>
          <p:cNvPr id="31" name="Shape 29"/>
          <p:cNvSpPr/>
          <p:nvPr/>
        </p:nvSpPr>
        <p:spPr>
          <a:xfrm>
            <a:off x="3401568" y="3154680"/>
            <a:ext cx="566928" cy="566928"/>
          </a:xfrm>
          <a:prstGeom prst="roundRect">
            <a:avLst>
              <a:gd name="adj" fmla="val 9677"/>
            </a:avLst>
          </a:prstGeom>
          <a:solidFill>
            <a:srgbClr val="10312E"/>
          </a:solidFill>
          <a:ln w="15875">
            <a:solidFill>
              <a:srgbClr val="34D8C0"/>
            </a:solidFill>
            <a:prstDash val="solid"/>
          </a:ln>
        </p:spPr>
      </p:sp>
      <p:sp>
        <p:nvSpPr>
          <p:cNvPr id="32" name="Text 30"/>
          <p:cNvSpPr/>
          <p:nvPr/>
        </p:nvSpPr>
        <p:spPr>
          <a:xfrm>
            <a:off x="3401568" y="3154680"/>
            <a:ext cx="566928" cy="56692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1</a:t>
            </a:r>
            <a:endParaRPr lang="en-US" sz="1500" dirty="0"/>
          </a:p>
        </p:txBody>
      </p:sp>
      <p:sp>
        <p:nvSpPr>
          <p:cNvPr id="33" name="Shape 31"/>
          <p:cNvSpPr/>
          <p:nvPr/>
        </p:nvSpPr>
        <p:spPr>
          <a:xfrm>
            <a:off x="4078224" y="3154680"/>
            <a:ext cx="566928" cy="566928"/>
          </a:xfrm>
          <a:prstGeom prst="roundRect">
            <a:avLst>
              <a:gd name="adj" fmla="val 9677"/>
            </a:avLst>
          </a:prstGeom>
          <a:solidFill>
            <a:srgbClr val="10312E"/>
          </a:solidFill>
          <a:ln w="15875">
            <a:solidFill>
              <a:srgbClr val="34D8C0"/>
            </a:solidFill>
            <a:prstDash val="solid"/>
          </a:ln>
        </p:spPr>
      </p:sp>
      <p:sp>
        <p:nvSpPr>
          <p:cNvPr id="34" name="Text 32"/>
          <p:cNvSpPr/>
          <p:nvPr/>
        </p:nvSpPr>
        <p:spPr>
          <a:xfrm>
            <a:off x="4078224" y="3154680"/>
            <a:ext cx="566928" cy="56692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5</a:t>
            </a:r>
            <a:endParaRPr lang="en-US" sz="1500" dirty="0"/>
          </a:p>
        </p:txBody>
      </p:sp>
      <p:sp>
        <p:nvSpPr>
          <p:cNvPr id="35" name="Shape 33"/>
          <p:cNvSpPr/>
          <p:nvPr/>
        </p:nvSpPr>
        <p:spPr>
          <a:xfrm>
            <a:off x="4754880" y="3154680"/>
            <a:ext cx="566928" cy="566928"/>
          </a:xfrm>
          <a:prstGeom prst="roundRect">
            <a:avLst>
              <a:gd name="adj" fmla="val 9677"/>
            </a:avLst>
          </a:prstGeom>
          <a:solidFill>
            <a:srgbClr val="20242E"/>
          </a:solidFill>
          <a:ln w="15875">
            <a:solidFill>
              <a:srgbClr val="2A3140"/>
            </a:solidFill>
            <a:prstDash val="solid"/>
          </a:ln>
        </p:spPr>
      </p:sp>
      <p:sp>
        <p:nvSpPr>
          <p:cNvPr id="36" name="Text 34"/>
          <p:cNvSpPr/>
          <p:nvPr/>
        </p:nvSpPr>
        <p:spPr>
          <a:xfrm>
            <a:off x="4754880" y="3154680"/>
            <a:ext cx="566928" cy="56692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9</a:t>
            </a:r>
            <a:endParaRPr lang="en-US" sz="1500" dirty="0"/>
          </a:p>
        </p:txBody>
      </p:sp>
      <p:sp>
        <p:nvSpPr>
          <p:cNvPr id="37" name="Shape 35"/>
          <p:cNvSpPr/>
          <p:nvPr/>
        </p:nvSpPr>
        <p:spPr>
          <a:xfrm>
            <a:off x="5431536" y="3154680"/>
            <a:ext cx="566928" cy="566928"/>
          </a:xfrm>
          <a:prstGeom prst="roundRect">
            <a:avLst>
              <a:gd name="adj" fmla="val 9677"/>
            </a:avLst>
          </a:prstGeom>
          <a:solidFill>
            <a:srgbClr val="20242E"/>
          </a:solidFill>
          <a:ln w="15875">
            <a:solidFill>
              <a:srgbClr val="2A3140"/>
            </a:solidFill>
            <a:prstDash val="solid"/>
          </a:ln>
        </p:spPr>
      </p:sp>
      <p:sp>
        <p:nvSpPr>
          <p:cNvPr id="38" name="Text 36"/>
          <p:cNvSpPr/>
          <p:nvPr/>
        </p:nvSpPr>
        <p:spPr>
          <a:xfrm>
            <a:off x="5431536" y="3154680"/>
            <a:ext cx="566928" cy="56692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2</a:t>
            </a:r>
            <a:endParaRPr lang="en-US" sz="1500" dirty="0"/>
          </a:p>
        </p:txBody>
      </p:sp>
      <p:sp>
        <p:nvSpPr>
          <p:cNvPr id="39" name="Shape 37"/>
          <p:cNvSpPr/>
          <p:nvPr/>
        </p:nvSpPr>
        <p:spPr>
          <a:xfrm>
            <a:off x="6108192" y="3154680"/>
            <a:ext cx="566928" cy="566928"/>
          </a:xfrm>
          <a:prstGeom prst="roundRect">
            <a:avLst>
              <a:gd name="adj" fmla="val 9677"/>
            </a:avLst>
          </a:prstGeom>
          <a:solidFill>
            <a:srgbClr val="20242E"/>
          </a:solidFill>
          <a:ln w="15875">
            <a:solidFill>
              <a:srgbClr val="2A3140"/>
            </a:solidFill>
            <a:prstDash val="solid"/>
          </a:ln>
        </p:spPr>
      </p:sp>
      <p:sp>
        <p:nvSpPr>
          <p:cNvPr id="40" name="Text 38"/>
          <p:cNvSpPr/>
          <p:nvPr/>
        </p:nvSpPr>
        <p:spPr>
          <a:xfrm>
            <a:off x="6108192" y="3154680"/>
            <a:ext cx="566928" cy="56692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6</a:t>
            </a:r>
            <a:endParaRPr lang="en-US" sz="1500" dirty="0"/>
          </a:p>
        </p:txBody>
      </p:sp>
      <p:sp>
        <p:nvSpPr>
          <p:cNvPr id="41" name="Shape 39"/>
          <p:cNvSpPr/>
          <p:nvPr/>
        </p:nvSpPr>
        <p:spPr>
          <a:xfrm>
            <a:off x="6784848" y="3154680"/>
            <a:ext cx="566928" cy="566928"/>
          </a:xfrm>
          <a:prstGeom prst="roundRect">
            <a:avLst>
              <a:gd name="adj" fmla="val 9677"/>
            </a:avLst>
          </a:prstGeom>
          <a:solidFill>
            <a:srgbClr val="20242E"/>
          </a:solidFill>
          <a:ln w="15875">
            <a:solidFill>
              <a:srgbClr val="2A3140"/>
            </a:solidFill>
            <a:prstDash val="solid"/>
          </a:ln>
        </p:spPr>
      </p:sp>
      <p:sp>
        <p:nvSpPr>
          <p:cNvPr id="42" name="Text 40"/>
          <p:cNvSpPr/>
          <p:nvPr/>
        </p:nvSpPr>
        <p:spPr>
          <a:xfrm>
            <a:off x="6784848" y="3154680"/>
            <a:ext cx="566928" cy="56692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5</a:t>
            </a:r>
            <a:endParaRPr lang="en-US" sz="1500" dirty="0"/>
          </a:p>
        </p:txBody>
      </p:sp>
      <p:sp>
        <p:nvSpPr>
          <p:cNvPr id="43" name="Shape 41"/>
          <p:cNvSpPr/>
          <p:nvPr/>
        </p:nvSpPr>
        <p:spPr>
          <a:xfrm>
            <a:off x="7461504" y="3154680"/>
            <a:ext cx="566928" cy="566928"/>
          </a:xfrm>
          <a:prstGeom prst="roundRect">
            <a:avLst>
              <a:gd name="adj" fmla="val 9677"/>
            </a:avLst>
          </a:prstGeom>
          <a:solidFill>
            <a:srgbClr val="20242E"/>
          </a:solidFill>
          <a:ln w="15875">
            <a:solidFill>
              <a:srgbClr val="2A3140"/>
            </a:solidFill>
            <a:prstDash val="solid"/>
          </a:ln>
        </p:spPr>
      </p:sp>
      <p:sp>
        <p:nvSpPr>
          <p:cNvPr id="44" name="Text 42"/>
          <p:cNvSpPr/>
          <p:nvPr/>
        </p:nvSpPr>
        <p:spPr>
          <a:xfrm>
            <a:off x="7461504" y="3154680"/>
            <a:ext cx="566928" cy="56692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3</a:t>
            </a:r>
            <a:endParaRPr lang="en-US" sz="1500" dirty="0"/>
          </a:p>
        </p:txBody>
      </p:sp>
      <p:sp>
        <p:nvSpPr>
          <p:cNvPr id="45" name="Shape 43"/>
          <p:cNvSpPr/>
          <p:nvPr/>
        </p:nvSpPr>
        <p:spPr>
          <a:xfrm>
            <a:off x="1371600" y="3977640"/>
            <a:ext cx="566928" cy="566928"/>
          </a:xfrm>
          <a:prstGeom prst="roundRect">
            <a:avLst>
              <a:gd name="adj" fmla="val 9677"/>
            </a:avLst>
          </a:prstGeom>
          <a:solidFill>
            <a:srgbClr val="20242E"/>
          </a:solidFill>
          <a:ln w="15875">
            <a:solidFill>
              <a:srgbClr val="2A3140"/>
            </a:solidFill>
            <a:prstDash val="solid"/>
          </a:ln>
        </p:spPr>
      </p:sp>
      <p:sp>
        <p:nvSpPr>
          <p:cNvPr id="46" name="Text 44"/>
          <p:cNvSpPr/>
          <p:nvPr/>
        </p:nvSpPr>
        <p:spPr>
          <a:xfrm>
            <a:off x="1371600" y="3977640"/>
            <a:ext cx="566928" cy="56692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3</a:t>
            </a:r>
            <a:endParaRPr lang="en-US" sz="1500" dirty="0"/>
          </a:p>
        </p:txBody>
      </p:sp>
      <p:sp>
        <p:nvSpPr>
          <p:cNvPr id="47" name="Shape 45"/>
          <p:cNvSpPr/>
          <p:nvPr/>
        </p:nvSpPr>
        <p:spPr>
          <a:xfrm>
            <a:off x="2048256" y="3977640"/>
            <a:ext cx="566928" cy="566928"/>
          </a:xfrm>
          <a:prstGeom prst="roundRect">
            <a:avLst>
              <a:gd name="adj" fmla="val 9677"/>
            </a:avLst>
          </a:prstGeom>
          <a:solidFill>
            <a:srgbClr val="20242E"/>
          </a:solidFill>
          <a:ln w="15875">
            <a:solidFill>
              <a:srgbClr val="2A3140"/>
            </a:solidFill>
            <a:prstDash val="solid"/>
          </a:ln>
        </p:spPr>
      </p:sp>
      <p:sp>
        <p:nvSpPr>
          <p:cNvPr id="48" name="Text 46"/>
          <p:cNvSpPr/>
          <p:nvPr/>
        </p:nvSpPr>
        <p:spPr>
          <a:xfrm>
            <a:off x="2048256" y="3977640"/>
            <a:ext cx="566928" cy="56692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1</a:t>
            </a:r>
            <a:endParaRPr lang="en-US" sz="1500" dirty="0"/>
          </a:p>
        </p:txBody>
      </p:sp>
      <p:sp>
        <p:nvSpPr>
          <p:cNvPr id="49" name="Shape 47"/>
          <p:cNvSpPr/>
          <p:nvPr/>
        </p:nvSpPr>
        <p:spPr>
          <a:xfrm>
            <a:off x="2724912" y="3977640"/>
            <a:ext cx="566928" cy="566928"/>
          </a:xfrm>
          <a:prstGeom prst="roundRect">
            <a:avLst>
              <a:gd name="adj" fmla="val 9677"/>
            </a:avLst>
          </a:prstGeom>
          <a:solidFill>
            <a:srgbClr val="10312E"/>
          </a:solidFill>
          <a:ln w="15875">
            <a:solidFill>
              <a:srgbClr val="34D8C0"/>
            </a:solidFill>
            <a:prstDash val="solid"/>
          </a:ln>
        </p:spPr>
      </p:sp>
      <p:sp>
        <p:nvSpPr>
          <p:cNvPr id="50" name="Text 48"/>
          <p:cNvSpPr/>
          <p:nvPr/>
        </p:nvSpPr>
        <p:spPr>
          <a:xfrm>
            <a:off x="2724912" y="3977640"/>
            <a:ext cx="566928" cy="56692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4</a:t>
            </a:r>
            <a:endParaRPr lang="en-US" sz="1500" dirty="0"/>
          </a:p>
        </p:txBody>
      </p:sp>
      <p:sp>
        <p:nvSpPr>
          <p:cNvPr id="51" name="Shape 49"/>
          <p:cNvSpPr/>
          <p:nvPr/>
        </p:nvSpPr>
        <p:spPr>
          <a:xfrm>
            <a:off x="3401568" y="3977640"/>
            <a:ext cx="566928" cy="566928"/>
          </a:xfrm>
          <a:prstGeom prst="roundRect">
            <a:avLst>
              <a:gd name="adj" fmla="val 9677"/>
            </a:avLst>
          </a:prstGeom>
          <a:solidFill>
            <a:srgbClr val="10312E"/>
          </a:solidFill>
          <a:ln w="15875">
            <a:solidFill>
              <a:srgbClr val="34D8C0"/>
            </a:solidFill>
            <a:prstDash val="solid"/>
          </a:ln>
        </p:spPr>
      </p:sp>
      <p:sp>
        <p:nvSpPr>
          <p:cNvPr id="52" name="Text 50"/>
          <p:cNvSpPr/>
          <p:nvPr/>
        </p:nvSpPr>
        <p:spPr>
          <a:xfrm>
            <a:off x="3401568" y="3977640"/>
            <a:ext cx="566928" cy="56692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1</a:t>
            </a:r>
            <a:endParaRPr lang="en-US" sz="1500" dirty="0"/>
          </a:p>
        </p:txBody>
      </p:sp>
      <p:sp>
        <p:nvSpPr>
          <p:cNvPr id="53" name="Shape 51"/>
          <p:cNvSpPr/>
          <p:nvPr/>
        </p:nvSpPr>
        <p:spPr>
          <a:xfrm>
            <a:off x="4078224" y="3977640"/>
            <a:ext cx="566928" cy="566928"/>
          </a:xfrm>
          <a:prstGeom prst="roundRect">
            <a:avLst>
              <a:gd name="adj" fmla="val 9677"/>
            </a:avLst>
          </a:prstGeom>
          <a:solidFill>
            <a:srgbClr val="10312E"/>
          </a:solidFill>
          <a:ln w="15875">
            <a:solidFill>
              <a:srgbClr val="34D8C0"/>
            </a:solidFill>
            <a:prstDash val="solid"/>
          </a:ln>
        </p:spPr>
      </p:sp>
      <p:sp>
        <p:nvSpPr>
          <p:cNvPr id="54" name="Text 52"/>
          <p:cNvSpPr/>
          <p:nvPr/>
        </p:nvSpPr>
        <p:spPr>
          <a:xfrm>
            <a:off x="4078224" y="3977640"/>
            <a:ext cx="566928" cy="56692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5</a:t>
            </a:r>
            <a:endParaRPr lang="en-US" sz="1500" dirty="0"/>
          </a:p>
        </p:txBody>
      </p:sp>
      <p:sp>
        <p:nvSpPr>
          <p:cNvPr id="55" name="Shape 53"/>
          <p:cNvSpPr/>
          <p:nvPr/>
        </p:nvSpPr>
        <p:spPr>
          <a:xfrm>
            <a:off x="4754880" y="3977640"/>
            <a:ext cx="566928" cy="566928"/>
          </a:xfrm>
          <a:prstGeom prst="roundRect">
            <a:avLst>
              <a:gd name="adj" fmla="val 9677"/>
            </a:avLst>
          </a:prstGeom>
          <a:solidFill>
            <a:srgbClr val="10312E"/>
          </a:solidFill>
          <a:ln w="15875">
            <a:solidFill>
              <a:srgbClr val="34D8C0"/>
            </a:solidFill>
            <a:prstDash val="solid"/>
          </a:ln>
        </p:spPr>
      </p:sp>
      <p:sp>
        <p:nvSpPr>
          <p:cNvPr id="56" name="Text 54"/>
          <p:cNvSpPr/>
          <p:nvPr/>
        </p:nvSpPr>
        <p:spPr>
          <a:xfrm>
            <a:off x="4754880" y="3977640"/>
            <a:ext cx="566928" cy="56692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9</a:t>
            </a:r>
            <a:endParaRPr lang="en-US" sz="1500" dirty="0"/>
          </a:p>
        </p:txBody>
      </p:sp>
      <p:sp>
        <p:nvSpPr>
          <p:cNvPr id="57" name="Shape 55"/>
          <p:cNvSpPr/>
          <p:nvPr/>
        </p:nvSpPr>
        <p:spPr>
          <a:xfrm>
            <a:off x="5431536" y="3977640"/>
            <a:ext cx="566928" cy="566928"/>
          </a:xfrm>
          <a:prstGeom prst="roundRect">
            <a:avLst>
              <a:gd name="adj" fmla="val 9677"/>
            </a:avLst>
          </a:prstGeom>
          <a:solidFill>
            <a:srgbClr val="20242E"/>
          </a:solidFill>
          <a:ln w="15875">
            <a:solidFill>
              <a:srgbClr val="2A3140"/>
            </a:solidFill>
            <a:prstDash val="solid"/>
          </a:ln>
        </p:spPr>
      </p:sp>
      <p:sp>
        <p:nvSpPr>
          <p:cNvPr id="58" name="Text 56"/>
          <p:cNvSpPr/>
          <p:nvPr/>
        </p:nvSpPr>
        <p:spPr>
          <a:xfrm>
            <a:off x="5431536" y="3977640"/>
            <a:ext cx="566928" cy="56692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2</a:t>
            </a:r>
            <a:endParaRPr lang="en-US" sz="1500" dirty="0"/>
          </a:p>
        </p:txBody>
      </p:sp>
      <p:sp>
        <p:nvSpPr>
          <p:cNvPr id="59" name="Shape 57"/>
          <p:cNvSpPr/>
          <p:nvPr/>
        </p:nvSpPr>
        <p:spPr>
          <a:xfrm>
            <a:off x="6108192" y="3977640"/>
            <a:ext cx="566928" cy="566928"/>
          </a:xfrm>
          <a:prstGeom prst="roundRect">
            <a:avLst>
              <a:gd name="adj" fmla="val 9677"/>
            </a:avLst>
          </a:prstGeom>
          <a:solidFill>
            <a:srgbClr val="20242E"/>
          </a:solidFill>
          <a:ln w="15875">
            <a:solidFill>
              <a:srgbClr val="2A3140"/>
            </a:solidFill>
            <a:prstDash val="solid"/>
          </a:ln>
        </p:spPr>
      </p:sp>
      <p:sp>
        <p:nvSpPr>
          <p:cNvPr id="60" name="Text 58"/>
          <p:cNvSpPr/>
          <p:nvPr/>
        </p:nvSpPr>
        <p:spPr>
          <a:xfrm>
            <a:off x="6108192" y="3977640"/>
            <a:ext cx="566928" cy="56692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6</a:t>
            </a:r>
            <a:endParaRPr lang="en-US" sz="1500" dirty="0"/>
          </a:p>
        </p:txBody>
      </p:sp>
      <p:sp>
        <p:nvSpPr>
          <p:cNvPr id="61" name="Shape 59"/>
          <p:cNvSpPr/>
          <p:nvPr/>
        </p:nvSpPr>
        <p:spPr>
          <a:xfrm>
            <a:off x="6784848" y="3977640"/>
            <a:ext cx="566928" cy="566928"/>
          </a:xfrm>
          <a:prstGeom prst="roundRect">
            <a:avLst>
              <a:gd name="adj" fmla="val 9677"/>
            </a:avLst>
          </a:prstGeom>
          <a:solidFill>
            <a:srgbClr val="20242E"/>
          </a:solidFill>
          <a:ln w="15875">
            <a:solidFill>
              <a:srgbClr val="2A3140"/>
            </a:solidFill>
            <a:prstDash val="solid"/>
          </a:ln>
        </p:spPr>
      </p:sp>
      <p:sp>
        <p:nvSpPr>
          <p:cNvPr id="62" name="Text 60"/>
          <p:cNvSpPr/>
          <p:nvPr/>
        </p:nvSpPr>
        <p:spPr>
          <a:xfrm>
            <a:off x="6784848" y="3977640"/>
            <a:ext cx="566928" cy="56692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5</a:t>
            </a:r>
            <a:endParaRPr lang="en-US" sz="1500" dirty="0"/>
          </a:p>
        </p:txBody>
      </p:sp>
      <p:sp>
        <p:nvSpPr>
          <p:cNvPr id="63" name="Shape 61"/>
          <p:cNvSpPr/>
          <p:nvPr/>
        </p:nvSpPr>
        <p:spPr>
          <a:xfrm>
            <a:off x="7461504" y="3977640"/>
            <a:ext cx="566928" cy="566928"/>
          </a:xfrm>
          <a:prstGeom prst="roundRect">
            <a:avLst>
              <a:gd name="adj" fmla="val 9677"/>
            </a:avLst>
          </a:prstGeom>
          <a:solidFill>
            <a:srgbClr val="20242E"/>
          </a:solidFill>
          <a:ln w="15875">
            <a:solidFill>
              <a:srgbClr val="2A3140"/>
            </a:solidFill>
            <a:prstDash val="solid"/>
          </a:ln>
        </p:spPr>
      </p:sp>
      <p:sp>
        <p:nvSpPr>
          <p:cNvPr id="64" name="Text 62"/>
          <p:cNvSpPr/>
          <p:nvPr/>
        </p:nvSpPr>
        <p:spPr>
          <a:xfrm>
            <a:off x="7461504" y="3977640"/>
            <a:ext cx="566928" cy="56692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3</a:t>
            </a:r>
            <a:endParaRPr lang="en-US" sz="1500" dirty="0"/>
          </a:p>
        </p:txBody>
      </p:sp>
      <p:sp>
        <p:nvSpPr>
          <p:cNvPr id="65" name="Text 63"/>
          <p:cNvSpPr/>
          <p:nvPr/>
        </p:nvSpPr>
        <p:spPr>
          <a:xfrm>
            <a:off x="8138160" y="3154680"/>
            <a:ext cx="3291840" cy="457200"/>
          </a:xfrm>
          <a:prstGeom prst="rect">
            <a:avLst/>
          </a:prstGeom>
          <a:noFill/>
          <a:ln/>
        </p:spPr>
        <p:txBody>
          <a:bodyPr wrap="square" lIns="0" tIns="0" rIns="0" bIns="0" rtlCol="0" anchor="ctr"/>
          <a:lstStyle/>
          <a:p>
            <a:pPr algn="l" indent="0" marL="0">
              <a:buNone/>
            </a:pPr>
            <a:r>
              <a:rPr lang="en-US" sz="1400" i="1" dirty="0">
                <a:solidFill>
                  <a:srgbClr val="9AA5B4"/>
                </a:solidFill>
                <a:latin typeface="Calibri" pitchFamily="34" charset="0"/>
                <a:ea typeface="Calibri" pitchFamily="34" charset="-122"/>
                <a:cs typeface="Calibri" pitchFamily="34" charset="-120"/>
              </a:rPr>
              <a:t>…each summed from scratch</a:t>
            </a:r>
            <a:endParaRPr lang="en-US" sz="1400" dirty="0"/>
          </a:p>
        </p:txBody>
      </p:sp>
      <p:sp>
        <p:nvSpPr>
          <p:cNvPr id="66" name="Shape 64"/>
          <p:cNvSpPr/>
          <p:nvPr/>
        </p:nvSpPr>
        <p:spPr>
          <a:xfrm>
            <a:off x="8092440" y="3977640"/>
            <a:ext cx="3566160" cy="1417320"/>
          </a:xfrm>
          <a:prstGeom prst="roundRect">
            <a:avLst>
              <a:gd name="adj" fmla="val 5806"/>
            </a:avLst>
          </a:prstGeom>
          <a:solidFill>
            <a:srgbClr val="20242E"/>
          </a:solidFill>
          <a:ln w="12700">
            <a:solidFill>
              <a:srgbClr val="2A3140"/>
            </a:solidFill>
            <a:prstDash val="solid"/>
          </a:ln>
        </p:spPr>
      </p:sp>
      <p:sp>
        <p:nvSpPr>
          <p:cNvPr id="67" name="Text 65"/>
          <p:cNvSpPr/>
          <p:nvPr/>
        </p:nvSpPr>
        <p:spPr>
          <a:xfrm>
            <a:off x="8275320" y="4114800"/>
            <a:ext cx="3200400" cy="1188720"/>
          </a:xfrm>
          <a:prstGeom prst="rect">
            <a:avLst/>
          </a:prstGeom>
          <a:noFill/>
          <a:ln/>
        </p:spPr>
        <p:txBody>
          <a:bodyPr wrap="square" lIns="0" tIns="0" rIns="0" bIns="0" rtlCol="0" anchor="ctr"/>
          <a:lstStyle/>
          <a:p>
            <a:pPr algn="l" indent="0" marL="0">
              <a:buNone/>
            </a:pPr>
            <a:r>
              <a:rPr lang="en-US" sz="1600" b="1" dirty="0">
                <a:solidFill>
                  <a:srgbClr val="EAECEF"/>
                </a:solidFill>
                <a:latin typeface="Courier New" pitchFamily="34" charset="0"/>
                <a:ea typeface="Courier New" pitchFamily="34" charset="-122"/>
                <a:cs typeface="Courier New" pitchFamily="34" charset="-120"/>
              </a:rPr>
              <a:t>O(N) windows</a:t>
            </a:r>
            <a:endParaRPr lang="en-US" sz="1600" dirty="0"/>
          </a:p>
          <a:p>
            <a:pPr algn="l" indent="0" marL="0">
              <a:buNone/>
            </a:pPr>
            <a:r>
              <a:rPr lang="en-US" sz="1600" b="1" dirty="0">
                <a:solidFill>
                  <a:srgbClr val="EAECEF"/>
                </a:solidFill>
                <a:latin typeface="Courier New" pitchFamily="34" charset="0"/>
                <a:ea typeface="Courier New" pitchFamily="34" charset="-122"/>
                <a:cs typeface="Courier New" pitchFamily="34" charset="-120"/>
              </a:rPr>
              <a:t>× O(N) to sum each</a:t>
            </a:r>
            <a:endParaRPr lang="en-US" sz="1600" dirty="0"/>
          </a:p>
          <a:p>
            <a:pPr algn="l" indent="0" marL="0">
              <a:buNone/>
            </a:pPr>
            <a:r>
              <a:rPr lang="en-US" sz="2200" b="1" dirty="0">
                <a:solidFill>
                  <a:srgbClr val="FF6B6B"/>
                </a:solidFill>
                <a:latin typeface="Courier New" pitchFamily="34" charset="0"/>
                <a:ea typeface="Courier New" pitchFamily="34" charset="-122"/>
                <a:cs typeface="Courier New" pitchFamily="34" charset="-120"/>
              </a:rPr>
              <a:t>= O(N²)</a:t>
            </a:r>
            <a:endParaRPr lang="en-US" sz="1600" dirty="0"/>
          </a:p>
        </p:txBody>
      </p:sp>
      <p:sp>
        <p:nvSpPr>
          <p:cNvPr id="68" name="Text 66"/>
          <p:cNvSpPr/>
          <p:nvPr/>
        </p:nvSpPr>
        <p:spPr>
          <a:xfrm>
            <a:off x="502920" y="5715000"/>
            <a:ext cx="10972800" cy="365760"/>
          </a:xfrm>
          <a:prstGeom prst="rect">
            <a:avLst/>
          </a:prstGeom>
          <a:noFill/>
          <a:ln/>
        </p:spPr>
        <p:txBody>
          <a:bodyPr wrap="square" lIns="0" tIns="0" rIns="0" bIns="0" rtlCol="0" anchor="ctr"/>
          <a:lstStyle/>
          <a:p>
            <a:pPr algn="l" indent="0" marL="0">
              <a:buNone/>
            </a:pPr>
            <a:r>
              <a:rPr lang="en-US" sz="1500" i="1" dirty="0">
                <a:solidFill>
                  <a:srgbClr val="F2B441"/>
                </a:solidFill>
                <a:latin typeface="Calibri" pitchFamily="34" charset="0"/>
                <a:ea typeface="Calibri" pitchFamily="34" charset="-122"/>
                <a:cs typeface="Calibri" pitchFamily="34" charset="-120"/>
              </a:rPr>
              <a:t>Too slow for full marks once N reaches ~10⁵.</a:t>
            </a:r>
            <a:endParaRPr lang="en-US" sz="1500" dirty="0"/>
          </a:p>
        </p:txBody>
      </p:sp>
      <p:sp>
        <p:nvSpPr>
          <p:cNvPr id="69" name="Text 67"/>
          <p:cNvSpPr/>
          <p:nvPr/>
        </p:nvSpPr>
        <p:spPr>
          <a:xfrm>
            <a:off x="502920" y="6455664"/>
            <a:ext cx="5486400" cy="274320"/>
          </a:xfrm>
          <a:prstGeom prst="rect">
            <a:avLst/>
          </a:prstGeom>
          <a:noFill/>
          <a:ln/>
        </p:spPr>
        <p:txBody>
          <a:bodyPr wrap="square" lIns="0" tIns="0" rIns="0" bIns="0" rtlCol="0" anchor="ctr"/>
          <a:lstStyle/>
          <a:p>
            <a:pPr algn="l" indent="0" marL="0">
              <a:buNone/>
            </a:pPr>
            <a:r>
              <a:rPr lang="en-US" sz="1000" dirty="0">
                <a:solidFill>
                  <a:srgbClr val="9AA5B4"/>
                </a:solidFill>
                <a:latin typeface="Calibri" pitchFamily="34" charset="0"/>
                <a:ea typeface="Calibri" pitchFamily="34" charset="-122"/>
                <a:cs typeface="Calibri" pitchFamily="34" charset="-120"/>
              </a:rPr>
              <a:t>Two Pointers &amp; Sliding Window</a:t>
            </a:r>
            <a:endParaRPr lang="en-US" sz="1000" dirty="0"/>
          </a:p>
        </p:txBody>
      </p:sp>
      <p:sp>
        <p:nvSpPr>
          <p:cNvPr id="70" name="Text 68"/>
          <p:cNvSpPr/>
          <p:nvPr/>
        </p:nvSpPr>
        <p:spPr>
          <a:xfrm>
            <a:off x="11228832" y="6455664"/>
            <a:ext cx="457200" cy="274320"/>
          </a:xfrm>
          <a:prstGeom prst="rect">
            <a:avLst/>
          </a:prstGeom>
          <a:noFill/>
          <a:ln/>
        </p:spPr>
        <p:txBody>
          <a:bodyPr wrap="square" lIns="0" tIns="0" rIns="0" bIns="0" rtlCol="0" anchor="ctr"/>
          <a:lstStyle/>
          <a:p>
            <a:pPr algn="r" indent="0" marL="0">
              <a:buNone/>
            </a:pPr>
            <a:r>
              <a:rPr lang="en-US" sz="1000" dirty="0">
                <a:solidFill>
                  <a:srgbClr val="9AA5B4"/>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0251F"/>
        </a:solidFill>
      </p:bgPr>
    </p:bg>
    <p:spTree>
      <p:nvGrpSpPr>
        <p:cNvPr id="1" name=""/>
        <p:cNvGrpSpPr/>
        <p:nvPr/>
      </p:nvGrpSpPr>
      <p:grpSpPr>
        <a:xfrm>
          <a:off x="0" y="0"/>
          <a:ext cx="0" cy="0"/>
          <a:chOff x="0" y="0"/>
          <a:chExt cx="0" cy="0"/>
        </a:xfrm>
      </p:grpSpPr>
      <p:sp>
        <p:nvSpPr>
          <p:cNvPr id="2" name="Text 0"/>
          <p:cNvSpPr/>
          <p:nvPr/>
        </p:nvSpPr>
        <p:spPr>
          <a:xfrm>
            <a:off x="502920" y="457200"/>
            <a:ext cx="3657600" cy="292608"/>
          </a:xfrm>
          <a:prstGeom prst="rect">
            <a:avLst/>
          </a:prstGeom>
          <a:noFill/>
          <a:ln/>
        </p:spPr>
        <p:txBody>
          <a:bodyPr wrap="square" lIns="0" tIns="0" rIns="0" bIns="0" rtlCol="0" anchor="ctr"/>
          <a:lstStyle/>
          <a:p>
            <a:pPr algn="l" indent="0" marL="0">
              <a:buNone/>
            </a:pPr>
            <a:r>
              <a:rPr lang="en-US" sz="1200" b="1" spc="300" kern="0" dirty="0">
                <a:solidFill>
                  <a:srgbClr val="34D8C0"/>
                </a:solidFill>
                <a:latin typeface="Calibri" pitchFamily="34" charset="0"/>
                <a:ea typeface="Calibri" pitchFamily="34" charset="-122"/>
                <a:cs typeface="Calibri" pitchFamily="34" charset="-120"/>
              </a:rPr>
              <a:t>THE ONE BIG IDEA</a:t>
            </a:r>
            <a:endParaRPr lang="en-US" sz="1200" dirty="0"/>
          </a:p>
        </p:txBody>
      </p:sp>
      <p:sp>
        <p:nvSpPr>
          <p:cNvPr id="3" name="Text 1"/>
          <p:cNvSpPr/>
          <p:nvPr/>
        </p:nvSpPr>
        <p:spPr>
          <a:xfrm>
            <a:off x="502920" y="777240"/>
            <a:ext cx="11155680" cy="822960"/>
          </a:xfrm>
          <a:prstGeom prst="rect">
            <a:avLst/>
          </a:prstGeom>
          <a:noFill/>
          <a:ln/>
        </p:spPr>
        <p:txBody>
          <a:bodyPr wrap="square" lIns="0" tIns="0" rIns="0" bIns="0" rtlCol="0" anchor="ctr"/>
          <a:lstStyle/>
          <a:p>
            <a:pPr algn="l" indent="0" marL="0">
              <a:buNone/>
            </a:pPr>
            <a:r>
              <a:rPr lang="en-US" sz="3400" b="1" dirty="0">
                <a:solidFill>
                  <a:srgbClr val="EAECEF"/>
                </a:solidFill>
                <a:latin typeface="Cambria" pitchFamily="34" charset="0"/>
                <a:ea typeface="Cambria" pitchFamily="34" charset="-122"/>
                <a:cs typeface="Cambria" pitchFamily="34" charset="-120"/>
              </a:rPr>
              <a:t>Don't recompute the window — repair it</a:t>
            </a:r>
            <a:endParaRPr lang="en-US" sz="3400" dirty="0"/>
          </a:p>
        </p:txBody>
      </p:sp>
      <p:sp>
        <p:nvSpPr>
          <p:cNvPr id="4" name="Shape 2"/>
          <p:cNvSpPr/>
          <p:nvPr/>
        </p:nvSpPr>
        <p:spPr>
          <a:xfrm>
            <a:off x="2011680" y="2148840"/>
            <a:ext cx="658368" cy="658368"/>
          </a:xfrm>
          <a:prstGeom prst="roundRect">
            <a:avLst>
              <a:gd name="adj" fmla="val 8333"/>
            </a:avLst>
          </a:prstGeom>
          <a:solidFill>
            <a:srgbClr val="20242E"/>
          </a:solidFill>
          <a:ln w="15875">
            <a:solidFill>
              <a:srgbClr val="2A3140"/>
            </a:solidFill>
            <a:prstDash val="solid"/>
          </a:ln>
        </p:spPr>
      </p:sp>
      <p:sp>
        <p:nvSpPr>
          <p:cNvPr id="5" name="Text 3"/>
          <p:cNvSpPr/>
          <p:nvPr/>
        </p:nvSpPr>
        <p:spPr>
          <a:xfrm>
            <a:off x="2011680" y="2148840"/>
            <a:ext cx="658368" cy="65836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3</a:t>
            </a:r>
            <a:endParaRPr lang="en-US" sz="1500" dirty="0"/>
          </a:p>
        </p:txBody>
      </p:sp>
      <p:sp>
        <p:nvSpPr>
          <p:cNvPr id="6" name="Shape 4"/>
          <p:cNvSpPr/>
          <p:nvPr/>
        </p:nvSpPr>
        <p:spPr>
          <a:xfrm>
            <a:off x="2798064" y="2148840"/>
            <a:ext cx="658368" cy="658368"/>
          </a:xfrm>
          <a:prstGeom prst="roundRect">
            <a:avLst>
              <a:gd name="adj" fmla="val 8333"/>
            </a:avLst>
          </a:prstGeom>
          <a:solidFill>
            <a:srgbClr val="331416"/>
          </a:solidFill>
          <a:ln w="15875">
            <a:solidFill>
              <a:srgbClr val="FF6B6B"/>
            </a:solidFill>
            <a:prstDash val="solid"/>
          </a:ln>
        </p:spPr>
      </p:sp>
      <p:sp>
        <p:nvSpPr>
          <p:cNvPr id="7" name="Text 5"/>
          <p:cNvSpPr/>
          <p:nvPr/>
        </p:nvSpPr>
        <p:spPr>
          <a:xfrm>
            <a:off x="2798064" y="2148840"/>
            <a:ext cx="658368" cy="658368"/>
          </a:xfrm>
          <a:prstGeom prst="rect">
            <a:avLst/>
          </a:prstGeom>
          <a:noFill/>
          <a:ln/>
        </p:spPr>
        <p:txBody>
          <a:bodyPr wrap="square" lIns="0" tIns="0" rIns="0" bIns="0" rtlCol="0" anchor="ctr"/>
          <a:lstStyle/>
          <a:p>
            <a:pPr algn="ctr" indent="0" marL="0">
              <a:buNone/>
            </a:pPr>
            <a:r>
              <a:rPr lang="en-US" sz="1500" b="1" dirty="0">
                <a:solidFill>
                  <a:srgbClr val="FF6B6B"/>
                </a:solidFill>
                <a:latin typeface="Courier New" pitchFamily="34" charset="0"/>
                <a:ea typeface="Courier New" pitchFamily="34" charset="-122"/>
                <a:cs typeface="Courier New" pitchFamily="34" charset="-120"/>
              </a:rPr>
              <a:t>1</a:t>
            </a:r>
            <a:endParaRPr lang="en-US" sz="1500" dirty="0"/>
          </a:p>
        </p:txBody>
      </p:sp>
      <p:sp>
        <p:nvSpPr>
          <p:cNvPr id="8" name="Shape 6"/>
          <p:cNvSpPr/>
          <p:nvPr/>
        </p:nvSpPr>
        <p:spPr>
          <a:xfrm>
            <a:off x="3584448" y="2148840"/>
            <a:ext cx="658368" cy="658368"/>
          </a:xfrm>
          <a:prstGeom prst="roundRect">
            <a:avLst>
              <a:gd name="adj" fmla="val 8333"/>
            </a:avLst>
          </a:prstGeom>
          <a:solidFill>
            <a:srgbClr val="10312E"/>
          </a:solidFill>
          <a:ln w="15875">
            <a:solidFill>
              <a:srgbClr val="34D8C0"/>
            </a:solidFill>
            <a:prstDash val="solid"/>
          </a:ln>
        </p:spPr>
      </p:sp>
      <p:sp>
        <p:nvSpPr>
          <p:cNvPr id="9" name="Text 7"/>
          <p:cNvSpPr/>
          <p:nvPr/>
        </p:nvSpPr>
        <p:spPr>
          <a:xfrm>
            <a:off x="3584448" y="2148840"/>
            <a:ext cx="658368" cy="65836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4</a:t>
            </a:r>
            <a:endParaRPr lang="en-US" sz="1500" dirty="0"/>
          </a:p>
        </p:txBody>
      </p:sp>
      <p:sp>
        <p:nvSpPr>
          <p:cNvPr id="10" name="Shape 8"/>
          <p:cNvSpPr/>
          <p:nvPr/>
        </p:nvSpPr>
        <p:spPr>
          <a:xfrm>
            <a:off x="4370832" y="2148840"/>
            <a:ext cx="658368" cy="658368"/>
          </a:xfrm>
          <a:prstGeom prst="roundRect">
            <a:avLst>
              <a:gd name="adj" fmla="val 8333"/>
            </a:avLst>
          </a:prstGeom>
          <a:solidFill>
            <a:srgbClr val="10312E"/>
          </a:solidFill>
          <a:ln w="15875">
            <a:solidFill>
              <a:srgbClr val="34D8C0"/>
            </a:solidFill>
            <a:prstDash val="solid"/>
          </a:ln>
        </p:spPr>
      </p:sp>
      <p:sp>
        <p:nvSpPr>
          <p:cNvPr id="11" name="Text 9"/>
          <p:cNvSpPr/>
          <p:nvPr/>
        </p:nvSpPr>
        <p:spPr>
          <a:xfrm>
            <a:off x="4370832" y="2148840"/>
            <a:ext cx="658368" cy="65836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1</a:t>
            </a:r>
            <a:endParaRPr lang="en-US" sz="1500" dirty="0"/>
          </a:p>
        </p:txBody>
      </p:sp>
      <p:sp>
        <p:nvSpPr>
          <p:cNvPr id="12" name="Shape 10"/>
          <p:cNvSpPr/>
          <p:nvPr/>
        </p:nvSpPr>
        <p:spPr>
          <a:xfrm>
            <a:off x="5157216" y="2148840"/>
            <a:ext cx="658368" cy="658368"/>
          </a:xfrm>
          <a:prstGeom prst="roundRect">
            <a:avLst>
              <a:gd name="adj" fmla="val 8333"/>
            </a:avLst>
          </a:prstGeom>
          <a:solidFill>
            <a:srgbClr val="12331C"/>
          </a:solidFill>
          <a:ln w="15875">
            <a:solidFill>
              <a:srgbClr val="4ADE80"/>
            </a:solidFill>
            <a:prstDash val="solid"/>
          </a:ln>
        </p:spPr>
      </p:sp>
      <p:sp>
        <p:nvSpPr>
          <p:cNvPr id="13" name="Text 11"/>
          <p:cNvSpPr/>
          <p:nvPr/>
        </p:nvSpPr>
        <p:spPr>
          <a:xfrm>
            <a:off x="5157216" y="2148840"/>
            <a:ext cx="658368" cy="658368"/>
          </a:xfrm>
          <a:prstGeom prst="rect">
            <a:avLst/>
          </a:prstGeom>
          <a:noFill/>
          <a:ln/>
        </p:spPr>
        <p:txBody>
          <a:bodyPr wrap="square" lIns="0" tIns="0" rIns="0" bIns="0" rtlCol="0" anchor="ctr"/>
          <a:lstStyle/>
          <a:p>
            <a:pPr algn="ctr" indent="0" marL="0">
              <a:buNone/>
            </a:pPr>
            <a:r>
              <a:rPr lang="en-US" sz="1500" b="1" dirty="0">
                <a:solidFill>
                  <a:srgbClr val="4ADE80"/>
                </a:solidFill>
                <a:latin typeface="Courier New" pitchFamily="34" charset="0"/>
                <a:ea typeface="Courier New" pitchFamily="34" charset="-122"/>
                <a:cs typeface="Courier New" pitchFamily="34" charset="-120"/>
              </a:rPr>
              <a:t>5</a:t>
            </a:r>
            <a:endParaRPr lang="en-US" sz="1500" dirty="0"/>
          </a:p>
        </p:txBody>
      </p:sp>
      <p:sp>
        <p:nvSpPr>
          <p:cNvPr id="14" name="Shape 12"/>
          <p:cNvSpPr/>
          <p:nvPr/>
        </p:nvSpPr>
        <p:spPr>
          <a:xfrm>
            <a:off x="5943600" y="2148840"/>
            <a:ext cx="658368" cy="658368"/>
          </a:xfrm>
          <a:prstGeom prst="roundRect">
            <a:avLst>
              <a:gd name="adj" fmla="val 8333"/>
            </a:avLst>
          </a:prstGeom>
          <a:solidFill>
            <a:srgbClr val="20242E"/>
          </a:solidFill>
          <a:ln w="15875">
            <a:solidFill>
              <a:srgbClr val="2A3140"/>
            </a:solidFill>
            <a:prstDash val="solid"/>
          </a:ln>
        </p:spPr>
      </p:sp>
      <p:sp>
        <p:nvSpPr>
          <p:cNvPr id="15" name="Text 13"/>
          <p:cNvSpPr/>
          <p:nvPr/>
        </p:nvSpPr>
        <p:spPr>
          <a:xfrm>
            <a:off x="5943600" y="2148840"/>
            <a:ext cx="658368" cy="65836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9</a:t>
            </a:r>
            <a:endParaRPr lang="en-US" sz="1500" dirty="0"/>
          </a:p>
        </p:txBody>
      </p:sp>
      <p:sp>
        <p:nvSpPr>
          <p:cNvPr id="16" name="Shape 14"/>
          <p:cNvSpPr/>
          <p:nvPr/>
        </p:nvSpPr>
        <p:spPr>
          <a:xfrm>
            <a:off x="6729984" y="2148840"/>
            <a:ext cx="658368" cy="658368"/>
          </a:xfrm>
          <a:prstGeom prst="roundRect">
            <a:avLst>
              <a:gd name="adj" fmla="val 8333"/>
            </a:avLst>
          </a:prstGeom>
          <a:solidFill>
            <a:srgbClr val="20242E"/>
          </a:solidFill>
          <a:ln w="15875">
            <a:solidFill>
              <a:srgbClr val="2A3140"/>
            </a:solidFill>
            <a:prstDash val="solid"/>
          </a:ln>
        </p:spPr>
      </p:sp>
      <p:sp>
        <p:nvSpPr>
          <p:cNvPr id="17" name="Text 15"/>
          <p:cNvSpPr/>
          <p:nvPr/>
        </p:nvSpPr>
        <p:spPr>
          <a:xfrm>
            <a:off x="6729984" y="2148840"/>
            <a:ext cx="658368" cy="65836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2</a:t>
            </a:r>
            <a:endParaRPr lang="en-US" sz="1500" dirty="0"/>
          </a:p>
        </p:txBody>
      </p:sp>
      <p:sp>
        <p:nvSpPr>
          <p:cNvPr id="18" name="Shape 16"/>
          <p:cNvSpPr/>
          <p:nvPr/>
        </p:nvSpPr>
        <p:spPr>
          <a:xfrm>
            <a:off x="7516368" y="2148840"/>
            <a:ext cx="658368" cy="658368"/>
          </a:xfrm>
          <a:prstGeom prst="roundRect">
            <a:avLst>
              <a:gd name="adj" fmla="val 8333"/>
            </a:avLst>
          </a:prstGeom>
          <a:solidFill>
            <a:srgbClr val="20242E"/>
          </a:solidFill>
          <a:ln w="15875">
            <a:solidFill>
              <a:srgbClr val="2A3140"/>
            </a:solidFill>
            <a:prstDash val="solid"/>
          </a:ln>
        </p:spPr>
      </p:sp>
      <p:sp>
        <p:nvSpPr>
          <p:cNvPr id="19" name="Text 17"/>
          <p:cNvSpPr/>
          <p:nvPr/>
        </p:nvSpPr>
        <p:spPr>
          <a:xfrm>
            <a:off x="7516368" y="2148840"/>
            <a:ext cx="658368" cy="65836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6</a:t>
            </a:r>
            <a:endParaRPr lang="en-US" sz="1500" dirty="0"/>
          </a:p>
        </p:txBody>
      </p:sp>
      <p:sp>
        <p:nvSpPr>
          <p:cNvPr id="20" name="Text 18"/>
          <p:cNvSpPr/>
          <p:nvPr/>
        </p:nvSpPr>
        <p:spPr>
          <a:xfrm>
            <a:off x="2011680" y="2926080"/>
            <a:ext cx="786384" cy="274320"/>
          </a:xfrm>
          <a:prstGeom prst="rect">
            <a:avLst/>
          </a:prstGeom>
          <a:noFill/>
          <a:ln/>
        </p:spPr>
        <p:txBody>
          <a:bodyPr wrap="square" lIns="0" tIns="0" rIns="0" bIns="0" rtlCol="0" anchor="ctr"/>
          <a:lstStyle/>
          <a:p>
            <a:pPr algn="ctr" indent="0" marL="0">
              <a:buNone/>
            </a:pPr>
            <a:r>
              <a:rPr lang="en-US" sz="1200" b="1" dirty="0">
                <a:solidFill>
                  <a:srgbClr val="FF6B6B"/>
                </a:solidFill>
                <a:latin typeface="Calibri" pitchFamily="34" charset="0"/>
                <a:ea typeface="Calibri" pitchFamily="34" charset="-122"/>
                <a:cs typeface="Calibri" pitchFamily="34" charset="-120"/>
              </a:rPr>
              <a:t>leaves</a:t>
            </a:r>
            <a:endParaRPr lang="en-US" sz="1200" dirty="0"/>
          </a:p>
        </p:txBody>
      </p:sp>
      <p:sp>
        <p:nvSpPr>
          <p:cNvPr id="21" name="Text 19"/>
          <p:cNvSpPr/>
          <p:nvPr/>
        </p:nvSpPr>
        <p:spPr>
          <a:xfrm>
            <a:off x="5285232" y="2926080"/>
            <a:ext cx="786384" cy="274320"/>
          </a:xfrm>
          <a:prstGeom prst="rect">
            <a:avLst/>
          </a:prstGeom>
          <a:noFill/>
          <a:ln/>
        </p:spPr>
        <p:txBody>
          <a:bodyPr wrap="square" lIns="0" tIns="0" rIns="0" bIns="0" rtlCol="0" anchor="ctr"/>
          <a:lstStyle/>
          <a:p>
            <a:pPr algn="ctr" indent="0" marL="0">
              <a:buNone/>
            </a:pPr>
            <a:r>
              <a:rPr lang="en-US" sz="1200" b="1" dirty="0">
                <a:solidFill>
                  <a:srgbClr val="4ADE80"/>
                </a:solidFill>
                <a:latin typeface="Calibri" pitchFamily="34" charset="0"/>
                <a:ea typeface="Calibri" pitchFamily="34" charset="-122"/>
                <a:cs typeface="Calibri" pitchFamily="34" charset="-120"/>
              </a:rPr>
              <a:t>enters</a:t>
            </a:r>
            <a:endParaRPr lang="en-US" sz="1200" dirty="0"/>
          </a:p>
        </p:txBody>
      </p:sp>
      <p:sp>
        <p:nvSpPr>
          <p:cNvPr id="22" name="Shape 20"/>
          <p:cNvSpPr/>
          <p:nvPr/>
        </p:nvSpPr>
        <p:spPr>
          <a:xfrm>
            <a:off x="2011680" y="3520440"/>
            <a:ext cx="8138160" cy="1051560"/>
          </a:xfrm>
          <a:prstGeom prst="roundRect">
            <a:avLst>
              <a:gd name="adj" fmla="val 7826"/>
            </a:avLst>
          </a:prstGeom>
          <a:solidFill>
            <a:srgbClr val="0E1016"/>
          </a:solidFill>
          <a:ln w="12700">
            <a:solidFill>
              <a:srgbClr val="2A3140"/>
            </a:solidFill>
            <a:prstDash val="solid"/>
          </a:ln>
        </p:spPr>
      </p:sp>
      <p:sp>
        <p:nvSpPr>
          <p:cNvPr id="23" name="Text 21"/>
          <p:cNvSpPr/>
          <p:nvPr/>
        </p:nvSpPr>
        <p:spPr>
          <a:xfrm>
            <a:off x="2194560" y="3520440"/>
            <a:ext cx="7772400" cy="1051560"/>
          </a:xfrm>
          <a:prstGeom prst="rect">
            <a:avLst/>
          </a:prstGeom>
          <a:noFill/>
          <a:ln/>
        </p:spPr>
        <p:txBody>
          <a:bodyPr wrap="square" lIns="0" tIns="0" rIns="0" bIns="0" rtlCol="0" anchor="ctr"/>
          <a:lstStyle/>
          <a:p>
            <a:pPr algn="l" indent="0" marL="0">
              <a:buNone/>
            </a:pPr>
            <a:r>
              <a:rPr lang="en-US" sz="2200" b="1" dirty="0">
                <a:solidFill>
                  <a:srgbClr val="EAECEF"/>
                </a:solidFill>
                <a:latin typeface="Courier New" pitchFamily="34" charset="0"/>
                <a:ea typeface="Courier New" pitchFamily="34" charset="-122"/>
                <a:cs typeface="Courier New" pitchFamily="34" charset="-120"/>
              </a:rPr>
              <a:t>new_sum </a:t>
            </a:r>
            <a:pPr algn="l" indent="0" marL="0">
              <a:buNone/>
            </a:pPr>
            <a:r>
              <a:rPr lang="en-US" sz="2200" b="1" dirty="0">
                <a:solidFill>
                  <a:srgbClr val="9AA5B4"/>
                </a:solidFill>
                <a:latin typeface="Courier New" pitchFamily="34" charset="0"/>
                <a:ea typeface="Courier New" pitchFamily="34" charset="-122"/>
                <a:cs typeface="Courier New" pitchFamily="34" charset="-120"/>
              </a:rPr>
              <a:t>= </a:t>
            </a:r>
            <a:pPr algn="l" indent="0" marL="0">
              <a:buNone/>
            </a:pPr>
            <a:r>
              <a:rPr lang="en-US" sz="2200" b="1" dirty="0">
                <a:solidFill>
                  <a:srgbClr val="EAECEF"/>
                </a:solidFill>
                <a:latin typeface="Courier New" pitchFamily="34" charset="0"/>
                <a:ea typeface="Courier New" pitchFamily="34" charset="-122"/>
                <a:cs typeface="Courier New" pitchFamily="34" charset="-120"/>
              </a:rPr>
              <a:t>old_sum </a:t>
            </a:r>
            <a:pPr algn="l" indent="0" marL="0">
              <a:buNone/>
            </a:pPr>
            <a:r>
              <a:rPr lang="en-US" sz="2200" b="1" dirty="0">
                <a:solidFill>
                  <a:srgbClr val="FF6B6B"/>
                </a:solidFill>
                <a:latin typeface="Courier New" pitchFamily="34" charset="0"/>
                <a:ea typeface="Courier New" pitchFamily="34" charset="-122"/>
                <a:cs typeface="Courier New" pitchFamily="34" charset="-120"/>
              </a:rPr>
              <a:t>− a[leaving] </a:t>
            </a:r>
            <a:pPr algn="l" indent="0" marL="0">
              <a:buNone/>
            </a:pPr>
            <a:r>
              <a:rPr lang="en-US" sz="2200" b="1" dirty="0">
                <a:solidFill>
                  <a:srgbClr val="4ADE80"/>
                </a:solidFill>
                <a:latin typeface="Courier New" pitchFamily="34" charset="0"/>
                <a:ea typeface="Courier New" pitchFamily="34" charset="-122"/>
                <a:cs typeface="Courier New" pitchFamily="34" charset="-120"/>
              </a:rPr>
              <a:t>+ a[entering]</a:t>
            </a:r>
            <a:endParaRPr lang="en-US" sz="2200" dirty="0"/>
          </a:p>
        </p:txBody>
      </p:sp>
      <p:sp>
        <p:nvSpPr>
          <p:cNvPr id="24" name="Text 22"/>
          <p:cNvSpPr/>
          <p:nvPr/>
        </p:nvSpPr>
        <p:spPr>
          <a:xfrm>
            <a:off x="2011680" y="4800600"/>
            <a:ext cx="8229600" cy="457200"/>
          </a:xfrm>
          <a:prstGeom prst="rect">
            <a:avLst/>
          </a:prstGeom>
          <a:noFill/>
          <a:ln/>
        </p:spPr>
        <p:txBody>
          <a:bodyPr wrap="square" lIns="0" tIns="0" rIns="0" bIns="0" rtlCol="0" anchor="ctr"/>
          <a:lstStyle/>
          <a:p>
            <a:pPr algn="l" indent="0" marL="0">
              <a:buNone/>
            </a:pPr>
            <a:r>
              <a:rPr lang="en-US" sz="1700" b="1" dirty="0">
                <a:solidFill>
                  <a:srgbClr val="34D8C0"/>
                </a:solidFill>
                <a:latin typeface="Calibri" pitchFamily="34" charset="0"/>
                <a:ea typeface="Calibri" pitchFamily="34" charset="-122"/>
                <a:cs typeface="Calibri" pitchFamily="34" charset="-120"/>
              </a:rPr>
              <a:t>One subtraction, one addition — O(1) per window instead of O(N).</a:t>
            </a:r>
            <a:endParaRPr lang="en-US" sz="1700" dirty="0"/>
          </a:p>
        </p:txBody>
      </p:sp>
      <p:sp>
        <p:nvSpPr>
          <p:cNvPr id="25" name="Text 23"/>
          <p:cNvSpPr/>
          <p:nvPr/>
        </p:nvSpPr>
        <p:spPr>
          <a:xfrm>
            <a:off x="2011680" y="5349240"/>
            <a:ext cx="8412480" cy="457200"/>
          </a:xfrm>
          <a:prstGeom prst="rect">
            <a:avLst/>
          </a:prstGeom>
          <a:noFill/>
          <a:ln/>
        </p:spPr>
        <p:txBody>
          <a:bodyPr wrap="square" lIns="0" tIns="0" rIns="0" bIns="0" rtlCol="0" anchor="ctr"/>
          <a:lstStyle/>
          <a:p>
            <a:pPr algn="l" indent="0" marL="0">
              <a:buNone/>
            </a:pPr>
            <a:r>
              <a:rPr lang="en-US" sz="1400" i="1" dirty="0">
                <a:solidFill>
                  <a:srgbClr val="9AA5B4"/>
                </a:solidFill>
                <a:latin typeface="Calibri" pitchFamily="34" charset="0"/>
                <a:ea typeface="Calibri" pitchFamily="34" charset="-122"/>
                <a:cs typeface="Calibri" pitchFamily="34" charset="-120"/>
              </a:rPr>
              <a:t>“Subtract what left, add what entered.”  Keep a running summary and mend it as the window moves.</a:t>
            </a:r>
            <a:endParaRPr lang="en-US" sz="1400" dirty="0"/>
          </a:p>
        </p:txBody>
      </p:sp>
      <p:sp>
        <p:nvSpPr>
          <p:cNvPr id="26" name="Text 24"/>
          <p:cNvSpPr/>
          <p:nvPr/>
        </p:nvSpPr>
        <p:spPr>
          <a:xfrm>
            <a:off x="502920" y="6455664"/>
            <a:ext cx="5486400" cy="274320"/>
          </a:xfrm>
          <a:prstGeom prst="rect">
            <a:avLst/>
          </a:prstGeom>
          <a:noFill/>
          <a:ln/>
        </p:spPr>
        <p:txBody>
          <a:bodyPr wrap="square" lIns="0" tIns="0" rIns="0" bIns="0" rtlCol="0" anchor="ctr"/>
          <a:lstStyle/>
          <a:p>
            <a:pPr algn="l" indent="0" marL="0">
              <a:buNone/>
            </a:pPr>
            <a:r>
              <a:rPr lang="en-US" sz="1000" dirty="0">
                <a:solidFill>
                  <a:srgbClr val="9AA5B4"/>
                </a:solidFill>
                <a:latin typeface="Calibri" pitchFamily="34" charset="0"/>
                <a:ea typeface="Calibri" pitchFamily="34" charset="-122"/>
                <a:cs typeface="Calibri" pitchFamily="34" charset="-120"/>
              </a:rPr>
              <a:t>Two Pointers &amp; Sliding Window</a:t>
            </a:r>
            <a:endParaRPr lang="en-US" sz="1000" dirty="0"/>
          </a:p>
        </p:txBody>
      </p:sp>
      <p:sp>
        <p:nvSpPr>
          <p:cNvPr id="27" name="Text 25"/>
          <p:cNvSpPr/>
          <p:nvPr/>
        </p:nvSpPr>
        <p:spPr>
          <a:xfrm>
            <a:off x="11228832" y="6455664"/>
            <a:ext cx="457200" cy="274320"/>
          </a:xfrm>
          <a:prstGeom prst="rect">
            <a:avLst/>
          </a:prstGeom>
          <a:noFill/>
          <a:ln/>
        </p:spPr>
        <p:txBody>
          <a:bodyPr wrap="square" lIns="0" tIns="0" rIns="0" bIns="0" rtlCol="0" anchor="ctr"/>
          <a:lstStyle/>
          <a:p>
            <a:pPr algn="r" indent="0" marL="0">
              <a:buNone/>
            </a:pPr>
            <a:r>
              <a:rPr lang="en-US" sz="1000" dirty="0">
                <a:solidFill>
                  <a:srgbClr val="9AA5B4"/>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71F"/>
        </a:solidFill>
      </p:bgPr>
    </p:bg>
    <p:spTree>
      <p:nvGrpSpPr>
        <p:cNvPr id="1" name=""/>
        <p:cNvGrpSpPr/>
        <p:nvPr/>
      </p:nvGrpSpPr>
      <p:grpSpPr>
        <a:xfrm>
          <a:off x="0" y="0"/>
          <a:ext cx="0" cy="0"/>
          <a:chOff x="0" y="0"/>
          <a:chExt cx="0" cy="0"/>
        </a:xfrm>
      </p:grpSpPr>
      <p:sp>
        <p:nvSpPr>
          <p:cNvPr id="2" name="Text 0"/>
          <p:cNvSpPr/>
          <p:nvPr/>
        </p:nvSpPr>
        <p:spPr>
          <a:xfrm>
            <a:off x="502920" y="457200"/>
            <a:ext cx="3657600" cy="292608"/>
          </a:xfrm>
          <a:prstGeom prst="rect">
            <a:avLst/>
          </a:prstGeom>
          <a:noFill/>
          <a:ln/>
        </p:spPr>
        <p:txBody>
          <a:bodyPr wrap="square" lIns="0" tIns="0" rIns="0" bIns="0" rtlCol="0" anchor="ctr"/>
          <a:lstStyle/>
          <a:p>
            <a:pPr algn="l" indent="0" marL="0">
              <a:buNone/>
            </a:pPr>
            <a:r>
              <a:rPr lang="en-US" sz="1200" b="1" spc="300" kern="0" dirty="0">
                <a:solidFill>
                  <a:srgbClr val="34D8C0"/>
                </a:solidFill>
                <a:latin typeface="Calibri" pitchFamily="34" charset="0"/>
                <a:ea typeface="Calibri" pitchFamily="34" charset="-122"/>
                <a:cs typeface="Calibri" pitchFamily="34" charset="-120"/>
              </a:rPr>
              <a:t>TWO PATTERNS</a:t>
            </a:r>
            <a:endParaRPr lang="en-US" sz="1200" dirty="0"/>
          </a:p>
        </p:txBody>
      </p:sp>
      <p:sp>
        <p:nvSpPr>
          <p:cNvPr id="3" name="Text 1"/>
          <p:cNvSpPr/>
          <p:nvPr/>
        </p:nvSpPr>
        <p:spPr>
          <a:xfrm>
            <a:off x="502920" y="777240"/>
            <a:ext cx="10972800" cy="822960"/>
          </a:xfrm>
          <a:prstGeom prst="rect">
            <a:avLst/>
          </a:prstGeom>
          <a:noFill/>
          <a:ln/>
        </p:spPr>
        <p:txBody>
          <a:bodyPr wrap="square" lIns="0" tIns="0" rIns="0" bIns="0" rtlCol="0" anchor="ctr"/>
          <a:lstStyle/>
          <a:p>
            <a:pPr algn="l" indent="0" marL="0">
              <a:buNone/>
            </a:pPr>
            <a:r>
              <a:rPr lang="en-US" sz="3400" b="1" dirty="0">
                <a:solidFill>
                  <a:srgbClr val="EAECEF"/>
                </a:solidFill>
                <a:latin typeface="Cambria" pitchFamily="34" charset="0"/>
                <a:ea typeface="Cambria" pitchFamily="34" charset="-122"/>
                <a:cs typeface="Cambria" pitchFamily="34" charset="-120"/>
              </a:rPr>
              <a:t>Which flavour does the problem need?</a:t>
            </a:r>
            <a:endParaRPr lang="en-US" sz="3400" dirty="0"/>
          </a:p>
        </p:txBody>
      </p:sp>
      <p:sp>
        <p:nvSpPr>
          <p:cNvPr id="4" name="Shape 2"/>
          <p:cNvSpPr/>
          <p:nvPr/>
        </p:nvSpPr>
        <p:spPr>
          <a:xfrm>
            <a:off x="502920" y="1737360"/>
            <a:ext cx="5486400" cy="4114800"/>
          </a:xfrm>
          <a:prstGeom prst="roundRect">
            <a:avLst>
              <a:gd name="adj" fmla="val 2000"/>
            </a:avLst>
          </a:prstGeom>
          <a:solidFill>
            <a:srgbClr val="20242E"/>
          </a:solidFill>
          <a:ln w="12700">
            <a:solidFill>
              <a:srgbClr val="2A3140"/>
            </a:solidFill>
            <a:prstDash val="solid"/>
          </a:ln>
        </p:spPr>
      </p:sp>
      <p:sp>
        <p:nvSpPr>
          <p:cNvPr id="5" name="Text 3"/>
          <p:cNvSpPr/>
          <p:nvPr/>
        </p:nvSpPr>
        <p:spPr>
          <a:xfrm>
            <a:off x="731520" y="1920240"/>
            <a:ext cx="5029200" cy="457200"/>
          </a:xfrm>
          <a:prstGeom prst="rect">
            <a:avLst/>
          </a:prstGeom>
          <a:noFill/>
          <a:ln/>
        </p:spPr>
        <p:txBody>
          <a:bodyPr wrap="square" lIns="0" tIns="0" rIns="0" bIns="0" rtlCol="0" anchor="ctr"/>
          <a:lstStyle/>
          <a:p>
            <a:pPr algn="l" indent="0" marL="0">
              <a:buNone/>
            </a:pPr>
            <a:r>
              <a:rPr lang="en-US" sz="2200" b="1" dirty="0">
                <a:solidFill>
                  <a:srgbClr val="34D8C0"/>
                </a:solidFill>
                <a:latin typeface="Cambria" pitchFamily="34" charset="0"/>
                <a:ea typeface="Cambria" pitchFamily="34" charset="-122"/>
                <a:cs typeface="Cambria" pitchFamily="34" charset="-120"/>
              </a:rPr>
              <a:t>Fixed-size window</a:t>
            </a:r>
            <a:endParaRPr lang="en-US" sz="2200" dirty="0"/>
          </a:p>
        </p:txBody>
      </p:sp>
      <p:sp>
        <p:nvSpPr>
          <p:cNvPr id="6" name="Shape 4"/>
          <p:cNvSpPr/>
          <p:nvPr/>
        </p:nvSpPr>
        <p:spPr>
          <a:xfrm>
            <a:off x="868680" y="2651760"/>
            <a:ext cx="457200" cy="457200"/>
          </a:xfrm>
          <a:prstGeom prst="roundRect">
            <a:avLst>
              <a:gd name="adj" fmla="val 12000"/>
            </a:avLst>
          </a:prstGeom>
          <a:solidFill>
            <a:srgbClr val="20242E"/>
          </a:solidFill>
          <a:ln w="15875">
            <a:solidFill>
              <a:srgbClr val="2A3140"/>
            </a:solidFill>
            <a:prstDash val="solid"/>
          </a:ln>
        </p:spPr>
      </p:sp>
      <p:sp>
        <p:nvSpPr>
          <p:cNvPr id="7" name="Text 5"/>
          <p:cNvSpPr/>
          <p:nvPr/>
        </p:nvSpPr>
        <p:spPr>
          <a:xfrm>
            <a:off x="868680" y="2651760"/>
            <a:ext cx="457200" cy="457200"/>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3</a:t>
            </a:r>
            <a:endParaRPr lang="en-US" sz="1500" dirty="0"/>
          </a:p>
        </p:txBody>
      </p:sp>
      <p:sp>
        <p:nvSpPr>
          <p:cNvPr id="8" name="Shape 6"/>
          <p:cNvSpPr/>
          <p:nvPr/>
        </p:nvSpPr>
        <p:spPr>
          <a:xfrm>
            <a:off x="1417320" y="2651760"/>
            <a:ext cx="457200" cy="457200"/>
          </a:xfrm>
          <a:prstGeom prst="roundRect">
            <a:avLst>
              <a:gd name="adj" fmla="val 12000"/>
            </a:avLst>
          </a:prstGeom>
          <a:solidFill>
            <a:srgbClr val="10312E"/>
          </a:solidFill>
          <a:ln w="15875">
            <a:solidFill>
              <a:srgbClr val="34D8C0"/>
            </a:solidFill>
            <a:prstDash val="solid"/>
          </a:ln>
        </p:spPr>
      </p:sp>
      <p:sp>
        <p:nvSpPr>
          <p:cNvPr id="9" name="Text 7"/>
          <p:cNvSpPr/>
          <p:nvPr/>
        </p:nvSpPr>
        <p:spPr>
          <a:xfrm>
            <a:off x="1417320" y="2651760"/>
            <a:ext cx="457200" cy="457200"/>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1</a:t>
            </a:r>
            <a:endParaRPr lang="en-US" sz="1500" dirty="0"/>
          </a:p>
        </p:txBody>
      </p:sp>
      <p:sp>
        <p:nvSpPr>
          <p:cNvPr id="10" name="Shape 8"/>
          <p:cNvSpPr/>
          <p:nvPr/>
        </p:nvSpPr>
        <p:spPr>
          <a:xfrm>
            <a:off x="1965960" y="2651760"/>
            <a:ext cx="457200" cy="457200"/>
          </a:xfrm>
          <a:prstGeom prst="roundRect">
            <a:avLst>
              <a:gd name="adj" fmla="val 12000"/>
            </a:avLst>
          </a:prstGeom>
          <a:solidFill>
            <a:srgbClr val="10312E"/>
          </a:solidFill>
          <a:ln w="15875">
            <a:solidFill>
              <a:srgbClr val="34D8C0"/>
            </a:solidFill>
            <a:prstDash val="solid"/>
          </a:ln>
        </p:spPr>
      </p:sp>
      <p:sp>
        <p:nvSpPr>
          <p:cNvPr id="11" name="Text 9"/>
          <p:cNvSpPr/>
          <p:nvPr/>
        </p:nvSpPr>
        <p:spPr>
          <a:xfrm>
            <a:off x="1965960" y="2651760"/>
            <a:ext cx="457200" cy="457200"/>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4</a:t>
            </a:r>
            <a:endParaRPr lang="en-US" sz="1500" dirty="0"/>
          </a:p>
        </p:txBody>
      </p:sp>
      <p:sp>
        <p:nvSpPr>
          <p:cNvPr id="12" name="Shape 10"/>
          <p:cNvSpPr/>
          <p:nvPr/>
        </p:nvSpPr>
        <p:spPr>
          <a:xfrm>
            <a:off x="2514600" y="2651760"/>
            <a:ext cx="457200" cy="457200"/>
          </a:xfrm>
          <a:prstGeom prst="roundRect">
            <a:avLst>
              <a:gd name="adj" fmla="val 12000"/>
            </a:avLst>
          </a:prstGeom>
          <a:solidFill>
            <a:srgbClr val="10312E"/>
          </a:solidFill>
          <a:ln w="15875">
            <a:solidFill>
              <a:srgbClr val="34D8C0"/>
            </a:solidFill>
            <a:prstDash val="solid"/>
          </a:ln>
        </p:spPr>
      </p:sp>
      <p:sp>
        <p:nvSpPr>
          <p:cNvPr id="13" name="Text 11"/>
          <p:cNvSpPr/>
          <p:nvPr/>
        </p:nvSpPr>
        <p:spPr>
          <a:xfrm>
            <a:off x="2514600" y="2651760"/>
            <a:ext cx="457200" cy="457200"/>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1</a:t>
            </a:r>
            <a:endParaRPr lang="en-US" sz="1500" dirty="0"/>
          </a:p>
        </p:txBody>
      </p:sp>
      <p:sp>
        <p:nvSpPr>
          <p:cNvPr id="14" name="Shape 12"/>
          <p:cNvSpPr/>
          <p:nvPr/>
        </p:nvSpPr>
        <p:spPr>
          <a:xfrm>
            <a:off x="3063240" y="2651760"/>
            <a:ext cx="457200" cy="457200"/>
          </a:xfrm>
          <a:prstGeom prst="roundRect">
            <a:avLst>
              <a:gd name="adj" fmla="val 12000"/>
            </a:avLst>
          </a:prstGeom>
          <a:solidFill>
            <a:srgbClr val="20242E"/>
          </a:solidFill>
          <a:ln w="15875">
            <a:solidFill>
              <a:srgbClr val="2A3140"/>
            </a:solidFill>
            <a:prstDash val="solid"/>
          </a:ln>
        </p:spPr>
      </p:sp>
      <p:sp>
        <p:nvSpPr>
          <p:cNvPr id="15" name="Text 13"/>
          <p:cNvSpPr/>
          <p:nvPr/>
        </p:nvSpPr>
        <p:spPr>
          <a:xfrm>
            <a:off x="3063240" y="2651760"/>
            <a:ext cx="457200" cy="457200"/>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5</a:t>
            </a:r>
            <a:endParaRPr lang="en-US" sz="1500" dirty="0"/>
          </a:p>
        </p:txBody>
      </p:sp>
      <p:sp>
        <p:nvSpPr>
          <p:cNvPr id="16" name="Shape 14"/>
          <p:cNvSpPr/>
          <p:nvPr/>
        </p:nvSpPr>
        <p:spPr>
          <a:xfrm>
            <a:off x="3611880" y="2651760"/>
            <a:ext cx="457200" cy="457200"/>
          </a:xfrm>
          <a:prstGeom prst="roundRect">
            <a:avLst>
              <a:gd name="adj" fmla="val 12000"/>
            </a:avLst>
          </a:prstGeom>
          <a:solidFill>
            <a:srgbClr val="20242E"/>
          </a:solidFill>
          <a:ln w="15875">
            <a:solidFill>
              <a:srgbClr val="2A3140"/>
            </a:solidFill>
            <a:prstDash val="solid"/>
          </a:ln>
        </p:spPr>
      </p:sp>
      <p:sp>
        <p:nvSpPr>
          <p:cNvPr id="17" name="Text 15"/>
          <p:cNvSpPr/>
          <p:nvPr/>
        </p:nvSpPr>
        <p:spPr>
          <a:xfrm>
            <a:off x="3611880" y="2651760"/>
            <a:ext cx="457200" cy="457200"/>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9</a:t>
            </a:r>
            <a:endParaRPr lang="en-US" sz="1500" dirty="0"/>
          </a:p>
        </p:txBody>
      </p:sp>
      <p:sp>
        <p:nvSpPr>
          <p:cNvPr id="18" name="Shape 16"/>
          <p:cNvSpPr/>
          <p:nvPr/>
        </p:nvSpPr>
        <p:spPr>
          <a:xfrm>
            <a:off x="4160520" y="2651760"/>
            <a:ext cx="457200" cy="457200"/>
          </a:xfrm>
          <a:prstGeom prst="roundRect">
            <a:avLst>
              <a:gd name="adj" fmla="val 12000"/>
            </a:avLst>
          </a:prstGeom>
          <a:solidFill>
            <a:srgbClr val="20242E"/>
          </a:solidFill>
          <a:ln w="15875">
            <a:solidFill>
              <a:srgbClr val="2A3140"/>
            </a:solidFill>
            <a:prstDash val="solid"/>
          </a:ln>
        </p:spPr>
      </p:sp>
      <p:sp>
        <p:nvSpPr>
          <p:cNvPr id="19" name="Text 17"/>
          <p:cNvSpPr/>
          <p:nvPr/>
        </p:nvSpPr>
        <p:spPr>
          <a:xfrm>
            <a:off x="4160520" y="2651760"/>
            <a:ext cx="457200" cy="457200"/>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2</a:t>
            </a:r>
            <a:endParaRPr lang="en-US" sz="1500" dirty="0"/>
          </a:p>
        </p:txBody>
      </p:sp>
      <p:sp>
        <p:nvSpPr>
          <p:cNvPr id="20" name="Text 18"/>
          <p:cNvSpPr/>
          <p:nvPr/>
        </p:nvSpPr>
        <p:spPr>
          <a:xfrm>
            <a:off x="777240" y="3429000"/>
            <a:ext cx="5029200" cy="2194560"/>
          </a:xfrm>
          <a:prstGeom prst="rect">
            <a:avLst/>
          </a:prstGeom>
          <a:noFill/>
          <a:ln/>
        </p:spPr>
        <p:txBody>
          <a:bodyPr wrap="square" lIns="0" tIns="0" rIns="0" bIns="0" rtlCol="0" anchor="t"/>
          <a:lstStyle/>
          <a:p>
            <a:pPr algn="l" marL="203200" indent="-203200">
              <a:spcAft>
                <a:spcPts val="800"/>
              </a:spcAft>
              <a:buSzPct val="100000"/>
              <a:buChar char="•"/>
            </a:pPr>
            <a:r>
              <a:rPr lang="en-US" sz="1450" dirty="0">
                <a:solidFill>
                  <a:srgbClr val="EAECEF"/>
                </a:solidFill>
                <a:latin typeface="Calibri" pitchFamily="34" charset="0"/>
                <a:ea typeface="Calibri" pitchFamily="34" charset="-122"/>
                <a:cs typeface="Calibri" pitchFamily="34" charset="-120"/>
              </a:rPr>
              <a:t>Width is a constant K</a:t>
            </a:r>
            <a:endParaRPr lang="en-US" sz="1450" dirty="0"/>
          </a:p>
          <a:p>
            <a:pPr algn="l" marL="203200" indent="-203200">
              <a:spcAft>
                <a:spcPts val="800"/>
              </a:spcAft>
              <a:buSzPct val="100000"/>
              <a:buChar char="•"/>
            </a:pPr>
            <a:r>
              <a:rPr lang="en-US" sz="1450" dirty="0">
                <a:solidFill>
                  <a:srgbClr val="EAECEF"/>
                </a:solidFill>
                <a:latin typeface="Calibri" pitchFamily="34" charset="0"/>
                <a:ea typeface="Calibri" pitchFamily="34" charset="-122"/>
                <a:cs typeface="Calibri" pitchFamily="34" charset="-120"/>
              </a:rPr>
              <a:t>Both edges move together, one step at a time</a:t>
            </a:r>
            <a:endParaRPr lang="en-US" sz="1450" dirty="0"/>
          </a:p>
          <a:p>
            <a:pPr algn="l" marL="203200" indent="-203200">
              <a:spcAft>
                <a:spcPts val="800"/>
              </a:spcAft>
              <a:buSzPct val="100000"/>
              <a:buChar char="•"/>
            </a:pPr>
            <a:r>
              <a:rPr lang="en-US" sz="1450" dirty="0">
                <a:solidFill>
                  <a:srgbClr val="EAECEF"/>
                </a:solidFill>
                <a:latin typeface="Calibri" pitchFamily="34" charset="0"/>
                <a:ea typeface="Calibri" pitchFamily="34" charset="-122"/>
                <a:cs typeface="Calibri" pitchFamily="34" charset="-120"/>
              </a:rPr>
              <a:t>Add the enterer, drop the leaver</a:t>
            </a:r>
            <a:endParaRPr lang="en-US" sz="1450" dirty="0"/>
          </a:p>
          <a:p>
            <a:pPr algn="l" marL="203200" indent="-203200">
              <a:spcAft>
                <a:spcPts val="800"/>
              </a:spcAft>
              <a:buSzPct val="100000"/>
              <a:buChar char="•"/>
            </a:pPr>
            <a:r>
              <a:rPr lang="en-US" sz="1450" dirty="0">
                <a:solidFill>
                  <a:srgbClr val="EAECEF"/>
                </a:solidFill>
                <a:latin typeface="Calibri" pitchFamily="34" charset="0"/>
                <a:ea typeface="Calibri" pitchFamily="34" charset="-122"/>
                <a:cs typeface="Calibri" pitchFamily="34" charset="-120"/>
              </a:rPr>
              <a:t>Use for: “best block of exactly K”</a:t>
            </a:r>
            <a:endParaRPr lang="en-US" sz="1450" dirty="0"/>
          </a:p>
        </p:txBody>
      </p:sp>
      <p:sp>
        <p:nvSpPr>
          <p:cNvPr id="21" name="Text 19"/>
          <p:cNvSpPr/>
          <p:nvPr/>
        </p:nvSpPr>
        <p:spPr>
          <a:xfrm>
            <a:off x="777240" y="5440680"/>
            <a:ext cx="5029200" cy="320040"/>
          </a:xfrm>
          <a:prstGeom prst="rect">
            <a:avLst/>
          </a:prstGeom>
          <a:noFill/>
          <a:ln/>
        </p:spPr>
        <p:txBody>
          <a:bodyPr wrap="square" lIns="0" tIns="0" rIns="0" bIns="0" rtlCol="0" anchor="ctr"/>
          <a:lstStyle/>
          <a:p>
            <a:pPr algn="l" indent="0" marL="0">
              <a:buNone/>
            </a:pPr>
            <a:r>
              <a:rPr lang="en-US" sz="1300" i="1" dirty="0">
                <a:solidFill>
                  <a:srgbClr val="F2B441"/>
                </a:solidFill>
                <a:latin typeface="Courier New" pitchFamily="34" charset="0"/>
                <a:ea typeface="Courier New" pitchFamily="34" charset="-122"/>
                <a:cs typeface="Courier New" pitchFamily="34" charset="-120"/>
              </a:rPr>
              <a:t>Example: Mansion</a:t>
            </a:r>
            <a:endParaRPr lang="en-US" sz="1300" dirty="0"/>
          </a:p>
        </p:txBody>
      </p:sp>
      <p:sp>
        <p:nvSpPr>
          <p:cNvPr id="22" name="Shape 20"/>
          <p:cNvSpPr/>
          <p:nvPr/>
        </p:nvSpPr>
        <p:spPr>
          <a:xfrm>
            <a:off x="6199632" y="1737360"/>
            <a:ext cx="5486400" cy="4114800"/>
          </a:xfrm>
          <a:prstGeom prst="roundRect">
            <a:avLst>
              <a:gd name="adj" fmla="val 2000"/>
            </a:avLst>
          </a:prstGeom>
          <a:solidFill>
            <a:srgbClr val="20242E"/>
          </a:solidFill>
          <a:ln w="12700">
            <a:solidFill>
              <a:srgbClr val="2A3140"/>
            </a:solidFill>
            <a:prstDash val="solid"/>
          </a:ln>
        </p:spPr>
      </p:sp>
      <p:sp>
        <p:nvSpPr>
          <p:cNvPr id="23" name="Text 21"/>
          <p:cNvSpPr/>
          <p:nvPr/>
        </p:nvSpPr>
        <p:spPr>
          <a:xfrm>
            <a:off x="6428232" y="1920240"/>
            <a:ext cx="5120640" cy="457200"/>
          </a:xfrm>
          <a:prstGeom prst="rect">
            <a:avLst/>
          </a:prstGeom>
          <a:noFill/>
          <a:ln/>
        </p:spPr>
        <p:txBody>
          <a:bodyPr wrap="square" lIns="0" tIns="0" rIns="0" bIns="0" rtlCol="0" anchor="ctr"/>
          <a:lstStyle/>
          <a:p>
            <a:pPr algn="l" indent="0" marL="0">
              <a:buNone/>
            </a:pPr>
            <a:r>
              <a:rPr lang="en-US" sz="2200" b="1" dirty="0">
                <a:solidFill>
                  <a:srgbClr val="F2B441"/>
                </a:solidFill>
                <a:latin typeface="Cambria" pitchFamily="34" charset="0"/>
                <a:ea typeface="Cambria" pitchFamily="34" charset="-122"/>
                <a:cs typeface="Cambria" pitchFamily="34" charset="-120"/>
              </a:rPr>
              <a:t>Variable-size (two pointers)</a:t>
            </a:r>
            <a:endParaRPr lang="en-US" sz="2200" dirty="0"/>
          </a:p>
        </p:txBody>
      </p:sp>
      <p:sp>
        <p:nvSpPr>
          <p:cNvPr id="24" name="Shape 22"/>
          <p:cNvSpPr/>
          <p:nvPr/>
        </p:nvSpPr>
        <p:spPr>
          <a:xfrm>
            <a:off x="6565392" y="2651760"/>
            <a:ext cx="457200" cy="457200"/>
          </a:xfrm>
          <a:prstGeom prst="roundRect">
            <a:avLst>
              <a:gd name="adj" fmla="val 12000"/>
            </a:avLst>
          </a:prstGeom>
          <a:solidFill>
            <a:srgbClr val="20242E"/>
          </a:solidFill>
          <a:ln w="15875">
            <a:solidFill>
              <a:srgbClr val="2A3140"/>
            </a:solidFill>
            <a:prstDash val="solid"/>
          </a:ln>
        </p:spPr>
      </p:sp>
      <p:sp>
        <p:nvSpPr>
          <p:cNvPr id="25" name="Text 23"/>
          <p:cNvSpPr/>
          <p:nvPr/>
        </p:nvSpPr>
        <p:spPr>
          <a:xfrm>
            <a:off x="6565392" y="2651760"/>
            <a:ext cx="457200" cy="457200"/>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3</a:t>
            </a:r>
            <a:endParaRPr lang="en-US" sz="1500" dirty="0"/>
          </a:p>
        </p:txBody>
      </p:sp>
      <p:sp>
        <p:nvSpPr>
          <p:cNvPr id="26" name="Shape 24"/>
          <p:cNvSpPr/>
          <p:nvPr/>
        </p:nvSpPr>
        <p:spPr>
          <a:xfrm>
            <a:off x="7114032" y="2651760"/>
            <a:ext cx="457200" cy="457200"/>
          </a:xfrm>
          <a:prstGeom prst="roundRect">
            <a:avLst>
              <a:gd name="adj" fmla="val 12000"/>
            </a:avLst>
          </a:prstGeom>
          <a:solidFill>
            <a:srgbClr val="10312E"/>
          </a:solidFill>
          <a:ln w="15875">
            <a:solidFill>
              <a:srgbClr val="34D8C0"/>
            </a:solidFill>
            <a:prstDash val="solid"/>
          </a:ln>
        </p:spPr>
      </p:sp>
      <p:sp>
        <p:nvSpPr>
          <p:cNvPr id="27" name="Text 25"/>
          <p:cNvSpPr/>
          <p:nvPr/>
        </p:nvSpPr>
        <p:spPr>
          <a:xfrm>
            <a:off x="7114032" y="2651760"/>
            <a:ext cx="457200" cy="457200"/>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1</a:t>
            </a:r>
            <a:endParaRPr lang="en-US" sz="1500" dirty="0"/>
          </a:p>
        </p:txBody>
      </p:sp>
      <p:sp>
        <p:nvSpPr>
          <p:cNvPr id="28" name="Shape 26"/>
          <p:cNvSpPr/>
          <p:nvPr/>
        </p:nvSpPr>
        <p:spPr>
          <a:xfrm>
            <a:off x="7662672" y="2651760"/>
            <a:ext cx="457200" cy="457200"/>
          </a:xfrm>
          <a:prstGeom prst="roundRect">
            <a:avLst>
              <a:gd name="adj" fmla="val 12000"/>
            </a:avLst>
          </a:prstGeom>
          <a:solidFill>
            <a:srgbClr val="10312E"/>
          </a:solidFill>
          <a:ln w="15875">
            <a:solidFill>
              <a:srgbClr val="34D8C0"/>
            </a:solidFill>
            <a:prstDash val="solid"/>
          </a:ln>
        </p:spPr>
      </p:sp>
      <p:sp>
        <p:nvSpPr>
          <p:cNvPr id="29" name="Text 27"/>
          <p:cNvSpPr/>
          <p:nvPr/>
        </p:nvSpPr>
        <p:spPr>
          <a:xfrm>
            <a:off x="7662672" y="2651760"/>
            <a:ext cx="457200" cy="457200"/>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4</a:t>
            </a:r>
            <a:endParaRPr lang="en-US" sz="1500" dirty="0"/>
          </a:p>
        </p:txBody>
      </p:sp>
      <p:sp>
        <p:nvSpPr>
          <p:cNvPr id="30" name="Shape 28"/>
          <p:cNvSpPr/>
          <p:nvPr/>
        </p:nvSpPr>
        <p:spPr>
          <a:xfrm>
            <a:off x="8211312" y="2651760"/>
            <a:ext cx="457200" cy="457200"/>
          </a:xfrm>
          <a:prstGeom prst="roundRect">
            <a:avLst>
              <a:gd name="adj" fmla="val 12000"/>
            </a:avLst>
          </a:prstGeom>
          <a:solidFill>
            <a:srgbClr val="10312E"/>
          </a:solidFill>
          <a:ln w="15875">
            <a:solidFill>
              <a:srgbClr val="34D8C0"/>
            </a:solidFill>
            <a:prstDash val="solid"/>
          </a:ln>
        </p:spPr>
      </p:sp>
      <p:sp>
        <p:nvSpPr>
          <p:cNvPr id="31" name="Text 29"/>
          <p:cNvSpPr/>
          <p:nvPr/>
        </p:nvSpPr>
        <p:spPr>
          <a:xfrm>
            <a:off x="8211312" y="2651760"/>
            <a:ext cx="457200" cy="457200"/>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1</a:t>
            </a:r>
            <a:endParaRPr lang="en-US" sz="1500" dirty="0"/>
          </a:p>
        </p:txBody>
      </p:sp>
      <p:sp>
        <p:nvSpPr>
          <p:cNvPr id="32" name="Shape 30"/>
          <p:cNvSpPr/>
          <p:nvPr/>
        </p:nvSpPr>
        <p:spPr>
          <a:xfrm>
            <a:off x="8759952" y="2651760"/>
            <a:ext cx="457200" cy="457200"/>
          </a:xfrm>
          <a:prstGeom prst="roundRect">
            <a:avLst>
              <a:gd name="adj" fmla="val 12000"/>
            </a:avLst>
          </a:prstGeom>
          <a:solidFill>
            <a:srgbClr val="10312E"/>
          </a:solidFill>
          <a:ln w="15875">
            <a:solidFill>
              <a:srgbClr val="34D8C0"/>
            </a:solidFill>
            <a:prstDash val="solid"/>
          </a:ln>
        </p:spPr>
      </p:sp>
      <p:sp>
        <p:nvSpPr>
          <p:cNvPr id="33" name="Text 31"/>
          <p:cNvSpPr/>
          <p:nvPr/>
        </p:nvSpPr>
        <p:spPr>
          <a:xfrm>
            <a:off x="8759952" y="2651760"/>
            <a:ext cx="457200" cy="457200"/>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5</a:t>
            </a:r>
            <a:endParaRPr lang="en-US" sz="1500" dirty="0"/>
          </a:p>
        </p:txBody>
      </p:sp>
      <p:sp>
        <p:nvSpPr>
          <p:cNvPr id="34" name="Shape 32"/>
          <p:cNvSpPr/>
          <p:nvPr/>
        </p:nvSpPr>
        <p:spPr>
          <a:xfrm>
            <a:off x="9308592" y="2651760"/>
            <a:ext cx="457200" cy="457200"/>
          </a:xfrm>
          <a:prstGeom prst="roundRect">
            <a:avLst>
              <a:gd name="adj" fmla="val 12000"/>
            </a:avLst>
          </a:prstGeom>
          <a:solidFill>
            <a:srgbClr val="20242E"/>
          </a:solidFill>
          <a:ln w="15875">
            <a:solidFill>
              <a:srgbClr val="2A3140"/>
            </a:solidFill>
            <a:prstDash val="solid"/>
          </a:ln>
        </p:spPr>
      </p:sp>
      <p:sp>
        <p:nvSpPr>
          <p:cNvPr id="35" name="Text 33"/>
          <p:cNvSpPr/>
          <p:nvPr/>
        </p:nvSpPr>
        <p:spPr>
          <a:xfrm>
            <a:off x="9308592" y="2651760"/>
            <a:ext cx="457200" cy="457200"/>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9</a:t>
            </a:r>
            <a:endParaRPr lang="en-US" sz="1500" dirty="0"/>
          </a:p>
        </p:txBody>
      </p:sp>
      <p:sp>
        <p:nvSpPr>
          <p:cNvPr id="36" name="Shape 34"/>
          <p:cNvSpPr/>
          <p:nvPr/>
        </p:nvSpPr>
        <p:spPr>
          <a:xfrm>
            <a:off x="9857232" y="2651760"/>
            <a:ext cx="457200" cy="457200"/>
          </a:xfrm>
          <a:prstGeom prst="roundRect">
            <a:avLst>
              <a:gd name="adj" fmla="val 12000"/>
            </a:avLst>
          </a:prstGeom>
          <a:solidFill>
            <a:srgbClr val="20242E"/>
          </a:solidFill>
          <a:ln w="15875">
            <a:solidFill>
              <a:srgbClr val="2A3140"/>
            </a:solidFill>
            <a:prstDash val="solid"/>
          </a:ln>
        </p:spPr>
      </p:sp>
      <p:sp>
        <p:nvSpPr>
          <p:cNvPr id="37" name="Text 35"/>
          <p:cNvSpPr/>
          <p:nvPr/>
        </p:nvSpPr>
        <p:spPr>
          <a:xfrm>
            <a:off x="9857232" y="2651760"/>
            <a:ext cx="457200" cy="457200"/>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2</a:t>
            </a:r>
            <a:endParaRPr lang="en-US" sz="1500" dirty="0"/>
          </a:p>
        </p:txBody>
      </p:sp>
      <p:sp>
        <p:nvSpPr>
          <p:cNvPr id="38" name="Text 36"/>
          <p:cNvSpPr/>
          <p:nvPr/>
        </p:nvSpPr>
        <p:spPr>
          <a:xfrm>
            <a:off x="7114032" y="3127248"/>
            <a:ext cx="457200" cy="219456"/>
          </a:xfrm>
          <a:prstGeom prst="rect">
            <a:avLst/>
          </a:prstGeom>
          <a:noFill/>
          <a:ln/>
        </p:spPr>
        <p:txBody>
          <a:bodyPr wrap="square" lIns="0" tIns="0" rIns="0" bIns="0" rtlCol="0" anchor="ctr"/>
          <a:lstStyle/>
          <a:p>
            <a:pPr algn="ctr" indent="0" marL="0">
              <a:buNone/>
            </a:pPr>
            <a:r>
              <a:rPr lang="en-US" sz="1200" dirty="0">
                <a:solidFill>
                  <a:srgbClr val="34D8C0"/>
                </a:solidFill>
                <a:latin typeface="Calibri" pitchFamily="34" charset="0"/>
                <a:ea typeface="Calibri" pitchFamily="34" charset="-122"/>
                <a:cs typeface="Calibri" pitchFamily="34" charset="-120"/>
              </a:rPr>
              <a:t>▲</a:t>
            </a:r>
            <a:endParaRPr lang="en-US" sz="1200" dirty="0"/>
          </a:p>
        </p:txBody>
      </p:sp>
      <p:sp>
        <p:nvSpPr>
          <p:cNvPr id="39" name="Text 37"/>
          <p:cNvSpPr/>
          <p:nvPr/>
        </p:nvSpPr>
        <p:spPr>
          <a:xfrm>
            <a:off x="7114032" y="3328416"/>
            <a:ext cx="457200" cy="237744"/>
          </a:xfrm>
          <a:prstGeom prst="rect">
            <a:avLst/>
          </a:prstGeom>
          <a:noFill/>
          <a:ln/>
        </p:spPr>
        <p:txBody>
          <a:bodyPr wrap="square" lIns="0" tIns="0" rIns="0" bIns="0" rtlCol="0" anchor="ctr"/>
          <a:lstStyle/>
          <a:p>
            <a:pPr algn="ctr" indent="0" marL="0">
              <a:buNone/>
            </a:pPr>
            <a:r>
              <a:rPr lang="en-US" sz="1300" b="1" dirty="0">
                <a:solidFill>
                  <a:srgbClr val="34D8C0"/>
                </a:solidFill>
                <a:latin typeface="Courier New" pitchFamily="34" charset="0"/>
                <a:ea typeface="Courier New" pitchFamily="34" charset="-122"/>
                <a:cs typeface="Courier New" pitchFamily="34" charset="-120"/>
              </a:rPr>
              <a:t>l</a:t>
            </a:r>
            <a:endParaRPr lang="en-US" sz="1300" dirty="0"/>
          </a:p>
        </p:txBody>
      </p:sp>
      <p:sp>
        <p:nvSpPr>
          <p:cNvPr id="40" name="Text 38"/>
          <p:cNvSpPr/>
          <p:nvPr/>
        </p:nvSpPr>
        <p:spPr>
          <a:xfrm>
            <a:off x="8759952" y="3127248"/>
            <a:ext cx="457200" cy="219456"/>
          </a:xfrm>
          <a:prstGeom prst="rect">
            <a:avLst/>
          </a:prstGeom>
          <a:noFill/>
          <a:ln/>
        </p:spPr>
        <p:txBody>
          <a:bodyPr wrap="square" lIns="0" tIns="0" rIns="0" bIns="0" rtlCol="0" anchor="ctr"/>
          <a:lstStyle/>
          <a:p>
            <a:pPr algn="ctr" indent="0" marL="0">
              <a:buNone/>
            </a:pPr>
            <a:r>
              <a:rPr lang="en-US" sz="1200" dirty="0">
                <a:solidFill>
                  <a:srgbClr val="F2B441"/>
                </a:solidFill>
                <a:latin typeface="Calibri" pitchFamily="34" charset="0"/>
                <a:ea typeface="Calibri" pitchFamily="34" charset="-122"/>
                <a:cs typeface="Calibri" pitchFamily="34" charset="-120"/>
              </a:rPr>
              <a:t>▲</a:t>
            </a:r>
            <a:endParaRPr lang="en-US" sz="1200" dirty="0"/>
          </a:p>
        </p:txBody>
      </p:sp>
      <p:sp>
        <p:nvSpPr>
          <p:cNvPr id="41" name="Text 39"/>
          <p:cNvSpPr/>
          <p:nvPr/>
        </p:nvSpPr>
        <p:spPr>
          <a:xfrm>
            <a:off x="8759952" y="3328416"/>
            <a:ext cx="457200" cy="237744"/>
          </a:xfrm>
          <a:prstGeom prst="rect">
            <a:avLst/>
          </a:prstGeom>
          <a:noFill/>
          <a:ln/>
        </p:spPr>
        <p:txBody>
          <a:bodyPr wrap="square" lIns="0" tIns="0" rIns="0" bIns="0" rtlCol="0" anchor="ctr"/>
          <a:lstStyle/>
          <a:p>
            <a:pPr algn="ctr" indent="0" marL="0">
              <a:buNone/>
            </a:pPr>
            <a:r>
              <a:rPr lang="en-US" sz="1300" b="1" dirty="0">
                <a:solidFill>
                  <a:srgbClr val="F2B441"/>
                </a:solidFill>
                <a:latin typeface="Courier New" pitchFamily="34" charset="0"/>
                <a:ea typeface="Courier New" pitchFamily="34" charset="-122"/>
                <a:cs typeface="Courier New" pitchFamily="34" charset="-120"/>
              </a:rPr>
              <a:t>r</a:t>
            </a:r>
            <a:endParaRPr lang="en-US" sz="1300" dirty="0"/>
          </a:p>
        </p:txBody>
      </p:sp>
      <p:sp>
        <p:nvSpPr>
          <p:cNvPr id="42" name="Text 40"/>
          <p:cNvSpPr/>
          <p:nvPr/>
        </p:nvSpPr>
        <p:spPr>
          <a:xfrm>
            <a:off x="6473952" y="3520440"/>
            <a:ext cx="5029200" cy="2194560"/>
          </a:xfrm>
          <a:prstGeom prst="rect">
            <a:avLst/>
          </a:prstGeom>
          <a:noFill/>
          <a:ln/>
        </p:spPr>
        <p:txBody>
          <a:bodyPr wrap="square" lIns="0" tIns="0" rIns="0" bIns="0" rtlCol="0" anchor="t"/>
          <a:lstStyle/>
          <a:p>
            <a:pPr algn="l" marL="203200" indent="-203200">
              <a:spcAft>
                <a:spcPts val="800"/>
              </a:spcAft>
              <a:buSzPct val="100000"/>
              <a:buChar char="•"/>
            </a:pPr>
            <a:r>
              <a:rPr lang="en-US" sz="1450" dirty="0">
                <a:solidFill>
                  <a:srgbClr val="EAECEF"/>
                </a:solidFill>
                <a:latin typeface="Calibri" pitchFamily="34" charset="0"/>
                <a:ea typeface="Calibri" pitchFamily="34" charset="-122"/>
                <a:cs typeface="Calibri" pitchFamily="34" charset="-120"/>
              </a:rPr>
              <a:t>Width changes as you sweep</a:t>
            </a:r>
            <a:endParaRPr lang="en-US" sz="1450" dirty="0"/>
          </a:p>
          <a:p>
            <a:pPr algn="l" marL="203200" indent="-203200">
              <a:spcAft>
                <a:spcPts val="800"/>
              </a:spcAft>
              <a:buSzPct val="100000"/>
              <a:buChar char="•"/>
            </a:pPr>
            <a:r>
              <a:rPr lang="en-US" sz="1450" dirty="0">
                <a:solidFill>
                  <a:srgbClr val="EAECEF"/>
                </a:solidFill>
                <a:latin typeface="Calibri" pitchFamily="34" charset="0"/>
                <a:ea typeface="Calibri" pitchFamily="34" charset="-122"/>
                <a:cs typeface="Calibri" pitchFamily="34" charset="-120"/>
              </a:rPr>
              <a:t>Edges move independently — both forward-only</a:t>
            </a:r>
            <a:endParaRPr lang="en-US" sz="1450" dirty="0"/>
          </a:p>
          <a:p>
            <a:pPr algn="l" marL="203200" indent="-203200">
              <a:spcAft>
                <a:spcPts val="800"/>
              </a:spcAft>
              <a:buSzPct val="100000"/>
              <a:buChar char="•"/>
            </a:pPr>
            <a:r>
              <a:rPr lang="en-US" sz="1450" dirty="0">
                <a:solidFill>
                  <a:srgbClr val="EAECEF"/>
                </a:solidFill>
                <a:latin typeface="Calibri" pitchFamily="34" charset="0"/>
                <a:ea typeface="Calibri" pitchFamily="34" charset="-122"/>
                <a:cs typeface="Calibri" pitchFamily="34" charset="-120"/>
              </a:rPr>
              <a:t>Right races out to become valid; left shrinks</a:t>
            </a:r>
            <a:endParaRPr lang="en-US" sz="1450" dirty="0"/>
          </a:p>
          <a:p>
            <a:pPr algn="l" marL="203200" indent="-203200">
              <a:spcAft>
                <a:spcPts val="800"/>
              </a:spcAft>
              <a:buSzPct val="100000"/>
              <a:buChar char="•"/>
            </a:pPr>
            <a:r>
              <a:rPr lang="en-US" sz="1450" dirty="0">
                <a:solidFill>
                  <a:srgbClr val="EAECEF"/>
                </a:solidFill>
                <a:latin typeface="Calibri" pitchFamily="34" charset="0"/>
                <a:ea typeface="Calibri" pitchFamily="34" charset="-122"/>
                <a:cs typeface="Calibri" pitchFamily="34" charset="-120"/>
              </a:rPr>
              <a:t>Use for: “shortest / longest block that satisfies…”</a:t>
            </a:r>
            <a:endParaRPr lang="en-US" sz="1450" dirty="0"/>
          </a:p>
        </p:txBody>
      </p:sp>
      <p:sp>
        <p:nvSpPr>
          <p:cNvPr id="43" name="Text 41"/>
          <p:cNvSpPr/>
          <p:nvPr/>
        </p:nvSpPr>
        <p:spPr>
          <a:xfrm>
            <a:off x="6473952" y="5532120"/>
            <a:ext cx="5029200" cy="320040"/>
          </a:xfrm>
          <a:prstGeom prst="rect">
            <a:avLst/>
          </a:prstGeom>
          <a:noFill/>
          <a:ln/>
        </p:spPr>
        <p:txBody>
          <a:bodyPr wrap="square" lIns="0" tIns="0" rIns="0" bIns="0" rtlCol="0" anchor="ctr"/>
          <a:lstStyle/>
          <a:p>
            <a:pPr algn="l" indent="0" marL="0">
              <a:buNone/>
            </a:pPr>
            <a:r>
              <a:rPr lang="en-US" sz="1300" i="1" dirty="0">
                <a:solidFill>
                  <a:srgbClr val="F2B441"/>
                </a:solidFill>
                <a:latin typeface="Courier New" pitchFamily="34" charset="0"/>
                <a:ea typeface="Courier New" pitchFamily="34" charset="-122"/>
                <a:cs typeface="Courier New" pitchFamily="34" charset="-120"/>
              </a:rPr>
              <a:t>Example: Wet Chairs</a:t>
            </a:r>
            <a:endParaRPr lang="en-US" sz="1300" dirty="0"/>
          </a:p>
        </p:txBody>
      </p:sp>
      <p:sp>
        <p:nvSpPr>
          <p:cNvPr id="44" name="Text 42"/>
          <p:cNvSpPr/>
          <p:nvPr/>
        </p:nvSpPr>
        <p:spPr>
          <a:xfrm>
            <a:off x="502920" y="6455664"/>
            <a:ext cx="5486400" cy="274320"/>
          </a:xfrm>
          <a:prstGeom prst="rect">
            <a:avLst/>
          </a:prstGeom>
          <a:noFill/>
          <a:ln/>
        </p:spPr>
        <p:txBody>
          <a:bodyPr wrap="square" lIns="0" tIns="0" rIns="0" bIns="0" rtlCol="0" anchor="ctr"/>
          <a:lstStyle/>
          <a:p>
            <a:pPr algn="l" indent="0" marL="0">
              <a:buNone/>
            </a:pPr>
            <a:r>
              <a:rPr lang="en-US" sz="1000" dirty="0">
                <a:solidFill>
                  <a:srgbClr val="9AA5B4"/>
                </a:solidFill>
                <a:latin typeface="Calibri" pitchFamily="34" charset="0"/>
                <a:ea typeface="Calibri" pitchFamily="34" charset="-122"/>
                <a:cs typeface="Calibri" pitchFamily="34" charset="-120"/>
              </a:rPr>
              <a:t>Two Pointers &amp; Sliding Window</a:t>
            </a:r>
            <a:endParaRPr lang="en-US" sz="1000" dirty="0"/>
          </a:p>
        </p:txBody>
      </p:sp>
      <p:sp>
        <p:nvSpPr>
          <p:cNvPr id="45" name="Text 43"/>
          <p:cNvSpPr/>
          <p:nvPr/>
        </p:nvSpPr>
        <p:spPr>
          <a:xfrm>
            <a:off x="11228832" y="6455664"/>
            <a:ext cx="457200" cy="274320"/>
          </a:xfrm>
          <a:prstGeom prst="rect">
            <a:avLst/>
          </a:prstGeom>
          <a:noFill/>
          <a:ln/>
        </p:spPr>
        <p:txBody>
          <a:bodyPr wrap="square" lIns="0" tIns="0" rIns="0" bIns="0" rtlCol="0" anchor="ctr"/>
          <a:lstStyle/>
          <a:p>
            <a:pPr algn="r" indent="0" marL="0">
              <a:buNone/>
            </a:pPr>
            <a:r>
              <a:rPr lang="en-US" sz="1000" dirty="0">
                <a:solidFill>
                  <a:srgbClr val="9AA5B4"/>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118"/>
        </a:solidFill>
      </p:bgPr>
    </p:bg>
    <p:spTree>
      <p:nvGrpSpPr>
        <p:cNvPr id="1" name=""/>
        <p:cNvGrpSpPr/>
        <p:nvPr/>
      </p:nvGrpSpPr>
      <p:grpSpPr>
        <a:xfrm>
          <a:off x="0" y="0"/>
          <a:ext cx="0" cy="0"/>
          <a:chOff x="0" y="0"/>
          <a:chExt cx="0" cy="0"/>
        </a:xfrm>
      </p:grpSpPr>
      <p:sp>
        <p:nvSpPr>
          <p:cNvPr id="2" name="Text 0"/>
          <p:cNvSpPr/>
          <p:nvPr/>
        </p:nvSpPr>
        <p:spPr>
          <a:xfrm>
            <a:off x="822960" y="2286000"/>
            <a:ext cx="5486400" cy="457200"/>
          </a:xfrm>
          <a:prstGeom prst="rect">
            <a:avLst/>
          </a:prstGeom>
          <a:noFill/>
          <a:ln/>
        </p:spPr>
        <p:txBody>
          <a:bodyPr wrap="square" lIns="0" tIns="0" rIns="0" bIns="0" rtlCol="0" anchor="ctr"/>
          <a:lstStyle/>
          <a:p>
            <a:pPr algn="l" indent="0" marL="0">
              <a:buNone/>
            </a:pPr>
            <a:r>
              <a:rPr lang="en-US" sz="1500" b="1" spc="500" kern="0" dirty="0">
                <a:solidFill>
                  <a:srgbClr val="34D8C0"/>
                </a:solidFill>
                <a:latin typeface="Calibri" pitchFamily="34" charset="0"/>
                <a:ea typeface="Calibri" pitchFamily="34" charset="-122"/>
                <a:cs typeface="Calibri" pitchFamily="34" charset="-120"/>
              </a:rPr>
              <a:t>PART 1</a:t>
            </a:r>
            <a:endParaRPr lang="en-US" sz="1500" dirty="0"/>
          </a:p>
        </p:txBody>
      </p:sp>
      <p:sp>
        <p:nvSpPr>
          <p:cNvPr id="3" name="Text 1"/>
          <p:cNvSpPr/>
          <p:nvPr/>
        </p:nvSpPr>
        <p:spPr>
          <a:xfrm>
            <a:off x="777240" y="2788920"/>
            <a:ext cx="10515600" cy="1005840"/>
          </a:xfrm>
          <a:prstGeom prst="rect">
            <a:avLst/>
          </a:prstGeom>
          <a:noFill/>
          <a:ln/>
        </p:spPr>
        <p:txBody>
          <a:bodyPr wrap="square" lIns="0" tIns="0" rIns="0" bIns="0" rtlCol="0" anchor="ctr"/>
          <a:lstStyle/>
          <a:p>
            <a:pPr algn="l" indent="0" marL="0">
              <a:buNone/>
            </a:pPr>
            <a:r>
              <a:rPr lang="en-US" sz="4800" b="1" dirty="0">
                <a:solidFill>
                  <a:srgbClr val="EAECEF"/>
                </a:solidFill>
                <a:latin typeface="Cambria" pitchFamily="34" charset="0"/>
                <a:ea typeface="Cambria" pitchFamily="34" charset="-122"/>
                <a:cs typeface="Cambria" pitchFamily="34" charset="-120"/>
              </a:rPr>
              <a:t>Fixed-Size Window</a:t>
            </a:r>
            <a:endParaRPr lang="en-US" sz="4800" dirty="0"/>
          </a:p>
        </p:txBody>
      </p:sp>
      <p:sp>
        <p:nvSpPr>
          <p:cNvPr id="4" name="Text 2"/>
          <p:cNvSpPr/>
          <p:nvPr/>
        </p:nvSpPr>
        <p:spPr>
          <a:xfrm>
            <a:off x="822960" y="3840480"/>
            <a:ext cx="8229600" cy="457200"/>
          </a:xfrm>
          <a:prstGeom prst="rect">
            <a:avLst/>
          </a:prstGeom>
          <a:noFill/>
          <a:ln/>
        </p:spPr>
        <p:txBody>
          <a:bodyPr wrap="square" lIns="0" tIns="0" rIns="0" bIns="0" rtlCol="0" anchor="ctr"/>
          <a:lstStyle/>
          <a:p>
            <a:pPr algn="l" indent="0" marL="0">
              <a:buNone/>
            </a:pPr>
            <a:r>
              <a:rPr lang="en-US" sz="2000" dirty="0">
                <a:solidFill>
                  <a:srgbClr val="F2B441"/>
                </a:solidFill>
                <a:latin typeface="Calibri" pitchFamily="34" charset="0"/>
                <a:ea typeface="Calibri" pitchFamily="34" charset="-122"/>
                <a:cs typeface="Calibri" pitchFamily="34" charset="-120"/>
              </a:rPr>
              <a:t>Mansion — AIO 2007</a:t>
            </a:r>
            <a:endParaRPr lang="en-US" sz="2000" dirty="0"/>
          </a:p>
        </p:txBody>
      </p:sp>
      <p:sp>
        <p:nvSpPr>
          <p:cNvPr id="5" name="Shape 3"/>
          <p:cNvSpPr/>
          <p:nvPr/>
        </p:nvSpPr>
        <p:spPr>
          <a:xfrm>
            <a:off x="822960" y="4754880"/>
            <a:ext cx="548640" cy="548640"/>
          </a:xfrm>
          <a:prstGeom prst="roundRect">
            <a:avLst>
              <a:gd name="adj" fmla="val 10000"/>
            </a:avLst>
          </a:prstGeom>
          <a:solidFill>
            <a:srgbClr val="20242E"/>
          </a:solidFill>
          <a:ln w="15875">
            <a:solidFill>
              <a:srgbClr val="2A3140"/>
            </a:solidFill>
            <a:prstDash val="solid"/>
          </a:ln>
        </p:spPr>
      </p:sp>
      <p:sp>
        <p:nvSpPr>
          <p:cNvPr id="6" name="Text 4"/>
          <p:cNvSpPr/>
          <p:nvPr/>
        </p:nvSpPr>
        <p:spPr>
          <a:xfrm>
            <a:off x="822960" y="4754880"/>
            <a:ext cx="548640" cy="548640"/>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2</a:t>
            </a:r>
            <a:endParaRPr lang="en-US" sz="1500" dirty="0"/>
          </a:p>
        </p:txBody>
      </p:sp>
      <p:sp>
        <p:nvSpPr>
          <p:cNvPr id="7" name="Shape 5"/>
          <p:cNvSpPr/>
          <p:nvPr/>
        </p:nvSpPr>
        <p:spPr>
          <a:xfrm>
            <a:off x="1481328" y="4754880"/>
            <a:ext cx="548640" cy="548640"/>
          </a:xfrm>
          <a:prstGeom prst="roundRect">
            <a:avLst>
              <a:gd name="adj" fmla="val 10000"/>
            </a:avLst>
          </a:prstGeom>
          <a:solidFill>
            <a:srgbClr val="20242E"/>
          </a:solidFill>
          <a:ln w="15875">
            <a:solidFill>
              <a:srgbClr val="2A3140"/>
            </a:solidFill>
            <a:prstDash val="solid"/>
          </a:ln>
        </p:spPr>
      </p:sp>
      <p:sp>
        <p:nvSpPr>
          <p:cNvPr id="8" name="Text 6"/>
          <p:cNvSpPr/>
          <p:nvPr/>
        </p:nvSpPr>
        <p:spPr>
          <a:xfrm>
            <a:off x="1481328" y="4754880"/>
            <a:ext cx="548640" cy="548640"/>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-1</a:t>
            </a:r>
            <a:endParaRPr lang="en-US" sz="1500" dirty="0"/>
          </a:p>
        </p:txBody>
      </p:sp>
      <p:sp>
        <p:nvSpPr>
          <p:cNvPr id="9" name="Shape 7"/>
          <p:cNvSpPr/>
          <p:nvPr/>
        </p:nvSpPr>
        <p:spPr>
          <a:xfrm>
            <a:off x="2139696" y="4754880"/>
            <a:ext cx="548640" cy="548640"/>
          </a:xfrm>
          <a:prstGeom prst="roundRect">
            <a:avLst>
              <a:gd name="adj" fmla="val 10000"/>
            </a:avLst>
          </a:prstGeom>
          <a:solidFill>
            <a:srgbClr val="10312E"/>
          </a:solidFill>
          <a:ln w="15875">
            <a:solidFill>
              <a:srgbClr val="34D8C0"/>
            </a:solidFill>
            <a:prstDash val="solid"/>
          </a:ln>
        </p:spPr>
      </p:sp>
      <p:sp>
        <p:nvSpPr>
          <p:cNvPr id="10" name="Text 8"/>
          <p:cNvSpPr/>
          <p:nvPr/>
        </p:nvSpPr>
        <p:spPr>
          <a:xfrm>
            <a:off x="2139696" y="4754880"/>
            <a:ext cx="548640" cy="548640"/>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5</a:t>
            </a:r>
            <a:endParaRPr lang="en-US" sz="1500" dirty="0"/>
          </a:p>
        </p:txBody>
      </p:sp>
      <p:sp>
        <p:nvSpPr>
          <p:cNvPr id="11" name="Shape 9"/>
          <p:cNvSpPr/>
          <p:nvPr/>
        </p:nvSpPr>
        <p:spPr>
          <a:xfrm>
            <a:off x="2798064" y="4754880"/>
            <a:ext cx="548640" cy="548640"/>
          </a:xfrm>
          <a:prstGeom prst="roundRect">
            <a:avLst>
              <a:gd name="adj" fmla="val 10000"/>
            </a:avLst>
          </a:prstGeom>
          <a:solidFill>
            <a:srgbClr val="10312E"/>
          </a:solidFill>
          <a:ln w="15875">
            <a:solidFill>
              <a:srgbClr val="34D8C0"/>
            </a:solidFill>
            <a:prstDash val="solid"/>
          </a:ln>
        </p:spPr>
      </p:sp>
      <p:sp>
        <p:nvSpPr>
          <p:cNvPr id="12" name="Text 10"/>
          <p:cNvSpPr/>
          <p:nvPr/>
        </p:nvSpPr>
        <p:spPr>
          <a:xfrm>
            <a:off x="2798064" y="4754880"/>
            <a:ext cx="548640" cy="548640"/>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3</a:t>
            </a:r>
            <a:endParaRPr lang="en-US" sz="1500" dirty="0"/>
          </a:p>
        </p:txBody>
      </p:sp>
      <p:sp>
        <p:nvSpPr>
          <p:cNvPr id="13" name="Shape 11"/>
          <p:cNvSpPr/>
          <p:nvPr/>
        </p:nvSpPr>
        <p:spPr>
          <a:xfrm>
            <a:off x="3456432" y="4754880"/>
            <a:ext cx="548640" cy="548640"/>
          </a:xfrm>
          <a:prstGeom prst="roundRect">
            <a:avLst>
              <a:gd name="adj" fmla="val 10000"/>
            </a:avLst>
          </a:prstGeom>
          <a:solidFill>
            <a:srgbClr val="10312E"/>
          </a:solidFill>
          <a:ln w="15875">
            <a:solidFill>
              <a:srgbClr val="34D8C0"/>
            </a:solidFill>
            <a:prstDash val="solid"/>
          </a:ln>
        </p:spPr>
      </p:sp>
      <p:sp>
        <p:nvSpPr>
          <p:cNvPr id="14" name="Text 12"/>
          <p:cNvSpPr/>
          <p:nvPr/>
        </p:nvSpPr>
        <p:spPr>
          <a:xfrm>
            <a:off x="3456432" y="4754880"/>
            <a:ext cx="548640" cy="548640"/>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-2</a:t>
            </a:r>
            <a:endParaRPr lang="en-US" sz="1500" dirty="0"/>
          </a:p>
        </p:txBody>
      </p:sp>
      <p:sp>
        <p:nvSpPr>
          <p:cNvPr id="15" name="Shape 13"/>
          <p:cNvSpPr/>
          <p:nvPr/>
        </p:nvSpPr>
        <p:spPr>
          <a:xfrm>
            <a:off x="4114800" y="4754880"/>
            <a:ext cx="548640" cy="548640"/>
          </a:xfrm>
          <a:prstGeom prst="roundRect">
            <a:avLst>
              <a:gd name="adj" fmla="val 10000"/>
            </a:avLst>
          </a:prstGeom>
          <a:solidFill>
            <a:srgbClr val="20242E"/>
          </a:solidFill>
          <a:ln w="15875">
            <a:solidFill>
              <a:srgbClr val="2A3140"/>
            </a:solidFill>
            <a:prstDash val="solid"/>
          </a:ln>
        </p:spPr>
      </p:sp>
      <p:sp>
        <p:nvSpPr>
          <p:cNvPr id="16" name="Text 14"/>
          <p:cNvSpPr/>
          <p:nvPr/>
        </p:nvSpPr>
        <p:spPr>
          <a:xfrm>
            <a:off x="4114800" y="4754880"/>
            <a:ext cx="548640" cy="548640"/>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4</a:t>
            </a:r>
            <a:endParaRPr lang="en-US" sz="1500" dirty="0"/>
          </a:p>
        </p:txBody>
      </p:sp>
      <p:sp>
        <p:nvSpPr>
          <p:cNvPr id="17" name="Shape 15"/>
          <p:cNvSpPr/>
          <p:nvPr/>
        </p:nvSpPr>
        <p:spPr>
          <a:xfrm>
            <a:off x="4773168" y="4754880"/>
            <a:ext cx="548640" cy="548640"/>
          </a:xfrm>
          <a:prstGeom prst="roundRect">
            <a:avLst>
              <a:gd name="adj" fmla="val 10000"/>
            </a:avLst>
          </a:prstGeom>
          <a:solidFill>
            <a:srgbClr val="20242E"/>
          </a:solidFill>
          <a:ln w="15875">
            <a:solidFill>
              <a:srgbClr val="2A3140"/>
            </a:solidFill>
            <a:prstDash val="solid"/>
          </a:ln>
        </p:spPr>
      </p:sp>
      <p:sp>
        <p:nvSpPr>
          <p:cNvPr id="18" name="Text 16"/>
          <p:cNvSpPr/>
          <p:nvPr/>
        </p:nvSpPr>
        <p:spPr>
          <a:xfrm>
            <a:off x="4773168" y="4754880"/>
            <a:ext cx="548640" cy="548640"/>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1</a:t>
            </a:r>
            <a:endParaRPr lang="en-US" sz="1500" dirty="0"/>
          </a:p>
        </p:txBody>
      </p:sp>
      <p:sp>
        <p:nvSpPr>
          <p:cNvPr id="19" name="Shape 17"/>
          <p:cNvSpPr/>
          <p:nvPr/>
        </p:nvSpPr>
        <p:spPr>
          <a:xfrm>
            <a:off x="5431536" y="4754880"/>
            <a:ext cx="548640" cy="548640"/>
          </a:xfrm>
          <a:prstGeom prst="roundRect">
            <a:avLst>
              <a:gd name="adj" fmla="val 10000"/>
            </a:avLst>
          </a:prstGeom>
          <a:solidFill>
            <a:srgbClr val="20242E"/>
          </a:solidFill>
          <a:ln w="15875">
            <a:solidFill>
              <a:srgbClr val="2A3140"/>
            </a:solidFill>
            <a:prstDash val="solid"/>
          </a:ln>
        </p:spPr>
      </p:sp>
      <p:sp>
        <p:nvSpPr>
          <p:cNvPr id="20" name="Text 18"/>
          <p:cNvSpPr/>
          <p:nvPr/>
        </p:nvSpPr>
        <p:spPr>
          <a:xfrm>
            <a:off x="5431536" y="4754880"/>
            <a:ext cx="548640" cy="548640"/>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6</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71F"/>
        </a:solidFill>
      </p:bgPr>
    </p:bg>
    <p:spTree>
      <p:nvGrpSpPr>
        <p:cNvPr id="1" name=""/>
        <p:cNvGrpSpPr/>
        <p:nvPr/>
      </p:nvGrpSpPr>
      <p:grpSpPr>
        <a:xfrm>
          <a:off x="0" y="0"/>
          <a:ext cx="0" cy="0"/>
          <a:chOff x="0" y="0"/>
          <a:chExt cx="0" cy="0"/>
        </a:xfrm>
      </p:grpSpPr>
      <p:sp>
        <p:nvSpPr>
          <p:cNvPr id="2" name="Text 0"/>
          <p:cNvSpPr/>
          <p:nvPr/>
        </p:nvSpPr>
        <p:spPr>
          <a:xfrm>
            <a:off x="502920" y="457200"/>
            <a:ext cx="3657600" cy="292608"/>
          </a:xfrm>
          <a:prstGeom prst="rect">
            <a:avLst/>
          </a:prstGeom>
          <a:noFill/>
          <a:ln/>
        </p:spPr>
        <p:txBody>
          <a:bodyPr wrap="square" lIns="0" tIns="0" rIns="0" bIns="0" rtlCol="0" anchor="ctr"/>
          <a:lstStyle/>
          <a:p>
            <a:pPr algn="l" indent="0" marL="0">
              <a:buNone/>
            </a:pPr>
            <a:r>
              <a:rPr lang="en-US" sz="1200" b="1" spc="300" kern="0" dirty="0">
                <a:solidFill>
                  <a:srgbClr val="34D8C0"/>
                </a:solidFill>
                <a:latin typeface="Calibri" pitchFamily="34" charset="0"/>
                <a:ea typeface="Calibri" pitchFamily="34" charset="-122"/>
                <a:cs typeface="Calibri" pitchFamily="34" charset="-120"/>
              </a:rPr>
              <a:t>FIXED WINDOW · PROBLEM</a:t>
            </a:r>
            <a:endParaRPr lang="en-US" sz="1200" dirty="0"/>
          </a:p>
        </p:txBody>
      </p:sp>
      <p:sp>
        <p:nvSpPr>
          <p:cNvPr id="3" name="Text 1"/>
          <p:cNvSpPr/>
          <p:nvPr/>
        </p:nvSpPr>
        <p:spPr>
          <a:xfrm>
            <a:off x="502920" y="777240"/>
            <a:ext cx="10972800" cy="822960"/>
          </a:xfrm>
          <a:prstGeom prst="rect">
            <a:avLst/>
          </a:prstGeom>
          <a:noFill/>
          <a:ln/>
        </p:spPr>
        <p:txBody>
          <a:bodyPr wrap="square" lIns="0" tIns="0" rIns="0" bIns="0" rtlCol="0" anchor="ctr"/>
          <a:lstStyle/>
          <a:p>
            <a:pPr algn="l" indent="0" marL="0">
              <a:buNone/>
            </a:pPr>
            <a:r>
              <a:rPr lang="en-US" sz="3400" b="1" dirty="0">
                <a:solidFill>
                  <a:srgbClr val="EAECEF"/>
                </a:solidFill>
                <a:latin typeface="Cambria" pitchFamily="34" charset="0"/>
                <a:ea typeface="Cambria" pitchFamily="34" charset="-122"/>
                <a:cs typeface="Cambria" pitchFamily="34" charset="-120"/>
              </a:rPr>
              <a:t>Mansion (AIO 2007)</a:t>
            </a:r>
            <a:endParaRPr lang="en-US" sz="3400" dirty="0"/>
          </a:p>
        </p:txBody>
      </p:sp>
      <p:sp>
        <p:nvSpPr>
          <p:cNvPr id="4" name="Shape 2"/>
          <p:cNvSpPr/>
          <p:nvPr/>
        </p:nvSpPr>
        <p:spPr>
          <a:xfrm>
            <a:off x="502920" y="1691640"/>
            <a:ext cx="11155680" cy="1188720"/>
          </a:xfrm>
          <a:prstGeom prst="roundRect">
            <a:avLst>
              <a:gd name="adj" fmla="val 6923"/>
            </a:avLst>
          </a:prstGeom>
          <a:solidFill>
            <a:srgbClr val="2A3140"/>
          </a:solidFill>
          <a:ln w="12700">
            <a:solidFill>
              <a:srgbClr val="2A3140"/>
            </a:solidFill>
            <a:prstDash val="solid"/>
          </a:ln>
        </p:spPr>
      </p:sp>
      <p:sp>
        <p:nvSpPr>
          <p:cNvPr id="5" name="Text 3"/>
          <p:cNvSpPr/>
          <p:nvPr/>
        </p:nvSpPr>
        <p:spPr>
          <a:xfrm>
            <a:off x="777240" y="1691640"/>
            <a:ext cx="10607040" cy="1188720"/>
          </a:xfrm>
          <a:prstGeom prst="rect">
            <a:avLst/>
          </a:prstGeom>
          <a:noFill/>
          <a:ln/>
        </p:spPr>
        <p:txBody>
          <a:bodyPr wrap="square" lIns="0" tIns="0" rIns="0" bIns="0" rtlCol="0" anchor="ctr"/>
          <a:lstStyle/>
          <a:p>
            <a:pPr algn="l" indent="0" marL="0">
              <a:buNone/>
            </a:pPr>
            <a:r>
              <a:rPr lang="en-US" sz="1900" b="1" dirty="0">
                <a:solidFill>
                  <a:srgbClr val="34D8C0"/>
                </a:solidFill>
                <a:latin typeface="Calibri" pitchFamily="34" charset="0"/>
                <a:ea typeface="Calibri" pitchFamily="34" charset="-122"/>
                <a:cs typeface="Calibri" pitchFamily="34" charset="-120"/>
              </a:rPr>
              <a:t>In one line.  </a:t>
            </a:r>
            <a:pPr algn="l" indent="0" marL="0">
              <a:buNone/>
            </a:pPr>
            <a:r>
              <a:rPr lang="en-US" sz="1900" dirty="0">
                <a:solidFill>
                  <a:srgbClr val="EAECEF"/>
                </a:solidFill>
                <a:latin typeface="Calibri" pitchFamily="34" charset="0"/>
                <a:ea typeface="Calibri" pitchFamily="34" charset="-122"/>
                <a:cs typeface="Calibri" pitchFamily="34" charset="-120"/>
              </a:rPr>
              <a:t>Given an array of N values, find the maximum sum of any K consecutive values.</a:t>
            </a:r>
            <a:endParaRPr lang="en-US" sz="1900" dirty="0"/>
          </a:p>
        </p:txBody>
      </p:sp>
      <p:sp>
        <p:nvSpPr>
          <p:cNvPr id="6" name="Text 4"/>
          <p:cNvSpPr/>
          <p:nvPr/>
        </p:nvSpPr>
        <p:spPr>
          <a:xfrm>
            <a:off x="502920" y="3154680"/>
            <a:ext cx="7315200" cy="365760"/>
          </a:xfrm>
          <a:prstGeom prst="rect">
            <a:avLst/>
          </a:prstGeom>
          <a:noFill/>
          <a:ln/>
        </p:spPr>
        <p:txBody>
          <a:bodyPr wrap="square" lIns="0" tIns="0" rIns="0" bIns="0" rtlCol="0" anchor="ctr"/>
          <a:lstStyle/>
          <a:p>
            <a:pPr algn="l" indent="0" marL="0">
              <a:buNone/>
            </a:pPr>
            <a:r>
              <a:rPr lang="en-US" sz="1500" b="1" dirty="0">
                <a:solidFill>
                  <a:srgbClr val="9AA5B4"/>
                </a:solidFill>
                <a:latin typeface="Calibri" pitchFamily="34" charset="0"/>
                <a:ea typeface="Calibri" pitchFamily="34" charset="-122"/>
                <a:cs typeface="Calibri" pitchFamily="34" charset="-120"/>
              </a:rPr>
              <a:t>Example  (N = 8, K = 3)</a:t>
            </a:r>
            <a:endParaRPr lang="en-US" sz="1500" dirty="0"/>
          </a:p>
        </p:txBody>
      </p:sp>
      <p:sp>
        <p:nvSpPr>
          <p:cNvPr id="7" name="Shape 5"/>
          <p:cNvSpPr/>
          <p:nvPr/>
        </p:nvSpPr>
        <p:spPr>
          <a:xfrm>
            <a:off x="1280160" y="3657600"/>
            <a:ext cx="603504" cy="603504"/>
          </a:xfrm>
          <a:prstGeom prst="roundRect">
            <a:avLst>
              <a:gd name="adj" fmla="val 9091"/>
            </a:avLst>
          </a:prstGeom>
          <a:solidFill>
            <a:srgbClr val="20242E"/>
          </a:solidFill>
          <a:ln w="15875">
            <a:solidFill>
              <a:srgbClr val="2A3140"/>
            </a:solidFill>
            <a:prstDash val="solid"/>
          </a:ln>
        </p:spPr>
      </p:sp>
      <p:sp>
        <p:nvSpPr>
          <p:cNvPr id="8" name="Text 6"/>
          <p:cNvSpPr/>
          <p:nvPr/>
        </p:nvSpPr>
        <p:spPr>
          <a:xfrm>
            <a:off x="1280160" y="3657600"/>
            <a:ext cx="603504" cy="603504"/>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2</a:t>
            </a:r>
            <a:endParaRPr lang="en-US" sz="1500" dirty="0"/>
          </a:p>
        </p:txBody>
      </p:sp>
      <p:sp>
        <p:nvSpPr>
          <p:cNvPr id="9" name="Shape 7"/>
          <p:cNvSpPr/>
          <p:nvPr/>
        </p:nvSpPr>
        <p:spPr>
          <a:xfrm>
            <a:off x="2002536" y="3657600"/>
            <a:ext cx="603504" cy="603504"/>
          </a:xfrm>
          <a:prstGeom prst="roundRect">
            <a:avLst>
              <a:gd name="adj" fmla="val 9091"/>
            </a:avLst>
          </a:prstGeom>
          <a:solidFill>
            <a:srgbClr val="10312E"/>
          </a:solidFill>
          <a:ln w="15875">
            <a:solidFill>
              <a:srgbClr val="34D8C0"/>
            </a:solidFill>
            <a:prstDash val="solid"/>
          </a:ln>
        </p:spPr>
      </p:sp>
      <p:sp>
        <p:nvSpPr>
          <p:cNvPr id="10" name="Text 8"/>
          <p:cNvSpPr/>
          <p:nvPr/>
        </p:nvSpPr>
        <p:spPr>
          <a:xfrm>
            <a:off x="2002536" y="3657600"/>
            <a:ext cx="603504" cy="603504"/>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-1</a:t>
            </a:r>
            <a:endParaRPr lang="en-US" sz="1500" dirty="0"/>
          </a:p>
        </p:txBody>
      </p:sp>
      <p:sp>
        <p:nvSpPr>
          <p:cNvPr id="11" name="Shape 9"/>
          <p:cNvSpPr/>
          <p:nvPr/>
        </p:nvSpPr>
        <p:spPr>
          <a:xfrm>
            <a:off x="2724912" y="3657600"/>
            <a:ext cx="603504" cy="603504"/>
          </a:xfrm>
          <a:prstGeom prst="roundRect">
            <a:avLst>
              <a:gd name="adj" fmla="val 9091"/>
            </a:avLst>
          </a:prstGeom>
          <a:solidFill>
            <a:srgbClr val="10312E"/>
          </a:solidFill>
          <a:ln w="15875">
            <a:solidFill>
              <a:srgbClr val="34D8C0"/>
            </a:solidFill>
            <a:prstDash val="solid"/>
          </a:ln>
        </p:spPr>
      </p:sp>
      <p:sp>
        <p:nvSpPr>
          <p:cNvPr id="12" name="Text 10"/>
          <p:cNvSpPr/>
          <p:nvPr/>
        </p:nvSpPr>
        <p:spPr>
          <a:xfrm>
            <a:off x="2724912" y="3657600"/>
            <a:ext cx="603504" cy="603504"/>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5</a:t>
            </a:r>
            <a:endParaRPr lang="en-US" sz="1500" dirty="0"/>
          </a:p>
        </p:txBody>
      </p:sp>
      <p:sp>
        <p:nvSpPr>
          <p:cNvPr id="13" name="Shape 11"/>
          <p:cNvSpPr/>
          <p:nvPr/>
        </p:nvSpPr>
        <p:spPr>
          <a:xfrm>
            <a:off x="3447288" y="3657600"/>
            <a:ext cx="603504" cy="603504"/>
          </a:xfrm>
          <a:prstGeom prst="roundRect">
            <a:avLst>
              <a:gd name="adj" fmla="val 9091"/>
            </a:avLst>
          </a:prstGeom>
          <a:solidFill>
            <a:srgbClr val="10312E"/>
          </a:solidFill>
          <a:ln w="15875">
            <a:solidFill>
              <a:srgbClr val="34D8C0"/>
            </a:solidFill>
            <a:prstDash val="solid"/>
          </a:ln>
        </p:spPr>
      </p:sp>
      <p:sp>
        <p:nvSpPr>
          <p:cNvPr id="14" name="Text 12"/>
          <p:cNvSpPr/>
          <p:nvPr/>
        </p:nvSpPr>
        <p:spPr>
          <a:xfrm>
            <a:off x="3447288" y="3657600"/>
            <a:ext cx="603504" cy="603504"/>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3</a:t>
            </a:r>
            <a:endParaRPr lang="en-US" sz="1500" dirty="0"/>
          </a:p>
        </p:txBody>
      </p:sp>
      <p:sp>
        <p:nvSpPr>
          <p:cNvPr id="15" name="Shape 13"/>
          <p:cNvSpPr/>
          <p:nvPr/>
        </p:nvSpPr>
        <p:spPr>
          <a:xfrm>
            <a:off x="4169664" y="3657600"/>
            <a:ext cx="603504" cy="603504"/>
          </a:xfrm>
          <a:prstGeom prst="roundRect">
            <a:avLst>
              <a:gd name="adj" fmla="val 9091"/>
            </a:avLst>
          </a:prstGeom>
          <a:solidFill>
            <a:srgbClr val="20242E"/>
          </a:solidFill>
          <a:ln w="15875">
            <a:solidFill>
              <a:srgbClr val="2A3140"/>
            </a:solidFill>
            <a:prstDash val="solid"/>
          </a:ln>
        </p:spPr>
      </p:sp>
      <p:sp>
        <p:nvSpPr>
          <p:cNvPr id="16" name="Text 14"/>
          <p:cNvSpPr/>
          <p:nvPr/>
        </p:nvSpPr>
        <p:spPr>
          <a:xfrm>
            <a:off x="4169664" y="3657600"/>
            <a:ext cx="603504" cy="603504"/>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-2</a:t>
            </a:r>
            <a:endParaRPr lang="en-US" sz="1500" dirty="0"/>
          </a:p>
        </p:txBody>
      </p:sp>
      <p:sp>
        <p:nvSpPr>
          <p:cNvPr id="17" name="Shape 15"/>
          <p:cNvSpPr/>
          <p:nvPr/>
        </p:nvSpPr>
        <p:spPr>
          <a:xfrm>
            <a:off x="4892040" y="3657600"/>
            <a:ext cx="603504" cy="603504"/>
          </a:xfrm>
          <a:prstGeom prst="roundRect">
            <a:avLst>
              <a:gd name="adj" fmla="val 9091"/>
            </a:avLst>
          </a:prstGeom>
          <a:solidFill>
            <a:srgbClr val="20242E"/>
          </a:solidFill>
          <a:ln w="15875">
            <a:solidFill>
              <a:srgbClr val="2A3140"/>
            </a:solidFill>
            <a:prstDash val="solid"/>
          </a:ln>
        </p:spPr>
      </p:sp>
      <p:sp>
        <p:nvSpPr>
          <p:cNvPr id="18" name="Text 16"/>
          <p:cNvSpPr/>
          <p:nvPr/>
        </p:nvSpPr>
        <p:spPr>
          <a:xfrm>
            <a:off x="4892040" y="3657600"/>
            <a:ext cx="603504" cy="603504"/>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4</a:t>
            </a:r>
            <a:endParaRPr lang="en-US" sz="1500" dirty="0"/>
          </a:p>
        </p:txBody>
      </p:sp>
      <p:sp>
        <p:nvSpPr>
          <p:cNvPr id="19" name="Shape 17"/>
          <p:cNvSpPr/>
          <p:nvPr/>
        </p:nvSpPr>
        <p:spPr>
          <a:xfrm>
            <a:off x="5614416" y="3657600"/>
            <a:ext cx="603504" cy="603504"/>
          </a:xfrm>
          <a:prstGeom prst="roundRect">
            <a:avLst>
              <a:gd name="adj" fmla="val 9091"/>
            </a:avLst>
          </a:prstGeom>
          <a:solidFill>
            <a:srgbClr val="20242E"/>
          </a:solidFill>
          <a:ln w="15875">
            <a:solidFill>
              <a:srgbClr val="2A3140"/>
            </a:solidFill>
            <a:prstDash val="solid"/>
          </a:ln>
        </p:spPr>
      </p:sp>
      <p:sp>
        <p:nvSpPr>
          <p:cNvPr id="20" name="Text 18"/>
          <p:cNvSpPr/>
          <p:nvPr/>
        </p:nvSpPr>
        <p:spPr>
          <a:xfrm>
            <a:off x="5614416" y="3657600"/>
            <a:ext cx="603504" cy="603504"/>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1</a:t>
            </a:r>
            <a:endParaRPr lang="en-US" sz="1500" dirty="0"/>
          </a:p>
        </p:txBody>
      </p:sp>
      <p:sp>
        <p:nvSpPr>
          <p:cNvPr id="21" name="Shape 19"/>
          <p:cNvSpPr/>
          <p:nvPr/>
        </p:nvSpPr>
        <p:spPr>
          <a:xfrm>
            <a:off x="6336792" y="3657600"/>
            <a:ext cx="603504" cy="603504"/>
          </a:xfrm>
          <a:prstGeom prst="roundRect">
            <a:avLst>
              <a:gd name="adj" fmla="val 9091"/>
            </a:avLst>
          </a:prstGeom>
          <a:solidFill>
            <a:srgbClr val="20242E"/>
          </a:solidFill>
          <a:ln w="15875">
            <a:solidFill>
              <a:srgbClr val="2A3140"/>
            </a:solidFill>
            <a:prstDash val="solid"/>
          </a:ln>
        </p:spPr>
      </p:sp>
      <p:sp>
        <p:nvSpPr>
          <p:cNvPr id="22" name="Text 20"/>
          <p:cNvSpPr/>
          <p:nvPr/>
        </p:nvSpPr>
        <p:spPr>
          <a:xfrm>
            <a:off x="6336792" y="3657600"/>
            <a:ext cx="603504" cy="603504"/>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6</a:t>
            </a:r>
            <a:endParaRPr lang="en-US" sz="1500" dirty="0"/>
          </a:p>
        </p:txBody>
      </p:sp>
      <p:sp>
        <p:nvSpPr>
          <p:cNvPr id="23" name="Text 21"/>
          <p:cNvSpPr/>
          <p:nvPr/>
        </p:nvSpPr>
        <p:spPr>
          <a:xfrm>
            <a:off x="1280160" y="4434840"/>
            <a:ext cx="6400800" cy="365760"/>
          </a:xfrm>
          <a:prstGeom prst="rect">
            <a:avLst/>
          </a:prstGeom>
          <a:noFill/>
          <a:ln/>
        </p:spPr>
        <p:txBody>
          <a:bodyPr wrap="square" lIns="0" tIns="0" rIns="0" bIns="0" rtlCol="0" anchor="ctr"/>
          <a:lstStyle/>
          <a:p>
            <a:pPr algn="l" indent="0" marL="0">
              <a:buNone/>
            </a:pPr>
            <a:r>
              <a:rPr lang="en-US" sz="1400" dirty="0">
                <a:solidFill>
                  <a:srgbClr val="34D8C0"/>
                </a:solidFill>
                <a:latin typeface="Courier New" pitchFamily="34" charset="0"/>
                <a:ea typeface="Courier New" pitchFamily="34" charset="-122"/>
                <a:cs typeface="Courier New" pitchFamily="34" charset="-120"/>
              </a:rPr>
              <a:t>window [1..3] = -1+5+3 = 7</a:t>
            </a:r>
            <a:endParaRPr lang="en-US" sz="1400" dirty="0"/>
          </a:p>
        </p:txBody>
      </p:sp>
      <p:sp>
        <p:nvSpPr>
          <p:cNvPr id="24" name="Text 22"/>
          <p:cNvSpPr/>
          <p:nvPr/>
        </p:nvSpPr>
        <p:spPr>
          <a:xfrm>
            <a:off x="1280160" y="4937760"/>
            <a:ext cx="10058400" cy="365760"/>
          </a:xfrm>
          <a:prstGeom prst="rect">
            <a:avLst/>
          </a:prstGeom>
          <a:noFill/>
          <a:ln/>
        </p:spPr>
        <p:txBody>
          <a:bodyPr wrap="square" lIns="0" tIns="0" rIns="0" bIns="0" rtlCol="0" anchor="ctr"/>
          <a:lstStyle/>
          <a:p>
            <a:pPr algn="l" indent="0" marL="0">
              <a:buNone/>
            </a:pPr>
            <a:r>
              <a:rPr lang="en-US" sz="1500" i="1" dirty="0">
                <a:solidFill>
                  <a:srgbClr val="F2B441"/>
                </a:solidFill>
                <a:latin typeface="Calibri" pitchFamily="34" charset="0"/>
                <a:ea typeface="Calibri" pitchFamily="34" charset="-122"/>
                <a:cs typeface="Calibri" pitchFamily="34" charset="-120"/>
              </a:rPr>
              <a:t>Answer for this array: the best 3-in-a-row total is 11  (4 + 1 + 6).</a:t>
            </a:r>
            <a:endParaRPr lang="en-US" sz="1500" dirty="0"/>
          </a:p>
        </p:txBody>
      </p:sp>
      <p:sp>
        <p:nvSpPr>
          <p:cNvPr id="25" name="Text 23"/>
          <p:cNvSpPr/>
          <p:nvPr/>
        </p:nvSpPr>
        <p:spPr>
          <a:xfrm>
            <a:off x="502920" y="6455664"/>
            <a:ext cx="5486400" cy="274320"/>
          </a:xfrm>
          <a:prstGeom prst="rect">
            <a:avLst/>
          </a:prstGeom>
          <a:noFill/>
          <a:ln/>
        </p:spPr>
        <p:txBody>
          <a:bodyPr wrap="square" lIns="0" tIns="0" rIns="0" bIns="0" rtlCol="0" anchor="ctr"/>
          <a:lstStyle/>
          <a:p>
            <a:pPr algn="l" indent="0" marL="0">
              <a:buNone/>
            </a:pPr>
            <a:r>
              <a:rPr lang="en-US" sz="1000" dirty="0">
                <a:solidFill>
                  <a:srgbClr val="9AA5B4"/>
                </a:solidFill>
                <a:latin typeface="Calibri" pitchFamily="34" charset="0"/>
                <a:ea typeface="Calibri" pitchFamily="34" charset="-122"/>
                <a:cs typeface="Calibri" pitchFamily="34" charset="-120"/>
              </a:rPr>
              <a:t>Two Pointers &amp; Sliding Window</a:t>
            </a:r>
            <a:endParaRPr lang="en-US" sz="1000" dirty="0"/>
          </a:p>
        </p:txBody>
      </p:sp>
      <p:sp>
        <p:nvSpPr>
          <p:cNvPr id="26" name="Text 24"/>
          <p:cNvSpPr/>
          <p:nvPr/>
        </p:nvSpPr>
        <p:spPr>
          <a:xfrm>
            <a:off x="11228832" y="6455664"/>
            <a:ext cx="457200" cy="274320"/>
          </a:xfrm>
          <a:prstGeom prst="rect">
            <a:avLst/>
          </a:prstGeom>
          <a:noFill/>
          <a:ln/>
        </p:spPr>
        <p:txBody>
          <a:bodyPr wrap="square" lIns="0" tIns="0" rIns="0" bIns="0" rtlCol="0" anchor="ctr"/>
          <a:lstStyle/>
          <a:p>
            <a:pPr algn="r" indent="0" marL="0">
              <a:buNone/>
            </a:pPr>
            <a:r>
              <a:rPr lang="en-US" sz="1000" dirty="0">
                <a:solidFill>
                  <a:srgbClr val="9AA5B4"/>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71F"/>
        </a:solidFill>
      </p:bgPr>
    </p:bg>
    <p:spTree>
      <p:nvGrpSpPr>
        <p:cNvPr id="1" name=""/>
        <p:cNvGrpSpPr/>
        <p:nvPr/>
      </p:nvGrpSpPr>
      <p:grpSpPr>
        <a:xfrm>
          <a:off x="0" y="0"/>
          <a:ext cx="0" cy="0"/>
          <a:chOff x="0" y="0"/>
          <a:chExt cx="0" cy="0"/>
        </a:xfrm>
      </p:grpSpPr>
      <p:sp>
        <p:nvSpPr>
          <p:cNvPr id="2" name="Text 0"/>
          <p:cNvSpPr/>
          <p:nvPr/>
        </p:nvSpPr>
        <p:spPr>
          <a:xfrm>
            <a:off x="502920" y="457200"/>
            <a:ext cx="3657600" cy="292608"/>
          </a:xfrm>
          <a:prstGeom prst="rect">
            <a:avLst/>
          </a:prstGeom>
          <a:noFill/>
          <a:ln/>
        </p:spPr>
        <p:txBody>
          <a:bodyPr wrap="square" lIns="0" tIns="0" rIns="0" bIns="0" rtlCol="0" anchor="ctr"/>
          <a:lstStyle/>
          <a:p>
            <a:pPr algn="l" indent="0" marL="0">
              <a:buNone/>
            </a:pPr>
            <a:r>
              <a:rPr lang="en-US" sz="1200" b="1" spc="300" kern="0" dirty="0">
                <a:solidFill>
                  <a:srgbClr val="F2B441"/>
                </a:solidFill>
                <a:latin typeface="Calibri" pitchFamily="34" charset="0"/>
                <a:ea typeface="Calibri" pitchFamily="34" charset="-122"/>
                <a:cs typeface="Calibri" pitchFamily="34" charset="-120"/>
              </a:rPr>
              <a:t>FIXED WINDOW · FIRST ATTEMPT</a:t>
            </a:r>
            <a:endParaRPr lang="en-US" sz="1200" dirty="0"/>
          </a:p>
        </p:txBody>
      </p:sp>
      <p:sp>
        <p:nvSpPr>
          <p:cNvPr id="3" name="Text 1"/>
          <p:cNvSpPr/>
          <p:nvPr/>
        </p:nvSpPr>
        <p:spPr>
          <a:xfrm>
            <a:off x="502920" y="777240"/>
            <a:ext cx="10972800" cy="822960"/>
          </a:xfrm>
          <a:prstGeom prst="rect">
            <a:avLst/>
          </a:prstGeom>
          <a:noFill/>
          <a:ln/>
        </p:spPr>
        <p:txBody>
          <a:bodyPr wrap="square" lIns="0" tIns="0" rIns="0" bIns="0" rtlCol="0" anchor="ctr"/>
          <a:lstStyle/>
          <a:p>
            <a:pPr algn="l" indent="0" marL="0">
              <a:buNone/>
            </a:pPr>
            <a:r>
              <a:rPr lang="en-US" sz="3400" b="1" dirty="0">
                <a:solidFill>
                  <a:srgbClr val="EAECEF"/>
                </a:solidFill>
                <a:latin typeface="Cambria" pitchFamily="34" charset="0"/>
                <a:ea typeface="Cambria" pitchFamily="34" charset="-122"/>
                <a:cs typeface="Cambria" pitchFamily="34" charset="-120"/>
              </a:rPr>
              <a:t>The obvious solution is O(NK)</a:t>
            </a:r>
            <a:endParaRPr lang="en-US" sz="3400" dirty="0"/>
          </a:p>
        </p:txBody>
      </p:sp>
      <p:sp>
        <p:nvSpPr>
          <p:cNvPr id="4" name="Shape 2"/>
          <p:cNvSpPr/>
          <p:nvPr/>
        </p:nvSpPr>
        <p:spPr>
          <a:xfrm>
            <a:off x="502920" y="1783080"/>
            <a:ext cx="6675120" cy="3017520"/>
          </a:xfrm>
          <a:prstGeom prst="roundRect">
            <a:avLst>
              <a:gd name="adj" fmla="val 2424"/>
            </a:avLst>
          </a:prstGeom>
          <a:solidFill>
            <a:srgbClr val="0E1016"/>
          </a:solidFill>
          <a:ln w="12700">
            <a:solidFill>
              <a:srgbClr val="2A3140"/>
            </a:solidFill>
            <a:prstDash val="solid"/>
          </a:ln>
        </p:spPr>
      </p:sp>
      <p:sp>
        <p:nvSpPr>
          <p:cNvPr id="5" name="Text 3"/>
          <p:cNvSpPr/>
          <p:nvPr/>
        </p:nvSpPr>
        <p:spPr>
          <a:xfrm>
            <a:off x="704088" y="1929384"/>
            <a:ext cx="6272784" cy="2724912"/>
          </a:xfrm>
          <a:prstGeom prst="rect">
            <a:avLst/>
          </a:prstGeom>
          <a:noFill/>
          <a:ln/>
        </p:spPr>
        <p:txBody>
          <a:bodyPr wrap="square" lIns="0" tIns="0" rIns="0" bIns="0" rtlCol="0" anchor="t"/>
          <a:lstStyle/>
          <a:p>
            <a:pPr algn="l" indent="0" marL="0">
              <a:lnSpc>
                <a:spcPct val="102000"/>
              </a:lnSpc>
              <a:buNone/>
            </a:pPr>
            <a:r>
              <a:rPr lang="en-US" sz="1500" dirty="0">
                <a:solidFill>
                  <a:srgbClr val="EAECEF"/>
                </a:solidFill>
                <a:latin typeface="Courier New" pitchFamily="34" charset="0"/>
                <a:ea typeface="Courier New" pitchFamily="34" charset="-122"/>
                <a:cs typeface="Courier New" pitchFamily="34" charset="-120"/>
              </a:rPr>
              <a:t>best = -infinity</a:t>
            </a:r>
            <a:endParaRPr lang="en-US" sz="1500" dirty="0"/>
          </a:p>
          <a:p>
            <a:pPr algn="l" indent="0" marL="0">
              <a:lnSpc>
                <a:spcPct val="102000"/>
              </a:lnSpc>
              <a:buNone/>
            </a:pPr>
            <a:r>
              <a:rPr lang="en-US" sz="1500" dirty="0">
                <a:solidFill>
                  <a:srgbClr val="34D8C0"/>
                </a:solidFill>
                <a:latin typeface="Courier New" pitchFamily="34" charset="0"/>
                <a:ea typeface="Courier New" pitchFamily="34" charset="-122"/>
                <a:cs typeface="Courier New" pitchFamily="34" charset="-120"/>
              </a:rPr>
              <a:t>for start = 0 .. N-K:</a:t>
            </a:r>
            <a:endParaRPr lang="en-US" sz="1500" dirty="0"/>
          </a:p>
          <a:p>
            <a:pPr algn="l" indent="0" marL="0">
              <a:lnSpc>
                <a:spcPct val="102000"/>
              </a:lnSpc>
              <a:buNone/>
            </a:pPr>
            <a:r>
              <a:rPr lang="en-US" sz="1500" dirty="0">
                <a:solidFill>
                  <a:srgbClr val="EAECEF"/>
                </a:solidFill>
                <a:latin typeface="Courier New" pitchFamily="34" charset="0"/>
                <a:ea typeface="Courier New" pitchFamily="34" charset="-122"/>
                <a:cs typeface="Courier New" pitchFamily="34" charset="-120"/>
              </a:rPr>
              <a:t>    s = 0</a:t>
            </a:r>
            <a:endParaRPr lang="en-US" sz="1500" dirty="0"/>
          </a:p>
          <a:p>
            <a:pPr algn="l" indent="0" marL="0">
              <a:lnSpc>
                <a:spcPct val="102000"/>
              </a:lnSpc>
              <a:buNone/>
            </a:pPr>
            <a:r>
              <a:rPr lang="en-US" sz="1500" dirty="0">
                <a:solidFill>
                  <a:srgbClr val="34D8C0"/>
                </a:solidFill>
                <a:latin typeface="Courier New" pitchFamily="34" charset="0"/>
                <a:ea typeface="Courier New" pitchFamily="34" charset="-122"/>
                <a:cs typeface="Courier New" pitchFamily="34" charset="-120"/>
              </a:rPr>
              <a:t>    for i = start .. start+K-1:</a:t>
            </a:r>
            <a:endParaRPr lang="en-US" sz="1500" dirty="0"/>
          </a:p>
          <a:p>
            <a:pPr algn="l" indent="0" marL="0">
              <a:lnSpc>
                <a:spcPct val="102000"/>
              </a:lnSpc>
              <a:buNone/>
            </a:pPr>
            <a:r>
              <a:rPr lang="en-US" sz="1500" dirty="0">
                <a:solidFill>
                  <a:srgbClr val="FF6B6B"/>
                </a:solidFill>
                <a:latin typeface="Courier New" pitchFamily="34" charset="0"/>
                <a:ea typeface="Courier New" pitchFamily="34" charset="-122"/>
                <a:cs typeface="Courier New" pitchFamily="34" charset="-120"/>
              </a:rPr>
              <a:t>        s += a[i]        // re-sum</a:t>
            </a:r>
            <a:endParaRPr lang="en-US" sz="1500" dirty="0"/>
          </a:p>
          <a:p>
            <a:pPr algn="l" indent="0" marL="0">
              <a:lnSpc>
                <a:spcPct val="102000"/>
              </a:lnSpc>
              <a:buNone/>
            </a:pPr>
            <a:r>
              <a:rPr lang="en-US" sz="1500" dirty="0">
                <a:solidFill>
                  <a:srgbClr val="EAECEF"/>
                </a:solidFill>
                <a:latin typeface="Courier New" pitchFamily="34" charset="0"/>
                <a:ea typeface="Courier New" pitchFamily="34" charset="-122"/>
                <a:cs typeface="Courier New" pitchFamily="34" charset="-120"/>
              </a:rPr>
              <a:t>    best = max(best, s)</a:t>
            </a:r>
            <a:endParaRPr lang="en-US" sz="1500" dirty="0"/>
          </a:p>
        </p:txBody>
      </p:sp>
      <p:sp>
        <p:nvSpPr>
          <p:cNvPr id="6" name="Text 4"/>
          <p:cNvSpPr/>
          <p:nvPr/>
        </p:nvSpPr>
        <p:spPr>
          <a:xfrm>
            <a:off x="521208" y="4855464"/>
            <a:ext cx="6675120" cy="274320"/>
          </a:xfrm>
          <a:prstGeom prst="rect">
            <a:avLst/>
          </a:prstGeom>
          <a:noFill/>
          <a:ln/>
        </p:spPr>
        <p:txBody>
          <a:bodyPr wrap="square" lIns="0" tIns="0" rIns="0" bIns="0" rtlCol="0" anchor="ctr"/>
          <a:lstStyle/>
          <a:p>
            <a:pPr algn="l" indent="0" marL="0">
              <a:buNone/>
            </a:pPr>
            <a:r>
              <a:rPr lang="en-US" sz="1100" i="1" dirty="0">
                <a:solidFill>
                  <a:srgbClr val="9AA5B4"/>
                </a:solidFill>
                <a:latin typeface="Calibri" pitchFamily="34" charset="0"/>
                <a:ea typeface="Calibri" pitchFamily="34" charset="-122"/>
                <a:cs typeface="Calibri" pitchFamily="34" charset="-120"/>
              </a:rPr>
              <a:t>Every window rebuilt from zero.</a:t>
            </a:r>
            <a:endParaRPr lang="en-US" sz="1100" dirty="0"/>
          </a:p>
        </p:txBody>
      </p:sp>
      <p:sp>
        <p:nvSpPr>
          <p:cNvPr id="7" name="Shape 5"/>
          <p:cNvSpPr/>
          <p:nvPr/>
        </p:nvSpPr>
        <p:spPr>
          <a:xfrm>
            <a:off x="7406640" y="1783080"/>
            <a:ext cx="4251960" cy="3017520"/>
          </a:xfrm>
          <a:prstGeom prst="roundRect">
            <a:avLst>
              <a:gd name="adj" fmla="val 2727"/>
            </a:avLst>
          </a:prstGeom>
          <a:solidFill>
            <a:srgbClr val="20242E"/>
          </a:solidFill>
          <a:ln w="12700">
            <a:solidFill>
              <a:srgbClr val="2A3140"/>
            </a:solidFill>
            <a:prstDash val="solid"/>
          </a:ln>
        </p:spPr>
      </p:sp>
      <p:sp>
        <p:nvSpPr>
          <p:cNvPr id="8" name="Text 6"/>
          <p:cNvSpPr/>
          <p:nvPr/>
        </p:nvSpPr>
        <p:spPr>
          <a:xfrm>
            <a:off x="7635240" y="1965960"/>
            <a:ext cx="3657600" cy="365760"/>
          </a:xfrm>
          <a:prstGeom prst="rect">
            <a:avLst/>
          </a:prstGeom>
          <a:noFill/>
          <a:ln/>
        </p:spPr>
        <p:txBody>
          <a:bodyPr wrap="square" lIns="0" tIns="0" rIns="0" bIns="0" rtlCol="0" anchor="ctr"/>
          <a:lstStyle/>
          <a:p>
            <a:pPr algn="l" indent="0" marL="0">
              <a:buNone/>
            </a:pPr>
            <a:r>
              <a:rPr lang="en-US" sz="1500" b="1" dirty="0">
                <a:solidFill>
                  <a:srgbClr val="9AA5B4"/>
                </a:solidFill>
                <a:latin typeface="Calibri" pitchFamily="34" charset="0"/>
                <a:ea typeface="Calibri" pitchFamily="34" charset="-122"/>
                <a:cs typeface="Calibri" pitchFamily="34" charset="-120"/>
              </a:rPr>
              <a:t>Cost</a:t>
            </a:r>
            <a:endParaRPr lang="en-US" sz="1500" dirty="0"/>
          </a:p>
        </p:txBody>
      </p:sp>
      <p:sp>
        <p:nvSpPr>
          <p:cNvPr id="9" name="Text 7"/>
          <p:cNvSpPr/>
          <p:nvPr/>
        </p:nvSpPr>
        <p:spPr>
          <a:xfrm>
            <a:off x="7635240" y="2468880"/>
            <a:ext cx="3840480" cy="457200"/>
          </a:xfrm>
          <a:prstGeom prst="rect">
            <a:avLst/>
          </a:prstGeom>
          <a:noFill/>
          <a:ln/>
        </p:spPr>
        <p:txBody>
          <a:bodyPr wrap="square" lIns="0" tIns="0" rIns="0" bIns="0" rtlCol="0" anchor="ctr"/>
          <a:lstStyle/>
          <a:p>
            <a:pPr algn="l" indent="0" marL="0">
              <a:buNone/>
            </a:pPr>
            <a:r>
              <a:rPr lang="en-US" sz="1800" b="1" dirty="0">
                <a:solidFill>
                  <a:srgbClr val="EAECEF"/>
                </a:solidFill>
                <a:latin typeface="Courier New" pitchFamily="34" charset="0"/>
                <a:ea typeface="Courier New" pitchFamily="34" charset="-122"/>
                <a:cs typeface="Courier New" pitchFamily="34" charset="-120"/>
              </a:rPr>
              <a:t>N</a:t>
            </a:r>
            <a:pPr algn="l" indent="0" marL="0">
              <a:buNone/>
            </a:pPr>
            <a:r>
              <a:rPr lang="en-US" sz="1800" b="1" dirty="0">
                <a:solidFill>
                  <a:srgbClr val="9AA5B4"/>
                </a:solidFill>
                <a:latin typeface="Courier New" pitchFamily="34" charset="0"/>
                <a:ea typeface="Courier New" pitchFamily="34" charset="-122"/>
                <a:cs typeface="Courier New" pitchFamily="34" charset="-120"/>
              </a:rPr>
              <a:t> starts  </a:t>
            </a:r>
            <a:pPr algn="l" indent="0" marL="0">
              <a:buNone/>
            </a:pPr>
            <a:r>
              <a:rPr lang="en-US" sz="1800" b="1" dirty="0">
                <a:solidFill>
                  <a:srgbClr val="9AA5B4"/>
                </a:solidFill>
                <a:latin typeface="Courier New" pitchFamily="34" charset="0"/>
                <a:ea typeface="Courier New" pitchFamily="34" charset="-122"/>
                <a:cs typeface="Courier New" pitchFamily="34" charset="-120"/>
              </a:rPr>
              <a:t>×  </a:t>
            </a:r>
            <a:pPr algn="l" indent="0" marL="0">
              <a:buNone/>
            </a:pPr>
            <a:r>
              <a:rPr lang="en-US" sz="1800" b="1" dirty="0">
                <a:solidFill>
                  <a:srgbClr val="EAECEF"/>
                </a:solidFill>
                <a:latin typeface="Courier New" pitchFamily="34" charset="0"/>
                <a:ea typeface="Courier New" pitchFamily="34" charset="-122"/>
                <a:cs typeface="Courier New" pitchFamily="34" charset="-120"/>
              </a:rPr>
              <a:t>K</a:t>
            </a:r>
            <a:pPr algn="l" indent="0" marL="0">
              <a:buNone/>
            </a:pPr>
            <a:r>
              <a:rPr lang="en-US" sz="1800" b="1" dirty="0">
                <a:solidFill>
                  <a:srgbClr val="9AA5B4"/>
                </a:solidFill>
                <a:latin typeface="Courier New" pitchFamily="34" charset="0"/>
                <a:ea typeface="Courier New" pitchFamily="34" charset="-122"/>
                <a:cs typeface="Courier New" pitchFamily="34" charset="-120"/>
              </a:rPr>
              <a:t> per sum</a:t>
            </a:r>
            <a:endParaRPr lang="en-US" sz="1800" dirty="0"/>
          </a:p>
        </p:txBody>
      </p:sp>
      <p:sp>
        <p:nvSpPr>
          <p:cNvPr id="10" name="Text 8"/>
          <p:cNvSpPr/>
          <p:nvPr/>
        </p:nvSpPr>
        <p:spPr>
          <a:xfrm>
            <a:off x="7635240" y="3063240"/>
            <a:ext cx="3840480" cy="731520"/>
          </a:xfrm>
          <a:prstGeom prst="rect">
            <a:avLst/>
          </a:prstGeom>
          <a:noFill/>
          <a:ln/>
        </p:spPr>
        <p:txBody>
          <a:bodyPr wrap="square" lIns="0" tIns="0" rIns="0" bIns="0" rtlCol="0" anchor="ctr"/>
          <a:lstStyle/>
          <a:p>
            <a:pPr algn="l" indent="0" marL="0">
              <a:buNone/>
            </a:pPr>
            <a:r>
              <a:rPr lang="en-US" sz="4000" b="1" dirty="0">
                <a:solidFill>
                  <a:srgbClr val="FF6B6B"/>
                </a:solidFill>
                <a:latin typeface="Courier New" pitchFamily="34" charset="0"/>
                <a:ea typeface="Courier New" pitchFamily="34" charset="-122"/>
                <a:cs typeface="Courier New" pitchFamily="34" charset="-120"/>
              </a:rPr>
              <a:t>O(NK)</a:t>
            </a:r>
            <a:endParaRPr lang="en-US" sz="4000" dirty="0"/>
          </a:p>
        </p:txBody>
      </p:sp>
      <p:sp>
        <p:nvSpPr>
          <p:cNvPr id="11" name="Text 9"/>
          <p:cNvSpPr/>
          <p:nvPr/>
        </p:nvSpPr>
        <p:spPr>
          <a:xfrm>
            <a:off x="7635240" y="3977640"/>
            <a:ext cx="3840480" cy="731520"/>
          </a:xfrm>
          <a:prstGeom prst="rect">
            <a:avLst/>
          </a:prstGeom>
          <a:noFill/>
          <a:ln/>
        </p:spPr>
        <p:txBody>
          <a:bodyPr wrap="square" lIns="0" tIns="0" rIns="0" bIns="0" rtlCol="0" anchor="t"/>
          <a:lstStyle/>
          <a:p>
            <a:pPr algn="l" indent="0" marL="0">
              <a:buNone/>
            </a:pPr>
            <a:r>
              <a:rPr lang="en-US" sz="1350" i="1" dirty="0">
                <a:solidFill>
                  <a:srgbClr val="9AA5B4"/>
                </a:solidFill>
                <a:latin typeface="Calibri" pitchFamily="34" charset="0"/>
                <a:ea typeface="Calibri" pitchFamily="34" charset="-122"/>
                <a:cs typeface="Calibri" pitchFamily="34" charset="-120"/>
              </a:rPr>
              <a:t>With N = K = 10⁵ that's 10¹⁰ operations — far too slow.</a:t>
            </a:r>
            <a:endParaRPr lang="en-US" sz="1350" dirty="0"/>
          </a:p>
        </p:txBody>
      </p:sp>
      <p:sp>
        <p:nvSpPr>
          <p:cNvPr id="12" name="Text 10"/>
          <p:cNvSpPr/>
          <p:nvPr/>
        </p:nvSpPr>
        <p:spPr>
          <a:xfrm>
            <a:off x="502920" y="5074920"/>
            <a:ext cx="10972800" cy="365760"/>
          </a:xfrm>
          <a:prstGeom prst="rect">
            <a:avLst/>
          </a:prstGeom>
          <a:noFill/>
          <a:ln/>
        </p:spPr>
        <p:txBody>
          <a:bodyPr wrap="square" lIns="0" tIns="0" rIns="0" bIns="0" rtlCol="0" anchor="ctr"/>
          <a:lstStyle/>
          <a:p>
            <a:pPr algn="l" indent="0" marL="0">
              <a:buNone/>
            </a:pPr>
            <a:r>
              <a:rPr lang="en-US" sz="1500" dirty="0">
                <a:solidFill>
                  <a:srgbClr val="F2B441"/>
                </a:solidFill>
                <a:latin typeface="Calibri" pitchFamily="34" charset="0"/>
                <a:ea typeface="Calibri" pitchFamily="34" charset="-122"/>
                <a:cs typeface="Calibri" pitchFamily="34" charset="-120"/>
              </a:rPr>
              <a:t>The waste is the inner loop: consecutive windows barely differ.</a:t>
            </a:r>
            <a:endParaRPr lang="en-US" sz="1500" dirty="0"/>
          </a:p>
        </p:txBody>
      </p:sp>
      <p:sp>
        <p:nvSpPr>
          <p:cNvPr id="13" name="Text 11"/>
          <p:cNvSpPr/>
          <p:nvPr/>
        </p:nvSpPr>
        <p:spPr>
          <a:xfrm>
            <a:off x="502920" y="6455664"/>
            <a:ext cx="5486400" cy="274320"/>
          </a:xfrm>
          <a:prstGeom prst="rect">
            <a:avLst/>
          </a:prstGeom>
          <a:noFill/>
          <a:ln/>
        </p:spPr>
        <p:txBody>
          <a:bodyPr wrap="square" lIns="0" tIns="0" rIns="0" bIns="0" rtlCol="0" anchor="ctr"/>
          <a:lstStyle/>
          <a:p>
            <a:pPr algn="l" indent="0" marL="0">
              <a:buNone/>
            </a:pPr>
            <a:r>
              <a:rPr lang="en-US" sz="1000" dirty="0">
                <a:solidFill>
                  <a:srgbClr val="9AA5B4"/>
                </a:solidFill>
                <a:latin typeface="Calibri" pitchFamily="34" charset="0"/>
                <a:ea typeface="Calibri" pitchFamily="34" charset="-122"/>
                <a:cs typeface="Calibri" pitchFamily="34" charset="-120"/>
              </a:rPr>
              <a:t>Two Pointers &amp; Sliding Window</a:t>
            </a:r>
            <a:endParaRPr lang="en-US" sz="1000" dirty="0"/>
          </a:p>
        </p:txBody>
      </p:sp>
      <p:sp>
        <p:nvSpPr>
          <p:cNvPr id="14" name="Text 12"/>
          <p:cNvSpPr/>
          <p:nvPr/>
        </p:nvSpPr>
        <p:spPr>
          <a:xfrm>
            <a:off x="11228832" y="6455664"/>
            <a:ext cx="457200" cy="274320"/>
          </a:xfrm>
          <a:prstGeom prst="rect">
            <a:avLst/>
          </a:prstGeom>
          <a:noFill/>
          <a:ln/>
        </p:spPr>
        <p:txBody>
          <a:bodyPr wrap="square" lIns="0" tIns="0" rIns="0" bIns="0" rtlCol="0" anchor="ctr"/>
          <a:lstStyle/>
          <a:p>
            <a:pPr algn="r" indent="0" marL="0">
              <a:buNone/>
            </a:pPr>
            <a:r>
              <a:rPr lang="en-US" sz="1000" dirty="0">
                <a:solidFill>
                  <a:srgbClr val="9AA5B4"/>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71F"/>
        </a:solidFill>
      </p:bgPr>
    </p:bg>
    <p:spTree>
      <p:nvGrpSpPr>
        <p:cNvPr id="1" name=""/>
        <p:cNvGrpSpPr/>
        <p:nvPr/>
      </p:nvGrpSpPr>
      <p:grpSpPr>
        <a:xfrm>
          <a:off x="0" y="0"/>
          <a:ext cx="0" cy="0"/>
          <a:chOff x="0" y="0"/>
          <a:chExt cx="0" cy="0"/>
        </a:xfrm>
      </p:grpSpPr>
      <p:sp>
        <p:nvSpPr>
          <p:cNvPr id="2" name="Text 0"/>
          <p:cNvSpPr/>
          <p:nvPr/>
        </p:nvSpPr>
        <p:spPr>
          <a:xfrm>
            <a:off x="502920" y="457200"/>
            <a:ext cx="3657600" cy="292608"/>
          </a:xfrm>
          <a:prstGeom prst="rect">
            <a:avLst/>
          </a:prstGeom>
          <a:noFill/>
          <a:ln/>
        </p:spPr>
        <p:txBody>
          <a:bodyPr wrap="square" lIns="0" tIns="0" rIns="0" bIns="0" rtlCol="0" anchor="ctr"/>
          <a:lstStyle/>
          <a:p>
            <a:pPr algn="l" indent="0" marL="0">
              <a:buNone/>
            </a:pPr>
            <a:r>
              <a:rPr lang="en-US" sz="1200" b="1" spc="300" kern="0" dirty="0">
                <a:solidFill>
                  <a:srgbClr val="34D8C0"/>
                </a:solidFill>
                <a:latin typeface="Calibri" pitchFamily="34" charset="0"/>
                <a:ea typeface="Calibri" pitchFamily="34" charset="-122"/>
                <a:cs typeface="Calibri" pitchFamily="34" charset="-120"/>
              </a:rPr>
              <a:t>FIXED WINDOW · INSIGHT</a:t>
            </a:r>
            <a:endParaRPr lang="en-US" sz="1200" dirty="0"/>
          </a:p>
        </p:txBody>
      </p:sp>
      <p:sp>
        <p:nvSpPr>
          <p:cNvPr id="3" name="Text 1"/>
          <p:cNvSpPr/>
          <p:nvPr/>
        </p:nvSpPr>
        <p:spPr>
          <a:xfrm>
            <a:off x="502920" y="777240"/>
            <a:ext cx="10972800" cy="822960"/>
          </a:xfrm>
          <a:prstGeom prst="rect">
            <a:avLst/>
          </a:prstGeom>
          <a:noFill/>
          <a:ln/>
        </p:spPr>
        <p:txBody>
          <a:bodyPr wrap="square" lIns="0" tIns="0" rIns="0" bIns="0" rtlCol="0" anchor="ctr"/>
          <a:lstStyle/>
          <a:p>
            <a:pPr algn="l" indent="0" marL="0">
              <a:buNone/>
            </a:pPr>
            <a:r>
              <a:rPr lang="en-US" sz="3400" b="1" dirty="0">
                <a:solidFill>
                  <a:srgbClr val="EAECEF"/>
                </a:solidFill>
                <a:latin typeface="Cambria" pitchFamily="34" charset="0"/>
                <a:ea typeface="Cambria" pitchFamily="34" charset="-122"/>
                <a:cs typeface="Cambria" pitchFamily="34" charset="-120"/>
              </a:rPr>
              <a:t>Adjacent windows share all but two cells</a:t>
            </a:r>
            <a:endParaRPr lang="en-US" sz="3400" dirty="0"/>
          </a:p>
        </p:txBody>
      </p:sp>
      <p:sp>
        <p:nvSpPr>
          <p:cNvPr id="4" name="Shape 2"/>
          <p:cNvSpPr/>
          <p:nvPr/>
        </p:nvSpPr>
        <p:spPr>
          <a:xfrm>
            <a:off x="1737360" y="2148840"/>
            <a:ext cx="658368" cy="658368"/>
          </a:xfrm>
          <a:prstGeom prst="roundRect">
            <a:avLst>
              <a:gd name="adj" fmla="val 8333"/>
            </a:avLst>
          </a:prstGeom>
          <a:solidFill>
            <a:srgbClr val="331416"/>
          </a:solidFill>
          <a:ln w="15875">
            <a:solidFill>
              <a:srgbClr val="FF6B6B"/>
            </a:solidFill>
            <a:prstDash val="solid"/>
          </a:ln>
        </p:spPr>
      </p:sp>
      <p:sp>
        <p:nvSpPr>
          <p:cNvPr id="5" name="Text 3"/>
          <p:cNvSpPr/>
          <p:nvPr/>
        </p:nvSpPr>
        <p:spPr>
          <a:xfrm>
            <a:off x="1737360" y="2148840"/>
            <a:ext cx="658368" cy="658368"/>
          </a:xfrm>
          <a:prstGeom prst="rect">
            <a:avLst/>
          </a:prstGeom>
          <a:noFill/>
          <a:ln/>
        </p:spPr>
        <p:txBody>
          <a:bodyPr wrap="square" lIns="0" tIns="0" rIns="0" bIns="0" rtlCol="0" anchor="ctr"/>
          <a:lstStyle/>
          <a:p>
            <a:pPr algn="ctr" indent="0" marL="0">
              <a:buNone/>
            </a:pPr>
            <a:r>
              <a:rPr lang="en-US" sz="1500" b="1" dirty="0">
                <a:solidFill>
                  <a:srgbClr val="FF6B6B"/>
                </a:solidFill>
                <a:latin typeface="Courier New" pitchFamily="34" charset="0"/>
                <a:ea typeface="Courier New" pitchFamily="34" charset="-122"/>
                <a:cs typeface="Courier New" pitchFamily="34" charset="-120"/>
              </a:rPr>
              <a:t>2</a:t>
            </a:r>
            <a:endParaRPr lang="en-US" sz="1500" dirty="0"/>
          </a:p>
        </p:txBody>
      </p:sp>
      <p:sp>
        <p:nvSpPr>
          <p:cNvPr id="6" name="Shape 4"/>
          <p:cNvSpPr/>
          <p:nvPr/>
        </p:nvSpPr>
        <p:spPr>
          <a:xfrm>
            <a:off x="2523744" y="2148840"/>
            <a:ext cx="658368" cy="658368"/>
          </a:xfrm>
          <a:prstGeom prst="roundRect">
            <a:avLst>
              <a:gd name="adj" fmla="val 8333"/>
            </a:avLst>
          </a:prstGeom>
          <a:solidFill>
            <a:srgbClr val="10312E"/>
          </a:solidFill>
          <a:ln w="15875">
            <a:solidFill>
              <a:srgbClr val="34D8C0"/>
            </a:solidFill>
            <a:prstDash val="solid"/>
          </a:ln>
        </p:spPr>
      </p:sp>
      <p:sp>
        <p:nvSpPr>
          <p:cNvPr id="7" name="Text 5"/>
          <p:cNvSpPr/>
          <p:nvPr/>
        </p:nvSpPr>
        <p:spPr>
          <a:xfrm>
            <a:off x="2523744" y="2148840"/>
            <a:ext cx="658368" cy="65836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-1</a:t>
            </a:r>
            <a:endParaRPr lang="en-US" sz="1500" dirty="0"/>
          </a:p>
        </p:txBody>
      </p:sp>
      <p:sp>
        <p:nvSpPr>
          <p:cNvPr id="8" name="Shape 6"/>
          <p:cNvSpPr/>
          <p:nvPr/>
        </p:nvSpPr>
        <p:spPr>
          <a:xfrm>
            <a:off x="3310128" y="2148840"/>
            <a:ext cx="658368" cy="658368"/>
          </a:xfrm>
          <a:prstGeom prst="roundRect">
            <a:avLst>
              <a:gd name="adj" fmla="val 8333"/>
            </a:avLst>
          </a:prstGeom>
          <a:solidFill>
            <a:srgbClr val="10312E"/>
          </a:solidFill>
          <a:ln w="15875">
            <a:solidFill>
              <a:srgbClr val="34D8C0"/>
            </a:solidFill>
            <a:prstDash val="solid"/>
          </a:ln>
        </p:spPr>
      </p:sp>
      <p:sp>
        <p:nvSpPr>
          <p:cNvPr id="9" name="Text 7"/>
          <p:cNvSpPr/>
          <p:nvPr/>
        </p:nvSpPr>
        <p:spPr>
          <a:xfrm>
            <a:off x="3310128" y="2148840"/>
            <a:ext cx="658368" cy="65836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5</a:t>
            </a:r>
            <a:endParaRPr lang="en-US" sz="1500" dirty="0"/>
          </a:p>
        </p:txBody>
      </p:sp>
      <p:sp>
        <p:nvSpPr>
          <p:cNvPr id="10" name="Shape 8"/>
          <p:cNvSpPr/>
          <p:nvPr/>
        </p:nvSpPr>
        <p:spPr>
          <a:xfrm>
            <a:off x="4096512" y="2148840"/>
            <a:ext cx="658368" cy="658368"/>
          </a:xfrm>
          <a:prstGeom prst="roundRect">
            <a:avLst>
              <a:gd name="adj" fmla="val 8333"/>
            </a:avLst>
          </a:prstGeom>
          <a:solidFill>
            <a:srgbClr val="20242E"/>
          </a:solidFill>
          <a:ln w="15875">
            <a:solidFill>
              <a:srgbClr val="2A3140"/>
            </a:solidFill>
            <a:prstDash val="solid"/>
          </a:ln>
        </p:spPr>
      </p:sp>
      <p:sp>
        <p:nvSpPr>
          <p:cNvPr id="11" name="Text 9"/>
          <p:cNvSpPr/>
          <p:nvPr/>
        </p:nvSpPr>
        <p:spPr>
          <a:xfrm>
            <a:off x="4096512" y="2148840"/>
            <a:ext cx="658368" cy="65836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3</a:t>
            </a:r>
            <a:endParaRPr lang="en-US" sz="1500" dirty="0"/>
          </a:p>
        </p:txBody>
      </p:sp>
      <p:sp>
        <p:nvSpPr>
          <p:cNvPr id="12" name="Shape 10"/>
          <p:cNvSpPr/>
          <p:nvPr/>
        </p:nvSpPr>
        <p:spPr>
          <a:xfrm>
            <a:off x="4882896" y="2148840"/>
            <a:ext cx="658368" cy="658368"/>
          </a:xfrm>
          <a:prstGeom prst="roundRect">
            <a:avLst>
              <a:gd name="adj" fmla="val 8333"/>
            </a:avLst>
          </a:prstGeom>
          <a:solidFill>
            <a:srgbClr val="20242E"/>
          </a:solidFill>
          <a:ln w="15875">
            <a:solidFill>
              <a:srgbClr val="2A3140"/>
            </a:solidFill>
            <a:prstDash val="solid"/>
          </a:ln>
        </p:spPr>
      </p:sp>
      <p:sp>
        <p:nvSpPr>
          <p:cNvPr id="13" name="Text 11"/>
          <p:cNvSpPr/>
          <p:nvPr/>
        </p:nvSpPr>
        <p:spPr>
          <a:xfrm>
            <a:off x="4882896" y="2148840"/>
            <a:ext cx="658368" cy="65836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-2</a:t>
            </a:r>
            <a:endParaRPr lang="en-US" sz="1500" dirty="0"/>
          </a:p>
        </p:txBody>
      </p:sp>
      <p:sp>
        <p:nvSpPr>
          <p:cNvPr id="14" name="Shape 12"/>
          <p:cNvSpPr/>
          <p:nvPr/>
        </p:nvSpPr>
        <p:spPr>
          <a:xfrm>
            <a:off x="5669280" y="2148840"/>
            <a:ext cx="658368" cy="658368"/>
          </a:xfrm>
          <a:prstGeom prst="roundRect">
            <a:avLst>
              <a:gd name="adj" fmla="val 8333"/>
            </a:avLst>
          </a:prstGeom>
          <a:solidFill>
            <a:srgbClr val="20242E"/>
          </a:solidFill>
          <a:ln w="15875">
            <a:solidFill>
              <a:srgbClr val="2A3140"/>
            </a:solidFill>
            <a:prstDash val="solid"/>
          </a:ln>
        </p:spPr>
      </p:sp>
      <p:sp>
        <p:nvSpPr>
          <p:cNvPr id="15" name="Text 13"/>
          <p:cNvSpPr/>
          <p:nvPr/>
        </p:nvSpPr>
        <p:spPr>
          <a:xfrm>
            <a:off x="5669280" y="2148840"/>
            <a:ext cx="658368" cy="65836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4</a:t>
            </a:r>
            <a:endParaRPr lang="en-US" sz="1500" dirty="0"/>
          </a:p>
        </p:txBody>
      </p:sp>
      <p:sp>
        <p:nvSpPr>
          <p:cNvPr id="16" name="Shape 14"/>
          <p:cNvSpPr/>
          <p:nvPr/>
        </p:nvSpPr>
        <p:spPr>
          <a:xfrm>
            <a:off x="6455664" y="2148840"/>
            <a:ext cx="658368" cy="658368"/>
          </a:xfrm>
          <a:prstGeom prst="roundRect">
            <a:avLst>
              <a:gd name="adj" fmla="val 8333"/>
            </a:avLst>
          </a:prstGeom>
          <a:solidFill>
            <a:srgbClr val="20242E"/>
          </a:solidFill>
          <a:ln w="15875">
            <a:solidFill>
              <a:srgbClr val="2A3140"/>
            </a:solidFill>
            <a:prstDash val="solid"/>
          </a:ln>
        </p:spPr>
      </p:sp>
      <p:sp>
        <p:nvSpPr>
          <p:cNvPr id="17" name="Text 15"/>
          <p:cNvSpPr/>
          <p:nvPr/>
        </p:nvSpPr>
        <p:spPr>
          <a:xfrm>
            <a:off x="6455664" y="2148840"/>
            <a:ext cx="658368" cy="65836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1</a:t>
            </a:r>
            <a:endParaRPr lang="en-US" sz="1500" dirty="0"/>
          </a:p>
        </p:txBody>
      </p:sp>
      <p:sp>
        <p:nvSpPr>
          <p:cNvPr id="18" name="Shape 16"/>
          <p:cNvSpPr/>
          <p:nvPr/>
        </p:nvSpPr>
        <p:spPr>
          <a:xfrm>
            <a:off x="7242048" y="2148840"/>
            <a:ext cx="658368" cy="658368"/>
          </a:xfrm>
          <a:prstGeom prst="roundRect">
            <a:avLst>
              <a:gd name="adj" fmla="val 8333"/>
            </a:avLst>
          </a:prstGeom>
          <a:solidFill>
            <a:srgbClr val="20242E"/>
          </a:solidFill>
          <a:ln w="15875">
            <a:solidFill>
              <a:srgbClr val="2A3140"/>
            </a:solidFill>
            <a:prstDash val="solid"/>
          </a:ln>
        </p:spPr>
      </p:sp>
      <p:sp>
        <p:nvSpPr>
          <p:cNvPr id="19" name="Text 17"/>
          <p:cNvSpPr/>
          <p:nvPr/>
        </p:nvSpPr>
        <p:spPr>
          <a:xfrm>
            <a:off x="7242048" y="2148840"/>
            <a:ext cx="658368" cy="65836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6</a:t>
            </a:r>
            <a:endParaRPr lang="en-US" sz="1500" dirty="0"/>
          </a:p>
        </p:txBody>
      </p:sp>
      <p:sp>
        <p:nvSpPr>
          <p:cNvPr id="20" name="Text 18"/>
          <p:cNvSpPr/>
          <p:nvPr/>
        </p:nvSpPr>
        <p:spPr>
          <a:xfrm>
            <a:off x="502920" y="2331720"/>
            <a:ext cx="1188720" cy="365760"/>
          </a:xfrm>
          <a:prstGeom prst="rect">
            <a:avLst/>
          </a:prstGeom>
          <a:noFill/>
          <a:ln/>
        </p:spPr>
        <p:txBody>
          <a:bodyPr wrap="square" lIns="0" tIns="0" rIns="0" bIns="0" rtlCol="0" anchor="ctr"/>
          <a:lstStyle/>
          <a:p>
            <a:pPr algn="l" indent="0" marL="0">
              <a:buNone/>
            </a:pPr>
            <a:r>
              <a:rPr lang="en-US" sz="1300" dirty="0">
                <a:solidFill>
                  <a:srgbClr val="9AA5B4"/>
                </a:solidFill>
                <a:latin typeface="Courier New" pitchFamily="34" charset="0"/>
                <a:ea typeface="Courier New" pitchFamily="34" charset="-122"/>
                <a:cs typeface="Courier New" pitchFamily="34" charset="-120"/>
              </a:rPr>
              <a:t>start = 0</a:t>
            </a:r>
            <a:endParaRPr lang="en-US" sz="1300" dirty="0"/>
          </a:p>
        </p:txBody>
      </p:sp>
      <p:sp>
        <p:nvSpPr>
          <p:cNvPr id="21" name="Shape 19"/>
          <p:cNvSpPr/>
          <p:nvPr/>
        </p:nvSpPr>
        <p:spPr>
          <a:xfrm>
            <a:off x="1737360" y="3200400"/>
            <a:ext cx="658368" cy="658368"/>
          </a:xfrm>
          <a:prstGeom prst="roundRect">
            <a:avLst>
              <a:gd name="adj" fmla="val 8333"/>
            </a:avLst>
          </a:prstGeom>
          <a:solidFill>
            <a:srgbClr val="20242E"/>
          </a:solidFill>
          <a:ln w="15875">
            <a:solidFill>
              <a:srgbClr val="2A3140"/>
            </a:solidFill>
            <a:prstDash val="solid"/>
          </a:ln>
        </p:spPr>
      </p:sp>
      <p:sp>
        <p:nvSpPr>
          <p:cNvPr id="22" name="Text 20"/>
          <p:cNvSpPr/>
          <p:nvPr/>
        </p:nvSpPr>
        <p:spPr>
          <a:xfrm>
            <a:off x="1737360" y="3200400"/>
            <a:ext cx="658368" cy="65836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2</a:t>
            </a:r>
            <a:endParaRPr lang="en-US" sz="1500" dirty="0"/>
          </a:p>
        </p:txBody>
      </p:sp>
      <p:sp>
        <p:nvSpPr>
          <p:cNvPr id="23" name="Shape 21"/>
          <p:cNvSpPr/>
          <p:nvPr/>
        </p:nvSpPr>
        <p:spPr>
          <a:xfrm>
            <a:off x="2523744" y="3200400"/>
            <a:ext cx="658368" cy="658368"/>
          </a:xfrm>
          <a:prstGeom prst="roundRect">
            <a:avLst>
              <a:gd name="adj" fmla="val 8333"/>
            </a:avLst>
          </a:prstGeom>
          <a:solidFill>
            <a:srgbClr val="10312E"/>
          </a:solidFill>
          <a:ln w="15875">
            <a:solidFill>
              <a:srgbClr val="34D8C0"/>
            </a:solidFill>
            <a:prstDash val="solid"/>
          </a:ln>
        </p:spPr>
      </p:sp>
      <p:sp>
        <p:nvSpPr>
          <p:cNvPr id="24" name="Text 22"/>
          <p:cNvSpPr/>
          <p:nvPr/>
        </p:nvSpPr>
        <p:spPr>
          <a:xfrm>
            <a:off x="2523744" y="3200400"/>
            <a:ext cx="658368" cy="65836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-1</a:t>
            </a:r>
            <a:endParaRPr lang="en-US" sz="1500" dirty="0"/>
          </a:p>
        </p:txBody>
      </p:sp>
      <p:sp>
        <p:nvSpPr>
          <p:cNvPr id="25" name="Shape 23"/>
          <p:cNvSpPr/>
          <p:nvPr/>
        </p:nvSpPr>
        <p:spPr>
          <a:xfrm>
            <a:off x="3310128" y="3200400"/>
            <a:ext cx="658368" cy="658368"/>
          </a:xfrm>
          <a:prstGeom prst="roundRect">
            <a:avLst>
              <a:gd name="adj" fmla="val 8333"/>
            </a:avLst>
          </a:prstGeom>
          <a:solidFill>
            <a:srgbClr val="10312E"/>
          </a:solidFill>
          <a:ln w="15875">
            <a:solidFill>
              <a:srgbClr val="34D8C0"/>
            </a:solidFill>
            <a:prstDash val="solid"/>
          </a:ln>
        </p:spPr>
      </p:sp>
      <p:sp>
        <p:nvSpPr>
          <p:cNvPr id="26" name="Text 24"/>
          <p:cNvSpPr/>
          <p:nvPr/>
        </p:nvSpPr>
        <p:spPr>
          <a:xfrm>
            <a:off x="3310128" y="3200400"/>
            <a:ext cx="658368" cy="65836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5</a:t>
            </a:r>
            <a:endParaRPr lang="en-US" sz="1500" dirty="0"/>
          </a:p>
        </p:txBody>
      </p:sp>
      <p:sp>
        <p:nvSpPr>
          <p:cNvPr id="27" name="Shape 25"/>
          <p:cNvSpPr/>
          <p:nvPr/>
        </p:nvSpPr>
        <p:spPr>
          <a:xfrm>
            <a:off x="4096512" y="3200400"/>
            <a:ext cx="658368" cy="658368"/>
          </a:xfrm>
          <a:prstGeom prst="roundRect">
            <a:avLst>
              <a:gd name="adj" fmla="val 8333"/>
            </a:avLst>
          </a:prstGeom>
          <a:solidFill>
            <a:srgbClr val="12331C"/>
          </a:solidFill>
          <a:ln w="15875">
            <a:solidFill>
              <a:srgbClr val="4ADE80"/>
            </a:solidFill>
            <a:prstDash val="solid"/>
          </a:ln>
        </p:spPr>
      </p:sp>
      <p:sp>
        <p:nvSpPr>
          <p:cNvPr id="28" name="Text 26"/>
          <p:cNvSpPr/>
          <p:nvPr/>
        </p:nvSpPr>
        <p:spPr>
          <a:xfrm>
            <a:off x="4096512" y="3200400"/>
            <a:ext cx="658368" cy="658368"/>
          </a:xfrm>
          <a:prstGeom prst="rect">
            <a:avLst/>
          </a:prstGeom>
          <a:noFill/>
          <a:ln/>
        </p:spPr>
        <p:txBody>
          <a:bodyPr wrap="square" lIns="0" tIns="0" rIns="0" bIns="0" rtlCol="0" anchor="ctr"/>
          <a:lstStyle/>
          <a:p>
            <a:pPr algn="ctr" indent="0" marL="0">
              <a:buNone/>
            </a:pPr>
            <a:r>
              <a:rPr lang="en-US" sz="1500" b="1" dirty="0">
                <a:solidFill>
                  <a:srgbClr val="4ADE80"/>
                </a:solidFill>
                <a:latin typeface="Courier New" pitchFamily="34" charset="0"/>
                <a:ea typeface="Courier New" pitchFamily="34" charset="-122"/>
                <a:cs typeface="Courier New" pitchFamily="34" charset="-120"/>
              </a:rPr>
              <a:t>3</a:t>
            </a:r>
            <a:endParaRPr lang="en-US" sz="1500" dirty="0"/>
          </a:p>
        </p:txBody>
      </p:sp>
      <p:sp>
        <p:nvSpPr>
          <p:cNvPr id="29" name="Shape 27"/>
          <p:cNvSpPr/>
          <p:nvPr/>
        </p:nvSpPr>
        <p:spPr>
          <a:xfrm>
            <a:off x="4882896" y="3200400"/>
            <a:ext cx="658368" cy="658368"/>
          </a:xfrm>
          <a:prstGeom prst="roundRect">
            <a:avLst>
              <a:gd name="adj" fmla="val 8333"/>
            </a:avLst>
          </a:prstGeom>
          <a:solidFill>
            <a:srgbClr val="20242E"/>
          </a:solidFill>
          <a:ln w="15875">
            <a:solidFill>
              <a:srgbClr val="2A3140"/>
            </a:solidFill>
            <a:prstDash val="solid"/>
          </a:ln>
        </p:spPr>
      </p:sp>
      <p:sp>
        <p:nvSpPr>
          <p:cNvPr id="30" name="Text 28"/>
          <p:cNvSpPr/>
          <p:nvPr/>
        </p:nvSpPr>
        <p:spPr>
          <a:xfrm>
            <a:off x="4882896" y="3200400"/>
            <a:ext cx="658368" cy="65836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-2</a:t>
            </a:r>
            <a:endParaRPr lang="en-US" sz="1500" dirty="0"/>
          </a:p>
        </p:txBody>
      </p:sp>
      <p:sp>
        <p:nvSpPr>
          <p:cNvPr id="31" name="Shape 29"/>
          <p:cNvSpPr/>
          <p:nvPr/>
        </p:nvSpPr>
        <p:spPr>
          <a:xfrm>
            <a:off x="5669280" y="3200400"/>
            <a:ext cx="658368" cy="658368"/>
          </a:xfrm>
          <a:prstGeom prst="roundRect">
            <a:avLst>
              <a:gd name="adj" fmla="val 8333"/>
            </a:avLst>
          </a:prstGeom>
          <a:solidFill>
            <a:srgbClr val="20242E"/>
          </a:solidFill>
          <a:ln w="15875">
            <a:solidFill>
              <a:srgbClr val="2A3140"/>
            </a:solidFill>
            <a:prstDash val="solid"/>
          </a:ln>
        </p:spPr>
      </p:sp>
      <p:sp>
        <p:nvSpPr>
          <p:cNvPr id="32" name="Text 30"/>
          <p:cNvSpPr/>
          <p:nvPr/>
        </p:nvSpPr>
        <p:spPr>
          <a:xfrm>
            <a:off x="5669280" y="3200400"/>
            <a:ext cx="658368" cy="65836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4</a:t>
            </a:r>
            <a:endParaRPr lang="en-US" sz="1500" dirty="0"/>
          </a:p>
        </p:txBody>
      </p:sp>
      <p:sp>
        <p:nvSpPr>
          <p:cNvPr id="33" name="Shape 31"/>
          <p:cNvSpPr/>
          <p:nvPr/>
        </p:nvSpPr>
        <p:spPr>
          <a:xfrm>
            <a:off x="6455664" y="3200400"/>
            <a:ext cx="658368" cy="658368"/>
          </a:xfrm>
          <a:prstGeom prst="roundRect">
            <a:avLst>
              <a:gd name="adj" fmla="val 8333"/>
            </a:avLst>
          </a:prstGeom>
          <a:solidFill>
            <a:srgbClr val="20242E"/>
          </a:solidFill>
          <a:ln w="15875">
            <a:solidFill>
              <a:srgbClr val="2A3140"/>
            </a:solidFill>
            <a:prstDash val="solid"/>
          </a:ln>
        </p:spPr>
      </p:sp>
      <p:sp>
        <p:nvSpPr>
          <p:cNvPr id="34" name="Text 32"/>
          <p:cNvSpPr/>
          <p:nvPr/>
        </p:nvSpPr>
        <p:spPr>
          <a:xfrm>
            <a:off x="6455664" y="3200400"/>
            <a:ext cx="658368" cy="65836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1</a:t>
            </a:r>
            <a:endParaRPr lang="en-US" sz="1500" dirty="0"/>
          </a:p>
        </p:txBody>
      </p:sp>
      <p:sp>
        <p:nvSpPr>
          <p:cNvPr id="35" name="Shape 33"/>
          <p:cNvSpPr/>
          <p:nvPr/>
        </p:nvSpPr>
        <p:spPr>
          <a:xfrm>
            <a:off x="7242048" y="3200400"/>
            <a:ext cx="658368" cy="658368"/>
          </a:xfrm>
          <a:prstGeom prst="roundRect">
            <a:avLst>
              <a:gd name="adj" fmla="val 8333"/>
            </a:avLst>
          </a:prstGeom>
          <a:solidFill>
            <a:srgbClr val="20242E"/>
          </a:solidFill>
          <a:ln w="15875">
            <a:solidFill>
              <a:srgbClr val="2A3140"/>
            </a:solidFill>
            <a:prstDash val="solid"/>
          </a:ln>
        </p:spPr>
      </p:sp>
      <p:sp>
        <p:nvSpPr>
          <p:cNvPr id="36" name="Text 34"/>
          <p:cNvSpPr/>
          <p:nvPr/>
        </p:nvSpPr>
        <p:spPr>
          <a:xfrm>
            <a:off x="7242048" y="3200400"/>
            <a:ext cx="658368" cy="65836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6</a:t>
            </a:r>
            <a:endParaRPr lang="en-US" sz="1500" dirty="0"/>
          </a:p>
        </p:txBody>
      </p:sp>
      <p:sp>
        <p:nvSpPr>
          <p:cNvPr id="37" name="Text 35"/>
          <p:cNvSpPr/>
          <p:nvPr/>
        </p:nvSpPr>
        <p:spPr>
          <a:xfrm>
            <a:off x="502920" y="3383280"/>
            <a:ext cx="1188720" cy="365760"/>
          </a:xfrm>
          <a:prstGeom prst="rect">
            <a:avLst/>
          </a:prstGeom>
          <a:noFill/>
          <a:ln/>
        </p:spPr>
        <p:txBody>
          <a:bodyPr wrap="square" lIns="0" tIns="0" rIns="0" bIns="0" rtlCol="0" anchor="ctr"/>
          <a:lstStyle/>
          <a:p>
            <a:pPr algn="l" indent="0" marL="0">
              <a:buNone/>
            </a:pPr>
            <a:r>
              <a:rPr lang="en-US" sz="1300" dirty="0">
                <a:solidFill>
                  <a:srgbClr val="9AA5B4"/>
                </a:solidFill>
                <a:latin typeface="Courier New" pitchFamily="34" charset="0"/>
                <a:ea typeface="Courier New" pitchFamily="34" charset="-122"/>
                <a:cs typeface="Courier New" pitchFamily="34" charset="-120"/>
              </a:rPr>
              <a:t>start = 1</a:t>
            </a:r>
            <a:endParaRPr lang="en-US" sz="1300" dirty="0"/>
          </a:p>
        </p:txBody>
      </p:sp>
      <p:sp>
        <p:nvSpPr>
          <p:cNvPr id="38" name="Text 36"/>
          <p:cNvSpPr/>
          <p:nvPr/>
        </p:nvSpPr>
        <p:spPr>
          <a:xfrm>
            <a:off x="1737360" y="3977640"/>
            <a:ext cx="786384" cy="274320"/>
          </a:xfrm>
          <a:prstGeom prst="rect">
            <a:avLst/>
          </a:prstGeom>
          <a:noFill/>
          <a:ln/>
        </p:spPr>
        <p:txBody>
          <a:bodyPr wrap="square" lIns="0" tIns="0" rIns="0" bIns="0" rtlCol="0" anchor="ctr"/>
          <a:lstStyle/>
          <a:p>
            <a:pPr algn="ctr" indent="0" marL="0">
              <a:buNone/>
            </a:pPr>
            <a:r>
              <a:rPr lang="en-US" sz="1200" b="1" dirty="0">
                <a:solidFill>
                  <a:srgbClr val="FF6B6B"/>
                </a:solidFill>
                <a:latin typeface="Calibri" pitchFamily="34" charset="0"/>
                <a:ea typeface="Calibri" pitchFamily="34" charset="-122"/>
                <a:cs typeface="Calibri" pitchFamily="34" charset="-120"/>
              </a:rPr>
              <a:t>lose a[0]</a:t>
            </a:r>
            <a:endParaRPr lang="en-US" sz="1200" dirty="0"/>
          </a:p>
        </p:txBody>
      </p:sp>
      <p:sp>
        <p:nvSpPr>
          <p:cNvPr id="39" name="Text 37"/>
          <p:cNvSpPr/>
          <p:nvPr/>
        </p:nvSpPr>
        <p:spPr>
          <a:xfrm>
            <a:off x="4096512" y="1874520"/>
            <a:ext cx="786384" cy="274320"/>
          </a:xfrm>
          <a:prstGeom prst="rect">
            <a:avLst/>
          </a:prstGeom>
          <a:noFill/>
          <a:ln/>
        </p:spPr>
        <p:txBody>
          <a:bodyPr wrap="square" lIns="0" tIns="0" rIns="0" bIns="0" rtlCol="0" anchor="ctr"/>
          <a:lstStyle/>
          <a:p>
            <a:pPr algn="ctr" indent="0" marL="0">
              <a:buNone/>
            </a:pPr>
            <a:r>
              <a:rPr lang="en-US" sz="1200" b="1" dirty="0">
                <a:solidFill>
                  <a:srgbClr val="4ADE80"/>
                </a:solidFill>
                <a:latin typeface="Calibri" pitchFamily="34" charset="0"/>
                <a:ea typeface="Calibri" pitchFamily="34" charset="-122"/>
                <a:cs typeface="Calibri" pitchFamily="34" charset="-120"/>
              </a:rPr>
              <a:t>gain a[3]</a:t>
            </a:r>
            <a:endParaRPr lang="en-US" sz="1200" dirty="0"/>
          </a:p>
        </p:txBody>
      </p:sp>
      <p:sp>
        <p:nvSpPr>
          <p:cNvPr id="40" name="Shape 38"/>
          <p:cNvSpPr/>
          <p:nvPr/>
        </p:nvSpPr>
        <p:spPr>
          <a:xfrm>
            <a:off x="1737360" y="4526280"/>
            <a:ext cx="8138160" cy="960120"/>
          </a:xfrm>
          <a:prstGeom prst="roundRect">
            <a:avLst>
              <a:gd name="adj" fmla="val 8571"/>
            </a:avLst>
          </a:prstGeom>
          <a:solidFill>
            <a:srgbClr val="0E1016"/>
          </a:solidFill>
          <a:ln w="12700">
            <a:solidFill>
              <a:srgbClr val="2A3140"/>
            </a:solidFill>
            <a:prstDash val="solid"/>
          </a:ln>
        </p:spPr>
      </p:sp>
      <p:sp>
        <p:nvSpPr>
          <p:cNvPr id="41" name="Text 39"/>
          <p:cNvSpPr/>
          <p:nvPr/>
        </p:nvSpPr>
        <p:spPr>
          <a:xfrm>
            <a:off x="1920240" y="4526280"/>
            <a:ext cx="7772400" cy="960120"/>
          </a:xfrm>
          <a:prstGeom prst="rect">
            <a:avLst/>
          </a:prstGeom>
          <a:noFill/>
          <a:ln/>
        </p:spPr>
        <p:txBody>
          <a:bodyPr wrap="square" lIns="0" tIns="0" rIns="0" bIns="0" rtlCol="0" anchor="ctr"/>
          <a:lstStyle/>
          <a:p>
            <a:pPr algn="l" indent="0" marL="0">
              <a:buNone/>
            </a:pPr>
            <a:r>
              <a:rPr lang="en-US" sz="2200" b="1" dirty="0">
                <a:solidFill>
                  <a:srgbClr val="EAECEF"/>
                </a:solidFill>
                <a:latin typeface="Courier New" pitchFamily="34" charset="0"/>
                <a:ea typeface="Courier New" pitchFamily="34" charset="-122"/>
                <a:cs typeface="Courier New" pitchFamily="34" charset="-120"/>
              </a:rPr>
              <a:t>sum₁ = sum₀ </a:t>
            </a:r>
            <a:pPr algn="l" indent="0" marL="0">
              <a:buNone/>
            </a:pPr>
            <a:r>
              <a:rPr lang="en-US" sz="2200" b="1" dirty="0">
                <a:solidFill>
                  <a:srgbClr val="FF6B6B"/>
                </a:solidFill>
                <a:latin typeface="Courier New" pitchFamily="34" charset="0"/>
                <a:ea typeface="Courier New" pitchFamily="34" charset="-122"/>
                <a:cs typeface="Courier New" pitchFamily="34" charset="-120"/>
              </a:rPr>
              <a:t>− a[0] </a:t>
            </a:r>
            <a:pPr algn="l" indent="0" marL="0">
              <a:buNone/>
            </a:pPr>
            <a:r>
              <a:rPr lang="en-US" sz="2200" b="1" dirty="0">
                <a:solidFill>
                  <a:srgbClr val="4ADE80"/>
                </a:solidFill>
                <a:latin typeface="Courier New" pitchFamily="34" charset="0"/>
                <a:ea typeface="Courier New" pitchFamily="34" charset="-122"/>
                <a:cs typeface="Courier New" pitchFamily="34" charset="-120"/>
              </a:rPr>
              <a:t>+ a[3]</a:t>
            </a:r>
            <a:endParaRPr lang="en-US" sz="2200" dirty="0"/>
          </a:p>
        </p:txBody>
      </p:sp>
      <p:sp>
        <p:nvSpPr>
          <p:cNvPr id="42" name="Text 40"/>
          <p:cNvSpPr/>
          <p:nvPr/>
        </p:nvSpPr>
        <p:spPr>
          <a:xfrm>
            <a:off x="1737360" y="5623560"/>
            <a:ext cx="9601200" cy="365760"/>
          </a:xfrm>
          <a:prstGeom prst="rect">
            <a:avLst/>
          </a:prstGeom>
          <a:noFill/>
          <a:ln/>
        </p:spPr>
        <p:txBody>
          <a:bodyPr wrap="square" lIns="0" tIns="0" rIns="0" bIns="0" rtlCol="0" anchor="ctr"/>
          <a:lstStyle/>
          <a:p>
            <a:pPr algn="l" indent="0" marL="0">
              <a:buNone/>
            </a:pPr>
            <a:r>
              <a:rPr lang="en-US" sz="1500" i="1" dirty="0">
                <a:solidFill>
                  <a:srgbClr val="F2B441"/>
                </a:solidFill>
                <a:latin typeface="Calibri" pitchFamily="34" charset="0"/>
                <a:ea typeface="Calibri" pitchFamily="34" charset="-122"/>
                <a:cs typeface="Calibri" pitchFamily="34" charset="-120"/>
              </a:rPr>
              <a:t>Middle cells (-1, 5, 3 → 5, 3) never change. Only the edges move.</a:t>
            </a:r>
            <a:endParaRPr lang="en-US" sz="1500" dirty="0"/>
          </a:p>
        </p:txBody>
      </p:sp>
      <p:sp>
        <p:nvSpPr>
          <p:cNvPr id="43" name="Text 41"/>
          <p:cNvSpPr/>
          <p:nvPr/>
        </p:nvSpPr>
        <p:spPr>
          <a:xfrm>
            <a:off x="502920" y="6455664"/>
            <a:ext cx="5486400" cy="274320"/>
          </a:xfrm>
          <a:prstGeom prst="rect">
            <a:avLst/>
          </a:prstGeom>
          <a:noFill/>
          <a:ln/>
        </p:spPr>
        <p:txBody>
          <a:bodyPr wrap="square" lIns="0" tIns="0" rIns="0" bIns="0" rtlCol="0" anchor="ctr"/>
          <a:lstStyle/>
          <a:p>
            <a:pPr algn="l" indent="0" marL="0">
              <a:buNone/>
            </a:pPr>
            <a:r>
              <a:rPr lang="en-US" sz="1000" dirty="0">
                <a:solidFill>
                  <a:srgbClr val="9AA5B4"/>
                </a:solidFill>
                <a:latin typeface="Calibri" pitchFamily="34" charset="0"/>
                <a:ea typeface="Calibri" pitchFamily="34" charset="-122"/>
                <a:cs typeface="Calibri" pitchFamily="34" charset="-120"/>
              </a:rPr>
              <a:t>Two Pointers &amp; Sliding Window</a:t>
            </a:r>
            <a:endParaRPr lang="en-US" sz="1000" dirty="0"/>
          </a:p>
        </p:txBody>
      </p:sp>
      <p:sp>
        <p:nvSpPr>
          <p:cNvPr id="44" name="Text 42"/>
          <p:cNvSpPr/>
          <p:nvPr/>
        </p:nvSpPr>
        <p:spPr>
          <a:xfrm>
            <a:off x="11228832" y="6455664"/>
            <a:ext cx="457200" cy="274320"/>
          </a:xfrm>
          <a:prstGeom prst="rect">
            <a:avLst/>
          </a:prstGeom>
          <a:noFill/>
          <a:ln/>
        </p:spPr>
        <p:txBody>
          <a:bodyPr wrap="square" lIns="0" tIns="0" rIns="0" bIns="0" rtlCol="0" anchor="ctr"/>
          <a:lstStyle/>
          <a:p>
            <a:pPr algn="r" indent="0" marL="0">
              <a:buNone/>
            </a:pPr>
            <a:r>
              <a:rPr lang="en-US" sz="1000" dirty="0">
                <a:solidFill>
                  <a:srgbClr val="9AA5B4"/>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71F"/>
        </a:solidFill>
      </p:bgPr>
    </p:bg>
    <p:spTree>
      <p:nvGrpSpPr>
        <p:cNvPr id="1" name=""/>
        <p:cNvGrpSpPr/>
        <p:nvPr/>
      </p:nvGrpSpPr>
      <p:grpSpPr>
        <a:xfrm>
          <a:off x="0" y="0"/>
          <a:ext cx="0" cy="0"/>
          <a:chOff x="0" y="0"/>
          <a:chExt cx="0" cy="0"/>
        </a:xfrm>
      </p:grpSpPr>
      <p:sp>
        <p:nvSpPr>
          <p:cNvPr id="2" name="Text 0"/>
          <p:cNvSpPr/>
          <p:nvPr/>
        </p:nvSpPr>
        <p:spPr>
          <a:xfrm>
            <a:off x="502920" y="457200"/>
            <a:ext cx="3657600" cy="292608"/>
          </a:xfrm>
          <a:prstGeom prst="rect">
            <a:avLst/>
          </a:prstGeom>
          <a:noFill/>
          <a:ln/>
        </p:spPr>
        <p:txBody>
          <a:bodyPr wrap="square" lIns="0" tIns="0" rIns="0" bIns="0" rtlCol="0" anchor="ctr"/>
          <a:lstStyle/>
          <a:p>
            <a:pPr algn="l" indent="0" marL="0">
              <a:buNone/>
            </a:pPr>
            <a:r>
              <a:rPr lang="en-US" sz="1200" b="1" spc="300" kern="0" dirty="0">
                <a:solidFill>
                  <a:srgbClr val="34D8C0"/>
                </a:solidFill>
                <a:latin typeface="Calibri" pitchFamily="34" charset="0"/>
                <a:ea typeface="Calibri" pitchFamily="34" charset="-122"/>
                <a:cs typeface="Calibri" pitchFamily="34" charset="-120"/>
              </a:rPr>
              <a:t>FIXED WINDOW · CODE (C++)</a:t>
            </a:r>
            <a:endParaRPr lang="en-US" sz="1200" dirty="0"/>
          </a:p>
        </p:txBody>
      </p:sp>
      <p:sp>
        <p:nvSpPr>
          <p:cNvPr id="3" name="Text 1"/>
          <p:cNvSpPr/>
          <p:nvPr/>
        </p:nvSpPr>
        <p:spPr>
          <a:xfrm>
            <a:off x="502920" y="777240"/>
            <a:ext cx="10972800" cy="822960"/>
          </a:xfrm>
          <a:prstGeom prst="rect">
            <a:avLst/>
          </a:prstGeom>
          <a:noFill/>
          <a:ln/>
        </p:spPr>
        <p:txBody>
          <a:bodyPr wrap="square" lIns="0" tIns="0" rIns="0" bIns="0" rtlCol="0" anchor="ctr"/>
          <a:lstStyle/>
          <a:p>
            <a:pPr algn="l" indent="0" marL="0">
              <a:buNone/>
            </a:pPr>
            <a:r>
              <a:rPr lang="en-US" sz="3400" b="1" dirty="0">
                <a:solidFill>
                  <a:srgbClr val="EAECEF"/>
                </a:solidFill>
                <a:latin typeface="Cambria" pitchFamily="34" charset="0"/>
                <a:ea typeface="Cambria" pitchFamily="34" charset="-122"/>
                <a:cs typeface="Cambria" pitchFamily="34" charset="-120"/>
              </a:rPr>
              <a:t>Slide the window in O(1) per step</a:t>
            </a:r>
            <a:endParaRPr lang="en-US" sz="3400" dirty="0"/>
          </a:p>
        </p:txBody>
      </p:sp>
      <p:sp>
        <p:nvSpPr>
          <p:cNvPr id="4" name="Shape 2"/>
          <p:cNvSpPr/>
          <p:nvPr/>
        </p:nvSpPr>
        <p:spPr>
          <a:xfrm>
            <a:off x="502920" y="1664208"/>
            <a:ext cx="7452360" cy="4526280"/>
          </a:xfrm>
          <a:prstGeom prst="roundRect">
            <a:avLst>
              <a:gd name="adj" fmla="val 1616"/>
            </a:avLst>
          </a:prstGeom>
          <a:solidFill>
            <a:srgbClr val="0E1016"/>
          </a:solidFill>
          <a:ln w="12700">
            <a:solidFill>
              <a:srgbClr val="2A3140"/>
            </a:solidFill>
            <a:prstDash val="solid"/>
          </a:ln>
        </p:spPr>
      </p:sp>
      <p:sp>
        <p:nvSpPr>
          <p:cNvPr id="5" name="Text 3"/>
          <p:cNvSpPr/>
          <p:nvPr/>
        </p:nvSpPr>
        <p:spPr>
          <a:xfrm>
            <a:off x="704088" y="1810512"/>
            <a:ext cx="7050024" cy="4233672"/>
          </a:xfrm>
          <a:prstGeom prst="rect">
            <a:avLst/>
          </a:prstGeom>
          <a:noFill/>
          <a:ln/>
        </p:spPr>
        <p:txBody>
          <a:bodyPr wrap="square" lIns="0" tIns="0" rIns="0" bIns="0" rtlCol="0" anchor="t"/>
          <a:lstStyle/>
          <a:p>
            <a:pPr algn="l" indent="0" marL="0">
              <a:lnSpc>
                <a:spcPct val="102000"/>
              </a:lnSpc>
              <a:buNone/>
            </a:pPr>
            <a:r>
              <a:rPr lang="en-US" sz="1250" dirty="0">
                <a:solidFill>
                  <a:srgbClr val="9AA5B4"/>
                </a:solidFill>
                <a:latin typeface="Courier New" pitchFamily="34" charset="0"/>
                <a:ea typeface="Courier New" pitchFamily="34" charset="-122"/>
                <a:cs typeface="Courier New" pitchFamily="34" charset="-120"/>
              </a:rPr>
              <a:t>#include &lt;iostream&gt;</a:t>
            </a:r>
            <a:endParaRPr lang="en-US" sz="1250" dirty="0"/>
          </a:p>
          <a:p>
            <a:pPr algn="l" indent="0" marL="0">
              <a:lnSpc>
                <a:spcPct val="102000"/>
              </a:lnSpc>
              <a:buNone/>
            </a:pPr>
            <a:r>
              <a:rPr lang="en-US" sz="1250" dirty="0">
                <a:solidFill>
                  <a:srgbClr val="9AA5B4"/>
                </a:solidFill>
                <a:latin typeface="Courier New" pitchFamily="34" charset="0"/>
                <a:ea typeface="Courier New" pitchFamily="34" charset="-122"/>
                <a:cs typeface="Courier New" pitchFamily="34" charset="-120"/>
              </a:rPr>
              <a:t>using namespace std;</a:t>
            </a:r>
            <a:endParaRPr lang="en-US" sz="1250" dirty="0"/>
          </a:p>
          <a:p>
            <a:pPr algn="l" indent="0" marL="0">
              <a:lnSpc>
                <a:spcPct val="102000"/>
              </a:lnSpc>
              <a:buNone/>
            </a:pPr>
            <a:r>
              <a:rPr lang="en-US" sz="1250" dirty="0">
                <a:solidFill>
                  <a:srgbClr val="9AA5B4"/>
                </a:solidFill>
                <a:latin typeface="Courier New" pitchFamily="34" charset="0"/>
                <a:ea typeface="Courier New" pitchFamily="34" charset="-122"/>
                <a:cs typeface="Courier New" pitchFamily="34" charset="-120"/>
              </a:rPr>
              <a:t>const int MAXN = 100005;</a:t>
            </a:r>
            <a:endParaRPr lang="en-US" sz="1250" dirty="0"/>
          </a:p>
          <a:p>
            <a:pPr algn="l" indent="0" marL="0">
              <a:lnSpc>
                <a:spcPct val="102000"/>
              </a:lnSpc>
              <a:buNone/>
            </a:pPr>
            <a:r>
              <a:rPr lang="en-US" sz="1250" dirty="0">
                <a:solidFill>
                  <a:srgbClr val="F2B441"/>
                </a:solidFill>
                <a:latin typeface="Courier New" pitchFamily="34" charset="0"/>
                <a:ea typeface="Courier New" pitchFamily="34" charset="-122"/>
                <a:cs typeface="Courier New" pitchFamily="34" charset="-120"/>
              </a:rPr>
              <a:t>long long a[MAXN];</a:t>
            </a:r>
            <a:endParaRPr lang="en-US" sz="1250" dirty="0"/>
          </a:p>
          <a:p>
            <a:pPr algn="l" indent="0" marL="0">
              <a:lnSpc>
                <a:spcPct val="102000"/>
              </a:lnSpc>
              <a:buNone/>
            </a:pPr>
            <a:endParaRPr lang="en-US" sz="1250" dirty="0"/>
          </a:p>
          <a:p>
            <a:pPr algn="l" indent="0" marL="0">
              <a:lnSpc>
                <a:spcPct val="102000"/>
              </a:lnSpc>
              <a:buNone/>
            </a:pPr>
            <a:r>
              <a:rPr lang="en-US" sz="1250" dirty="0">
                <a:solidFill>
                  <a:srgbClr val="EAECEF"/>
                </a:solidFill>
                <a:latin typeface="Courier New" pitchFamily="34" charset="0"/>
                <a:ea typeface="Courier New" pitchFamily="34" charset="-122"/>
                <a:cs typeface="Courier New" pitchFamily="34" charset="-120"/>
              </a:rPr>
              <a:t>int main() {</a:t>
            </a:r>
            <a:endParaRPr lang="en-US" sz="1250" dirty="0"/>
          </a:p>
          <a:p>
            <a:pPr algn="l" indent="0" marL="0">
              <a:lnSpc>
                <a:spcPct val="102000"/>
              </a:lnSpc>
              <a:buNone/>
            </a:pPr>
            <a:r>
              <a:rPr lang="en-US" sz="1250" dirty="0">
                <a:solidFill>
                  <a:srgbClr val="EAECEF"/>
                </a:solidFill>
                <a:latin typeface="Courier New" pitchFamily="34" charset="0"/>
                <a:ea typeface="Courier New" pitchFamily="34" charset="-122"/>
                <a:cs typeface="Courier New" pitchFamily="34" charset="-120"/>
              </a:rPr>
              <a:t>    int N, K;</a:t>
            </a:r>
            <a:endParaRPr lang="en-US" sz="1250" dirty="0"/>
          </a:p>
          <a:p>
            <a:pPr algn="l" indent="0" marL="0">
              <a:lnSpc>
                <a:spcPct val="102000"/>
              </a:lnSpc>
              <a:buNone/>
            </a:pPr>
            <a:r>
              <a:rPr lang="en-US" sz="1250" dirty="0">
                <a:solidFill>
                  <a:srgbClr val="EAECEF"/>
                </a:solidFill>
                <a:latin typeface="Courier New" pitchFamily="34" charset="0"/>
                <a:ea typeface="Courier New" pitchFamily="34" charset="-122"/>
                <a:cs typeface="Courier New" pitchFamily="34" charset="-120"/>
              </a:rPr>
              <a:t>    cin &gt;&gt; N &gt;&gt; K;</a:t>
            </a:r>
            <a:endParaRPr lang="en-US" sz="1250" dirty="0"/>
          </a:p>
          <a:p>
            <a:pPr algn="l" indent="0" marL="0">
              <a:lnSpc>
                <a:spcPct val="102000"/>
              </a:lnSpc>
              <a:buNone/>
            </a:pPr>
            <a:r>
              <a:rPr lang="en-US" sz="1250" dirty="0">
                <a:solidFill>
                  <a:srgbClr val="34D8C0"/>
                </a:solidFill>
                <a:latin typeface="Courier New" pitchFamily="34" charset="0"/>
                <a:ea typeface="Courier New" pitchFamily="34" charset="-122"/>
                <a:cs typeface="Courier New" pitchFamily="34" charset="-120"/>
              </a:rPr>
              <a:t>    for (int i = 0; i &lt; N; i++)</a:t>
            </a:r>
            <a:endParaRPr lang="en-US" sz="1250" dirty="0"/>
          </a:p>
          <a:p>
            <a:pPr algn="l" indent="0" marL="0">
              <a:lnSpc>
                <a:spcPct val="102000"/>
              </a:lnSpc>
              <a:buNone/>
            </a:pPr>
            <a:r>
              <a:rPr lang="en-US" sz="1250" dirty="0">
                <a:solidFill>
                  <a:srgbClr val="EAECEF"/>
                </a:solidFill>
                <a:latin typeface="Courier New" pitchFamily="34" charset="0"/>
                <a:ea typeface="Courier New" pitchFamily="34" charset="-122"/>
                <a:cs typeface="Courier New" pitchFamily="34" charset="-120"/>
              </a:rPr>
              <a:t>        cin &gt;&gt; a[i];</a:t>
            </a:r>
            <a:endParaRPr lang="en-US" sz="1250" dirty="0"/>
          </a:p>
          <a:p>
            <a:pPr algn="l" indent="0" marL="0">
              <a:lnSpc>
                <a:spcPct val="102000"/>
              </a:lnSpc>
              <a:buNone/>
            </a:pPr>
            <a:endParaRPr lang="en-US" sz="1250" dirty="0"/>
          </a:p>
          <a:p>
            <a:pPr algn="l" indent="0" marL="0">
              <a:lnSpc>
                <a:spcPct val="102000"/>
              </a:lnSpc>
              <a:buNone/>
            </a:pPr>
            <a:r>
              <a:rPr lang="en-US" sz="1250" dirty="0">
                <a:solidFill>
                  <a:srgbClr val="EAECEF"/>
                </a:solidFill>
                <a:latin typeface="Courier New" pitchFamily="34" charset="0"/>
                <a:ea typeface="Courier New" pitchFamily="34" charset="-122"/>
                <a:cs typeface="Courier New" pitchFamily="34" charset="-120"/>
              </a:rPr>
              <a:t>    long long window = 0;</a:t>
            </a:r>
            <a:endParaRPr lang="en-US" sz="1250" dirty="0"/>
          </a:p>
          <a:p>
            <a:pPr algn="l" indent="0" marL="0">
              <a:lnSpc>
                <a:spcPct val="102000"/>
              </a:lnSpc>
              <a:buNone/>
            </a:pPr>
            <a:r>
              <a:rPr lang="en-US" sz="1250" dirty="0">
                <a:solidFill>
                  <a:srgbClr val="EAECEF"/>
                </a:solidFill>
                <a:latin typeface="Courier New" pitchFamily="34" charset="0"/>
                <a:ea typeface="Courier New" pitchFamily="34" charset="-122"/>
                <a:cs typeface="Courier New" pitchFamily="34" charset="-120"/>
              </a:rPr>
              <a:t>    for (int i = 0; i &lt; K; i++) window += a[i];</a:t>
            </a:r>
            <a:endParaRPr lang="en-US" sz="1250" dirty="0"/>
          </a:p>
          <a:p>
            <a:pPr algn="l" indent="0" marL="0">
              <a:lnSpc>
                <a:spcPct val="102000"/>
              </a:lnSpc>
              <a:buNone/>
            </a:pPr>
            <a:r>
              <a:rPr lang="en-US" sz="1250" dirty="0">
                <a:solidFill>
                  <a:srgbClr val="EAECEF"/>
                </a:solidFill>
                <a:latin typeface="Courier New" pitchFamily="34" charset="0"/>
                <a:ea typeface="Courier New" pitchFamily="34" charset="-122"/>
                <a:cs typeface="Courier New" pitchFamily="34" charset="-120"/>
              </a:rPr>
              <a:t>    long long best = window;</a:t>
            </a:r>
            <a:endParaRPr lang="en-US" sz="1250" dirty="0"/>
          </a:p>
          <a:p>
            <a:pPr algn="l" indent="0" marL="0">
              <a:lnSpc>
                <a:spcPct val="102000"/>
              </a:lnSpc>
              <a:buNone/>
            </a:pPr>
            <a:r>
              <a:rPr lang="en-US" sz="1250" dirty="0">
                <a:solidFill>
                  <a:srgbClr val="34D8C0"/>
                </a:solidFill>
                <a:latin typeface="Courier New" pitchFamily="34" charset="0"/>
                <a:ea typeface="Courier New" pitchFamily="34" charset="-122"/>
                <a:cs typeface="Courier New" pitchFamily="34" charset="-120"/>
              </a:rPr>
              <a:t>    for (int i = K; i &lt; N; i++) {</a:t>
            </a:r>
            <a:endParaRPr lang="en-US" sz="1250" dirty="0"/>
          </a:p>
          <a:p>
            <a:pPr algn="l" indent="0" marL="0">
              <a:lnSpc>
                <a:spcPct val="102000"/>
              </a:lnSpc>
              <a:buNone/>
            </a:pPr>
            <a:r>
              <a:rPr lang="en-US" sz="1250" dirty="0">
                <a:solidFill>
                  <a:srgbClr val="4ADE80"/>
                </a:solidFill>
                <a:latin typeface="Courier New" pitchFamily="34" charset="0"/>
                <a:ea typeface="Courier New" pitchFamily="34" charset="-122"/>
                <a:cs typeface="Courier New" pitchFamily="34" charset="-120"/>
              </a:rPr>
              <a:t>        window += a[i] - a[i-K];   // enter - leave</a:t>
            </a:r>
            <a:endParaRPr lang="en-US" sz="1250" dirty="0"/>
          </a:p>
          <a:p>
            <a:pPr algn="l" indent="0" marL="0">
              <a:lnSpc>
                <a:spcPct val="102000"/>
              </a:lnSpc>
              <a:buNone/>
            </a:pPr>
            <a:r>
              <a:rPr lang="en-US" sz="1250" dirty="0">
                <a:solidFill>
                  <a:srgbClr val="EAECEF"/>
                </a:solidFill>
                <a:latin typeface="Courier New" pitchFamily="34" charset="0"/>
                <a:ea typeface="Courier New" pitchFamily="34" charset="-122"/>
                <a:cs typeface="Courier New" pitchFamily="34" charset="-120"/>
              </a:rPr>
              <a:t>        if (window &gt; best) best = window;</a:t>
            </a:r>
            <a:endParaRPr lang="en-US" sz="1250" dirty="0"/>
          </a:p>
          <a:p>
            <a:pPr algn="l" indent="0" marL="0">
              <a:lnSpc>
                <a:spcPct val="102000"/>
              </a:lnSpc>
              <a:buNone/>
            </a:pPr>
            <a:r>
              <a:rPr lang="en-US" sz="1250" dirty="0">
                <a:solidFill>
                  <a:srgbClr val="34D8C0"/>
                </a:solidFill>
                <a:latin typeface="Courier New" pitchFamily="34" charset="0"/>
                <a:ea typeface="Courier New" pitchFamily="34" charset="-122"/>
                <a:cs typeface="Courier New" pitchFamily="34" charset="-120"/>
              </a:rPr>
              <a:t>    }</a:t>
            </a:r>
            <a:endParaRPr lang="en-US" sz="1250" dirty="0"/>
          </a:p>
          <a:p>
            <a:pPr algn="l" indent="0" marL="0">
              <a:lnSpc>
                <a:spcPct val="102000"/>
              </a:lnSpc>
              <a:buNone/>
            </a:pPr>
            <a:r>
              <a:rPr lang="en-US" sz="1250" dirty="0">
                <a:solidFill>
                  <a:srgbClr val="EAECEF"/>
                </a:solidFill>
                <a:latin typeface="Courier New" pitchFamily="34" charset="0"/>
                <a:ea typeface="Courier New" pitchFamily="34" charset="-122"/>
                <a:cs typeface="Courier New" pitchFamily="34" charset="-120"/>
              </a:rPr>
              <a:t>    cout &lt;&lt; best &lt;&lt; "\n";</a:t>
            </a:r>
            <a:endParaRPr lang="en-US" sz="1250" dirty="0"/>
          </a:p>
          <a:p>
            <a:pPr algn="l" indent="0" marL="0">
              <a:lnSpc>
                <a:spcPct val="102000"/>
              </a:lnSpc>
              <a:buNone/>
            </a:pPr>
            <a:r>
              <a:rPr lang="en-US" sz="1250" dirty="0">
                <a:solidFill>
                  <a:srgbClr val="EAECEF"/>
                </a:solidFill>
                <a:latin typeface="Courier New" pitchFamily="34" charset="0"/>
                <a:ea typeface="Courier New" pitchFamily="34" charset="-122"/>
                <a:cs typeface="Courier New" pitchFamily="34" charset="-120"/>
              </a:rPr>
              <a:t>    return 0;</a:t>
            </a:r>
            <a:endParaRPr lang="en-US" sz="1250" dirty="0"/>
          </a:p>
          <a:p>
            <a:pPr algn="l" indent="0" marL="0">
              <a:lnSpc>
                <a:spcPct val="102000"/>
              </a:lnSpc>
              <a:buNone/>
            </a:pPr>
            <a:r>
              <a:rPr lang="en-US" sz="1250" dirty="0">
                <a:solidFill>
                  <a:srgbClr val="EAECEF"/>
                </a:solidFill>
                <a:latin typeface="Courier New" pitchFamily="34" charset="0"/>
                <a:ea typeface="Courier New" pitchFamily="34" charset="-122"/>
                <a:cs typeface="Courier New" pitchFamily="34" charset="-120"/>
              </a:rPr>
              <a:t>}</a:t>
            </a:r>
            <a:endParaRPr lang="en-US" sz="1250" dirty="0"/>
          </a:p>
        </p:txBody>
      </p:sp>
      <p:sp>
        <p:nvSpPr>
          <p:cNvPr id="6" name="Shape 4"/>
          <p:cNvSpPr/>
          <p:nvPr/>
        </p:nvSpPr>
        <p:spPr>
          <a:xfrm>
            <a:off x="8183880" y="1664208"/>
            <a:ext cx="3474720" cy="4526280"/>
          </a:xfrm>
          <a:prstGeom prst="roundRect">
            <a:avLst>
              <a:gd name="adj" fmla="val 2368"/>
            </a:avLst>
          </a:prstGeom>
          <a:solidFill>
            <a:srgbClr val="20242E"/>
          </a:solidFill>
          <a:ln w="12700">
            <a:solidFill>
              <a:srgbClr val="2A3140"/>
            </a:solidFill>
            <a:prstDash val="solid"/>
          </a:ln>
        </p:spPr>
      </p:sp>
      <p:sp>
        <p:nvSpPr>
          <p:cNvPr id="7" name="Text 5"/>
          <p:cNvSpPr/>
          <p:nvPr/>
        </p:nvSpPr>
        <p:spPr>
          <a:xfrm>
            <a:off x="8366760" y="1920240"/>
            <a:ext cx="3108960" cy="365760"/>
          </a:xfrm>
          <a:prstGeom prst="rect">
            <a:avLst/>
          </a:prstGeom>
          <a:noFill/>
          <a:ln/>
        </p:spPr>
        <p:txBody>
          <a:bodyPr wrap="square" lIns="0" tIns="0" rIns="0" bIns="0" rtlCol="0" anchor="ctr"/>
          <a:lstStyle/>
          <a:p>
            <a:pPr algn="l" indent="0" marL="0">
              <a:buNone/>
            </a:pPr>
            <a:r>
              <a:rPr lang="en-US" sz="1500" b="1" dirty="0">
                <a:solidFill>
                  <a:srgbClr val="F2B441"/>
                </a:solidFill>
                <a:latin typeface="Calibri" pitchFamily="34" charset="0"/>
                <a:ea typeface="Calibri" pitchFamily="34" charset="-122"/>
                <a:cs typeface="Calibri" pitchFamily="34" charset="-120"/>
              </a:rPr>
              <a:t>Old-school C++</a:t>
            </a:r>
            <a:endParaRPr lang="en-US" sz="1500" dirty="0"/>
          </a:p>
        </p:txBody>
      </p:sp>
      <p:sp>
        <p:nvSpPr>
          <p:cNvPr id="8" name="Text 6"/>
          <p:cNvSpPr/>
          <p:nvPr/>
        </p:nvSpPr>
        <p:spPr>
          <a:xfrm>
            <a:off x="8366760" y="2377440"/>
            <a:ext cx="3200400" cy="2377440"/>
          </a:xfrm>
          <a:prstGeom prst="rect">
            <a:avLst/>
          </a:prstGeom>
          <a:noFill/>
          <a:ln/>
        </p:spPr>
        <p:txBody>
          <a:bodyPr wrap="square" lIns="0" tIns="0" rIns="0" bIns="0" rtlCol="0" anchor="t"/>
          <a:lstStyle/>
          <a:p>
            <a:pPr algn="l" marL="203200" indent="-203200">
              <a:spcAft>
                <a:spcPts val="900"/>
              </a:spcAft>
              <a:buSzPct val="100000"/>
              <a:buChar char="•"/>
            </a:pPr>
            <a:r>
              <a:rPr lang="en-US" sz="1350" dirty="0">
                <a:solidFill>
                  <a:srgbClr val="EAECEF"/>
                </a:solidFill>
                <a:latin typeface="Calibri" pitchFamily="34" charset="0"/>
                <a:ea typeface="Calibri" pitchFamily="34" charset="-122"/>
                <a:cs typeface="Calibri" pitchFamily="34" charset="-120"/>
              </a:rPr>
              <a:t>Plain global array, fixed size</a:t>
            </a:r>
            <a:endParaRPr lang="en-US" sz="1350" dirty="0"/>
          </a:p>
          <a:p>
            <a:pPr algn="l" marL="203200" indent="-203200">
              <a:spcAft>
                <a:spcPts val="900"/>
              </a:spcAft>
              <a:buSzPct val="100000"/>
              <a:buChar char="•"/>
            </a:pPr>
            <a:r>
              <a:rPr lang="en-US" sz="1350" dirty="0">
                <a:solidFill>
                  <a:srgbClr val="EAECEF"/>
                </a:solidFill>
                <a:latin typeface="Calibri" pitchFamily="34" charset="0"/>
                <a:ea typeface="Calibri" pitchFamily="34" charset="-122"/>
                <a:cs typeface="Calibri" pitchFamily="34" charset="-120"/>
              </a:rPr>
              <a:t>cin / cout — iostream</a:t>
            </a:r>
            <a:endParaRPr lang="en-US" sz="1350" dirty="0"/>
          </a:p>
          <a:p>
            <a:pPr algn="l" marL="203200" indent="-203200">
              <a:spcAft>
                <a:spcPts val="900"/>
              </a:spcAft>
              <a:buSzPct val="100000"/>
              <a:buChar char="•"/>
            </a:pPr>
            <a:r>
              <a:rPr lang="en-US" sz="1350" dirty="0">
                <a:solidFill>
                  <a:srgbClr val="EAECEF"/>
                </a:solidFill>
                <a:latin typeface="Calibri" pitchFamily="34" charset="0"/>
                <a:ea typeface="Calibri" pitchFamily="34" charset="-122"/>
                <a:cs typeface="Calibri" pitchFamily="34" charset="-120"/>
              </a:rPr>
              <a:t>long long: sums overflow int</a:t>
            </a:r>
            <a:endParaRPr lang="en-US" sz="1350" dirty="0"/>
          </a:p>
          <a:p>
            <a:pPr algn="l" marL="203200" indent="-203200">
              <a:spcAft>
                <a:spcPts val="900"/>
              </a:spcAft>
              <a:buSzPct val="100000"/>
              <a:buChar char="•"/>
            </a:pPr>
            <a:r>
              <a:rPr lang="en-US" sz="1350" dirty="0">
                <a:solidFill>
                  <a:srgbClr val="EAECEF"/>
                </a:solidFill>
                <a:latin typeface="Calibri" pitchFamily="34" charset="0"/>
                <a:ea typeface="Calibri" pitchFamily="34" charset="-122"/>
                <a:cs typeface="Calibri" pitchFamily="34" charset="-120"/>
              </a:rPr>
              <a:t>One add + one subtract per step</a:t>
            </a:r>
            <a:endParaRPr lang="en-US" sz="1350" dirty="0"/>
          </a:p>
        </p:txBody>
      </p:sp>
      <p:sp>
        <p:nvSpPr>
          <p:cNvPr id="9" name="Text 7"/>
          <p:cNvSpPr/>
          <p:nvPr/>
        </p:nvSpPr>
        <p:spPr>
          <a:xfrm>
            <a:off x="8366760" y="5257800"/>
            <a:ext cx="3108960" cy="457200"/>
          </a:xfrm>
          <a:prstGeom prst="rect">
            <a:avLst/>
          </a:prstGeom>
          <a:noFill/>
          <a:ln/>
        </p:spPr>
        <p:txBody>
          <a:bodyPr wrap="square" lIns="0" tIns="0" rIns="0" bIns="0" rtlCol="0" anchor="ctr"/>
          <a:lstStyle/>
          <a:p>
            <a:pPr algn="l" indent="0" marL="0">
              <a:buNone/>
            </a:pPr>
            <a:r>
              <a:rPr lang="en-US" sz="1600" b="1" dirty="0">
                <a:solidFill>
                  <a:srgbClr val="4ADE80"/>
                </a:solidFill>
                <a:latin typeface="Courier New" pitchFamily="34" charset="0"/>
                <a:ea typeface="Courier New" pitchFamily="34" charset="-122"/>
                <a:cs typeface="Courier New" pitchFamily="34" charset="-120"/>
              </a:rPr>
              <a:t>Verified: 100 / 100</a:t>
            </a:r>
            <a:endParaRPr lang="en-US" sz="1600" dirty="0"/>
          </a:p>
        </p:txBody>
      </p:sp>
      <p:sp>
        <p:nvSpPr>
          <p:cNvPr id="10" name="Text 8"/>
          <p:cNvSpPr/>
          <p:nvPr/>
        </p:nvSpPr>
        <p:spPr>
          <a:xfrm>
            <a:off x="8366760" y="5623560"/>
            <a:ext cx="3200400" cy="457200"/>
          </a:xfrm>
          <a:prstGeom prst="rect">
            <a:avLst/>
          </a:prstGeom>
          <a:noFill/>
          <a:ln/>
        </p:spPr>
        <p:txBody>
          <a:bodyPr wrap="square" lIns="0" tIns="0" rIns="0" bIns="0" rtlCol="0" anchor="ctr"/>
          <a:lstStyle/>
          <a:p>
            <a:pPr algn="l" indent="0" marL="0">
              <a:buNone/>
            </a:pPr>
            <a:r>
              <a:rPr lang="en-US" sz="1150" i="1" dirty="0">
                <a:solidFill>
                  <a:srgbClr val="9AA5B4"/>
                </a:solidFill>
                <a:latin typeface="Calibri" pitchFamily="34" charset="0"/>
                <a:ea typeface="Calibri" pitchFamily="34" charset="-122"/>
                <a:cs typeface="Calibri" pitchFamily="34" charset="-120"/>
              </a:rPr>
              <a:t>matches brute force on 2000 random cases</a:t>
            </a:r>
            <a:endParaRPr lang="en-US" sz="1150" dirty="0"/>
          </a:p>
        </p:txBody>
      </p:sp>
      <p:sp>
        <p:nvSpPr>
          <p:cNvPr id="11" name="Text 9"/>
          <p:cNvSpPr/>
          <p:nvPr/>
        </p:nvSpPr>
        <p:spPr>
          <a:xfrm>
            <a:off x="502920" y="6455664"/>
            <a:ext cx="5486400" cy="274320"/>
          </a:xfrm>
          <a:prstGeom prst="rect">
            <a:avLst/>
          </a:prstGeom>
          <a:noFill/>
          <a:ln/>
        </p:spPr>
        <p:txBody>
          <a:bodyPr wrap="square" lIns="0" tIns="0" rIns="0" bIns="0" rtlCol="0" anchor="ctr"/>
          <a:lstStyle/>
          <a:p>
            <a:pPr algn="l" indent="0" marL="0">
              <a:buNone/>
            </a:pPr>
            <a:r>
              <a:rPr lang="en-US" sz="1000" dirty="0">
                <a:solidFill>
                  <a:srgbClr val="9AA5B4"/>
                </a:solidFill>
                <a:latin typeface="Calibri" pitchFamily="34" charset="0"/>
                <a:ea typeface="Calibri" pitchFamily="34" charset="-122"/>
                <a:cs typeface="Calibri" pitchFamily="34" charset="-120"/>
              </a:rPr>
              <a:t>Two Pointers &amp; Sliding Window</a:t>
            </a:r>
            <a:endParaRPr lang="en-US" sz="1000" dirty="0"/>
          </a:p>
        </p:txBody>
      </p:sp>
      <p:sp>
        <p:nvSpPr>
          <p:cNvPr id="12" name="Text 10"/>
          <p:cNvSpPr/>
          <p:nvPr/>
        </p:nvSpPr>
        <p:spPr>
          <a:xfrm>
            <a:off x="11228832" y="6455664"/>
            <a:ext cx="457200" cy="274320"/>
          </a:xfrm>
          <a:prstGeom prst="rect">
            <a:avLst/>
          </a:prstGeom>
          <a:noFill/>
          <a:ln/>
        </p:spPr>
        <p:txBody>
          <a:bodyPr wrap="square" lIns="0" tIns="0" rIns="0" bIns="0" rtlCol="0" anchor="ctr"/>
          <a:lstStyle/>
          <a:p>
            <a:pPr algn="r" indent="0" marL="0">
              <a:buNone/>
            </a:pPr>
            <a:r>
              <a:rPr lang="en-US" sz="1000" dirty="0">
                <a:solidFill>
                  <a:srgbClr val="9AA5B4"/>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0251F"/>
        </a:solidFill>
      </p:bgPr>
    </p:bg>
    <p:spTree>
      <p:nvGrpSpPr>
        <p:cNvPr id="1" name=""/>
        <p:cNvGrpSpPr/>
        <p:nvPr/>
      </p:nvGrpSpPr>
      <p:grpSpPr>
        <a:xfrm>
          <a:off x="0" y="0"/>
          <a:ext cx="0" cy="0"/>
          <a:chOff x="0" y="0"/>
          <a:chExt cx="0" cy="0"/>
        </a:xfrm>
      </p:grpSpPr>
      <p:sp>
        <p:nvSpPr>
          <p:cNvPr id="2" name="Text 0"/>
          <p:cNvSpPr/>
          <p:nvPr/>
        </p:nvSpPr>
        <p:spPr>
          <a:xfrm>
            <a:off x="502920" y="457200"/>
            <a:ext cx="3657600" cy="292608"/>
          </a:xfrm>
          <a:prstGeom prst="rect">
            <a:avLst/>
          </a:prstGeom>
          <a:noFill/>
          <a:ln/>
        </p:spPr>
        <p:txBody>
          <a:bodyPr wrap="square" lIns="0" tIns="0" rIns="0" bIns="0" rtlCol="0" anchor="ctr"/>
          <a:lstStyle/>
          <a:p>
            <a:pPr algn="l" indent="0" marL="0">
              <a:buNone/>
            </a:pPr>
            <a:r>
              <a:rPr lang="en-US" sz="1200" b="1" spc="300" kern="0" dirty="0">
                <a:solidFill>
                  <a:srgbClr val="34D8C0"/>
                </a:solidFill>
                <a:latin typeface="Calibri" pitchFamily="34" charset="0"/>
                <a:ea typeface="Calibri" pitchFamily="34" charset="-122"/>
                <a:cs typeface="Calibri" pitchFamily="34" charset="-120"/>
              </a:rPr>
              <a:t>FIXED WINDOW · COMPLEXITY</a:t>
            </a:r>
            <a:endParaRPr lang="en-US" sz="1200" dirty="0"/>
          </a:p>
        </p:txBody>
      </p:sp>
      <p:sp>
        <p:nvSpPr>
          <p:cNvPr id="3" name="Text 1"/>
          <p:cNvSpPr/>
          <p:nvPr/>
        </p:nvSpPr>
        <p:spPr>
          <a:xfrm>
            <a:off x="502920" y="777240"/>
            <a:ext cx="10972800" cy="822960"/>
          </a:xfrm>
          <a:prstGeom prst="rect">
            <a:avLst/>
          </a:prstGeom>
          <a:noFill/>
          <a:ln/>
        </p:spPr>
        <p:txBody>
          <a:bodyPr wrap="square" lIns="0" tIns="0" rIns="0" bIns="0" rtlCol="0" anchor="ctr"/>
          <a:lstStyle/>
          <a:p>
            <a:pPr algn="l" indent="0" marL="0">
              <a:buNone/>
            </a:pPr>
            <a:r>
              <a:rPr lang="en-US" sz="3400" b="1" dirty="0">
                <a:solidFill>
                  <a:srgbClr val="EAECEF"/>
                </a:solidFill>
                <a:latin typeface="Cambria" pitchFamily="34" charset="0"/>
                <a:ea typeface="Cambria" pitchFamily="34" charset="-122"/>
                <a:cs typeface="Cambria" pitchFamily="34" charset="-120"/>
              </a:rPr>
              <a:t>O(K) to build + O(N) to slide = O(N)</a:t>
            </a:r>
            <a:endParaRPr lang="en-US" sz="3400" dirty="0"/>
          </a:p>
        </p:txBody>
      </p:sp>
      <p:sp>
        <p:nvSpPr>
          <p:cNvPr id="4" name="Shape 2"/>
          <p:cNvSpPr/>
          <p:nvPr/>
        </p:nvSpPr>
        <p:spPr>
          <a:xfrm>
            <a:off x="822960" y="2377440"/>
            <a:ext cx="3383280" cy="2103120"/>
          </a:xfrm>
          <a:prstGeom prst="roundRect">
            <a:avLst>
              <a:gd name="adj" fmla="val 3913"/>
            </a:avLst>
          </a:prstGeom>
          <a:solidFill>
            <a:srgbClr val="20242E"/>
          </a:solidFill>
          <a:ln w="12700">
            <a:solidFill>
              <a:srgbClr val="2A3140"/>
            </a:solidFill>
            <a:prstDash val="solid"/>
          </a:ln>
        </p:spPr>
      </p:sp>
      <p:sp>
        <p:nvSpPr>
          <p:cNvPr id="5" name="Text 3"/>
          <p:cNvSpPr/>
          <p:nvPr/>
        </p:nvSpPr>
        <p:spPr>
          <a:xfrm>
            <a:off x="822960" y="2697480"/>
            <a:ext cx="3383280" cy="914400"/>
          </a:xfrm>
          <a:prstGeom prst="rect">
            <a:avLst/>
          </a:prstGeom>
          <a:noFill/>
          <a:ln/>
        </p:spPr>
        <p:txBody>
          <a:bodyPr wrap="square" lIns="0" tIns="0" rIns="0" bIns="0" rtlCol="0" anchor="ctr"/>
          <a:lstStyle/>
          <a:p>
            <a:pPr algn="ctr" indent="0" marL="0">
              <a:buNone/>
            </a:pPr>
            <a:r>
              <a:rPr lang="en-US" sz="4600" b="1" dirty="0">
                <a:solidFill>
                  <a:srgbClr val="34D8C0"/>
                </a:solidFill>
                <a:latin typeface="Courier New" pitchFamily="34" charset="0"/>
                <a:ea typeface="Courier New" pitchFamily="34" charset="-122"/>
                <a:cs typeface="Courier New" pitchFamily="34" charset="-120"/>
              </a:rPr>
              <a:t>O(K)</a:t>
            </a:r>
            <a:endParaRPr lang="en-US" sz="4600" dirty="0"/>
          </a:p>
        </p:txBody>
      </p:sp>
      <p:sp>
        <p:nvSpPr>
          <p:cNvPr id="6" name="Text 4"/>
          <p:cNvSpPr/>
          <p:nvPr/>
        </p:nvSpPr>
        <p:spPr>
          <a:xfrm>
            <a:off x="1005840" y="3749040"/>
            <a:ext cx="3017520" cy="640080"/>
          </a:xfrm>
          <a:prstGeom prst="rect">
            <a:avLst/>
          </a:prstGeom>
          <a:noFill/>
          <a:ln/>
        </p:spPr>
        <p:txBody>
          <a:bodyPr wrap="square" lIns="0" tIns="0" rIns="0" bIns="0" rtlCol="0" anchor="t"/>
          <a:lstStyle/>
          <a:p>
            <a:pPr algn="ctr" indent="0" marL="0">
              <a:buNone/>
            </a:pPr>
            <a:r>
              <a:rPr lang="en-US" sz="1400" dirty="0">
                <a:solidFill>
                  <a:srgbClr val="9AA5B4"/>
                </a:solidFill>
                <a:latin typeface="Calibri" pitchFamily="34" charset="0"/>
                <a:ea typeface="Calibri" pitchFamily="34" charset="-122"/>
                <a:cs typeface="Calibri" pitchFamily="34" charset="-120"/>
              </a:rPr>
              <a:t>build the first window once</a:t>
            </a:r>
            <a:endParaRPr lang="en-US" sz="1400" dirty="0"/>
          </a:p>
        </p:txBody>
      </p:sp>
      <p:sp>
        <p:nvSpPr>
          <p:cNvPr id="7" name="Shape 5"/>
          <p:cNvSpPr/>
          <p:nvPr/>
        </p:nvSpPr>
        <p:spPr>
          <a:xfrm>
            <a:off x="4526280" y="2377440"/>
            <a:ext cx="3383280" cy="2103120"/>
          </a:xfrm>
          <a:prstGeom prst="roundRect">
            <a:avLst>
              <a:gd name="adj" fmla="val 3913"/>
            </a:avLst>
          </a:prstGeom>
          <a:solidFill>
            <a:srgbClr val="20242E"/>
          </a:solidFill>
          <a:ln w="12700">
            <a:solidFill>
              <a:srgbClr val="2A3140"/>
            </a:solidFill>
            <a:prstDash val="solid"/>
          </a:ln>
        </p:spPr>
      </p:sp>
      <p:sp>
        <p:nvSpPr>
          <p:cNvPr id="8" name="Text 6"/>
          <p:cNvSpPr/>
          <p:nvPr/>
        </p:nvSpPr>
        <p:spPr>
          <a:xfrm>
            <a:off x="4526280" y="2697480"/>
            <a:ext cx="3383280" cy="914400"/>
          </a:xfrm>
          <a:prstGeom prst="rect">
            <a:avLst/>
          </a:prstGeom>
          <a:noFill/>
          <a:ln/>
        </p:spPr>
        <p:txBody>
          <a:bodyPr wrap="square" lIns="0" tIns="0" rIns="0" bIns="0" rtlCol="0" anchor="ctr"/>
          <a:lstStyle/>
          <a:p>
            <a:pPr algn="ctr" indent="0" marL="0">
              <a:buNone/>
            </a:pPr>
            <a:r>
              <a:rPr lang="en-US" sz="4600" b="1" dirty="0">
                <a:solidFill>
                  <a:srgbClr val="F2B441"/>
                </a:solidFill>
                <a:latin typeface="Courier New" pitchFamily="34" charset="0"/>
                <a:ea typeface="Courier New" pitchFamily="34" charset="-122"/>
                <a:cs typeface="Courier New" pitchFamily="34" charset="-120"/>
              </a:rPr>
              <a:t>O(1)</a:t>
            </a:r>
            <a:endParaRPr lang="en-US" sz="4600" dirty="0"/>
          </a:p>
        </p:txBody>
      </p:sp>
      <p:sp>
        <p:nvSpPr>
          <p:cNvPr id="9" name="Text 7"/>
          <p:cNvSpPr/>
          <p:nvPr/>
        </p:nvSpPr>
        <p:spPr>
          <a:xfrm>
            <a:off x="4709160" y="3749040"/>
            <a:ext cx="3017520" cy="640080"/>
          </a:xfrm>
          <a:prstGeom prst="rect">
            <a:avLst/>
          </a:prstGeom>
          <a:noFill/>
          <a:ln/>
        </p:spPr>
        <p:txBody>
          <a:bodyPr wrap="square" lIns="0" tIns="0" rIns="0" bIns="0" rtlCol="0" anchor="t"/>
          <a:lstStyle/>
          <a:p>
            <a:pPr algn="ctr" indent="0" marL="0">
              <a:buNone/>
            </a:pPr>
            <a:r>
              <a:rPr lang="en-US" sz="1400" dirty="0">
                <a:solidFill>
                  <a:srgbClr val="9AA5B4"/>
                </a:solidFill>
                <a:latin typeface="Calibri" pitchFamily="34" charset="0"/>
                <a:ea typeface="Calibri" pitchFamily="34" charset="-122"/>
                <a:cs typeface="Calibri" pitchFamily="34" charset="-120"/>
              </a:rPr>
              <a:t>per slide, × (N−K) slides</a:t>
            </a:r>
            <a:endParaRPr lang="en-US" sz="1400" dirty="0"/>
          </a:p>
        </p:txBody>
      </p:sp>
      <p:sp>
        <p:nvSpPr>
          <p:cNvPr id="10" name="Shape 8"/>
          <p:cNvSpPr/>
          <p:nvPr/>
        </p:nvSpPr>
        <p:spPr>
          <a:xfrm>
            <a:off x="8229600" y="2377440"/>
            <a:ext cx="3383280" cy="2103120"/>
          </a:xfrm>
          <a:prstGeom prst="roundRect">
            <a:avLst>
              <a:gd name="adj" fmla="val 3913"/>
            </a:avLst>
          </a:prstGeom>
          <a:solidFill>
            <a:srgbClr val="20242E"/>
          </a:solidFill>
          <a:ln w="12700">
            <a:solidFill>
              <a:srgbClr val="2A3140"/>
            </a:solidFill>
            <a:prstDash val="solid"/>
          </a:ln>
        </p:spPr>
      </p:sp>
      <p:sp>
        <p:nvSpPr>
          <p:cNvPr id="11" name="Text 9"/>
          <p:cNvSpPr/>
          <p:nvPr/>
        </p:nvSpPr>
        <p:spPr>
          <a:xfrm>
            <a:off x="8229600" y="2697480"/>
            <a:ext cx="3383280" cy="914400"/>
          </a:xfrm>
          <a:prstGeom prst="rect">
            <a:avLst/>
          </a:prstGeom>
          <a:noFill/>
          <a:ln/>
        </p:spPr>
        <p:txBody>
          <a:bodyPr wrap="square" lIns="0" tIns="0" rIns="0" bIns="0" rtlCol="0" anchor="ctr"/>
          <a:lstStyle/>
          <a:p>
            <a:pPr algn="ctr" indent="0" marL="0">
              <a:buNone/>
            </a:pPr>
            <a:r>
              <a:rPr lang="en-US" sz="4600" b="1" dirty="0">
                <a:solidFill>
                  <a:srgbClr val="4ADE80"/>
                </a:solidFill>
                <a:latin typeface="Courier New" pitchFamily="34" charset="0"/>
                <a:ea typeface="Courier New" pitchFamily="34" charset="-122"/>
                <a:cs typeface="Courier New" pitchFamily="34" charset="-120"/>
              </a:rPr>
              <a:t>O(N)</a:t>
            </a:r>
            <a:endParaRPr lang="en-US" sz="4600" dirty="0"/>
          </a:p>
        </p:txBody>
      </p:sp>
      <p:sp>
        <p:nvSpPr>
          <p:cNvPr id="12" name="Text 10"/>
          <p:cNvSpPr/>
          <p:nvPr/>
        </p:nvSpPr>
        <p:spPr>
          <a:xfrm>
            <a:off x="8412480" y="3749040"/>
            <a:ext cx="3017520" cy="640080"/>
          </a:xfrm>
          <a:prstGeom prst="rect">
            <a:avLst/>
          </a:prstGeom>
          <a:noFill/>
          <a:ln/>
        </p:spPr>
        <p:txBody>
          <a:bodyPr wrap="square" lIns="0" tIns="0" rIns="0" bIns="0" rtlCol="0" anchor="t"/>
          <a:lstStyle/>
          <a:p>
            <a:pPr algn="ctr" indent="0" marL="0">
              <a:buNone/>
            </a:pPr>
            <a:r>
              <a:rPr lang="en-US" sz="1400" dirty="0">
                <a:solidFill>
                  <a:srgbClr val="9AA5B4"/>
                </a:solidFill>
                <a:latin typeface="Calibri" pitchFamily="34" charset="0"/>
                <a:ea typeface="Calibri" pitchFamily="34" charset="-122"/>
                <a:cs typeface="Calibri" pitchFamily="34" charset="-120"/>
              </a:rPr>
              <a:t>total — full marks</a:t>
            </a:r>
            <a:endParaRPr lang="en-US" sz="1400" dirty="0"/>
          </a:p>
        </p:txBody>
      </p:sp>
      <p:sp>
        <p:nvSpPr>
          <p:cNvPr id="13" name="Text 11"/>
          <p:cNvSpPr/>
          <p:nvPr/>
        </p:nvSpPr>
        <p:spPr>
          <a:xfrm>
            <a:off x="822960" y="4846320"/>
            <a:ext cx="10515600" cy="457200"/>
          </a:xfrm>
          <a:prstGeom prst="rect">
            <a:avLst/>
          </a:prstGeom>
          <a:noFill/>
          <a:ln/>
        </p:spPr>
        <p:txBody>
          <a:bodyPr wrap="square" lIns="0" tIns="0" rIns="0" bIns="0" rtlCol="0" anchor="ctr"/>
          <a:lstStyle/>
          <a:p>
            <a:pPr algn="l" indent="0" marL="0">
              <a:buNone/>
            </a:pPr>
            <a:r>
              <a:rPr lang="en-US" sz="1600" i="1" dirty="0">
                <a:solidFill>
                  <a:srgbClr val="EAECEF"/>
                </a:solidFill>
                <a:latin typeface="Calibri" pitchFamily="34" charset="0"/>
                <a:ea typeface="Calibri" pitchFamily="34" charset="-122"/>
                <a:cs typeface="Calibri" pitchFamily="34" charset="-120"/>
              </a:rPr>
              <a:t>Same complexity as the prefix-sum solution — both earn 100. Sliding window uses no extra array.</a:t>
            </a:r>
            <a:endParaRPr lang="en-US" sz="1600" dirty="0"/>
          </a:p>
        </p:txBody>
      </p:sp>
      <p:sp>
        <p:nvSpPr>
          <p:cNvPr id="14" name="Text 12"/>
          <p:cNvSpPr/>
          <p:nvPr/>
        </p:nvSpPr>
        <p:spPr>
          <a:xfrm>
            <a:off x="502920" y="6455664"/>
            <a:ext cx="5486400" cy="274320"/>
          </a:xfrm>
          <a:prstGeom prst="rect">
            <a:avLst/>
          </a:prstGeom>
          <a:noFill/>
          <a:ln/>
        </p:spPr>
        <p:txBody>
          <a:bodyPr wrap="square" lIns="0" tIns="0" rIns="0" bIns="0" rtlCol="0" anchor="ctr"/>
          <a:lstStyle/>
          <a:p>
            <a:pPr algn="l" indent="0" marL="0">
              <a:buNone/>
            </a:pPr>
            <a:r>
              <a:rPr lang="en-US" sz="1000" dirty="0">
                <a:solidFill>
                  <a:srgbClr val="9AA5B4"/>
                </a:solidFill>
                <a:latin typeface="Calibri" pitchFamily="34" charset="0"/>
                <a:ea typeface="Calibri" pitchFamily="34" charset="-122"/>
                <a:cs typeface="Calibri" pitchFamily="34" charset="-120"/>
              </a:rPr>
              <a:t>Two Pointers &amp; Sliding Window</a:t>
            </a:r>
            <a:endParaRPr lang="en-US" sz="1000" dirty="0"/>
          </a:p>
        </p:txBody>
      </p:sp>
      <p:sp>
        <p:nvSpPr>
          <p:cNvPr id="15" name="Text 13"/>
          <p:cNvSpPr/>
          <p:nvPr/>
        </p:nvSpPr>
        <p:spPr>
          <a:xfrm>
            <a:off x="11228832" y="6455664"/>
            <a:ext cx="457200" cy="274320"/>
          </a:xfrm>
          <a:prstGeom prst="rect">
            <a:avLst/>
          </a:prstGeom>
          <a:noFill/>
          <a:ln/>
        </p:spPr>
        <p:txBody>
          <a:bodyPr wrap="square" lIns="0" tIns="0" rIns="0" bIns="0" rtlCol="0" anchor="ctr"/>
          <a:lstStyle/>
          <a:p>
            <a:pPr algn="r" indent="0" marL="0">
              <a:buNone/>
            </a:pPr>
            <a:r>
              <a:rPr lang="en-US" sz="1000" dirty="0">
                <a:solidFill>
                  <a:srgbClr val="9AA5B4"/>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118"/>
        </a:solidFill>
      </p:bgPr>
    </p:bg>
    <p:spTree>
      <p:nvGrpSpPr>
        <p:cNvPr id="1" name=""/>
        <p:cNvGrpSpPr/>
        <p:nvPr/>
      </p:nvGrpSpPr>
      <p:grpSpPr>
        <a:xfrm>
          <a:off x="0" y="0"/>
          <a:ext cx="0" cy="0"/>
          <a:chOff x="0" y="0"/>
          <a:chExt cx="0" cy="0"/>
        </a:xfrm>
      </p:grpSpPr>
      <p:sp>
        <p:nvSpPr>
          <p:cNvPr id="2" name="Text 0"/>
          <p:cNvSpPr/>
          <p:nvPr/>
        </p:nvSpPr>
        <p:spPr>
          <a:xfrm>
            <a:off x="822960" y="2286000"/>
            <a:ext cx="5486400" cy="457200"/>
          </a:xfrm>
          <a:prstGeom prst="rect">
            <a:avLst/>
          </a:prstGeom>
          <a:noFill/>
          <a:ln/>
        </p:spPr>
        <p:txBody>
          <a:bodyPr wrap="square" lIns="0" tIns="0" rIns="0" bIns="0" rtlCol="0" anchor="ctr"/>
          <a:lstStyle/>
          <a:p>
            <a:pPr algn="l" indent="0" marL="0">
              <a:buNone/>
            </a:pPr>
            <a:r>
              <a:rPr lang="en-US" sz="1500" b="1" spc="500" kern="0" dirty="0">
                <a:solidFill>
                  <a:srgbClr val="F2B441"/>
                </a:solidFill>
                <a:latin typeface="Calibri" pitchFamily="34" charset="0"/>
                <a:ea typeface="Calibri" pitchFamily="34" charset="-122"/>
                <a:cs typeface="Calibri" pitchFamily="34" charset="-120"/>
              </a:rPr>
              <a:t>PART 2</a:t>
            </a:r>
            <a:endParaRPr lang="en-US" sz="1500" dirty="0"/>
          </a:p>
        </p:txBody>
      </p:sp>
      <p:sp>
        <p:nvSpPr>
          <p:cNvPr id="3" name="Text 1"/>
          <p:cNvSpPr/>
          <p:nvPr/>
        </p:nvSpPr>
        <p:spPr>
          <a:xfrm>
            <a:off x="777240" y="2788920"/>
            <a:ext cx="10789920" cy="1005840"/>
          </a:xfrm>
          <a:prstGeom prst="rect">
            <a:avLst/>
          </a:prstGeom>
          <a:noFill/>
          <a:ln/>
        </p:spPr>
        <p:txBody>
          <a:bodyPr wrap="square" lIns="0" tIns="0" rIns="0" bIns="0" rtlCol="0" anchor="ctr"/>
          <a:lstStyle/>
          <a:p>
            <a:pPr algn="l" indent="0" marL="0">
              <a:buNone/>
            </a:pPr>
            <a:r>
              <a:rPr lang="en-US" sz="4600" b="1" dirty="0">
                <a:solidFill>
                  <a:srgbClr val="EAECEF"/>
                </a:solidFill>
                <a:latin typeface="Cambria" pitchFamily="34" charset="0"/>
                <a:ea typeface="Cambria" pitchFamily="34" charset="-122"/>
                <a:cs typeface="Cambria" pitchFamily="34" charset="-120"/>
              </a:rPr>
              <a:t>Variable-Size Window</a:t>
            </a:r>
            <a:endParaRPr lang="en-US" sz="4600" dirty="0"/>
          </a:p>
        </p:txBody>
      </p:sp>
      <p:sp>
        <p:nvSpPr>
          <p:cNvPr id="4" name="Text 2"/>
          <p:cNvSpPr/>
          <p:nvPr/>
        </p:nvSpPr>
        <p:spPr>
          <a:xfrm>
            <a:off x="822960" y="3840480"/>
            <a:ext cx="10058400" cy="457200"/>
          </a:xfrm>
          <a:prstGeom prst="rect">
            <a:avLst/>
          </a:prstGeom>
          <a:noFill/>
          <a:ln/>
        </p:spPr>
        <p:txBody>
          <a:bodyPr wrap="square" lIns="0" tIns="0" rIns="0" bIns="0" rtlCol="0" anchor="ctr"/>
          <a:lstStyle/>
          <a:p>
            <a:pPr algn="l" indent="0" marL="0">
              <a:buNone/>
            </a:pPr>
            <a:r>
              <a:rPr lang="en-US" sz="2000" dirty="0">
                <a:solidFill>
                  <a:srgbClr val="F2B441"/>
                </a:solidFill>
                <a:latin typeface="Calibri" pitchFamily="34" charset="0"/>
                <a:ea typeface="Calibri" pitchFamily="34" charset="-122"/>
                <a:cs typeface="Calibri" pitchFamily="34" charset="-120"/>
              </a:rPr>
              <a:t>The Two Pointers — Wet Chairs, AIO 2015</a:t>
            </a:r>
            <a:endParaRPr lang="en-US" sz="2000" dirty="0"/>
          </a:p>
        </p:txBody>
      </p:sp>
      <p:sp>
        <p:nvSpPr>
          <p:cNvPr id="5" name="Shape 3"/>
          <p:cNvSpPr/>
          <p:nvPr/>
        </p:nvSpPr>
        <p:spPr>
          <a:xfrm>
            <a:off x="822960" y="4754880"/>
            <a:ext cx="548640" cy="548640"/>
          </a:xfrm>
          <a:prstGeom prst="roundRect">
            <a:avLst>
              <a:gd name="adj" fmla="val 10000"/>
            </a:avLst>
          </a:prstGeom>
          <a:solidFill>
            <a:srgbClr val="10312E"/>
          </a:solidFill>
          <a:ln w="15875">
            <a:solidFill>
              <a:srgbClr val="34D8C0"/>
            </a:solidFill>
            <a:prstDash val="solid"/>
          </a:ln>
        </p:spPr>
      </p:sp>
      <p:sp>
        <p:nvSpPr>
          <p:cNvPr id="6" name="Text 4"/>
          <p:cNvSpPr/>
          <p:nvPr/>
        </p:nvSpPr>
        <p:spPr>
          <a:xfrm>
            <a:off x="822960" y="4754880"/>
            <a:ext cx="548640" cy="548640"/>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1</a:t>
            </a:r>
            <a:endParaRPr lang="en-US" sz="1500" dirty="0"/>
          </a:p>
        </p:txBody>
      </p:sp>
      <p:sp>
        <p:nvSpPr>
          <p:cNvPr id="7" name="Shape 5"/>
          <p:cNvSpPr/>
          <p:nvPr/>
        </p:nvSpPr>
        <p:spPr>
          <a:xfrm>
            <a:off x="1481328" y="4754880"/>
            <a:ext cx="548640" cy="548640"/>
          </a:xfrm>
          <a:prstGeom prst="roundRect">
            <a:avLst>
              <a:gd name="adj" fmla="val 10000"/>
            </a:avLst>
          </a:prstGeom>
          <a:solidFill>
            <a:srgbClr val="10312E"/>
          </a:solidFill>
          <a:ln w="15875">
            <a:solidFill>
              <a:srgbClr val="34D8C0"/>
            </a:solidFill>
            <a:prstDash val="solid"/>
          </a:ln>
        </p:spPr>
      </p:sp>
      <p:sp>
        <p:nvSpPr>
          <p:cNvPr id="8" name="Text 6"/>
          <p:cNvSpPr/>
          <p:nvPr/>
        </p:nvSpPr>
        <p:spPr>
          <a:xfrm>
            <a:off x="1481328" y="4754880"/>
            <a:ext cx="548640" cy="548640"/>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0</a:t>
            </a:r>
            <a:endParaRPr lang="en-US" sz="1500" dirty="0"/>
          </a:p>
        </p:txBody>
      </p:sp>
      <p:sp>
        <p:nvSpPr>
          <p:cNvPr id="9" name="Shape 7"/>
          <p:cNvSpPr/>
          <p:nvPr/>
        </p:nvSpPr>
        <p:spPr>
          <a:xfrm>
            <a:off x="2139696" y="4754880"/>
            <a:ext cx="548640" cy="548640"/>
          </a:xfrm>
          <a:prstGeom prst="roundRect">
            <a:avLst>
              <a:gd name="adj" fmla="val 10000"/>
            </a:avLst>
          </a:prstGeom>
          <a:solidFill>
            <a:srgbClr val="10312E"/>
          </a:solidFill>
          <a:ln w="15875">
            <a:solidFill>
              <a:srgbClr val="34D8C0"/>
            </a:solidFill>
            <a:prstDash val="solid"/>
          </a:ln>
        </p:spPr>
      </p:sp>
      <p:sp>
        <p:nvSpPr>
          <p:cNvPr id="10" name="Text 8"/>
          <p:cNvSpPr/>
          <p:nvPr/>
        </p:nvSpPr>
        <p:spPr>
          <a:xfrm>
            <a:off x="2139696" y="4754880"/>
            <a:ext cx="548640" cy="548640"/>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1</a:t>
            </a:r>
            <a:endParaRPr lang="en-US" sz="1500" dirty="0"/>
          </a:p>
        </p:txBody>
      </p:sp>
      <p:sp>
        <p:nvSpPr>
          <p:cNvPr id="11" name="Shape 9"/>
          <p:cNvSpPr/>
          <p:nvPr/>
        </p:nvSpPr>
        <p:spPr>
          <a:xfrm>
            <a:off x="2798064" y="4754880"/>
            <a:ext cx="548640" cy="548640"/>
          </a:xfrm>
          <a:prstGeom prst="roundRect">
            <a:avLst>
              <a:gd name="adj" fmla="val 10000"/>
            </a:avLst>
          </a:prstGeom>
          <a:solidFill>
            <a:srgbClr val="10312E"/>
          </a:solidFill>
          <a:ln w="15875">
            <a:solidFill>
              <a:srgbClr val="34D8C0"/>
            </a:solidFill>
            <a:prstDash val="solid"/>
          </a:ln>
        </p:spPr>
      </p:sp>
      <p:sp>
        <p:nvSpPr>
          <p:cNvPr id="12" name="Text 10"/>
          <p:cNvSpPr/>
          <p:nvPr/>
        </p:nvSpPr>
        <p:spPr>
          <a:xfrm>
            <a:off x="2798064" y="4754880"/>
            <a:ext cx="548640" cy="548640"/>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1</a:t>
            </a:r>
            <a:endParaRPr lang="en-US" sz="1500" dirty="0"/>
          </a:p>
        </p:txBody>
      </p:sp>
      <p:sp>
        <p:nvSpPr>
          <p:cNvPr id="13" name="Shape 11"/>
          <p:cNvSpPr/>
          <p:nvPr/>
        </p:nvSpPr>
        <p:spPr>
          <a:xfrm>
            <a:off x="3456432" y="4754880"/>
            <a:ext cx="548640" cy="548640"/>
          </a:xfrm>
          <a:prstGeom prst="roundRect">
            <a:avLst>
              <a:gd name="adj" fmla="val 10000"/>
            </a:avLst>
          </a:prstGeom>
          <a:solidFill>
            <a:srgbClr val="10312E"/>
          </a:solidFill>
          <a:ln w="15875">
            <a:solidFill>
              <a:srgbClr val="34D8C0"/>
            </a:solidFill>
            <a:prstDash val="solid"/>
          </a:ln>
        </p:spPr>
      </p:sp>
      <p:sp>
        <p:nvSpPr>
          <p:cNvPr id="14" name="Text 12"/>
          <p:cNvSpPr/>
          <p:nvPr/>
        </p:nvSpPr>
        <p:spPr>
          <a:xfrm>
            <a:off x="3456432" y="4754880"/>
            <a:ext cx="548640" cy="548640"/>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0</a:t>
            </a:r>
            <a:endParaRPr lang="en-US" sz="1500" dirty="0"/>
          </a:p>
        </p:txBody>
      </p:sp>
      <p:sp>
        <p:nvSpPr>
          <p:cNvPr id="15" name="Shape 13"/>
          <p:cNvSpPr/>
          <p:nvPr/>
        </p:nvSpPr>
        <p:spPr>
          <a:xfrm>
            <a:off x="4114800" y="4754880"/>
            <a:ext cx="548640" cy="548640"/>
          </a:xfrm>
          <a:prstGeom prst="roundRect">
            <a:avLst>
              <a:gd name="adj" fmla="val 10000"/>
            </a:avLst>
          </a:prstGeom>
          <a:solidFill>
            <a:srgbClr val="20242E"/>
          </a:solidFill>
          <a:ln w="15875">
            <a:solidFill>
              <a:srgbClr val="2A3140"/>
            </a:solidFill>
            <a:prstDash val="solid"/>
          </a:ln>
        </p:spPr>
      </p:sp>
      <p:sp>
        <p:nvSpPr>
          <p:cNvPr id="16" name="Text 14"/>
          <p:cNvSpPr/>
          <p:nvPr/>
        </p:nvSpPr>
        <p:spPr>
          <a:xfrm>
            <a:off x="4114800" y="4754880"/>
            <a:ext cx="548640" cy="548640"/>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1</a:t>
            </a:r>
            <a:endParaRPr lang="en-US" sz="1500" dirty="0"/>
          </a:p>
        </p:txBody>
      </p:sp>
      <p:sp>
        <p:nvSpPr>
          <p:cNvPr id="17" name="Shape 15"/>
          <p:cNvSpPr/>
          <p:nvPr/>
        </p:nvSpPr>
        <p:spPr>
          <a:xfrm>
            <a:off x="4773168" y="4754880"/>
            <a:ext cx="548640" cy="548640"/>
          </a:xfrm>
          <a:prstGeom prst="roundRect">
            <a:avLst>
              <a:gd name="adj" fmla="val 10000"/>
            </a:avLst>
          </a:prstGeom>
          <a:solidFill>
            <a:srgbClr val="20242E"/>
          </a:solidFill>
          <a:ln w="15875">
            <a:solidFill>
              <a:srgbClr val="2A3140"/>
            </a:solidFill>
            <a:prstDash val="solid"/>
          </a:ln>
        </p:spPr>
      </p:sp>
      <p:sp>
        <p:nvSpPr>
          <p:cNvPr id="18" name="Text 16"/>
          <p:cNvSpPr/>
          <p:nvPr/>
        </p:nvSpPr>
        <p:spPr>
          <a:xfrm>
            <a:off x="4773168" y="4754880"/>
            <a:ext cx="548640" cy="548640"/>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0</a:t>
            </a:r>
            <a:endParaRPr lang="en-US" sz="1500" dirty="0"/>
          </a:p>
        </p:txBody>
      </p:sp>
      <p:sp>
        <p:nvSpPr>
          <p:cNvPr id="19" name="Shape 17"/>
          <p:cNvSpPr/>
          <p:nvPr/>
        </p:nvSpPr>
        <p:spPr>
          <a:xfrm>
            <a:off x="5431536" y="4754880"/>
            <a:ext cx="548640" cy="548640"/>
          </a:xfrm>
          <a:prstGeom prst="roundRect">
            <a:avLst>
              <a:gd name="adj" fmla="val 10000"/>
            </a:avLst>
          </a:prstGeom>
          <a:solidFill>
            <a:srgbClr val="20242E"/>
          </a:solidFill>
          <a:ln w="15875">
            <a:solidFill>
              <a:srgbClr val="2A3140"/>
            </a:solidFill>
            <a:prstDash val="solid"/>
          </a:ln>
        </p:spPr>
      </p:sp>
      <p:sp>
        <p:nvSpPr>
          <p:cNvPr id="20" name="Text 18"/>
          <p:cNvSpPr/>
          <p:nvPr/>
        </p:nvSpPr>
        <p:spPr>
          <a:xfrm>
            <a:off x="5431536" y="4754880"/>
            <a:ext cx="548640" cy="548640"/>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1</a:t>
            </a:r>
            <a:endParaRPr lang="en-US" sz="1500" dirty="0"/>
          </a:p>
        </p:txBody>
      </p:sp>
      <p:sp>
        <p:nvSpPr>
          <p:cNvPr id="21" name="Shape 19"/>
          <p:cNvSpPr/>
          <p:nvPr/>
        </p:nvSpPr>
        <p:spPr>
          <a:xfrm>
            <a:off x="6089904" y="4754880"/>
            <a:ext cx="548640" cy="548640"/>
          </a:xfrm>
          <a:prstGeom prst="roundRect">
            <a:avLst>
              <a:gd name="adj" fmla="val 10000"/>
            </a:avLst>
          </a:prstGeom>
          <a:solidFill>
            <a:srgbClr val="20242E"/>
          </a:solidFill>
          <a:ln w="15875">
            <a:solidFill>
              <a:srgbClr val="2A3140"/>
            </a:solidFill>
            <a:prstDash val="solid"/>
          </a:ln>
        </p:spPr>
      </p:sp>
      <p:sp>
        <p:nvSpPr>
          <p:cNvPr id="22" name="Text 20"/>
          <p:cNvSpPr/>
          <p:nvPr/>
        </p:nvSpPr>
        <p:spPr>
          <a:xfrm>
            <a:off x="6089904" y="4754880"/>
            <a:ext cx="548640" cy="548640"/>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1</a:t>
            </a:r>
            <a:endParaRPr lang="en-US" sz="1500" dirty="0"/>
          </a:p>
        </p:txBody>
      </p:sp>
      <p:sp>
        <p:nvSpPr>
          <p:cNvPr id="23" name="Shape 21"/>
          <p:cNvSpPr/>
          <p:nvPr/>
        </p:nvSpPr>
        <p:spPr>
          <a:xfrm>
            <a:off x="6748272" y="4754880"/>
            <a:ext cx="548640" cy="548640"/>
          </a:xfrm>
          <a:prstGeom prst="roundRect">
            <a:avLst>
              <a:gd name="adj" fmla="val 10000"/>
            </a:avLst>
          </a:prstGeom>
          <a:solidFill>
            <a:srgbClr val="20242E"/>
          </a:solidFill>
          <a:ln w="15875">
            <a:solidFill>
              <a:srgbClr val="2A3140"/>
            </a:solidFill>
            <a:prstDash val="solid"/>
          </a:ln>
        </p:spPr>
      </p:sp>
      <p:sp>
        <p:nvSpPr>
          <p:cNvPr id="24" name="Text 22"/>
          <p:cNvSpPr/>
          <p:nvPr/>
        </p:nvSpPr>
        <p:spPr>
          <a:xfrm>
            <a:off x="6748272" y="4754880"/>
            <a:ext cx="548640" cy="548640"/>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1</a:t>
            </a:r>
            <a:endParaRPr lang="en-US" sz="1500" dirty="0"/>
          </a:p>
        </p:txBody>
      </p:sp>
      <p:sp>
        <p:nvSpPr>
          <p:cNvPr id="25" name="Text 23"/>
          <p:cNvSpPr/>
          <p:nvPr/>
        </p:nvSpPr>
        <p:spPr>
          <a:xfrm>
            <a:off x="822960" y="5321808"/>
            <a:ext cx="548640" cy="219456"/>
          </a:xfrm>
          <a:prstGeom prst="rect">
            <a:avLst/>
          </a:prstGeom>
          <a:noFill/>
          <a:ln/>
        </p:spPr>
        <p:txBody>
          <a:bodyPr wrap="square" lIns="0" tIns="0" rIns="0" bIns="0" rtlCol="0" anchor="ctr"/>
          <a:lstStyle/>
          <a:p>
            <a:pPr algn="ctr" indent="0" marL="0">
              <a:buNone/>
            </a:pPr>
            <a:r>
              <a:rPr lang="en-US" sz="1200" dirty="0">
                <a:solidFill>
                  <a:srgbClr val="34D8C0"/>
                </a:solidFill>
                <a:latin typeface="Calibri" pitchFamily="34" charset="0"/>
                <a:ea typeface="Calibri" pitchFamily="34" charset="-122"/>
                <a:cs typeface="Calibri" pitchFamily="34" charset="-120"/>
              </a:rPr>
              <a:t>▲</a:t>
            </a:r>
            <a:endParaRPr lang="en-US" sz="1200" dirty="0"/>
          </a:p>
        </p:txBody>
      </p:sp>
      <p:sp>
        <p:nvSpPr>
          <p:cNvPr id="26" name="Text 24"/>
          <p:cNvSpPr/>
          <p:nvPr/>
        </p:nvSpPr>
        <p:spPr>
          <a:xfrm>
            <a:off x="822960" y="5522976"/>
            <a:ext cx="548640" cy="237744"/>
          </a:xfrm>
          <a:prstGeom prst="rect">
            <a:avLst/>
          </a:prstGeom>
          <a:noFill/>
          <a:ln/>
        </p:spPr>
        <p:txBody>
          <a:bodyPr wrap="square" lIns="0" tIns="0" rIns="0" bIns="0" rtlCol="0" anchor="ctr"/>
          <a:lstStyle/>
          <a:p>
            <a:pPr algn="ctr" indent="0" marL="0">
              <a:buNone/>
            </a:pPr>
            <a:r>
              <a:rPr lang="en-US" sz="1300" b="1" dirty="0">
                <a:solidFill>
                  <a:srgbClr val="34D8C0"/>
                </a:solidFill>
                <a:latin typeface="Courier New" pitchFamily="34" charset="0"/>
                <a:ea typeface="Courier New" pitchFamily="34" charset="-122"/>
                <a:cs typeface="Courier New" pitchFamily="34" charset="-120"/>
              </a:rPr>
              <a:t>l</a:t>
            </a:r>
            <a:endParaRPr lang="en-US" sz="1300" dirty="0"/>
          </a:p>
        </p:txBody>
      </p:sp>
      <p:sp>
        <p:nvSpPr>
          <p:cNvPr id="27" name="Text 25"/>
          <p:cNvSpPr/>
          <p:nvPr/>
        </p:nvSpPr>
        <p:spPr>
          <a:xfrm>
            <a:off x="3456432" y="5321808"/>
            <a:ext cx="548640" cy="219456"/>
          </a:xfrm>
          <a:prstGeom prst="rect">
            <a:avLst/>
          </a:prstGeom>
          <a:noFill/>
          <a:ln/>
        </p:spPr>
        <p:txBody>
          <a:bodyPr wrap="square" lIns="0" tIns="0" rIns="0" bIns="0" rtlCol="0" anchor="ctr"/>
          <a:lstStyle/>
          <a:p>
            <a:pPr algn="ctr" indent="0" marL="0">
              <a:buNone/>
            </a:pPr>
            <a:r>
              <a:rPr lang="en-US" sz="1200" dirty="0">
                <a:solidFill>
                  <a:srgbClr val="F2B441"/>
                </a:solidFill>
                <a:latin typeface="Calibri" pitchFamily="34" charset="0"/>
                <a:ea typeface="Calibri" pitchFamily="34" charset="-122"/>
                <a:cs typeface="Calibri" pitchFamily="34" charset="-120"/>
              </a:rPr>
              <a:t>▲</a:t>
            </a:r>
            <a:endParaRPr lang="en-US" sz="1200" dirty="0"/>
          </a:p>
        </p:txBody>
      </p:sp>
      <p:sp>
        <p:nvSpPr>
          <p:cNvPr id="28" name="Text 26"/>
          <p:cNvSpPr/>
          <p:nvPr/>
        </p:nvSpPr>
        <p:spPr>
          <a:xfrm>
            <a:off x="3456432" y="5522976"/>
            <a:ext cx="548640" cy="237744"/>
          </a:xfrm>
          <a:prstGeom prst="rect">
            <a:avLst/>
          </a:prstGeom>
          <a:noFill/>
          <a:ln/>
        </p:spPr>
        <p:txBody>
          <a:bodyPr wrap="square" lIns="0" tIns="0" rIns="0" bIns="0" rtlCol="0" anchor="ctr"/>
          <a:lstStyle/>
          <a:p>
            <a:pPr algn="ctr" indent="0" marL="0">
              <a:buNone/>
            </a:pPr>
            <a:r>
              <a:rPr lang="en-US" sz="1300" b="1" dirty="0">
                <a:solidFill>
                  <a:srgbClr val="F2B441"/>
                </a:solidFill>
                <a:latin typeface="Courier New" pitchFamily="34" charset="0"/>
                <a:ea typeface="Courier New" pitchFamily="34" charset="-122"/>
                <a:cs typeface="Courier New" pitchFamily="34" charset="-120"/>
              </a:rPr>
              <a:t>r</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71F"/>
        </a:solidFill>
      </p:bgPr>
    </p:bg>
    <p:spTree>
      <p:nvGrpSpPr>
        <p:cNvPr id="1" name=""/>
        <p:cNvGrpSpPr/>
        <p:nvPr/>
      </p:nvGrpSpPr>
      <p:grpSpPr>
        <a:xfrm>
          <a:off x="0" y="0"/>
          <a:ext cx="0" cy="0"/>
          <a:chOff x="0" y="0"/>
          <a:chExt cx="0" cy="0"/>
        </a:xfrm>
      </p:grpSpPr>
      <p:sp>
        <p:nvSpPr>
          <p:cNvPr id="2" name="Text 0"/>
          <p:cNvSpPr/>
          <p:nvPr/>
        </p:nvSpPr>
        <p:spPr>
          <a:xfrm>
            <a:off x="502920" y="457200"/>
            <a:ext cx="3657600" cy="292608"/>
          </a:xfrm>
          <a:prstGeom prst="rect">
            <a:avLst/>
          </a:prstGeom>
          <a:noFill/>
          <a:ln/>
        </p:spPr>
        <p:txBody>
          <a:bodyPr wrap="square" lIns="0" tIns="0" rIns="0" bIns="0" rtlCol="0" anchor="ctr"/>
          <a:lstStyle/>
          <a:p>
            <a:pPr algn="l" indent="0" marL="0">
              <a:buNone/>
            </a:pPr>
            <a:r>
              <a:rPr lang="en-US" sz="1200" b="1" spc="300" kern="0" dirty="0">
                <a:solidFill>
                  <a:srgbClr val="F2B441"/>
                </a:solidFill>
                <a:latin typeface="Calibri" pitchFamily="34" charset="0"/>
                <a:ea typeface="Calibri" pitchFamily="34" charset="-122"/>
                <a:cs typeface="Calibri" pitchFamily="34" charset="-120"/>
              </a:rPr>
              <a:t>TWO POINTERS · PROBLEM</a:t>
            </a:r>
            <a:endParaRPr lang="en-US" sz="1200" dirty="0"/>
          </a:p>
        </p:txBody>
      </p:sp>
      <p:sp>
        <p:nvSpPr>
          <p:cNvPr id="3" name="Text 1"/>
          <p:cNvSpPr/>
          <p:nvPr/>
        </p:nvSpPr>
        <p:spPr>
          <a:xfrm>
            <a:off x="502920" y="777240"/>
            <a:ext cx="11155680" cy="822960"/>
          </a:xfrm>
          <a:prstGeom prst="rect">
            <a:avLst/>
          </a:prstGeom>
          <a:noFill/>
          <a:ln/>
        </p:spPr>
        <p:txBody>
          <a:bodyPr wrap="square" lIns="0" tIns="0" rIns="0" bIns="0" rtlCol="0" anchor="ctr"/>
          <a:lstStyle/>
          <a:p>
            <a:pPr algn="l" indent="0" marL="0">
              <a:buNone/>
            </a:pPr>
            <a:r>
              <a:rPr lang="en-US" sz="3400" b="1" dirty="0">
                <a:solidFill>
                  <a:srgbClr val="EAECEF"/>
                </a:solidFill>
                <a:latin typeface="Cambria" pitchFamily="34" charset="0"/>
                <a:ea typeface="Cambria" pitchFamily="34" charset="-122"/>
                <a:cs typeface="Cambria" pitchFamily="34" charset="-120"/>
              </a:rPr>
              <a:t>Wet Chairs (AIO 2015)</a:t>
            </a:r>
            <a:endParaRPr lang="en-US" sz="3400" dirty="0"/>
          </a:p>
        </p:txBody>
      </p:sp>
      <p:sp>
        <p:nvSpPr>
          <p:cNvPr id="4" name="Shape 2"/>
          <p:cNvSpPr/>
          <p:nvPr/>
        </p:nvSpPr>
        <p:spPr>
          <a:xfrm>
            <a:off x="502920" y="1645920"/>
            <a:ext cx="11155680" cy="1417320"/>
          </a:xfrm>
          <a:prstGeom prst="roundRect">
            <a:avLst>
              <a:gd name="adj" fmla="val 5806"/>
            </a:avLst>
          </a:prstGeom>
          <a:solidFill>
            <a:srgbClr val="2A3140"/>
          </a:solidFill>
          <a:ln w="12700">
            <a:solidFill>
              <a:srgbClr val="2A3140"/>
            </a:solidFill>
            <a:prstDash val="solid"/>
          </a:ln>
        </p:spPr>
      </p:sp>
      <p:sp>
        <p:nvSpPr>
          <p:cNvPr id="5" name="Text 3"/>
          <p:cNvSpPr/>
          <p:nvPr/>
        </p:nvSpPr>
        <p:spPr>
          <a:xfrm>
            <a:off x="777240" y="1645920"/>
            <a:ext cx="10607040" cy="1417320"/>
          </a:xfrm>
          <a:prstGeom prst="rect">
            <a:avLst/>
          </a:prstGeom>
          <a:noFill/>
          <a:ln/>
        </p:spPr>
        <p:txBody>
          <a:bodyPr wrap="square" lIns="0" tIns="0" rIns="0" bIns="0" rtlCol="0" anchor="ctr"/>
          <a:lstStyle/>
          <a:p>
            <a:pPr algn="l" indent="0" marL="0">
              <a:buNone/>
            </a:pPr>
            <a:r>
              <a:rPr lang="en-US" sz="1750" b="1" dirty="0">
                <a:solidFill>
                  <a:srgbClr val="F2B441"/>
                </a:solidFill>
                <a:latin typeface="Calibri" pitchFamily="34" charset="0"/>
                <a:ea typeface="Calibri" pitchFamily="34" charset="-122"/>
                <a:cs typeface="Calibri" pitchFamily="34" charset="-120"/>
              </a:rPr>
              <a:t>In one line.  </a:t>
            </a:r>
            <a:pPr algn="l" indent="0" marL="0">
              <a:buNone/>
            </a:pPr>
            <a:r>
              <a:rPr lang="en-US" sz="1750" dirty="0">
                <a:solidFill>
                  <a:srgbClr val="EAECEF"/>
                </a:solidFill>
                <a:latin typeface="Calibri" pitchFamily="34" charset="0"/>
                <a:ea typeface="Calibri" pitchFamily="34" charset="-122"/>
                <a:cs typeface="Calibri" pitchFamily="34" charset="-120"/>
              </a:rPr>
              <a:t>C chairs in a row, each wet or dry. Seat N friends in a contiguous block; at most K tolerate a wet chair. Find the shortest block with ≥ N chairs and ≥ N−K dry ones.</a:t>
            </a:r>
            <a:endParaRPr lang="en-US" sz="1750" dirty="0"/>
          </a:p>
        </p:txBody>
      </p:sp>
      <p:sp>
        <p:nvSpPr>
          <p:cNvPr id="6" name="Text 4"/>
          <p:cNvSpPr/>
          <p:nvPr/>
        </p:nvSpPr>
        <p:spPr>
          <a:xfrm>
            <a:off x="502920" y="3337560"/>
            <a:ext cx="10972800" cy="365760"/>
          </a:xfrm>
          <a:prstGeom prst="rect">
            <a:avLst/>
          </a:prstGeom>
          <a:noFill/>
          <a:ln/>
        </p:spPr>
        <p:txBody>
          <a:bodyPr wrap="square" lIns="0" tIns="0" rIns="0" bIns="0" rtlCol="0" anchor="ctr"/>
          <a:lstStyle/>
          <a:p>
            <a:pPr algn="l" indent="0" marL="0">
              <a:buNone/>
            </a:pPr>
            <a:r>
              <a:rPr lang="en-US" sz="1450" b="1" dirty="0">
                <a:solidFill>
                  <a:srgbClr val="9AA5B4"/>
                </a:solidFill>
                <a:latin typeface="Calibri" pitchFamily="34" charset="0"/>
                <a:ea typeface="Calibri" pitchFamily="34" charset="-122"/>
                <a:cs typeface="Calibri" pitchFamily="34" charset="-120"/>
              </a:rPr>
              <a:t>Example  (C = 10, N = 5, K = 2  →  need ≥ 5 chairs and ≥ 3 dry)</a:t>
            </a:r>
            <a:endParaRPr lang="en-US" sz="1450" dirty="0"/>
          </a:p>
        </p:txBody>
      </p:sp>
      <p:sp>
        <p:nvSpPr>
          <p:cNvPr id="7" name="Shape 5"/>
          <p:cNvSpPr/>
          <p:nvPr/>
        </p:nvSpPr>
        <p:spPr>
          <a:xfrm>
            <a:off x="1600200" y="3840480"/>
            <a:ext cx="603504" cy="603504"/>
          </a:xfrm>
          <a:prstGeom prst="roundRect">
            <a:avLst>
              <a:gd name="adj" fmla="val 9091"/>
            </a:avLst>
          </a:prstGeom>
          <a:solidFill>
            <a:srgbClr val="10312E"/>
          </a:solidFill>
          <a:ln w="15875">
            <a:solidFill>
              <a:srgbClr val="34D8C0"/>
            </a:solidFill>
            <a:prstDash val="solid"/>
          </a:ln>
        </p:spPr>
      </p:sp>
      <p:sp>
        <p:nvSpPr>
          <p:cNvPr id="8" name="Text 6"/>
          <p:cNvSpPr/>
          <p:nvPr/>
        </p:nvSpPr>
        <p:spPr>
          <a:xfrm>
            <a:off x="1600200" y="3840480"/>
            <a:ext cx="603504" cy="603504"/>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1</a:t>
            </a:r>
            <a:endParaRPr lang="en-US" sz="1500" dirty="0"/>
          </a:p>
        </p:txBody>
      </p:sp>
      <p:sp>
        <p:nvSpPr>
          <p:cNvPr id="9" name="Shape 7"/>
          <p:cNvSpPr/>
          <p:nvPr/>
        </p:nvSpPr>
        <p:spPr>
          <a:xfrm>
            <a:off x="2322576" y="3840480"/>
            <a:ext cx="603504" cy="603504"/>
          </a:xfrm>
          <a:prstGeom prst="roundRect">
            <a:avLst>
              <a:gd name="adj" fmla="val 9091"/>
            </a:avLst>
          </a:prstGeom>
          <a:solidFill>
            <a:srgbClr val="10312E"/>
          </a:solidFill>
          <a:ln w="15875">
            <a:solidFill>
              <a:srgbClr val="34D8C0"/>
            </a:solidFill>
            <a:prstDash val="solid"/>
          </a:ln>
        </p:spPr>
      </p:sp>
      <p:sp>
        <p:nvSpPr>
          <p:cNvPr id="10" name="Text 8"/>
          <p:cNvSpPr/>
          <p:nvPr/>
        </p:nvSpPr>
        <p:spPr>
          <a:xfrm>
            <a:off x="2322576" y="3840480"/>
            <a:ext cx="603504" cy="603504"/>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0</a:t>
            </a:r>
            <a:endParaRPr lang="en-US" sz="1500" dirty="0"/>
          </a:p>
        </p:txBody>
      </p:sp>
      <p:sp>
        <p:nvSpPr>
          <p:cNvPr id="11" name="Shape 9"/>
          <p:cNvSpPr/>
          <p:nvPr/>
        </p:nvSpPr>
        <p:spPr>
          <a:xfrm>
            <a:off x="3044952" y="3840480"/>
            <a:ext cx="603504" cy="603504"/>
          </a:xfrm>
          <a:prstGeom prst="roundRect">
            <a:avLst>
              <a:gd name="adj" fmla="val 9091"/>
            </a:avLst>
          </a:prstGeom>
          <a:solidFill>
            <a:srgbClr val="10312E"/>
          </a:solidFill>
          <a:ln w="15875">
            <a:solidFill>
              <a:srgbClr val="34D8C0"/>
            </a:solidFill>
            <a:prstDash val="solid"/>
          </a:ln>
        </p:spPr>
      </p:sp>
      <p:sp>
        <p:nvSpPr>
          <p:cNvPr id="12" name="Text 10"/>
          <p:cNvSpPr/>
          <p:nvPr/>
        </p:nvSpPr>
        <p:spPr>
          <a:xfrm>
            <a:off x="3044952" y="3840480"/>
            <a:ext cx="603504" cy="603504"/>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1</a:t>
            </a:r>
            <a:endParaRPr lang="en-US" sz="1500" dirty="0"/>
          </a:p>
        </p:txBody>
      </p:sp>
      <p:sp>
        <p:nvSpPr>
          <p:cNvPr id="13" name="Shape 11"/>
          <p:cNvSpPr/>
          <p:nvPr/>
        </p:nvSpPr>
        <p:spPr>
          <a:xfrm>
            <a:off x="3767328" y="3840480"/>
            <a:ext cx="603504" cy="603504"/>
          </a:xfrm>
          <a:prstGeom prst="roundRect">
            <a:avLst>
              <a:gd name="adj" fmla="val 9091"/>
            </a:avLst>
          </a:prstGeom>
          <a:solidFill>
            <a:srgbClr val="10312E"/>
          </a:solidFill>
          <a:ln w="15875">
            <a:solidFill>
              <a:srgbClr val="34D8C0"/>
            </a:solidFill>
            <a:prstDash val="solid"/>
          </a:ln>
        </p:spPr>
      </p:sp>
      <p:sp>
        <p:nvSpPr>
          <p:cNvPr id="14" name="Text 12"/>
          <p:cNvSpPr/>
          <p:nvPr/>
        </p:nvSpPr>
        <p:spPr>
          <a:xfrm>
            <a:off x="3767328" y="3840480"/>
            <a:ext cx="603504" cy="603504"/>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1</a:t>
            </a:r>
            <a:endParaRPr lang="en-US" sz="1500" dirty="0"/>
          </a:p>
        </p:txBody>
      </p:sp>
      <p:sp>
        <p:nvSpPr>
          <p:cNvPr id="15" name="Shape 13"/>
          <p:cNvSpPr/>
          <p:nvPr/>
        </p:nvSpPr>
        <p:spPr>
          <a:xfrm>
            <a:off x="4489704" y="3840480"/>
            <a:ext cx="603504" cy="603504"/>
          </a:xfrm>
          <a:prstGeom prst="roundRect">
            <a:avLst>
              <a:gd name="adj" fmla="val 9091"/>
            </a:avLst>
          </a:prstGeom>
          <a:solidFill>
            <a:srgbClr val="10312E"/>
          </a:solidFill>
          <a:ln w="15875">
            <a:solidFill>
              <a:srgbClr val="34D8C0"/>
            </a:solidFill>
            <a:prstDash val="solid"/>
          </a:ln>
        </p:spPr>
      </p:sp>
      <p:sp>
        <p:nvSpPr>
          <p:cNvPr id="16" name="Text 14"/>
          <p:cNvSpPr/>
          <p:nvPr/>
        </p:nvSpPr>
        <p:spPr>
          <a:xfrm>
            <a:off x="4489704" y="3840480"/>
            <a:ext cx="603504" cy="603504"/>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0</a:t>
            </a:r>
            <a:endParaRPr lang="en-US" sz="1500" dirty="0"/>
          </a:p>
        </p:txBody>
      </p:sp>
      <p:sp>
        <p:nvSpPr>
          <p:cNvPr id="17" name="Shape 15"/>
          <p:cNvSpPr/>
          <p:nvPr/>
        </p:nvSpPr>
        <p:spPr>
          <a:xfrm>
            <a:off x="5212080" y="3840480"/>
            <a:ext cx="603504" cy="603504"/>
          </a:xfrm>
          <a:prstGeom prst="roundRect">
            <a:avLst>
              <a:gd name="adj" fmla="val 9091"/>
            </a:avLst>
          </a:prstGeom>
          <a:solidFill>
            <a:srgbClr val="20242E"/>
          </a:solidFill>
          <a:ln w="15875">
            <a:solidFill>
              <a:srgbClr val="2A3140"/>
            </a:solidFill>
            <a:prstDash val="solid"/>
          </a:ln>
        </p:spPr>
      </p:sp>
      <p:sp>
        <p:nvSpPr>
          <p:cNvPr id="18" name="Text 16"/>
          <p:cNvSpPr/>
          <p:nvPr/>
        </p:nvSpPr>
        <p:spPr>
          <a:xfrm>
            <a:off x="5212080" y="3840480"/>
            <a:ext cx="603504" cy="603504"/>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1</a:t>
            </a:r>
            <a:endParaRPr lang="en-US" sz="1500" dirty="0"/>
          </a:p>
        </p:txBody>
      </p:sp>
      <p:sp>
        <p:nvSpPr>
          <p:cNvPr id="19" name="Shape 17"/>
          <p:cNvSpPr/>
          <p:nvPr/>
        </p:nvSpPr>
        <p:spPr>
          <a:xfrm>
            <a:off x="5934456" y="3840480"/>
            <a:ext cx="603504" cy="603504"/>
          </a:xfrm>
          <a:prstGeom prst="roundRect">
            <a:avLst>
              <a:gd name="adj" fmla="val 9091"/>
            </a:avLst>
          </a:prstGeom>
          <a:solidFill>
            <a:srgbClr val="20242E"/>
          </a:solidFill>
          <a:ln w="15875">
            <a:solidFill>
              <a:srgbClr val="2A3140"/>
            </a:solidFill>
            <a:prstDash val="solid"/>
          </a:ln>
        </p:spPr>
      </p:sp>
      <p:sp>
        <p:nvSpPr>
          <p:cNvPr id="20" name="Text 18"/>
          <p:cNvSpPr/>
          <p:nvPr/>
        </p:nvSpPr>
        <p:spPr>
          <a:xfrm>
            <a:off x="5934456" y="3840480"/>
            <a:ext cx="603504" cy="603504"/>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0</a:t>
            </a:r>
            <a:endParaRPr lang="en-US" sz="1500" dirty="0"/>
          </a:p>
        </p:txBody>
      </p:sp>
      <p:sp>
        <p:nvSpPr>
          <p:cNvPr id="21" name="Shape 19"/>
          <p:cNvSpPr/>
          <p:nvPr/>
        </p:nvSpPr>
        <p:spPr>
          <a:xfrm>
            <a:off x="6656832" y="3840480"/>
            <a:ext cx="603504" cy="603504"/>
          </a:xfrm>
          <a:prstGeom prst="roundRect">
            <a:avLst>
              <a:gd name="adj" fmla="val 9091"/>
            </a:avLst>
          </a:prstGeom>
          <a:solidFill>
            <a:srgbClr val="20242E"/>
          </a:solidFill>
          <a:ln w="15875">
            <a:solidFill>
              <a:srgbClr val="2A3140"/>
            </a:solidFill>
            <a:prstDash val="solid"/>
          </a:ln>
        </p:spPr>
      </p:sp>
      <p:sp>
        <p:nvSpPr>
          <p:cNvPr id="22" name="Text 20"/>
          <p:cNvSpPr/>
          <p:nvPr/>
        </p:nvSpPr>
        <p:spPr>
          <a:xfrm>
            <a:off x="6656832" y="3840480"/>
            <a:ext cx="603504" cy="603504"/>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1</a:t>
            </a:r>
            <a:endParaRPr lang="en-US" sz="1500" dirty="0"/>
          </a:p>
        </p:txBody>
      </p:sp>
      <p:sp>
        <p:nvSpPr>
          <p:cNvPr id="23" name="Shape 21"/>
          <p:cNvSpPr/>
          <p:nvPr/>
        </p:nvSpPr>
        <p:spPr>
          <a:xfrm>
            <a:off x="7379208" y="3840480"/>
            <a:ext cx="603504" cy="603504"/>
          </a:xfrm>
          <a:prstGeom prst="roundRect">
            <a:avLst>
              <a:gd name="adj" fmla="val 9091"/>
            </a:avLst>
          </a:prstGeom>
          <a:solidFill>
            <a:srgbClr val="20242E"/>
          </a:solidFill>
          <a:ln w="15875">
            <a:solidFill>
              <a:srgbClr val="2A3140"/>
            </a:solidFill>
            <a:prstDash val="solid"/>
          </a:ln>
        </p:spPr>
      </p:sp>
      <p:sp>
        <p:nvSpPr>
          <p:cNvPr id="24" name="Text 22"/>
          <p:cNvSpPr/>
          <p:nvPr/>
        </p:nvSpPr>
        <p:spPr>
          <a:xfrm>
            <a:off x="7379208" y="3840480"/>
            <a:ext cx="603504" cy="603504"/>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1</a:t>
            </a:r>
            <a:endParaRPr lang="en-US" sz="1500" dirty="0"/>
          </a:p>
        </p:txBody>
      </p:sp>
      <p:sp>
        <p:nvSpPr>
          <p:cNvPr id="25" name="Shape 23"/>
          <p:cNvSpPr/>
          <p:nvPr/>
        </p:nvSpPr>
        <p:spPr>
          <a:xfrm>
            <a:off x="8101584" y="3840480"/>
            <a:ext cx="603504" cy="603504"/>
          </a:xfrm>
          <a:prstGeom prst="roundRect">
            <a:avLst>
              <a:gd name="adj" fmla="val 9091"/>
            </a:avLst>
          </a:prstGeom>
          <a:solidFill>
            <a:srgbClr val="20242E"/>
          </a:solidFill>
          <a:ln w="15875">
            <a:solidFill>
              <a:srgbClr val="2A3140"/>
            </a:solidFill>
            <a:prstDash val="solid"/>
          </a:ln>
        </p:spPr>
      </p:sp>
      <p:sp>
        <p:nvSpPr>
          <p:cNvPr id="26" name="Text 24"/>
          <p:cNvSpPr/>
          <p:nvPr/>
        </p:nvSpPr>
        <p:spPr>
          <a:xfrm>
            <a:off x="8101584" y="3840480"/>
            <a:ext cx="603504" cy="603504"/>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1</a:t>
            </a:r>
            <a:endParaRPr lang="en-US" sz="1500" dirty="0"/>
          </a:p>
        </p:txBody>
      </p:sp>
      <p:sp>
        <p:nvSpPr>
          <p:cNvPr id="27" name="Text 25"/>
          <p:cNvSpPr/>
          <p:nvPr/>
        </p:nvSpPr>
        <p:spPr>
          <a:xfrm>
            <a:off x="1600200" y="4462272"/>
            <a:ext cx="603504" cy="219456"/>
          </a:xfrm>
          <a:prstGeom prst="rect">
            <a:avLst/>
          </a:prstGeom>
          <a:noFill/>
          <a:ln/>
        </p:spPr>
        <p:txBody>
          <a:bodyPr wrap="square" lIns="0" tIns="0" rIns="0" bIns="0" rtlCol="0" anchor="ctr"/>
          <a:lstStyle/>
          <a:p>
            <a:pPr algn="ctr" indent="0" marL="0">
              <a:buNone/>
            </a:pPr>
            <a:r>
              <a:rPr lang="en-US" sz="1200" dirty="0">
                <a:solidFill>
                  <a:srgbClr val="34D8C0"/>
                </a:solidFill>
                <a:latin typeface="Calibri" pitchFamily="34" charset="0"/>
                <a:ea typeface="Calibri" pitchFamily="34" charset="-122"/>
                <a:cs typeface="Calibri" pitchFamily="34" charset="-120"/>
              </a:rPr>
              <a:t>▲</a:t>
            </a:r>
            <a:endParaRPr lang="en-US" sz="1200" dirty="0"/>
          </a:p>
        </p:txBody>
      </p:sp>
      <p:sp>
        <p:nvSpPr>
          <p:cNvPr id="28" name="Text 26"/>
          <p:cNvSpPr/>
          <p:nvPr/>
        </p:nvSpPr>
        <p:spPr>
          <a:xfrm>
            <a:off x="1600200" y="4663440"/>
            <a:ext cx="603504" cy="237744"/>
          </a:xfrm>
          <a:prstGeom prst="rect">
            <a:avLst/>
          </a:prstGeom>
          <a:noFill/>
          <a:ln/>
        </p:spPr>
        <p:txBody>
          <a:bodyPr wrap="square" lIns="0" tIns="0" rIns="0" bIns="0" rtlCol="0" anchor="ctr"/>
          <a:lstStyle/>
          <a:p>
            <a:pPr algn="ctr" indent="0" marL="0">
              <a:buNone/>
            </a:pPr>
            <a:r>
              <a:rPr lang="en-US" sz="1300" b="1" dirty="0">
                <a:solidFill>
                  <a:srgbClr val="34D8C0"/>
                </a:solidFill>
                <a:latin typeface="Courier New" pitchFamily="34" charset="0"/>
                <a:ea typeface="Courier New" pitchFamily="34" charset="-122"/>
                <a:cs typeface="Courier New" pitchFamily="34" charset="-120"/>
              </a:rPr>
              <a:t>l</a:t>
            </a:r>
            <a:endParaRPr lang="en-US" sz="1300" dirty="0"/>
          </a:p>
        </p:txBody>
      </p:sp>
      <p:sp>
        <p:nvSpPr>
          <p:cNvPr id="29" name="Text 27"/>
          <p:cNvSpPr/>
          <p:nvPr/>
        </p:nvSpPr>
        <p:spPr>
          <a:xfrm>
            <a:off x="4489704" y="4462272"/>
            <a:ext cx="603504" cy="219456"/>
          </a:xfrm>
          <a:prstGeom prst="rect">
            <a:avLst/>
          </a:prstGeom>
          <a:noFill/>
          <a:ln/>
        </p:spPr>
        <p:txBody>
          <a:bodyPr wrap="square" lIns="0" tIns="0" rIns="0" bIns="0" rtlCol="0" anchor="ctr"/>
          <a:lstStyle/>
          <a:p>
            <a:pPr algn="ctr" indent="0" marL="0">
              <a:buNone/>
            </a:pPr>
            <a:r>
              <a:rPr lang="en-US" sz="1200" dirty="0">
                <a:solidFill>
                  <a:srgbClr val="F2B441"/>
                </a:solidFill>
                <a:latin typeface="Calibri" pitchFamily="34" charset="0"/>
                <a:ea typeface="Calibri" pitchFamily="34" charset="-122"/>
                <a:cs typeface="Calibri" pitchFamily="34" charset="-120"/>
              </a:rPr>
              <a:t>▲</a:t>
            </a:r>
            <a:endParaRPr lang="en-US" sz="1200" dirty="0"/>
          </a:p>
        </p:txBody>
      </p:sp>
      <p:sp>
        <p:nvSpPr>
          <p:cNvPr id="30" name="Text 28"/>
          <p:cNvSpPr/>
          <p:nvPr/>
        </p:nvSpPr>
        <p:spPr>
          <a:xfrm>
            <a:off x="4489704" y="4663440"/>
            <a:ext cx="603504" cy="237744"/>
          </a:xfrm>
          <a:prstGeom prst="rect">
            <a:avLst/>
          </a:prstGeom>
          <a:noFill/>
          <a:ln/>
        </p:spPr>
        <p:txBody>
          <a:bodyPr wrap="square" lIns="0" tIns="0" rIns="0" bIns="0" rtlCol="0" anchor="ctr"/>
          <a:lstStyle/>
          <a:p>
            <a:pPr algn="ctr" indent="0" marL="0">
              <a:buNone/>
            </a:pPr>
            <a:r>
              <a:rPr lang="en-US" sz="1300" b="1" dirty="0">
                <a:solidFill>
                  <a:srgbClr val="F2B441"/>
                </a:solidFill>
                <a:latin typeface="Courier New" pitchFamily="34" charset="0"/>
                <a:ea typeface="Courier New" pitchFamily="34" charset="-122"/>
                <a:cs typeface="Courier New" pitchFamily="34" charset="-120"/>
              </a:rPr>
              <a:t>r</a:t>
            </a:r>
            <a:endParaRPr lang="en-US" sz="1300" dirty="0"/>
          </a:p>
        </p:txBody>
      </p:sp>
      <p:sp>
        <p:nvSpPr>
          <p:cNvPr id="31" name="Text 29"/>
          <p:cNvSpPr/>
          <p:nvPr/>
        </p:nvSpPr>
        <p:spPr>
          <a:xfrm>
            <a:off x="1600200" y="4892040"/>
            <a:ext cx="3657600" cy="320040"/>
          </a:xfrm>
          <a:prstGeom prst="rect">
            <a:avLst/>
          </a:prstGeom>
          <a:noFill/>
          <a:ln/>
        </p:spPr>
        <p:txBody>
          <a:bodyPr wrap="square" lIns="0" tIns="0" rIns="0" bIns="0" rtlCol="0" anchor="ctr"/>
          <a:lstStyle/>
          <a:p>
            <a:pPr algn="l" indent="0" marL="0">
              <a:buNone/>
            </a:pPr>
            <a:r>
              <a:rPr lang="en-US" sz="1250" i="1" dirty="0">
                <a:solidFill>
                  <a:srgbClr val="9AA5B4"/>
                </a:solidFill>
                <a:latin typeface="Courier New" pitchFamily="34" charset="0"/>
                <a:ea typeface="Courier New" pitchFamily="34" charset="-122"/>
                <a:cs typeface="Courier New" pitchFamily="34" charset="-120"/>
              </a:rPr>
              <a:t>1 = dry, 0 = wet</a:t>
            </a:r>
            <a:endParaRPr lang="en-US" sz="1250" dirty="0"/>
          </a:p>
        </p:txBody>
      </p:sp>
      <p:sp>
        <p:nvSpPr>
          <p:cNvPr id="32" name="Text 30"/>
          <p:cNvSpPr/>
          <p:nvPr/>
        </p:nvSpPr>
        <p:spPr>
          <a:xfrm>
            <a:off x="5852160" y="4114800"/>
            <a:ext cx="5029200" cy="457200"/>
          </a:xfrm>
          <a:prstGeom prst="rect">
            <a:avLst/>
          </a:prstGeom>
          <a:noFill/>
          <a:ln/>
        </p:spPr>
        <p:txBody>
          <a:bodyPr wrap="square" lIns="0" tIns="0" rIns="0" bIns="0" rtlCol="0" anchor="ctr"/>
          <a:lstStyle/>
          <a:p>
            <a:pPr algn="l" indent="0" marL="0">
              <a:buNone/>
            </a:pPr>
            <a:r>
              <a:rPr lang="en-US" sz="1500" i="1" dirty="0">
                <a:solidFill>
                  <a:srgbClr val="4ADE80"/>
                </a:solidFill>
                <a:latin typeface="Calibri" pitchFamily="34" charset="0"/>
                <a:ea typeface="Calibri" pitchFamily="34" charset="-122"/>
                <a:cs typeface="Calibri" pitchFamily="34" charset="-120"/>
              </a:rPr>
              <a:t>Shortest valid block here has length 5.</a:t>
            </a:r>
            <a:endParaRPr lang="en-US" sz="1500" dirty="0"/>
          </a:p>
        </p:txBody>
      </p:sp>
      <p:sp>
        <p:nvSpPr>
          <p:cNvPr id="33" name="Text 31"/>
          <p:cNvSpPr/>
          <p:nvPr/>
        </p:nvSpPr>
        <p:spPr>
          <a:xfrm>
            <a:off x="502920" y="6455664"/>
            <a:ext cx="5486400" cy="274320"/>
          </a:xfrm>
          <a:prstGeom prst="rect">
            <a:avLst/>
          </a:prstGeom>
          <a:noFill/>
          <a:ln/>
        </p:spPr>
        <p:txBody>
          <a:bodyPr wrap="square" lIns="0" tIns="0" rIns="0" bIns="0" rtlCol="0" anchor="ctr"/>
          <a:lstStyle/>
          <a:p>
            <a:pPr algn="l" indent="0" marL="0">
              <a:buNone/>
            </a:pPr>
            <a:r>
              <a:rPr lang="en-US" sz="1000" dirty="0">
                <a:solidFill>
                  <a:srgbClr val="9AA5B4"/>
                </a:solidFill>
                <a:latin typeface="Calibri" pitchFamily="34" charset="0"/>
                <a:ea typeface="Calibri" pitchFamily="34" charset="-122"/>
                <a:cs typeface="Calibri" pitchFamily="34" charset="-120"/>
              </a:rPr>
              <a:t>Two Pointers &amp; Sliding Window</a:t>
            </a:r>
            <a:endParaRPr lang="en-US" sz="1000" dirty="0"/>
          </a:p>
        </p:txBody>
      </p:sp>
      <p:sp>
        <p:nvSpPr>
          <p:cNvPr id="34" name="Text 32"/>
          <p:cNvSpPr/>
          <p:nvPr/>
        </p:nvSpPr>
        <p:spPr>
          <a:xfrm>
            <a:off x="11228832" y="6455664"/>
            <a:ext cx="457200" cy="274320"/>
          </a:xfrm>
          <a:prstGeom prst="rect">
            <a:avLst/>
          </a:prstGeom>
          <a:noFill/>
          <a:ln/>
        </p:spPr>
        <p:txBody>
          <a:bodyPr wrap="square" lIns="0" tIns="0" rIns="0" bIns="0" rtlCol="0" anchor="ctr"/>
          <a:lstStyle/>
          <a:p>
            <a:pPr algn="r" indent="0" marL="0">
              <a:buNone/>
            </a:pPr>
            <a:r>
              <a:rPr lang="en-US" sz="1000" dirty="0">
                <a:solidFill>
                  <a:srgbClr val="9AA5B4"/>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171F"/>
        </a:solidFill>
      </p:bgPr>
    </p:bg>
    <p:spTree>
      <p:nvGrpSpPr>
        <p:cNvPr id="1" name=""/>
        <p:cNvGrpSpPr/>
        <p:nvPr/>
      </p:nvGrpSpPr>
      <p:grpSpPr>
        <a:xfrm>
          <a:off x="0" y="0"/>
          <a:ext cx="0" cy="0"/>
          <a:chOff x="0" y="0"/>
          <a:chExt cx="0" cy="0"/>
        </a:xfrm>
      </p:grpSpPr>
      <p:sp>
        <p:nvSpPr>
          <p:cNvPr id="2" name="Text 0"/>
          <p:cNvSpPr/>
          <p:nvPr/>
        </p:nvSpPr>
        <p:spPr>
          <a:xfrm>
            <a:off x="502920" y="457200"/>
            <a:ext cx="3657600" cy="292608"/>
          </a:xfrm>
          <a:prstGeom prst="rect">
            <a:avLst/>
          </a:prstGeom>
          <a:noFill/>
          <a:ln/>
        </p:spPr>
        <p:txBody>
          <a:bodyPr wrap="square" lIns="0" tIns="0" rIns="0" bIns="0" rtlCol="0" anchor="ctr"/>
          <a:lstStyle/>
          <a:p>
            <a:pPr algn="l" indent="0" marL="0">
              <a:buNone/>
            </a:pPr>
            <a:r>
              <a:rPr lang="en-US" sz="1200" b="1" spc="300" kern="0" dirty="0">
                <a:solidFill>
                  <a:srgbClr val="F2B441"/>
                </a:solidFill>
                <a:latin typeface="Calibri" pitchFamily="34" charset="0"/>
                <a:ea typeface="Calibri" pitchFamily="34" charset="-122"/>
                <a:cs typeface="Calibri" pitchFamily="34" charset="-120"/>
              </a:rPr>
              <a:t>TWO POINTERS · FIRST ATTEMPT</a:t>
            </a:r>
            <a:endParaRPr lang="en-US" sz="1200" dirty="0"/>
          </a:p>
        </p:txBody>
      </p:sp>
      <p:sp>
        <p:nvSpPr>
          <p:cNvPr id="3" name="Text 1"/>
          <p:cNvSpPr/>
          <p:nvPr/>
        </p:nvSpPr>
        <p:spPr>
          <a:xfrm>
            <a:off x="502920" y="777240"/>
            <a:ext cx="10972800" cy="822960"/>
          </a:xfrm>
          <a:prstGeom prst="rect">
            <a:avLst/>
          </a:prstGeom>
          <a:noFill/>
          <a:ln/>
        </p:spPr>
        <p:txBody>
          <a:bodyPr wrap="square" lIns="0" tIns="0" rIns="0" bIns="0" rtlCol="0" anchor="ctr"/>
          <a:lstStyle/>
          <a:p>
            <a:pPr algn="l" indent="0" marL="0">
              <a:buNone/>
            </a:pPr>
            <a:r>
              <a:rPr lang="en-US" sz="3400" b="1" dirty="0">
                <a:solidFill>
                  <a:srgbClr val="EAECEF"/>
                </a:solidFill>
                <a:latin typeface="Cambria" pitchFamily="34" charset="0"/>
                <a:ea typeface="Cambria" pitchFamily="34" charset="-122"/>
                <a:cs typeface="Cambria" pitchFamily="34" charset="-120"/>
              </a:rPr>
              <a:t>Try every leftmost chair — O(C²)</a:t>
            </a:r>
            <a:endParaRPr lang="en-US" sz="3400" dirty="0"/>
          </a:p>
        </p:txBody>
      </p:sp>
      <p:sp>
        <p:nvSpPr>
          <p:cNvPr id="4" name="Shape 2"/>
          <p:cNvSpPr/>
          <p:nvPr/>
        </p:nvSpPr>
        <p:spPr>
          <a:xfrm>
            <a:off x="502920" y="1783080"/>
            <a:ext cx="7132320" cy="3566160"/>
          </a:xfrm>
          <a:prstGeom prst="roundRect">
            <a:avLst>
              <a:gd name="adj" fmla="val 2051"/>
            </a:avLst>
          </a:prstGeom>
          <a:solidFill>
            <a:srgbClr val="0E1016"/>
          </a:solidFill>
          <a:ln w="12700">
            <a:solidFill>
              <a:srgbClr val="2A3140"/>
            </a:solidFill>
            <a:prstDash val="solid"/>
          </a:ln>
        </p:spPr>
      </p:sp>
      <p:sp>
        <p:nvSpPr>
          <p:cNvPr id="5" name="Text 3"/>
          <p:cNvSpPr/>
          <p:nvPr/>
        </p:nvSpPr>
        <p:spPr>
          <a:xfrm>
            <a:off x="704088" y="1929384"/>
            <a:ext cx="6729984" cy="3273552"/>
          </a:xfrm>
          <a:prstGeom prst="rect">
            <a:avLst/>
          </a:prstGeom>
          <a:noFill/>
          <a:ln/>
        </p:spPr>
        <p:txBody>
          <a:bodyPr wrap="square" lIns="0" tIns="0" rIns="0" bIns="0" rtlCol="0" anchor="t"/>
          <a:lstStyle/>
          <a:p>
            <a:pPr algn="l" indent="0" marL="0">
              <a:lnSpc>
                <a:spcPct val="102000"/>
              </a:lnSpc>
              <a:buNone/>
            </a:pPr>
            <a:r>
              <a:rPr lang="en-US" sz="1400" dirty="0">
                <a:solidFill>
                  <a:srgbClr val="34D8C0"/>
                </a:solidFill>
                <a:latin typeface="Courier New" pitchFamily="34" charset="0"/>
                <a:ea typeface="Courier New" pitchFamily="34" charset="-122"/>
                <a:cs typeface="Courier New" pitchFamily="34" charset="-120"/>
              </a:rPr>
              <a:t>for leftmost = 0 .. C-1:</a:t>
            </a:r>
            <a:endParaRPr lang="en-US" sz="1400" dirty="0"/>
          </a:p>
          <a:p>
            <a:pPr algn="l" indent="0" marL="0">
              <a:lnSpc>
                <a:spcPct val="102000"/>
              </a:lnSpc>
              <a:buNone/>
            </a:pPr>
            <a:r>
              <a:rPr lang="en-US" sz="1400" dirty="0">
                <a:solidFill>
                  <a:srgbClr val="EAECEF"/>
                </a:solidFill>
                <a:latin typeface="Courier New" pitchFamily="34" charset="0"/>
                <a:ea typeface="Courier New" pitchFamily="34" charset="-122"/>
                <a:cs typeface="Courier New" pitchFamily="34" charset="-120"/>
              </a:rPr>
              <a:t>    num_chairs = 0</a:t>
            </a:r>
            <a:endParaRPr lang="en-US" sz="1400" dirty="0"/>
          </a:p>
          <a:p>
            <a:pPr algn="l" indent="0" marL="0">
              <a:lnSpc>
                <a:spcPct val="102000"/>
              </a:lnSpc>
              <a:buNone/>
            </a:pPr>
            <a:r>
              <a:rPr lang="en-US" sz="1400" dirty="0">
                <a:solidFill>
                  <a:srgbClr val="EAECEF"/>
                </a:solidFill>
                <a:latin typeface="Courier New" pitchFamily="34" charset="0"/>
                <a:ea typeface="Courier New" pitchFamily="34" charset="-122"/>
                <a:cs typeface="Courier New" pitchFamily="34" charset="-120"/>
              </a:rPr>
              <a:t>    num_dry    = 0</a:t>
            </a:r>
            <a:endParaRPr lang="en-US" sz="1400" dirty="0"/>
          </a:p>
          <a:p>
            <a:pPr algn="l" indent="0" marL="0">
              <a:lnSpc>
                <a:spcPct val="102000"/>
              </a:lnSpc>
              <a:buNone/>
            </a:pPr>
            <a:r>
              <a:rPr lang="en-US" sz="1400" dirty="0">
                <a:solidFill>
                  <a:srgbClr val="34D8C0"/>
                </a:solidFill>
                <a:latin typeface="Courier New" pitchFamily="34" charset="0"/>
                <a:ea typeface="Courier New" pitchFamily="34" charset="-122"/>
                <a:cs typeface="Courier New" pitchFamily="34" charset="-120"/>
              </a:rPr>
              <a:t>    for i = leftmost .. C-1:</a:t>
            </a:r>
            <a:endParaRPr lang="en-US" sz="1400" dirty="0"/>
          </a:p>
          <a:p>
            <a:pPr algn="l" indent="0" marL="0">
              <a:lnSpc>
                <a:spcPct val="102000"/>
              </a:lnSpc>
              <a:buNone/>
            </a:pPr>
            <a:r>
              <a:rPr lang="en-US" sz="1400" dirty="0">
                <a:solidFill>
                  <a:srgbClr val="EAECEF"/>
                </a:solidFill>
                <a:latin typeface="Courier New" pitchFamily="34" charset="0"/>
                <a:ea typeface="Courier New" pitchFamily="34" charset="-122"/>
                <a:cs typeface="Courier New" pitchFamily="34" charset="-120"/>
              </a:rPr>
              <a:t>        num_chairs += 1</a:t>
            </a:r>
            <a:endParaRPr lang="en-US" sz="1400" dirty="0"/>
          </a:p>
          <a:p>
            <a:pPr algn="l" indent="0" marL="0">
              <a:lnSpc>
                <a:spcPct val="102000"/>
              </a:lnSpc>
              <a:buNone/>
            </a:pPr>
            <a:r>
              <a:rPr lang="en-US" sz="1400" dirty="0">
                <a:solidFill>
                  <a:srgbClr val="EAECEF"/>
                </a:solidFill>
                <a:latin typeface="Courier New" pitchFamily="34" charset="0"/>
                <a:ea typeface="Courier New" pitchFamily="34" charset="-122"/>
                <a:cs typeface="Courier New" pitchFamily="34" charset="-120"/>
              </a:rPr>
              <a:t>        if dry[i]: num_dry += 1</a:t>
            </a:r>
            <a:endParaRPr lang="en-US" sz="1400" dirty="0"/>
          </a:p>
          <a:p>
            <a:pPr algn="l" indent="0" marL="0">
              <a:lnSpc>
                <a:spcPct val="102000"/>
              </a:lnSpc>
              <a:buNone/>
            </a:pPr>
            <a:r>
              <a:rPr lang="en-US" sz="1400" dirty="0">
                <a:solidFill>
                  <a:srgbClr val="FF6B6B"/>
                </a:solidFill>
                <a:latin typeface="Courier New" pitchFamily="34" charset="0"/>
                <a:ea typeface="Courier New" pitchFamily="34" charset="-122"/>
                <a:cs typeface="Courier New" pitchFamily="34" charset="-120"/>
              </a:rPr>
              <a:t>        if num_chairs &gt;= N and</a:t>
            </a:r>
            <a:endParaRPr lang="en-US" sz="1400" dirty="0"/>
          </a:p>
          <a:p>
            <a:pPr algn="l" indent="0" marL="0">
              <a:lnSpc>
                <a:spcPct val="102000"/>
              </a:lnSpc>
              <a:buNone/>
            </a:pPr>
            <a:r>
              <a:rPr lang="en-US" sz="1400" dirty="0">
                <a:solidFill>
                  <a:srgbClr val="FF6B6B"/>
                </a:solidFill>
                <a:latin typeface="Courier New" pitchFamily="34" charset="0"/>
                <a:ea typeface="Courier New" pitchFamily="34" charset="-122"/>
                <a:cs typeface="Courier New" pitchFamily="34" charset="-120"/>
              </a:rPr>
              <a:t>           num_dry    &gt;= N-K:</a:t>
            </a:r>
            <a:endParaRPr lang="en-US" sz="1400" dirty="0"/>
          </a:p>
          <a:p>
            <a:pPr algn="l" indent="0" marL="0">
              <a:lnSpc>
                <a:spcPct val="102000"/>
              </a:lnSpc>
              <a:buNone/>
            </a:pPr>
            <a:r>
              <a:rPr lang="en-US" sz="1400" dirty="0">
                <a:solidFill>
                  <a:srgbClr val="EAECEF"/>
                </a:solidFill>
                <a:latin typeface="Courier New" pitchFamily="34" charset="0"/>
                <a:ea typeface="Courier New" pitchFamily="34" charset="-122"/>
                <a:cs typeface="Courier New" pitchFamily="34" charset="-120"/>
              </a:rPr>
              <a:t>            best = min(best, num_chairs)</a:t>
            </a:r>
            <a:endParaRPr lang="en-US" sz="1400" dirty="0"/>
          </a:p>
          <a:p>
            <a:pPr algn="l" indent="0" marL="0">
              <a:lnSpc>
                <a:spcPct val="102000"/>
              </a:lnSpc>
              <a:buNone/>
            </a:pPr>
            <a:r>
              <a:rPr lang="en-US" sz="1400" dirty="0">
                <a:solidFill>
                  <a:srgbClr val="F2B441"/>
                </a:solidFill>
                <a:latin typeface="Courier New" pitchFamily="34" charset="0"/>
                <a:ea typeface="Courier New" pitchFamily="34" charset="-122"/>
                <a:cs typeface="Courier New" pitchFamily="34" charset="-120"/>
              </a:rPr>
              <a:t>            break</a:t>
            </a:r>
            <a:endParaRPr lang="en-US" sz="1400" dirty="0"/>
          </a:p>
        </p:txBody>
      </p:sp>
      <p:sp>
        <p:nvSpPr>
          <p:cNvPr id="6" name="Text 4"/>
          <p:cNvSpPr/>
          <p:nvPr/>
        </p:nvSpPr>
        <p:spPr>
          <a:xfrm>
            <a:off x="521208" y="5404104"/>
            <a:ext cx="7132320" cy="274320"/>
          </a:xfrm>
          <a:prstGeom prst="rect">
            <a:avLst/>
          </a:prstGeom>
          <a:noFill/>
          <a:ln/>
        </p:spPr>
        <p:txBody>
          <a:bodyPr wrap="square" lIns="0" tIns="0" rIns="0" bIns="0" rtlCol="0" anchor="ctr"/>
          <a:lstStyle/>
          <a:p>
            <a:pPr algn="l" indent="0" marL="0">
              <a:buNone/>
            </a:pPr>
            <a:r>
              <a:rPr lang="en-US" sz="1100" i="1" dirty="0">
                <a:solidFill>
                  <a:srgbClr val="9AA5B4"/>
                </a:solidFill>
                <a:latin typeface="Calibri" pitchFamily="34" charset="0"/>
                <a:ea typeface="Calibri" pitchFamily="34" charset="-122"/>
                <a:cs typeface="Calibri" pitchFamily="34" charset="-120"/>
              </a:rPr>
              <a:t>Each leftmost chair rescans rightward from scratch.</a:t>
            </a:r>
            <a:endParaRPr lang="en-US" sz="1100" dirty="0"/>
          </a:p>
        </p:txBody>
      </p:sp>
      <p:sp>
        <p:nvSpPr>
          <p:cNvPr id="7" name="Shape 5"/>
          <p:cNvSpPr/>
          <p:nvPr/>
        </p:nvSpPr>
        <p:spPr>
          <a:xfrm>
            <a:off x="7863840" y="1783080"/>
            <a:ext cx="3794760" cy="3566160"/>
          </a:xfrm>
          <a:prstGeom prst="roundRect">
            <a:avLst>
              <a:gd name="adj" fmla="val 2308"/>
            </a:avLst>
          </a:prstGeom>
          <a:solidFill>
            <a:srgbClr val="20242E"/>
          </a:solidFill>
          <a:ln w="12700">
            <a:solidFill>
              <a:srgbClr val="2A3140"/>
            </a:solidFill>
            <a:prstDash val="solid"/>
          </a:ln>
        </p:spPr>
      </p:sp>
      <p:sp>
        <p:nvSpPr>
          <p:cNvPr id="8" name="Text 6"/>
          <p:cNvSpPr/>
          <p:nvPr/>
        </p:nvSpPr>
        <p:spPr>
          <a:xfrm>
            <a:off x="7863840" y="2148840"/>
            <a:ext cx="3794760" cy="822960"/>
          </a:xfrm>
          <a:prstGeom prst="rect">
            <a:avLst/>
          </a:prstGeom>
          <a:noFill/>
          <a:ln/>
        </p:spPr>
        <p:txBody>
          <a:bodyPr wrap="square" lIns="0" tIns="0" rIns="0" bIns="0" rtlCol="0" anchor="ctr"/>
          <a:lstStyle/>
          <a:p>
            <a:pPr algn="ctr" indent="0" marL="0">
              <a:buNone/>
            </a:pPr>
            <a:r>
              <a:rPr lang="en-US" sz="4400" b="1" dirty="0">
                <a:solidFill>
                  <a:srgbClr val="FF6B6B"/>
                </a:solidFill>
                <a:latin typeface="Courier New" pitchFamily="34" charset="0"/>
                <a:ea typeface="Courier New" pitchFamily="34" charset="-122"/>
                <a:cs typeface="Courier New" pitchFamily="34" charset="-120"/>
              </a:rPr>
              <a:t>O(C²)</a:t>
            </a:r>
            <a:endParaRPr lang="en-US" sz="4400" dirty="0"/>
          </a:p>
        </p:txBody>
      </p:sp>
      <p:sp>
        <p:nvSpPr>
          <p:cNvPr id="9" name="Text 7"/>
          <p:cNvSpPr/>
          <p:nvPr/>
        </p:nvSpPr>
        <p:spPr>
          <a:xfrm>
            <a:off x="8092440" y="3063240"/>
            <a:ext cx="3383280" cy="640080"/>
          </a:xfrm>
          <a:prstGeom prst="rect">
            <a:avLst/>
          </a:prstGeom>
          <a:noFill/>
          <a:ln/>
        </p:spPr>
        <p:txBody>
          <a:bodyPr wrap="square" lIns="0" tIns="0" rIns="0" bIns="0" rtlCol="0" anchor="t"/>
          <a:lstStyle/>
          <a:p>
            <a:pPr algn="l" indent="0" marL="0">
              <a:buNone/>
            </a:pPr>
            <a:r>
              <a:rPr lang="en-US" sz="1400" dirty="0">
                <a:solidFill>
                  <a:srgbClr val="9AA5B4"/>
                </a:solidFill>
                <a:latin typeface="Calibri" pitchFamily="34" charset="0"/>
                <a:ea typeface="Calibri" pitchFamily="34" charset="-122"/>
                <a:cs typeface="Calibri" pitchFamily="34" charset="-120"/>
              </a:rPr>
              <a:t>C leftmost choices, each scanning up to C chairs.</a:t>
            </a:r>
            <a:endParaRPr lang="en-US" sz="1400" dirty="0"/>
          </a:p>
        </p:txBody>
      </p:sp>
      <p:sp>
        <p:nvSpPr>
          <p:cNvPr id="10" name="Shape 8"/>
          <p:cNvSpPr/>
          <p:nvPr/>
        </p:nvSpPr>
        <p:spPr>
          <a:xfrm>
            <a:off x="8092440" y="3886200"/>
            <a:ext cx="3337560" cy="1280160"/>
          </a:xfrm>
          <a:prstGeom prst="roundRect">
            <a:avLst>
              <a:gd name="adj" fmla="val 6429"/>
            </a:avLst>
          </a:prstGeom>
          <a:solidFill>
            <a:srgbClr val="2A3140"/>
          </a:solidFill>
          <a:ln w="12700">
            <a:solidFill>
              <a:srgbClr val="2A3140"/>
            </a:solidFill>
            <a:prstDash val="solid"/>
          </a:ln>
        </p:spPr>
      </p:sp>
      <p:sp>
        <p:nvSpPr>
          <p:cNvPr id="11" name="Text 9"/>
          <p:cNvSpPr/>
          <p:nvPr/>
        </p:nvSpPr>
        <p:spPr>
          <a:xfrm>
            <a:off x="8275320" y="4114800"/>
            <a:ext cx="3017520" cy="914400"/>
          </a:xfrm>
          <a:prstGeom prst="rect">
            <a:avLst/>
          </a:prstGeom>
          <a:noFill/>
          <a:ln/>
        </p:spPr>
        <p:txBody>
          <a:bodyPr wrap="square" lIns="0" tIns="0" rIns="0" bIns="0" rtlCol="0" anchor="ctr"/>
          <a:lstStyle/>
          <a:p>
            <a:pPr algn="l" indent="0" marL="0">
              <a:buNone/>
            </a:pPr>
            <a:r>
              <a:rPr lang="en-US" sz="1600" b="1" dirty="0">
                <a:solidFill>
                  <a:srgbClr val="F2B441"/>
                </a:solidFill>
                <a:latin typeface="Calibri" pitchFamily="34" charset="0"/>
                <a:ea typeface="Calibri" pitchFamily="34" charset="-122"/>
                <a:cs typeface="Calibri" pitchFamily="34" charset="-120"/>
              </a:rPr>
              <a:t>Scores ~40 / 100</a:t>
            </a:r>
            <a:endParaRPr lang="en-US" sz="1600" dirty="0"/>
          </a:p>
          <a:p>
            <a:pPr algn="l" indent="0" marL="0">
              <a:buNone/>
            </a:pPr>
            <a:r>
              <a:rPr lang="en-US" sz="1300" dirty="0">
                <a:solidFill>
                  <a:srgbClr val="9AA5B4"/>
                </a:solidFill>
                <a:latin typeface="Calibri" pitchFamily="34" charset="0"/>
                <a:ea typeface="Calibri" pitchFamily="34" charset="-122"/>
                <a:cs typeface="Calibri" pitchFamily="34" charset="-120"/>
              </a:rPr>
              <a:t>(subtasks 1–2)</a:t>
            </a:r>
            <a:endParaRPr lang="en-US" sz="1600" dirty="0"/>
          </a:p>
        </p:txBody>
      </p:sp>
      <p:sp>
        <p:nvSpPr>
          <p:cNvPr id="12" name="Text 10"/>
          <p:cNvSpPr/>
          <p:nvPr/>
        </p:nvSpPr>
        <p:spPr>
          <a:xfrm>
            <a:off x="502920" y="6455664"/>
            <a:ext cx="5486400" cy="274320"/>
          </a:xfrm>
          <a:prstGeom prst="rect">
            <a:avLst/>
          </a:prstGeom>
          <a:noFill/>
          <a:ln/>
        </p:spPr>
        <p:txBody>
          <a:bodyPr wrap="square" lIns="0" tIns="0" rIns="0" bIns="0" rtlCol="0" anchor="ctr"/>
          <a:lstStyle/>
          <a:p>
            <a:pPr algn="l" indent="0" marL="0">
              <a:buNone/>
            </a:pPr>
            <a:r>
              <a:rPr lang="en-US" sz="1000" dirty="0">
                <a:solidFill>
                  <a:srgbClr val="9AA5B4"/>
                </a:solidFill>
                <a:latin typeface="Calibri" pitchFamily="34" charset="0"/>
                <a:ea typeface="Calibri" pitchFamily="34" charset="-122"/>
                <a:cs typeface="Calibri" pitchFamily="34" charset="-120"/>
              </a:rPr>
              <a:t>Two Pointers &amp; Sliding Window</a:t>
            </a:r>
            <a:endParaRPr lang="en-US" sz="1000" dirty="0"/>
          </a:p>
        </p:txBody>
      </p:sp>
      <p:sp>
        <p:nvSpPr>
          <p:cNvPr id="13" name="Text 11"/>
          <p:cNvSpPr/>
          <p:nvPr/>
        </p:nvSpPr>
        <p:spPr>
          <a:xfrm>
            <a:off x="11228832" y="6455664"/>
            <a:ext cx="457200" cy="274320"/>
          </a:xfrm>
          <a:prstGeom prst="rect">
            <a:avLst/>
          </a:prstGeom>
          <a:noFill/>
          <a:ln/>
        </p:spPr>
        <p:txBody>
          <a:bodyPr wrap="square" lIns="0" tIns="0" rIns="0" bIns="0" rtlCol="0" anchor="ctr"/>
          <a:lstStyle/>
          <a:p>
            <a:pPr algn="r" indent="0" marL="0">
              <a:buNone/>
            </a:pPr>
            <a:r>
              <a:rPr lang="en-US" sz="1000" dirty="0">
                <a:solidFill>
                  <a:srgbClr val="9AA5B4"/>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A1E0B"/>
        </a:solidFill>
      </p:bgPr>
    </p:bg>
    <p:spTree>
      <p:nvGrpSpPr>
        <p:cNvPr id="1" name=""/>
        <p:cNvGrpSpPr/>
        <p:nvPr/>
      </p:nvGrpSpPr>
      <p:grpSpPr>
        <a:xfrm>
          <a:off x="0" y="0"/>
          <a:ext cx="0" cy="0"/>
          <a:chOff x="0" y="0"/>
          <a:chExt cx="0" cy="0"/>
        </a:xfrm>
      </p:grpSpPr>
      <p:sp>
        <p:nvSpPr>
          <p:cNvPr id="2" name="Text 0"/>
          <p:cNvSpPr/>
          <p:nvPr/>
        </p:nvSpPr>
        <p:spPr>
          <a:xfrm>
            <a:off x="502920" y="457200"/>
            <a:ext cx="3657600" cy="292608"/>
          </a:xfrm>
          <a:prstGeom prst="rect">
            <a:avLst/>
          </a:prstGeom>
          <a:noFill/>
          <a:ln/>
        </p:spPr>
        <p:txBody>
          <a:bodyPr wrap="square" lIns="0" tIns="0" rIns="0" bIns="0" rtlCol="0" anchor="ctr"/>
          <a:lstStyle/>
          <a:p>
            <a:pPr algn="l" indent="0" marL="0">
              <a:buNone/>
            </a:pPr>
            <a:r>
              <a:rPr lang="en-US" sz="1200" b="1" spc="300" kern="0" dirty="0">
                <a:solidFill>
                  <a:srgbClr val="F2B441"/>
                </a:solidFill>
                <a:latin typeface="Calibri" pitchFamily="34" charset="0"/>
                <a:ea typeface="Calibri" pitchFamily="34" charset="-122"/>
                <a:cs typeface="Calibri" pitchFamily="34" charset="-120"/>
              </a:rPr>
              <a:t>TWO POINTERS · THE KEY INSIGHT</a:t>
            </a:r>
            <a:endParaRPr lang="en-US" sz="1200" dirty="0"/>
          </a:p>
        </p:txBody>
      </p:sp>
      <p:sp>
        <p:nvSpPr>
          <p:cNvPr id="3" name="Text 1"/>
          <p:cNvSpPr/>
          <p:nvPr/>
        </p:nvSpPr>
        <p:spPr>
          <a:xfrm>
            <a:off x="502920" y="777240"/>
            <a:ext cx="11155680" cy="822960"/>
          </a:xfrm>
          <a:prstGeom prst="rect">
            <a:avLst/>
          </a:prstGeom>
          <a:noFill/>
          <a:ln/>
        </p:spPr>
        <p:txBody>
          <a:bodyPr wrap="square" lIns="0" tIns="0" rIns="0" bIns="0" rtlCol="0" anchor="ctr"/>
          <a:lstStyle/>
          <a:p>
            <a:pPr algn="l" indent="0" marL="0">
              <a:buNone/>
            </a:pPr>
            <a:r>
              <a:rPr lang="en-US" sz="3400" b="1" dirty="0">
                <a:solidFill>
                  <a:srgbClr val="EAECEF"/>
                </a:solidFill>
                <a:latin typeface="Cambria" pitchFamily="34" charset="0"/>
                <a:ea typeface="Cambria" pitchFamily="34" charset="-122"/>
                <a:cs typeface="Cambria" pitchFamily="34" charset="-120"/>
              </a:rPr>
              <a:t>Monotonicity: the right end never retreats</a:t>
            </a:r>
            <a:endParaRPr lang="en-US" sz="3400" dirty="0"/>
          </a:p>
        </p:txBody>
      </p:sp>
      <p:sp>
        <p:nvSpPr>
          <p:cNvPr id="4" name="Text 2"/>
          <p:cNvSpPr/>
          <p:nvPr/>
        </p:nvSpPr>
        <p:spPr>
          <a:xfrm>
            <a:off x="502920" y="1691640"/>
            <a:ext cx="10972800" cy="457200"/>
          </a:xfrm>
          <a:prstGeom prst="rect">
            <a:avLst/>
          </a:prstGeom>
          <a:noFill/>
          <a:ln/>
        </p:spPr>
        <p:txBody>
          <a:bodyPr wrap="square" lIns="0" tIns="0" rIns="0" bIns="0" rtlCol="0" anchor="ctr"/>
          <a:lstStyle/>
          <a:p>
            <a:pPr algn="l" indent="0" marL="0">
              <a:buNone/>
            </a:pPr>
            <a:r>
              <a:rPr lang="en-US" sz="1800" b="1" dirty="0">
                <a:solidFill>
                  <a:srgbClr val="EAECEF"/>
                </a:solidFill>
                <a:latin typeface="Calibri" pitchFamily="34" charset="0"/>
                <a:ea typeface="Calibri" pitchFamily="34" charset="-122"/>
                <a:cs typeface="Calibri" pitchFamily="34" charset="-120"/>
              </a:rPr>
              <a:t>If leftmost = 3 needs rightmost = 7, then leftmost = 4 needs rightmost ≥ 7.</a:t>
            </a:r>
            <a:endParaRPr lang="en-US" sz="1800" dirty="0"/>
          </a:p>
        </p:txBody>
      </p:sp>
      <p:sp>
        <p:nvSpPr>
          <p:cNvPr id="5" name="Shape 3"/>
          <p:cNvSpPr/>
          <p:nvPr/>
        </p:nvSpPr>
        <p:spPr>
          <a:xfrm>
            <a:off x="1463040" y="2514600"/>
            <a:ext cx="566928" cy="566928"/>
          </a:xfrm>
          <a:prstGeom prst="roundRect">
            <a:avLst>
              <a:gd name="adj" fmla="val 9677"/>
            </a:avLst>
          </a:prstGeom>
          <a:solidFill>
            <a:srgbClr val="20242E"/>
          </a:solidFill>
          <a:ln w="15875">
            <a:solidFill>
              <a:srgbClr val="2A3140"/>
            </a:solidFill>
            <a:prstDash val="solid"/>
          </a:ln>
        </p:spPr>
      </p:sp>
      <p:sp>
        <p:nvSpPr>
          <p:cNvPr id="6" name="Text 4"/>
          <p:cNvSpPr/>
          <p:nvPr/>
        </p:nvSpPr>
        <p:spPr>
          <a:xfrm>
            <a:off x="1463040" y="2514600"/>
            <a:ext cx="566928" cy="56692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0</a:t>
            </a:r>
            <a:endParaRPr lang="en-US" sz="1500" dirty="0"/>
          </a:p>
        </p:txBody>
      </p:sp>
      <p:sp>
        <p:nvSpPr>
          <p:cNvPr id="7" name="Shape 5"/>
          <p:cNvSpPr/>
          <p:nvPr/>
        </p:nvSpPr>
        <p:spPr>
          <a:xfrm>
            <a:off x="2139696" y="2514600"/>
            <a:ext cx="566928" cy="566928"/>
          </a:xfrm>
          <a:prstGeom prst="roundRect">
            <a:avLst>
              <a:gd name="adj" fmla="val 9677"/>
            </a:avLst>
          </a:prstGeom>
          <a:solidFill>
            <a:srgbClr val="20242E"/>
          </a:solidFill>
          <a:ln w="15875">
            <a:solidFill>
              <a:srgbClr val="2A3140"/>
            </a:solidFill>
            <a:prstDash val="solid"/>
          </a:ln>
        </p:spPr>
      </p:sp>
      <p:sp>
        <p:nvSpPr>
          <p:cNvPr id="8" name="Text 6"/>
          <p:cNvSpPr/>
          <p:nvPr/>
        </p:nvSpPr>
        <p:spPr>
          <a:xfrm>
            <a:off x="2139696" y="2514600"/>
            <a:ext cx="566928" cy="56692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1</a:t>
            </a:r>
            <a:endParaRPr lang="en-US" sz="1500" dirty="0"/>
          </a:p>
        </p:txBody>
      </p:sp>
      <p:sp>
        <p:nvSpPr>
          <p:cNvPr id="9" name="Shape 7"/>
          <p:cNvSpPr/>
          <p:nvPr/>
        </p:nvSpPr>
        <p:spPr>
          <a:xfrm>
            <a:off x="2816352" y="2514600"/>
            <a:ext cx="566928" cy="566928"/>
          </a:xfrm>
          <a:prstGeom prst="roundRect">
            <a:avLst>
              <a:gd name="adj" fmla="val 9677"/>
            </a:avLst>
          </a:prstGeom>
          <a:solidFill>
            <a:srgbClr val="20242E"/>
          </a:solidFill>
          <a:ln w="15875">
            <a:solidFill>
              <a:srgbClr val="2A3140"/>
            </a:solidFill>
            <a:prstDash val="solid"/>
          </a:ln>
        </p:spPr>
      </p:sp>
      <p:sp>
        <p:nvSpPr>
          <p:cNvPr id="10" name="Text 8"/>
          <p:cNvSpPr/>
          <p:nvPr/>
        </p:nvSpPr>
        <p:spPr>
          <a:xfrm>
            <a:off x="2816352" y="2514600"/>
            <a:ext cx="566928" cy="56692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2</a:t>
            </a:r>
            <a:endParaRPr lang="en-US" sz="1500" dirty="0"/>
          </a:p>
        </p:txBody>
      </p:sp>
      <p:sp>
        <p:nvSpPr>
          <p:cNvPr id="11" name="Shape 9"/>
          <p:cNvSpPr/>
          <p:nvPr/>
        </p:nvSpPr>
        <p:spPr>
          <a:xfrm>
            <a:off x="3493008" y="2514600"/>
            <a:ext cx="566928" cy="566928"/>
          </a:xfrm>
          <a:prstGeom prst="roundRect">
            <a:avLst>
              <a:gd name="adj" fmla="val 9677"/>
            </a:avLst>
          </a:prstGeom>
          <a:solidFill>
            <a:srgbClr val="10312E"/>
          </a:solidFill>
          <a:ln w="15875">
            <a:solidFill>
              <a:srgbClr val="34D8C0"/>
            </a:solidFill>
            <a:prstDash val="solid"/>
          </a:ln>
        </p:spPr>
      </p:sp>
      <p:sp>
        <p:nvSpPr>
          <p:cNvPr id="12" name="Text 10"/>
          <p:cNvSpPr/>
          <p:nvPr/>
        </p:nvSpPr>
        <p:spPr>
          <a:xfrm>
            <a:off x="3493008" y="2514600"/>
            <a:ext cx="566928" cy="56692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3</a:t>
            </a:r>
            <a:endParaRPr lang="en-US" sz="1500" dirty="0"/>
          </a:p>
        </p:txBody>
      </p:sp>
      <p:sp>
        <p:nvSpPr>
          <p:cNvPr id="13" name="Shape 11"/>
          <p:cNvSpPr/>
          <p:nvPr/>
        </p:nvSpPr>
        <p:spPr>
          <a:xfrm>
            <a:off x="4169664" y="2514600"/>
            <a:ext cx="566928" cy="566928"/>
          </a:xfrm>
          <a:prstGeom prst="roundRect">
            <a:avLst>
              <a:gd name="adj" fmla="val 9677"/>
            </a:avLst>
          </a:prstGeom>
          <a:solidFill>
            <a:srgbClr val="10312E"/>
          </a:solidFill>
          <a:ln w="15875">
            <a:solidFill>
              <a:srgbClr val="34D8C0"/>
            </a:solidFill>
            <a:prstDash val="solid"/>
          </a:ln>
        </p:spPr>
      </p:sp>
      <p:sp>
        <p:nvSpPr>
          <p:cNvPr id="14" name="Text 12"/>
          <p:cNvSpPr/>
          <p:nvPr/>
        </p:nvSpPr>
        <p:spPr>
          <a:xfrm>
            <a:off x="4169664" y="2514600"/>
            <a:ext cx="566928" cy="56692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4</a:t>
            </a:r>
            <a:endParaRPr lang="en-US" sz="1500" dirty="0"/>
          </a:p>
        </p:txBody>
      </p:sp>
      <p:sp>
        <p:nvSpPr>
          <p:cNvPr id="15" name="Shape 13"/>
          <p:cNvSpPr/>
          <p:nvPr/>
        </p:nvSpPr>
        <p:spPr>
          <a:xfrm>
            <a:off x="4846320" y="2514600"/>
            <a:ext cx="566928" cy="566928"/>
          </a:xfrm>
          <a:prstGeom prst="roundRect">
            <a:avLst>
              <a:gd name="adj" fmla="val 9677"/>
            </a:avLst>
          </a:prstGeom>
          <a:solidFill>
            <a:srgbClr val="10312E"/>
          </a:solidFill>
          <a:ln w="15875">
            <a:solidFill>
              <a:srgbClr val="34D8C0"/>
            </a:solidFill>
            <a:prstDash val="solid"/>
          </a:ln>
        </p:spPr>
      </p:sp>
      <p:sp>
        <p:nvSpPr>
          <p:cNvPr id="16" name="Text 14"/>
          <p:cNvSpPr/>
          <p:nvPr/>
        </p:nvSpPr>
        <p:spPr>
          <a:xfrm>
            <a:off x="4846320" y="2514600"/>
            <a:ext cx="566928" cy="56692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5</a:t>
            </a:r>
            <a:endParaRPr lang="en-US" sz="1500" dirty="0"/>
          </a:p>
        </p:txBody>
      </p:sp>
      <p:sp>
        <p:nvSpPr>
          <p:cNvPr id="17" name="Shape 15"/>
          <p:cNvSpPr/>
          <p:nvPr/>
        </p:nvSpPr>
        <p:spPr>
          <a:xfrm>
            <a:off x="5522976" y="2514600"/>
            <a:ext cx="566928" cy="566928"/>
          </a:xfrm>
          <a:prstGeom prst="roundRect">
            <a:avLst>
              <a:gd name="adj" fmla="val 9677"/>
            </a:avLst>
          </a:prstGeom>
          <a:solidFill>
            <a:srgbClr val="10312E"/>
          </a:solidFill>
          <a:ln w="15875">
            <a:solidFill>
              <a:srgbClr val="34D8C0"/>
            </a:solidFill>
            <a:prstDash val="solid"/>
          </a:ln>
        </p:spPr>
      </p:sp>
      <p:sp>
        <p:nvSpPr>
          <p:cNvPr id="18" name="Text 16"/>
          <p:cNvSpPr/>
          <p:nvPr/>
        </p:nvSpPr>
        <p:spPr>
          <a:xfrm>
            <a:off x="5522976" y="2514600"/>
            <a:ext cx="566928" cy="56692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6</a:t>
            </a:r>
            <a:endParaRPr lang="en-US" sz="1500" dirty="0"/>
          </a:p>
        </p:txBody>
      </p:sp>
      <p:sp>
        <p:nvSpPr>
          <p:cNvPr id="19" name="Shape 17"/>
          <p:cNvSpPr/>
          <p:nvPr/>
        </p:nvSpPr>
        <p:spPr>
          <a:xfrm>
            <a:off x="6199632" y="2514600"/>
            <a:ext cx="566928" cy="566928"/>
          </a:xfrm>
          <a:prstGeom prst="roundRect">
            <a:avLst>
              <a:gd name="adj" fmla="val 9677"/>
            </a:avLst>
          </a:prstGeom>
          <a:solidFill>
            <a:srgbClr val="10312E"/>
          </a:solidFill>
          <a:ln w="15875">
            <a:solidFill>
              <a:srgbClr val="34D8C0"/>
            </a:solidFill>
            <a:prstDash val="solid"/>
          </a:ln>
        </p:spPr>
      </p:sp>
      <p:sp>
        <p:nvSpPr>
          <p:cNvPr id="20" name="Text 18"/>
          <p:cNvSpPr/>
          <p:nvPr/>
        </p:nvSpPr>
        <p:spPr>
          <a:xfrm>
            <a:off x="6199632" y="2514600"/>
            <a:ext cx="566928" cy="56692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7</a:t>
            </a:r>
            <a:endParaRPr lang="en-US" sz="1500" dirty="0"/>
          </a:p>
        </p:txBody>
      </p:sp>
      <p:sp>
        <p:nvSpPr>
          <p:cNvPr id="21" name="Shape 19"/>
          <p:cNvSpPr/>
          <p:nvPr/>
        </p:nvSpPr>
        <p:spPr>
          <a:xfrm>
            <a:off x="6876288" y="2514600"/>
            <a:ext cx="566928" cy="566928"/>
          </a:xfrm>
          <a:prstGeom prst="roundRect">
            <a:avLst>
              <a:gd name="adj" fmla="val 9677"/>
            </a:avLst>
          </a:prstGeom>
          <a:solidFill>
            <a:srgbClr val="20242E"/>
          </a:solidFill>
          <a:ln w="15875">
            <a:solidFill>
              <a:srgbClr val="2A3140"/>
            </a:solidFill>
            <a:prstDash val="solid"/>
          </a:ln>
        </p:spPr>
      </p:sp>
      <p:sp>
        <p:nvSpPr>
          <p:cNvPr id="22" name="Text 20"/>
          <p:cNvSpPr/>
          <p:nvPr/>
        </p:nvSpPr>
        <p:spPr>
          <a:xfrm>
            <a:off x="6876288" y="2514600"/>
            <a:ext cx="566928" cy="56692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8</a:t>
            </a:r>
            <a:endParaRPr lang="en-US" sz="1500" dirty="0"/>
          </a:p>
        </p:txBody>
      </p:sp>
      <p:sp>
        <p:nvSpPr>
          <p:cNvPr id="23" name="Shape 21"/>
          <p:cNvSpPr/>
          <p:nvPr/>
        </p:nvSpPr>
        <p:spPr>
          <a:xfrm>
            <a:off x="7552944" y="2514600"/>
            <a:ext cx="566928" cy="566928"/>
          </a:xfrm>
          <a:prstGeom prst="roundRect">
            <a:avLst>
              <a:gd name="adj" fmla="val 9677"/>
            </a:avLst>
          </a:prstGeom>
          <a:solidFill>
            <a:srgbClr val="20242E"/>
          </a:solidFill>
          <a:ln w="15875">
            <a:solidFill>
              <a:srgbClr val="2A3140"/>
            </a:solidFill>
            <a:prstDash val="solid"/>
          </a:ln>
        </p:spPr>
      </p:sp>
      <p:sp>
        <p:nvSpPr>
          <p:cNvPr id="24" name="Text 22"/>
          <p:cNvSpPr/>
          <p:nvPr/>
        </p:nvSpPr>
        <p:spPr>
          <a:xfrm>
            <a:off x="7552944" y="2514600"/>
            <a:ext cx="566928" cy="56692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9</a:t>
            </a:r>
            <a:endParaRPr lang="en-US" sz="1500" dirty="0"/>
          </a:p>
        </p:txBody>
      </p:sp>
      <p:sp>
        <p:nvSpPr>
          <p:cNvPr id="25" name="Text 23"/>
          <p:cNvSpPr/>
          <p:nvPr/>
        </p:nvSpPr>
        <p:spPr>
          <a:xfrm>
            <a:off x="3493008" y="3099816"/>
            <a:ext cx="566928" cy="219456"/>
          </a:xfrm>
          <a:prstGeom prst="rect">
            <a:avLst/>
          </a:prstGeom>
          <a:noFill/>
          <a:ln/>
        </p:spPr>
        <p:txBody>
          <a:bodyPr wrap="square" lIns="0" tIns="0" rIns="0" bIns="0" rtlCol="0" anchor="ctr"/>
          <a:lstStyle/>
          <a:p>
            <a:pPr algn="ctr" indent="0" marL="0">
              <a:buNone/>
            </a:pPr>
            <a:r>
              <a:rPr lang="en-US" sz="1200" dirty="0">
                <a:solidFill>
                  <a:srgbClr val="34D8C0"/>
                </a:solidFill>
                <a:latin typeface="Calibri" pitchFamily="34" charset="0"/>
                <a:ea typeface="Calibri" pitchFamily="34" charset="-122"/>
                <a:cs typeface="Calibri" pitchFamily="34" charset="-120"/>
              </a:rPr>
              <a:t>▲</a:t>
            </a:r>
            <a:endParaRPr lang="en-US" sz="1200" dirty="0"/>
          </a:p>
        </p:txBody>
      </p:sp>
      <p:sp>
        <p:nvSpPr>
          <p:cNvPr id="26" name="Text 24"/>
          <p:cNvSpPr/>
          <p:nvPr/>
        </p:nvSpPr>
        <p:spPr>
          <a:xfrm>
            <a:off x="3493008" y="3300984"/>
            <a:ext cx="566928" cy="237744"/>
          </a:xfrm>
          <a:prstGeom prst="rect">
            <a:avLst/>
          </a:prstGeom>
          <a:noFill/>
          <a:ln/>
        </p:spPr>
        <p:txBody>
          <a:bodyPr wrap="square" lIns="0" tIns="0" rIns="0" bIns="0" rtlCol="0" anchor="ctr"/>
          <a:lstStyle/>
          <a:p>
            <a:pPr algn="ctr" indent="0" marL="0">
              <a:buNone/>
            </a:pPr>
            <a:r>
              <a:rPr lang="en-US" sz="1300" b="1" dirty="0">
                <a:solidFill>
                  <a:srgbClr val="34D8C0"/>
                </a:solidFill>
                <a:latin typeface="Courier New" pitchFamily="34" charset="0"/>
                <a:ea typeface="Courier New" pitchFamily="34" charset="-122"/>
                <a:cs typeface="Courier New" pitchFamily="34" charset="-120"/>
              </a:rPr>
              <a:t>l</a:t>
            </a:r>
            <a:endParaRPr lang="en-US" sz="1300" dirty="0"/>
          </a:p>
        </p:txBody>
      </p:sp>
      <p:sp>
        <p:nvSpPr>
          <p:cNvPr id="27" name="Text 25"/>
          <p:cNvSpPr/>
          <p:nvPr/>
        </p:nvSpPr>
        <p:spPr>
          <a:xfrm>
            <a:off x="6199632" y="3099816"/>
            <a:ext cx="566928" cy="219456"/>
          </a:xfrm>
          <a:prstGeom prst="rect">
            <a:avLst/>
          </a:prstGeom>
          <a:noFill/>
          <a:ln/>
        </p:spPr>
        <p:txBody>
          <a:bodyPr wrap="square" lIns="0" tIns="0" rIns="0" bIns="0" rtlCol="0" anchor="ctr"/>
          <a:lstStyle/>
          <a:p>
            <a:pPr algn="ctr" indent="0" marL="0">
              <a:buNone/>
            </a:pPr>
            <a:r>
              <a:rPr lang="en-US" sz="1200" dirty="0">
                <a:solidFill>
                  <a:srgbClr val="F2B441"/>
                </a:solidFill>
                <a:latin typeface="Calibri" pitchFamily="34" charset="0"/>
                <a:ea typeface="Calibri" pitchFamily="34" charset="-122"/>
                <a:cs typeface="Calibri" pitchFamily="34" charset="-120"/>
              </a:rPr>
              <a:t>▲</a:t>
            </a:r>
            <a:endParaRPr lang="en-US" sz="1200" dirty="0"/>
          </a:p>
        </p:txBody>
      </p:sp>
      <p:sp>
        <p:nvSpPr>
          <p:cNvPr id="28" name="Text 26"/>
          <p:cNvSpPr/>
          <p:nvPr/>
        </p:nvSpPr>
        <p:spPr>
          <a:xfrm>
            <a:off x="6199632" y="3300984"/>
            <a:ext cx="566928" cy="237744"/>
          </a:xfrm>
          <a:prstGeom prst="rect">
            <a:avLst/>
          </a:prstGeom>
          <a:noFill/>
          <a:ln/>
        </p:spPr>
        <p:txBody>
          <a:bodyPr wrap="square" lIns="0" tIns="0" rIns="0" bIns="0" rtlCol="0" anchor="ctr"/>
          <a:lstStyle/>
          <a:p>
            <a:pPr algn="ctr" indent="0" marL="0">
              <a:buNone/>
            </a:pPr>
            <a:r>
              <a:rPr lang="en-US" sz="1300" b="1" dirty="0">
                <a:solidFill>
                  <a:srgbClr val="F2B441"/>
                </a:solidFill>
                <a:latin typeface="Courier New" pitchFamily="34" charset="0"/>
                <a:ea typeface="Courier New" pitchFamily="34" charset="-122"/>
                <a:cs typeface="Courier New" pitchFamily="34" charset="-120"/>
              </a:rPr>
              <a:t>r</a:t>
            </a:r>
            <a:endParaRPr lang="en-US" sz="1300" dirty="0"/>
          </a:p>
        </p:txBody>
      </p:sp>
      <p:sp>
        <p:nvSpPr>
          <p:cNvPr id="29" name="Shape 27"/>
          <p:cNvSpPr/>
          <p:nvPr/>
        </p:nvSpPr>
        <p:spPr>
          <a:xfrm>
            <a:off x="1463040" y="3794760"/>
            <a:ext cx="566928" cy="566928"/>
          </a:xfrm>
          <a:prstGeom prst="roundRect">
            <a:avLst>
              <a:gd name="adj" fmla="val 9677"/>
            </a:avLst>
          </a:prstGeom>
          <a:solidFill>
            <a:srgbClr val="20242E"/>
          </a:solidFill>
          <a:ln w="15875">
            <a:solidFill>
              <a:srgbClr val="2A3140"/>
            </a:solidFill>
            <a:prstDash val="solid"/>
          </a:ln>
        </p:spPr>
      </p:sp>
      <p:sp>
        <p:nvSpPr>
          <p:cNvPr id="30" name="Text 28"/>
          <p:cNvSpPr/>
          <p:nvPr/>
        </p:nvSpPr>
        <p:spPr>
          <a:xfrm>
            <a:off x="1463040" y="3794760"/>
            <a:ext cx="566928" cy="56692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0</a:t>
            </a:r>
            <a:endParaRPr lang="en-US" sz="1500" dirty="0"/>
          </a:p>
        </p:txBody>
      </p:sp>
      <p:sp>
        <p:nvSpPr>
          <p:cNvPr id="31" name="Shape 29"/>
          <p:cNvSpPr/>
          <p:nvPr/>
        </p:nvSpPr>
        <p:spPr>
          <a:xfrm>
            <a:off x="2139696" y="3794760"/>
            <a:ext cx="566928" cy="566928"/>
          </a:xfrm>
          <a:prstGeom prst="roundRect">
            <a:avLst>
              <a:gd name="adj" fmla="val 9677"/>
            </a:avLst>
          </a:prstGeom>
          <a:solidFill>
            <a:srgbClr val="20242E"/>
          </a:solidFill>
          <a:ln w="15875">
            <a:solidFill>
              <a:srgbClr val="2A3140"/>
            </a:solidFill>
            <a:prstDash val="solid"/>
          </a:ln>
        </p:spPr>
      </p:sp>
      <p:sp>
        <p:nvSpPr>
          <p:cNvPr id="32" name="Text 30"/>
          <p:cNvSpPr/>
          <p:nvPr/>
        </p:nvSpPr>
        <p:spPr>
          <a:xfrm>
            <a:off x="2139696" y="3794760"/>
            <a:ext cx="566928" cy="56692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1</a:t>
            </a:r>
            <a:endParaRPr lang="en-US" sz="1500" dirty="0"/>
          </a:p>
        </p:txBody>
      </p:sp>
      <p:sp>
        <p:nvSpPr>
          <p:cNvPr id="33" name="Shape 31"/>
          <p:cNvSpPr/>
          <p:nvPr/>
        </p:nvSpPr>
        <p:spPr>
          <a:xfrm>
            <a:off x="2816352" y="3794760"/>
            <a:ext cx="566928" cy="566928"/>
          </a:xfrm>
          <a:prstGeom prst="roundRect">
            <a:avLst>
              <a:gd name="adj" fmla="val 9677"/>
            </a:avLst>
          </a:prstGeom>
          <a:solidFill>
            <a:srgbClr val="20242E"/>
          </a:solidFill>
          <a:ln w="15875">
            <a:solidFill>
              <a:srgbClr val="2A3140"/>
            </a:solidFill>
            <a:prstDash val="solid"/>
          </a:ln>
        </p:spPr>
      </p:sp>
      <p:sp>
        <p:nvSpPr>
          <p:cNvPr id="34" name="Text 32"/>
          <p:cNvSpPr/>
          <p:nvPr/>
        </p:nvSpPr>
        <p:spPr>
          <a:xfrm>
            <a:off x="2816352" y="3794760"/>
            <a:ext cx="566928" cy="56692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2</a:t>
            </a:r>
            <a:endParaRPr lang="en-US" sz="1500" dirty="0"/>
          </a:p>
        </p:txBody>
      </p:sp>
      <p:sp>
        <p:nvSpPr>
          <p:cNvPr id="35" name="Shape 33"/>
          <p:cNvSpPr/>
          <p:nvPr/>
        </p:nvSpPr>
        <p:spPr>
          <a:xfrm>
            <a:off x="3493008" y="3794760"/>
            <a:ext cx="566928" cy="566928"/>
          </a:xfrm>
          <a:prstGeom prst="roundRect">
            <a:avLst>
              <a:gd name="adj" fmla="val 9677"/>
            </a:avLst>
          </a:prstGeom>
          <a:solidFill>
            <a:srgbClr val="20242E"/>
          </a:solidFill>
          <a:ln w="15875">
            <a:solidFill>
              <a:srgbClr val="2A3140"/>
            </a:solidFill>
            <a:prstDash val="solid"/>
          </a:ln>
        </p:spPr>
      </p:sp>
      <p:sp>
        <p:nvSpPr>
          <p:cNvPr id="36" name="Text 34"/>
          <p:cNvSpPr/>
          <p:nvPr/>
        </p:nvSpPr>
        <p:spPr>
          <a:xfrm>
            <a:off x="3493008" y="3794760"/>
            <a:ext cx="566928" cy="56692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3</a:t>
            </a:r>
            <a:endParaRPr lang="en-US" sz="1500" dirty="0"/>
          </a:p>
        </p:txBody>
      </p:sp>
      <p:sp>
        <p:nvSpPr>
          <p:cNvPr id="37" name="Shape 35"/>
          <p:cNvSpPr/>
          <p:nvPr/>
        </p:nvSpPr>
        <p:spPr>
          <a:xfrm>
            <a:off x="4169664" y="3794760"/>
            <a:ext cx="566928" cy="566928"/>
          </a:xfrm>
          <a:prstGeom prst="roundRect">
            <a:avLst>
              <a:gd name="adj" fmla="val 9677"/>
            </a:avLst>
          </a:prstGeom>
          <a:solidFill>
            <a:srgbClr val="10312E"/>
          </a:solidFill>
          <a:ln w="15875">
            <a:solidFill>
              <a:srgbClr val="34D8C0"/>
            </a:solidFill>
            <a:prstDash val="solid"/>
          </a:ln>
        </p:spPr>
      </p:sp>
      <p:sp>
        <p:nvSpPr>
          <p:cNvPr id="38" name="Text 36"/>
          <p:cNvSpPr/>
          <p:nvPr/>
        </p:nvSpPr>
        <p:spPr>
          <a:xfrm>
            <a:off x="4169664" y="3794760"/>
            <a:ext cx="566928" cy="56692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4</a:t>
            </a:r>
            <a:endParaRPr lang="en-US" sz="1500" dirty="0"/>
          </a:p>
        </p:txBody>
      </p:sp>
      <p:sp>
        <p:nvSpPr>
          <p:cNvPr id="39" name="Shape 37"/>
          <p:cNvSpPr/>
          <p:nvPr/>
        </p:nvSpPr>
        <p:spPr>
          <a:xfrm>
            <a:off x="4846320" y="3794760"/>
            <a:ext cx="566928" cy="566928"/>
          </a:xfrm>
          <a:prstGeom prst="roundRect">
            <a:avLst>
              <a:gd name="adj" fmla="val 9677"/>
            </a:avLst>
          </a:prstGeom>
          <a:solidFill>
            <a:srgbClr val="10312E"/>
          </a:solidFill>
          <a:ln w="15875">
            <a:solidFill>
              <a:srgbClr val="34D8C0"/>
            </a:solidFill>
            <a:prstDash val="solid"/>
          </a:ln>
        </p:spPr>
      </p:sp>
      <p:sp>
        <p:nvSpPr>
          <p:cNvPr id="40" name="Text 38"/>
          <p:cNvSpPr/>
          <p:nvPr/>
        </p:nvSpPr>
        <p:spPr>
          <a:xfrm>
            <a:off x="4846320" y="3794760"/>
            <a:ext cx="566928" cy="56692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5</a:t>
            </a:r>
            <a:endParaRPr lang="en-US" sz="1500" dirty="0"/>
          </a:p>
        </p:txBody>
      </p:sp>
      <p:sp>
        <p:nvSpPr>
          <p:cNvPr id="41" name="Shape 39"/>
          <p:cNvSpPr/>
          <p:nvPr/>
        </p:nvSpPr>
        <p:spPr>
          <a:xfrm>
            <a:off x="5522976" y="3794760"/>
            <a:ext cx="566928" cy="566928"/>
          </a:xfrm>
          <a:prstGeom prst="roundRect">
            <a:avLst>
              <a:gd name="adj" fmla="val 9677"/>
            </a:avLst>
          </a:prstGeom>
          <a:solidFill>
            <a:srgbClr val="10312E"/>
          </a:solidFill>
          <a:ln w="15875">
            <a:solidFill>
              <a:srgbClr val="34D8C0"/>
            </a:solidFill>
            <a:prstDash val="solid"/>
          </a:ln>
        </p:spPr>
      </p:sp>
      <p:sp>
        <p:nvSpPr>
          <p:cNvPr id="42" name="Text 40"/>
          <p:cNvSpPr/>
          <p:nvPr/>
        </p:nvSpPr>
        <p:spPr>
          <a:xfrm>
            <a:off x="5522976" y="3794760"/>
            <a:ext cx="566928" cy="56692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6</a:t>
            </a:r>
            <a:endParaRPr lang="en-US" sz="1500" dirty="0"/>
          </a:p>
        </p:txBody>
      </p:sp>
      <p:sp>
        <p:nvSpPr>
          <p:cNvPr id="43" name="Shape 41"/>
          <p:cNvSpPr/>
          <p:nvPr/>
        </p:nvSpPr>
        <p:spPr>
          <a:xfrm>
            <a:off x="6199632" y="3794760"/>
            <a:ext cx="566928" cy="566928"/>
          </a:xfrm>
          <a:prstGeom prst="roundRect">
            <a:avLst>
              <a:gd name="adj" fmla="val 9677"/>
            </a:avLst>
          </a:prstGeom>
          <a:solidFill>
            <a:srgbClr val="10312E"/>
          </a:solidFill>
          <a:ln w="15875">
            <a:solidFill>
              <a:srgbClr val="34D8C0"/>
            </a:solidFill>
            <a:prstDash val="solid"/>
          </a:ln>
        </p:spPr>
      </p:sp>
      <p:sp>
        <p:nvSpPr>
          <p:cNvPr id="44" name="Text 42"/>
          <p:cNvSpPr/>
          <p:nvPr/>
        </p:nvSpPr>
        <p:spPr>
          <a:xfrm>
            <a:off x="6199632" y="3794760"/>
            <a:ext cx="566928" cy="56692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7</a:t>
            </a:r>
            <a:endParaRPr lang="en-US" sz="1500" dirty="0"/>
          </a:p>
        </p:txBody>
      </p:sp>
      <p:sp>
        <p:nvSpPr>
          <p:cNvPr id="45" name="Shape 43"/>
          <p:cNvSpPr/>
          <p:nvPr/>
        </p:nvSpPr>
        <p:spPr>
          <a:xfrm>
            <a:off x="6876288" y="3794760"/>
            <a:ext cx="566928" cy="566928"/>
          </a:xfrm>
          <a:prstGeom prst="roundRect">
            <a:avLst>
              <a:gd name="adj" fmla="val 9677"/>
            </a:avLst>
          </a:prstGeom>
          <a:solidFill>
            <a:srgbClr val="20242E"/>
          </a:solidFill>
          <a:ln w="15875">
            <a:solidFill>
              <a:srgbClr val="2A3140"/>
            </a:solidFill>
            <a:prstDash val="solid"/>
          </a:ln>
        </p:spPr>
      </p:sp>
      <p:sp>
        <p:nvSpPr>
          <p:cNvPr id="46" name="Text 44"/>
          <p:cNvSpPr/>
          <p:nvPr/>
        </p:nvSpPr>
        <p:spPr>
          <a:xfrm>
            <a:off x="6876288" y="3794760"/>
            <a:ext cx="566928" cy="56692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8</a:t>
            </a:r>
            <a:endParaRPr lang="en-US" sz="1500" dirty="0"/>
          </a:p>
        </p:txBody>
      </p:sp>
      <p:sp>
        <p:nvSpPr>
          <p:cNvPr id="47" name="Shape 45"/>
          <p:cNvSpPr/>
          <p:nvPr/>
        </p:nvSpPr>
        <p:spPr>
          <a:xfrm>
            <a:off x="7552944" y="3794760"/>
            <a:ext cx="566928" cy="566928"/>
          </a:xfrm>
          <a:prstGeom prst="roundRect">
            <a:avLst>
              <a:gd name="adj" fmla="val 9677"/>
            </a:avLst>
          </a:prstGeom>
          <a:solidFill>
            <a:srgbClr val="20242E"/>
          </a:solidFill>
          <a:ln w="15875">
            <a:solidFill>
              <a:srgbClr val="2A3140"/>
            </a:solidFill>
            <a:prstDash val="solid"/>
          </a:ln>
        </p:spPr>
      </p:sp>
      <p:sp>
        <p:nvSpPr>
          <p:cNvPr id="48" name="Text 46"/>
          <p:cNvSpPr/>
          <p:nvPr/>
        </p:nvSpPr>
        <p:spPr>
          <a:xfrm>
            <a:off x="7552944" y="3794760"/>
            <a:ext cx="566928" cy="566928"/>
          </a:xfrm>
          <a:prstGeom prst="rect">
            <a:avLst/>
          </a:prstGeom>
          <a:noFill/>
          <a:ln/>
        </p:spPr>
        <p:txBody>
          <a:bodyPr wrap="square" lIns="0" tIns="0" rIns="0" bIns="0" rtlCol="0" anchor="ctr"/>
          <a:lstStyle/>
          <a:p>
            <a:pPr algn="ctr" indent="0" marL="0">
              <a:buNone/>
            </a:pPr>
            <a:r>
              <a:rPr lang="en-US" sz="1500" b="1" dirty="0">
                <a:solidFill>
                  <a:srgbClr val="EAECEF"/>
                </a:solidFill>
                <a:latin typeface="Courier New" pitchFamily="34" charset="0"/>
                <a:ea typeface="Courier New" pitchFamily="34" charset="-122"/>
                <a:cs typeface="Courier New" pitchFamily="34" charset="-120"/>
              </a:rPr>
              <a:t>9</a:t>
            </a:r>
            <a:endParaRPr lang="en-US" sz="1500" dirty="0"/>
          </a:p>
        </p:txBody>
      </p:sp>
      <p:sp>
        <p:nvSpPr>
          <p:cNvPr id="49" name="Text 47"/>
          <p:cNvSpPr/>
          <p:nvPr/>
        </p:nvSpPr>
        <p:spPr>
          <a:xfrm>
            <a:off x="4169664" y="4379976"/>
            <a:ext cx="566928" cy="219456"/>
          </a:xfrm>
          <a:prstGeom prst="rect">
            <a:avLst/>
          </a:prstGeom>
          <a:noFill/>
          <a:ln/>
        </p:spPr>
        <p:txBody>
          <a:bodyPr wrap="square" lIns="0" tIns="0" rIns="0" bIns="0" rtlCol="0" anchor="ctr"/>
          <a:lstStyle/>
          <a:p>
            <a:pPr algn="ctr" indent="0" marL="0">
              <a:buNone/>
            </a:pPr>
            <a:r>
              <a:rPr lang="en-US" sz="1200" dirty="0">
                <a:solidFill>
                  <a:srgbClr val="34D8C0"/>
                </a:solidFill>
                <a:latin typeface="Calibri" pitchFamily="34" charset="0"/>
                <a:ea typeface="Calibri" pitchFamily="34" charset="-122"/>
                <a:cs typeface="Calibri" pitchFamily="34" charset="-120"/>
              </a:rPr>
              <a:t>▲</a:t>
            </a:r>
            <a:endParaRPr lang="en-US" sz="1200" dirty="0"/>
          </a:p>
        </p:txBody>
      </p:sp>
      <p:sp>
        <p:nvSpPr>
          <p:cNvPr id="50" name="Text 48"/>
          <p:cNvSpPr/>
          <p:nvPr/>
        </p:nvSpPr>
        <p:spPr>
          <a:xfrm>
            <a:off x="4169664" y="4581144"/>
            <a:ext cx="566928" cy="237744"/>
          </a:xfrm>
          <a:prstGeom prst="rect">
            <a:avLst/>
          </a:prstGeom>
          <a:noFill/>
          <a:ln/>
        </p:spPr>
        <p:txBody>
          <a:bodyPr wrap="square" lIns="0" tIns="0" rIns="0" bIns="0" rtlCol="0" anchor="ctr"/>
          <a:lstStyle/>
          <a:p>
            <a:pPr algn="ctr" indent="0" marL="0">
              <a:buNone/>
            </a:pPr>
            <a:r>
              <a:rPr lang="en-US" sz="1300" b="1" dirty="0">
                <a:solidFill>
                  <a:srgbClr val="34D8C0"/>
                </a:solidFill>
                <a:latin typeface="Courier New" pitchFamily="34" charset="0"/>
                <a:ea typeface="Courier New" pitchFamily="34" charset="-122"/>
                <a:cs typeface="Courier New" pitchFamily="34" charset="-120"/>
              </a:rPr>
              <a:t>l</a:t>
            </a:r>
            <a:endParaRPr lang="en-US" sz="1300" dirty="0"/>
          </a:p>
        </p:txBody>
      </p:sp>
      <p:sp>
        <p:nvSpPr>
          <p:cNvPr id="51" name="Text 49"/>
          <p:cNvSpPr/>
          <p:nvPr/>
        </p:nvSpPr>
        <p:spPr>
          <a:xfrm>
            <a:off x="6199632" y="4379976"/>
            <a:ext cx="566928" cy="219456"/>
          </a:xfrm>
          <a:prstGeom prst="rect">
            <a:avLst/>
          </a:prstGeom>
          <a:noFill/>
          <a:ln/>
        </p:spPr>
        <p:txBody>
          <a:bodyPr wrap="square" lIns="0" tIns="0" rIns="0" bIns="0" rtlCol="0" anchor="ctr"/>
          <a:lstStyle/>
          <a:p>
            <a:pPr algn="ctr" indent="0" marL="0">
              <a:buNone/>
            </a:pPr>
            <a:r>
              <a:rPr lang="en-US" sz="1200" dirty="0">
                <a:solidFill>
                  <a:srgbClr val="F2B441"/>
                </a:solidFill>
                <a:latin typeface="Calibri" pitchFamily="34" charset="0"/>
                <a:ea typeface="Calibri" pitchFamily="34" charset="-122"/>
                <a:cs typeface="Calibri" pitchFamily="34" charset="-120"/>
              </a:rPr>
              <a:t>▲</a:t>
            </a:r>
            <a:endParaRPr lang="en-US" sz="1200" dirty="0"/>
          </a:p>
        </p:txBody>
      </p:sp>
      <p:sp>
        <p:nvSpPr>
          <p:cNvPr id="52" name="Text 50"/>
          <p:cNvSpPr/>
          <p:nvPr/>
        </p:nvSpPr>
        <p:spPr>
          <a:xfrm>
            <a:off x="6199632" y="4581144"/>
            <a:ext cx="566928" cy="237744"/>
          </a:xfrm>
          <a:prstGeom prst="rect">
            <a:avLst/>
          </a:prstGeom>
          <a:noFill/>
          <a:ln/>
        </p:spPr>
        <p:txBody>
          <a:bodyPr wrap="square" lIns="0" tIns="0" rIns="0" bIns="0" rtlCol="0" anchor="ctr"/>
          <a:lstStyle/>
          <a:p>
            <a:pPr algn="ctr" indent="0" marL="0">
              <a:buNone/>
            </a:pPr>
            <a:r>
              <a:rPr lang="en-US" sz="1300" b="1" dirty="0">
                <a:solidFill>
                  <a:srgbClr val="F2B441"/>
                </a:solidFill>
                <a:latin typeface="Courier New" pitchFamily="34" charset="0"/>
                <a:ea typeface="Courier New" pitchFamily="34" charset="-122"/>
                <a:cs typeface="Courier New" pitchFamily="34" charset="-120"/>
              </a:rPr>
              <a:t>r</a:t>
            </a:r>
            <a:endParaRPr lang="en-US" sz="1300" dirty="0"/>
          </a:p>
        </p:txBody>
      </p:sp>
      <p:sp>
        <p:nvSpPr>
          <p:cNvPr id="53" name="Shape 51"/>
          <p:cNvSpPr/>
          <p:nvPr/>
        </p:nvSpPr>
        <p:spPr>
          <a:xfrm>
            <a:off x="502920" y="5074920"/>
            <a:ext cx="11155680" cy="1051560"/>
          </a:xfrm>
          <a:prstGeom prst="roundRect">
            <a:avLst>
              <a:gd name="adj" fmla="val 7826"/>
            </a:avLst>
          </a:prstGeom>
          <a:solidFill>
            <a:srgbClr val="20242E"/>
          </a:solidFill>
          <a:ln w="12700">
            <a:solidFill>
              <a:srgbClr val="2A3140"/>
            </a:solidFill>
            <a:prstDash val="solid"/>
          </a:ln>
        </p:spPr>
      </p:sp>
      <p:sp>
        <p:nvSpPr>
          <p:cNvPr id="54" name="Text 52"/>
          <p:cNvSpPr/>
          <p:nvPr/>
        </p:nvSpPr>
        <p:spPr>
          <a:xfrm>
            <a:off x="731520" y="5074920"/>
            <a:ext cx="10698480" cy="1051560"/>
          </a:xfrm>
          <a:prstGeom prst="rect">
            <a:avLst/>
          </a:prstGeom>
          <a:noFill/>
          <a:ln/>
        </p:spPr>
        <p:txBody>
          <a:bodyPr wrap="square" lIns="0" tIns="0" rIns="0" bIns="0" rtlCol="0" anchor="ctr"/>
          <a:lstStyle/>
          <a:p>
            <a:pPr algn="l" indent="0" marL="0">
              <a:buNone/>
            </a:pPr>
            <a:r>
              <a:rPr lang="en-US" sz="1550" b="1" dirty="0">
                <a:solidFill>
                  <a:srgbClr val="F2B441"/>
                </a:solidFill>
                <a:latin typeface="Calibri" pitchFamily="34" charset="0"/>
                <a:ea typeface="Calibri" pitchFamily="34" charset="-122"/>
                <a:cs typeface="Calibri" pitchFamily="34" charset="-120"/>
              </a:rPr>
              <a:t>Why?  </a:t>
            </a:r>
            <a:pPr algn="l" indent="0" marL="0">
              <a:buNone/>
            </a:pPr>
            <a:r>
              <a:rPr lang="en-US" sz="1550" dirty="0">
                <a:solidFill>
                  <a:srgbClr val="EAECEF"/>
                </a:solidFill>
                <a:latin typeface="Calibri" pitchFamily="34" charset="0"/>
                <a:ea typeface="Calibri" pitchFamily="34" charset="-122"/>
                <a:cs typeface="Calibri" pitchFamily="34" charset="-120"/>
              </a:rPr>
              <a:t>Moving the left edge right removes a chair. Removing a chair can't make a too-small block big enough — so whatever worked before is the floor for what works now.</a:t>
            </a:r>
            <a:endParaRPr lang="en-US" sz="1550" dirty="0"/>
          </a:p>
        </p:txBody>
      </p:sp>
      <p:sp>
        <p:nvSpPr>
          <p:cNvPr id="55" name="Text 53"/>
          <p:cNvSpPr/>
          <p:nvPr/>
        </p:nvSpPr>
        <p:spPr>
          <a:xfrm>
            <a:off x="502920" y="6455664"/>
            <a:ext cx="5486400" cy="274320"/>
          </a:xfrm>
          <a:prstGeom prst="rect">
            <a:avLst/>
          </a:prstGeom>
          <a:noFill/>
          <a:ln/>
        </p:spPr>
        <p:txBody>
          <a:bodyPr wrap="square" lIns="0" tIns="0" rIns="0" bIns="0" rtlCol="0" anchor="ctr"/>
          <a:lstStyle/>
          <a:p>
            <a:pPr algn="l" indent="0" marL="0">
              <a:buNone/>
            </a:pPr>
            <a:r>
              <a:rPr lang="en-US" sz="1000" dirty="0">
                <a:solidFill>
                  <a:srgbClr val="9AA5B4"/>
                </a:solidFill>
                <a:latin typeface="Calibri" pitchFamily="34" charset="0"/>
                <a:ea typeface="Calibri" pitchFamily="34" charset="-122"/>
                <a:cs typeface="Calibri" pitchFamily="34" charset="-120"/>
              </a:rPr>
              <a:t>Two Pointers &amp; Sliding Window</a:t>
            </a:r>
            <a:endParaRPr lang="en-US" sz="1000" dirty="0"/>
          </a:p>
        </p:txBody>
      </p:sp>
      <p:sp>
        <p:nvSpPr>
          <p:cNvPr id="56" name="Text 54"/>
          <p:cNvSpPr/>
          <p:nvPr/>
        </p:nvSpPr>
        <p:spPr>
          <a:xfrm>
            <a:off x="11228832" y="6455664"/>
            <a:ext cx="457200" cy="274320"/>
          </a:xfrm>
          <a:prstGeom prst="rect">
            <a:avLst/>
          </a:prstGeom>
          <a:noFill/>
          <a:ln/>
        </p:spPr>
        <p:txBody>
          <a:bodyPr wrap="square" lIns="0" tIns="0" rIns="0" bIns="0" rtlCol="0" anchor="ctr"/>
          <a:lstStyle/>
          <a:p>
            <a:pPr algn="r" indent="0" marL="0">
              <a:buNone/>
            </a:pPr>
            <a:r>
              <a:rPr lang="en-US" sz="1000" dirty="0">
                <a:solidFill>
                  <a:srgbClr val="9AA5B4"/>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171F"/>
        </a:solidFill>
      </p:bgPr>
    </p:bg>
    <p:spTree>
      <p:nvGrpSpPr>
        <p:cNvPr id="1" name=""/>
        <p:cNvGrpSpPr/>
        <p:nvPr/>
      </p:nvGrpSpPr>
      <p:grpSpPr>
        <a:xfrm>
          <a:off x="0" y="0"/>
          <a:ext cx="0" cy="0"/>
          <a:chOff x="0" y="0"/>
          <a:chExt cx="0" cy="0"/>
        </a:xfrm>
      </p:grpSpPr>
      <p:sp>
        <p:nvSpPr>
          <p:cNvPr id="2" name="Text 0"/>
          <p:cNvSpPr/>
          <p:nvPr/>
        </p:nvSpPr>
        <p:spPr>
          <a:xfrm>
            <a:off x="502920" y="457200"/>
            <a:ext cx="3657600" cy="292608"/>
          </a:xfrm>
          <a:prstGeom prst="rect">
            <a:avLst/>
          </a:prstGeom>
          <a:noFill/>
          <a:ln/>
        </p:spPr>
        <p:txBody>
          <a:bodyPr wrap="square" lIns="0" tIns="0" rIns="0" bIns="0" rtlCol="0" anchor="ctr"/>
          <a:lstStyle/>
          <a:p>
            <a:pPr algn="l" indent="0" marL="0">
              <a:buNone/>
            </a:pPr>
            <a:r>
              <a:rPr lang="en-US" sz="1200" b="1" spc="300" kern="0" dirty="0">
                <a:solidFill>
                  <a:srgbClr val="34D8C0"/>
                </a:solidFill>
                <a:latin typeface="Calibri" pitchFamily="34" charset="0"/>
                <a:ea typeface="Calibri" pitchFamily="34" charset="-122"/>
                <a:cs typeface="Calibri" pitchFamily="34" charset="-120"/>
              </a:rPr>
              <a:t>TWO POINTERS · METHOD</a:t>
            </a:r>
            <a:endParaRPr lang="en-US" sz="1200" dirty="0"/>
          </a:p>
        </p:txBody>
      </p:sp>
      <p:sp>
        <p:nvSpPr>
          <p:cNvPr id="3" name="Text 1"/>
          <p:cNvSpPr/>
          <p:nvPr/>
        </p:nvSpPr>
        <p:spPr>
          <a:xfrm>
            <a:off x="502920" y="777240"/>
            <a:ext cx="10972800" cy="822960"/>
          </a:xfrm>
          <a:prstGeom prst="rect">
            <a:avLst/>
          </a:prstGeom>
          <a:noFill/>
          <a:ln/>
        </p:spPr>
        <p:txBody>
          <a:bodyPr wrap="square" lIns="0" tIns="0" rIns="0" bIns="0" rtlCol="0" anchor="ctr"/>
          <a:lstStyle/>
          <a:p>
            <a:pPr algn="l" indent="0" marL="0">
              <a:buNone/>
            </a:pPr>
            <a:r>
              <a:rPr lang="en-US" sz="3400" b="1" dirty="0">
                <a:solidFill>
                  <a:srgbClr val="EAECEF"/>
                </a:solidFill>
                <a:latin typeface="Cambria" pitchFamily="34" charset="0"/>
                <a:ea typeface="Cambria" pitchFamily="34" charset="-122"/>
                <a:cs typeface="Cambria" pitchFamily="34" charset="-120"/>
              </a:rPr>
              <a:t>Sweep both pointers forward, once each</a:t>
            </a:r>
            <a:endParaRPr lang="en-US" sz="3400" dirty="0"/>
          </a:p>
        </p:txBody>
      </p:sp>
      <p:sp>
        <p:nvSpPr>
          <p:cNvPr id="4" name="Shape 2"/>
          <p:cNvSpPr/>
          <p:nvPr/>
        </p:nvSpPr>
        <p:spPr>
          <a:xfrm>
            <a:off x="502920" y="1828800"/>
            <a:ext cx="11155680" cy="1234440"/>
          </a:xfrm>
          <a:prstGeom prst="roundRect">
            <a:avLst>
              <a:gd name="adj" fmla="val 6667"/>
            </a:avLst>
          </a:prstGeom>
          <a:solidFill>
            <a:srgbClr val="20242E"/>
          </a:solidFill>
          <a:ln w="12700">
            <a:solidFill>
              <a:srgbClr val="2A3140"/>
            </a:solidFill>
            <a:prstDash val="solid"/>
          </a:ln>
        </p:spPr>
      </p:sp>
      <p:sp>
        <p:nvSpPr>
          <p:cNvPr id="5" name="Shape 3"/>
          <p:cNvSpPr/>
          <p:nvPr/>
        </p:nvSpPr>
        <p:spPr>
          <a:xfrm>
            <a:off x="731520" y="2103120"/>
            <a:ext cx="685800" cy="685800"/>
          </a:xfrm>
          <a:prstGeom prst="roundRect">
            <a:avLst>
              <a:gd name="adj" fmla="val 13333"/>
            </a:avLst>
          </a:prstGeom>
          <a:solidFill>
            <a:srgbClr val="10312E"/>
          </a:solidFill>
          <a:ln w="19050">
            <a:solidFill>
              <a:srgbClr val="34D8C0"/>
            </a:solidFill>
            <a:prstDash val="solid"/>
          </a:ln>
        </p:spPr>
      </p:sp>
      <p:sp>
        <p:nvSpPr>
          <p:cNvPr id="6" name="Text 4"/>
          <p:cNvSpPr/>
          <p:nvPr/>
        </p:nvSpPr>
        <p:spPr>
          <a:xfrm>
            <a:off x="731520" y="2103120"/>
            <a:ext cx="685800" cy="685800"/>
          </a:xfrm>
          <a:prstGeom prst="rect">
            <a:avLst/>
          </a:prstGeom>
          <a:noFill/>
          <a:ln/>
        </p:spPr>
        <p:txBody>
          <a:bodyPr wrap="square" lIns="0" tIns="0" rIns="0" bIns="0" rtlCol="0" anchor="ctr"/>
          <a:lstStyle/>
          <a:p>
            <a:pPr algn="ctr" indent="0" marL="0">
              <a:buNone/>
            </a:pPr>
            <a:r>
              <a:rPr lang="en-US" sz="3000" b="1" dirty="0">
                <a:solidFill>
                  <a:srgbClr val="34D8C0"/>
                </a:solidFill>
                <a:latin typeface="Cambria" pitchFamily="34" charset="0"/>
                <a:ea typeface="Cambria" pitchFamily="34" charset="-122"/>
                <a:cs typeface="Cambria" pitchFamily="34" charset="-120"/>
              </a:rPr>
              <a:t>1</a:t>
            </a:r>
            <a:endParaRPr lang="en-US" sz="3000" dirty="0"/>
          </a:p>
        </p:txBody>
      </p:sp>
      <p:sp>
        <p:nvSpPr>
          <p:cNvPr id="7" name="Text 5"/>
          <p:cNvSpPr/>
          <p:nvPr/>
        </p:nvSpPr>
        <p:spPr>
          <a:xfrm>
            <a:off x="1645920" y="2029968"/>
            <a:ext cx="3657600" cy="457200"/>
          </a:xfrm>
          <a:prstGeom prst="rect">
            <a:avLst/>
          </a:prstGeom>
          <a:noFill/>
          <a:ln/>
        </p:spPr>
        <p:txBody>
          <a:bodyPr wrap="square" lIns="0" tIns="0" rIns="0" bIns="0" rtlCol="0" anchor="ctr"/>
          <a:lstStyle/>
          <a:p>
            <a:pPr algn="l" indent="0" marL="0">
              <a:buNone/>
            </a:pPr>
            <a:r>
              <a:rPr lang="en-US" sz="1900" b="1" dirty="0">
                <a:solidFill>
                  <a:srgbClr val="EAECEF"/>
                </a:solidFill>
                <a:latin typeface="Calibri" pitchFamily="34" charset="0"/>
                <a:ea typeface="Calibri" pitchFamily="34" charset="-122"/>
                <a:cs typeface="Calibri" pitchFamily="34" charset="-120"/>
              </a:rPr>
              <a:t>Expand right</a:t>
            </a:r>
            <a:endParaRPr lang="en-US" sz="1900" dirty="0"/>
          </a:p>
        </p:txBody>
      </p:sp>
      <p:sp>
        <p:nvSpPr>
          <p:cNvPr id="8" name="Text 6"/>
          <p:cNvSpPr/>
          <p:nvPr/>
        </p:nvSpPr>
        <p:spPr>
          <a:xfrm>
            <a:off x="1645920" y="2450592"/>
            <a:ext cx="9692640" cy="548640"/>
          </a:xfrm>
          <a:prstGeom prst="rect">
            <a:avLst/>
          </a:prstGeom>
          <a:noFill/>
          <a:ln/>
        </p:spPr>
        <p:txBody>
          <a:bodyPr wrap="square" lIns="0" tIns="0" rIns="0" bIns="0" rtlCol="0" anchor="t"/>
          <a:lstStyle/>
          <a:p>
            <a:pPr algn="l" indent="0" marL="0">
              <a:buNone/>
            </a:pPr>
            <a:r>
              <a:rPr lang="en-US" sz="1450" dirty="0">
                <a:solidFill>
                  <a:srgbClr val="9AA5B4"/>
                </a:solidFill>
                <a:latin typeface="Calibri" pitchFamily="34" charset="0"/>
                <a:ea typeface="Calibri" pitchFamily="34" charset="-122"/>
                <a:cs typeface="Calibri" pitchFamily="34" charset="-120"/>
              </a:rPr>
              <a:t>If the window isn't valid yet, push r forward — adding chairs — resuming from where it already is, not restarting.</a:t>
            </a:r>
            <a:endParaRPr lang="en-US" sz="1450" dirty="0"/>
          </a:p>
        </p:txBody>
      </p:sp>
      <p:sp>
        <p:nvSpPr>
          <p:cNvPr id="9" name="Shape 7"/>
          <p:cNvSpPr/>
          <p:nvPr/>
        </p:nvSpPr>
        <p:spPr>
          <a:xfrm>
            <a:off x="502920" y="3319272"/>
            <a:ext cx="11155680" cy="1234440"/>
          </a:xfrm>
          <a:prstGeom prst="roundRect">
            <a:avLst>
              <a:gd name="adj" fmla="val 6667"/>
            </a:avLst>
          </a:prstGeom>
          <a:solidFill>
            <a:srgbClr val="20242E"/>
          </a:solidFill>
          <a:ln w="12700">
            <a:solidFill>
              <a:srgbClr val="2A3140"/>
            </a:solidFill>
            <a:prstDash val="solid"/>
          </a:ln>
        </p:spPr>
      </p:sp>
      <p:sp>
        <p:nvSpPr>
          <p:cNvPr id="10" name="Shape 8"/>
          <p:cNvSpPr/>
          <p:nvPr/>
        </p:nvSpPr>
        <p:spPr>
          <a:xfrm>
            <a:off x="731520" y="3593592"/>
            <a:ext cx="685800" cy="685800"/>
          </a:xfrm>
          <a:prstGeom prst="roundRect">
            <a:avLst>
              <a:gd name="adj" fmla="val 13333"/>
            </a:avLst>
          </a:prstGeom>
          <a:solidFill>
            <a:srgbClr val="2A3140"/>
          </a:solidFill>
          <a:ln w="19050">
            <a:solidFill>
              <a:srgbClr val="F2B441"/>
            </a:solidFill>
            <a:prstDash val="solid"/>
          </a:ln>
        </p:spPr>
      </p:sp>
      <p:sp>
        <p:nvSpPr>
          <p:cNvPr id="11" name="Text 9"/>
          <p:cNvSpPr/>
          <p:nvPr/>
        </p:nvSpPr>
        <p:spPr>
          <a:xfrm>
            <a:off x="731520" y="3593592"/>
            <a:ext cx="685800" cy="685800"/>
          </a:xfrm>
          <a:prstGeom prst="rect">
            <a:avLst/>
          </a:prstGeom>
          <a:noFill/>
          <a:ln/>
        </p:spPr>
        <p:txBody>
          <a:bodyPr wrap="square" lIns="0" tIns="0" rIns="0" bIns="0" rtlCol="0" anchor="ctr"/>
          <a:lstStyle/>
          <a:p>
            <a:pPr algn="ctr" indent="0" marL="0">
              <a:buNone/>
            </a:pPr>
            <a:r>
              <a:rPr lang="en-US" sz="3000" b="1" dirty="0">
                <a:solidFill>
                  <a:srgbClr val="F2B441"/>
                </a:solidFill>
                <a:latin typeface="Cambria" pitchFamily="34" charset="0"/>
                <a:ea typeface="Cambria" pitchFamily="34" charset="-122"/>
                <a:cs typeface="Cambria" pitchFamily="34" charset="-120"/>
              </a:rPr>
              <a:t>2</a:t>
            </a:r>
            <a:endParaRPr lang="en-US" sz="3000" dirty="0"/>
          </a:p>
        </p:txBody>
      </p:sp>
      <p:sp>
        <p:nvSpPr>
          <p:cNvPr id="12" name="Text 10"/>
          <p:cNvSpPr/>
          <p:nvPr/>
        </p:nvSpPr>
        <p:spPr>
          <a:xfrm>
            <a:off x="1645920" y="3520440"/>
            <a:ext cx="3657600" cy="457200"/>
          </a:xfrm>
          <a:prstGeom prst="rect">
            <a:avLst/>
          </a:prstGeom>
          <a:noFill/>
          <a:ln/>
        </p:spPr>
        <p:txBody>
          <a:bodyPr wrap="square" lIns="0" tIns="0" rIns="0" bIns="0" rtlCol="0" anchor="ctr"/>
          <a:lstStyle/>
          <a:p>
            <a:pPr algn="l" indent="0" marL="0">
              <a:buNone/>
            </a:pPr>
            <a:r>
              <a:rPr lang="en-US" sz="1900" b="1" dirty="0">
                <a:solidFill>
                  <a:srgbClr val="EAECEF"/>
                </a:solidFill>
                <a:latin typeface="Calibri" pitchFamily="34" charset="0"/>
                <a:ea typeface="Calibri" pitchFamily="34" charset="-122"/>
                <a:cs typeface="Calibri" pitchFamily="34" charset="-120"/>
              </a:rPr>
              <a:t>Record</a:t>
            </a:r>
            <a:endParaRPr lang="en-US" sz="1900" dirty="0"/>
          </a:p>
        </p:txBody>
      </p:sp>
      <p:sp>
        <p:nvSpPr>
          <p:cNvPr id="13" name="Text 11"/>
          <p:cNvSpPr/>
          <p:nvPr/>
        </p:nvSpPr>
        <p:spPr>
          <a:xfrm>
            <a:off x="1645920" y="3941064"/>
            <a:ext cx="9692640" cy="548640"/>
          </a:xfrm>
          <a:prstGeom prst="rect">
            <a:avLst/>
          </a:prstGeom>
          <a:noFill/>
          <a:ln/>
        </p:spPr>
        <p:txBody>
          <a:bodyPr wrap="square" lIns="0" tIns="0" rIns="0" bIns="0" rtlCol="0" anchor="t"/>
          <a:lstStyle/>
          <a:p>
            <a:pPr algn="l" indent="0" marL="0">
              <a:buNone/>
            </a:pPr>
            <a:r>
              <a:rPr lang="en-US" sz="1450" dirty="0">
                <a:solidFill>
                  <a:srgbClr val="9AA5B4"/>
                </a:solidFill>
                <a:latin typeface="Calibri" pitchFamily="34" charset="0"/>
                <a:ea typeface="Calibri" pitchFamily="34" charset="-122"/>
                <a:cs typeface="Calibri" pitchFamily="34" charset="-120"/>
              </a:rPr>
              <a:t>Once valid, update the best block length.</a:t>
            </a:r>
            <a:endParaRPr lang="en-US" sz="1450" dirty="0"/>
          </a:p>
        </p:txBody>
      </p:sp>
      <p:sp>
        <p:nvSpPr>
          <p:cNvPr id="14" name="Shape 12"/>
          <p:cNvSpPr/>
          <p:nvPr/>
        </p:nvSpPr>
        <p:spPr>
          <a:xfrm>
            <a:off x="502920" y="4809744"/>
            <a:ext cx="11155680" cy="1234440"/>
          </a:xfrm>
          <a:prstGeom prst="roundRect">
            <a:avLst>
              <a:gd name="adj" fmla="val 6667"/>
            </a:avLst>
          </a:prstGeom>
          <a:solidFill>
            <a:srgbClr val="20242E"/>
          </a:solidFill>
          <a:ln w="12700">
            <a:solidFill>
              <a:srgbClr val="2A3140"/>
            </a:solidFill>
            <a:prstDash val="solid"/>
          </a:ln>
        </p:spPr>
      </p:sp>
      <p:sp>
        <p:nvSpPr>
          <p:cNvPr id="15" name="Shape 13"/>
          <p:cNvSpPr/>
          <p:nvPr/>
        </p:nvSpPr>
        <p:spPr>
          <a:xfrm>
            <a:off x="731520" y="5084064"/>
            <a:ext cx="685800" cy="685800"/>
          </a:xfrm>
          <a:prstGeom prst="roundRect">
            <a:avLst>
              <a:gd name="adj" fmla="val 13333"/>
            </a:avLst>
          </a:prstGeom>
          <a:solidFill>
            <a:srgbClr val="331416"/>
          </a:solidFill>
          <a:ln w="19050">
            <a:solidFill>
              <a:srgbClr val="FF6B6B"/>
            </a:solidFill>
            <a:prstDash val="solid"/>
          </a:ln>
        </p:spPr>
      </p:sp>
      <p:sp>
        <p:nvSpPr>
          <p:cNvPr id="16" name="Text 14"/>
          <p:cNvSpPr/>
          <p:nvPr/>
        </p:nvSpPr>
        <p:spPr>
          <a:xfrm>
            <a:off x="731520" y="5084064"/>
            <a:ext cx="685800" cy="685800"/>
          </a:xfrm>
          <a:prstGeom prst="rect">
            <a:avLst/>
          </a:prstGeom>
          <a:noFill/>
          <a:ln/>
        </p:spPr>
        <p:txBody>
          <a:bodyPr wrap="square" lIns="0" tIns="0" rIns="0" bIns="0" rtlCol="0" anchor="ctr"/>
          <a:lstStyle/>
          <a:p>
            <a:pPr algn="ctr" indent="0" marL="0">
              <a:buNone/>
            </a:pPr>
            <a:r>
              <a:rPr lang="en-US" sz="3000" b="1" dirty="0">
                <a:solidFill>
                  <a:srgbClr val="FF6B6B"/>
                </a:solidFill>
                <a:latin typeface="Cambria" pitchFamily="34" charset="0"/>
                <a:ea typeface="Cambria" pitchFamily="34" charset="-122"/>
                <a:cs typeface="Cambria" pitchFamily="34" charset="-120"/>
              </a:rPr>
              <a:t>3</a:t>
            </a:r>
            <a:endParaRPr lang="en-US" sz="3000" dirty="0"/>
          </a:p>
        </p:txBody>
      </p:sp>
      <p:sp>
        <p:nvSpPr>
          <p:cNvPr id="17" name="Text 15"/>
          <p:cNvSpPr/>
          <p:nvPr/>
        </p:nvSpPr>
        <p:spPr>
          <a:xfrm>
            <a:off x="1645920" y="5010912"/>
            <a:ext cx="3657600" cy="457200"/>
          </a:xfrm>
          <a:prstGeom prst="rect">
            <a:avLst/>
          </a:prstGeom>
          <a:noFill/>
          <a:ln/>
        </p:spPr>
        <p:txBody>
          <a:bodyPr wrap="square" lIns="0" tIns="0" rIns="0" bIns="0" rtlCol="0" anchor="ctr"/>
          <a:lstStyle/>
          <a:p>
            <a:pPr algn="l" indent="0" marL="0">
              <a:buNone/>
            </a:pPr>
            <a:r>
              <a:rPr lang="en-US" sz="1900" b="1" dirty="0">
                <a:solidFill>
                  <a:srgbClr val="EAECEF"/>
                </a:solidFill>
                <a:latin typeface="Calibri" pitchFamily="34" charset="0"/>
                <a:ea typeface="Calibri" pitchFamily="34" charset="-122"/>
                <a:cs typeface="Calibri" pitchFamily="34" charset="-120"/>
              </a:rPr>
              <a:t>Advance left</a:t>
            </a:r>
            <a:endParaRPr lang="en-US" sz="1900" dirty="0"/>
          </a:p>
        </p:txBody>
      </p:sp>
      <p:sp>
        <p:nvSpPr>
          <p:cNvPr id="18" name="Text 16"/>
          <p:cNvSpPr/>
          <p:nvPr/>
        </p:nvSpPr>
        <p:spPr>
          <a:xfrm>
            <a:off x="1645920" y="5431536"/>
            <a:ext cx="9692640" cy="548640"/>
          </a:xfrm>
          <a:prstGeom prst="rect">
            <a:avLst/>
          </a:prstGeom>
          <a:noFill/>
          <a:ln/>
        </p:spPr>
        <p:txBody>
          <a:bodyPr wrap="square" lIns="0" tIns="0" rIns="0" bIns="0" rtlCol="0" anchor="t"/>
          <a:lstStyle/>
          <a:p>
            <a:pPr algn="l" indent="0" marL="0">
              <a:buNone/>
            </a:pPr>
            <a:r>
              <a:rPr lang="en-US" sz="1450" dirty="0">
                <a:solidFill>
                  <a:srgbClr val="9AA5B4"/>
                </a:solidFill>
                <a:latin typeface="Calibri" pitchFamily="34" charset="0"/>
                <a:ea typeface="Calibri" pitchFamily="34" charset="-122"/>
                <a:cs typeface="Calibri" pitchFamily="34" charset="-120"/>
              </a:rPr>
              <a:t>Move l forward one step: the departing chair leaves, so decrement the counts. r stays put.</a:t>
            </a:r>
            <a:endParaRPr lang="en-US" sz="1450" dirty="0"/>
          </a:p>
        </p:txBody>
      </p:sp>
      <p:sp>
        <p:nvSpPr>
          <p:cNvPr id="19" name="Text 17"/>
          <p:cNvSpPr/>
          <p:nvPr/>
        </p:nvSpPr>
        <p:spPr>
          <a:xfrm>
            <a:off x="502920" y="6172200"/>
            <a:ext cx="10972800" cy="320040"/>
          </a:xfrm>
          <a:prstGeom prst="rect">
            <a:avLst/>
          </a:prstGeom>
          <a:noFill/>
          <a:ln/>
        </p:spPr>
        <p:txBody>
          <a:bodyPr wrap="square" lIns="0" tIns="0" rIns="0" bIns="0" rtlCol="0" anchor="ctr"/>
          <a:lstStyle/>
          <a:p>
            <a:pPr algn="l" indent="0" marL="0">
              <a:buNone/>
            </a:pPr>
            <a:r>
              <a:rPr lang="en-US" sz="1400" i="1" dirty="0">
                <a:solidFill>
                  <a:srgbClr val="34D8C0"/>
                </a:solidFill>
                <a:latin typeface="Calibri" pitchFamily="34" charset="0"/>
                <a:ea typeface="Calibri" pitchFamily="34" charset="-122"/>
                <a:cs typeface="Calibri" pitchFamily="34" charset="-120"/>
              </a:rPr>
              <a:t>Because r resumes instead of resetting, no chair is ever counted twice.</a:t>
            </a:r>
            <a:endParaRPr lang="en-US" sz="1400" dirty="0"/>
          </a:p>
        </p:txBody>
      </p:sp>
      <p:sp>
        <p:nvSpPr>
          <p:cNvPr id="20" name="Text 18"/>
          <p:cNvSpPr/>
          <p:nvPr/>
        </p:nvSpPr>
        <p:spPr>
          <a:xfrm>
            <a:off x="502920" y="6455664"/>
            <a:ext cx="5486400" cy="274320"/>
          </a:xfrm>
          <a:prstGeom prst="rect">
            <a:avLst/>
          </a:prstGeom>
          <a:noFill/>
          <a:ln/>
        </p:spPr>
        <p:txBody>
          <a:bodyPr wrap="square" lIns="0" tIns="0" rIns="0" bIns="0" rtlCol="0" anchor="ctr"/>
          <a:lstStyle/>
          <a:p>
            <a:pPr algn="l" indent="0" marL="0">
              <a:buNone/>
            </a:pPr>
            <a:r>
              <a:rPr lang="en-US" sz="1000" dirty="0">
                <a:solidFill>
                  <a:srgbClr val="9AA5B4"/>
                </a:solidFill>
                <a:latin typeface="Calibri" pitchFamily="34" charset="0"/>
                <a:ea typeface="Calibri" pitchFamily="34" charset="-122"/>
                <a:cs typeface="Calibri" pitchFamily="34" charset="-120"/>
              </a:rPr>
              <a:t>Two Pointers &amp; Sliding Window</a:t>
            </a:r>
            <a:endParaRPr lang="en-US" sz="1000" dirty="0"/>
          </a:p>
        </p:txBody>
      </p:sp>
      <p:sp>
        <p:nvSpPr>
          <p:cNvPr id="21" name="Text 19"/>
          <p:cNvSpPr/>
          <p:nvPr/>
        </p:nvSpPr>
        <p:spPr>
          <a:xfrm>
            <a:off x="11228832" y="6455664"/>
            <a:ext cx="457200" cy="274320"/>
          </a:xfrm>
          <a:prstGeom prst="rect">
            <a:avLst/>
          </a:prstGeom>
          <a:noFill/>
          <a:ln/>
        </p:spPr>
        <p:txBody>
          <a:bodyPr wrap="square" lIns="0" tIns="0" rIns="0" bIns="0" rtlCol="0" anchor="ctr"/>
          <a:lstStyle/>
          <a:p>
            <a:pPr algn="r" indent="0" marL="0">
              <a:buNone/>
            </a:pPr>
            <a:r>
              <a:rPr lang="en-US" sz="1000" dirty="0">
                <a:solidFill>
                  <a:srgbClr val="9AA5B4"/>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171F"/>
        </a:solidFill>
      </p:bgPr>
    </p:bg>
    <p:spTree>
      <p:nvGrpSpPr>
        <p:cNvPr id="1" name=""/>
        <p:cNvGrpSpPr/>
        <p:nvPr/>
      </p:nvGrpSpPr>
      <p:grpSpPr>
        <a:xfrm>
          <a:off x="0" y="0"/>
          <a:ext cx="0" cy="0"/>
          <a:chOff x="0" y="0"/>
          <a:chExt cx="0" cy="0"/>
        </a:xfrm>
      </p:grpSpPr>
      <p:sp>
        <p:nvSpPr>
          <p:cNvPr id="2" name="Text 0"/>
          <p:cNvSpPr/>
          <p:nvPr/>
        </p:nvSpPr>
        <p:spPr>
          <a:xfrm>
            <a:off x="502920" y="457200"/>
            <a:ext cx="3657600" cy="292608"/>
          </a:xfrm>
          <a:prstGeom prst="rect">
            <a:avLst/>
          </a:prstGeom>
          <a:noFill/>
          <a:ln/>
        </p:spPr>
        <p:txBody>
          <a:bodyPr wrap="square" lIns="0" tIns="0" rIns="0" bIns="0" rtlCol="0" anchor="ctr"/>
          <a:lstStyle/>
          <a:p>
            <a:pPr algn="l" indent="0" marL="0">
              <a:buNone/>
            </a:pPr>
            <a:r>
              <a:rPr lang="en-US" sz="1200" b="1" spc="300" kern="0" dirty="0">
                <a:solidFill>
                  <a:srgbClr val="F2B441"/>
                </a:solidFill>
                <a:latin typeface="Calibri" pitchFamily="34" charset="0"/>
                <a:ea typeface="Calibri" pitchFamily="34" charset="-122"/>
                <a:cs typeface="Calibri" pitchFamily="34" charset="-120"/>
              </a:rPr>
              <a:t>TWO POINTERS · CODE (C++)</a:t>
            </a:r>
            <a:endParaRPr lang="en-US" sz="1200" dirty="0"/>
          </a:p>
        </p:txBody>
      </p:sp>
      <p:sp>
        <p:nvSpPr>
          <p:cNvPr id="3" name="Text 1"/>
          <p:cNvSpPr/>
          <p:nvPr/>
        </p:nvSpPr>
        <p:spPr>
          <a:xfrm>
            <a:off x="502920" y="777240"/>
            <a:ext cx="10972800" cy="822960"/>
          </a:xfrm>
          <a:prstGeom prst="rect">
            <a:avLst/>
          </a:prstGeom>
          <a:noFill/>
          <a:ln/>
        </p:spPr>
        <p:txBody>
          <a:bodyPr wrap="square" lIns="0" tIns="0" rIns="0" bIns="0" rtlCol="0" anchor="ctr"/>
          <a:lstStyle/>
          <a:p>
            <a:pPr algn="l" indent="0" marL="0">
              <a:buNone/>
            </a:pPr>
            <a:r>
              <a:rPr lang="en-US" sz="3400" b="1" dirty="0">
                <a:solidFill>
                  <a:srgbClr val="EAECEF"/>
                </a:solidFill>
                <a:latin typeface="Cambria" pitchFamily="34" charset="0"/>
                <a:ea typeface="Cambria" pitchFamily="34" charset="-122"/>
                <a:cs typeface="Cambria" pitchFamily="34" charset="-120"/>
              </a:rPr>
              <a:t>The whole sweep is O(C)</a:t>
            </a:r>
            <a:endParaRPr lang="en-US" sz="3400" dirty="0"/>
          </a:p>
        </p:txBody>
      </p:sp>
      <p:sp>
        <p:nvSpPr>
          <p:cNvPr id="4" name="Shape 2"/>
          <p:cNvSpPr/>
          <p:nvPr/>
        </p:nvSpPr>
        <p:spPr>
          <a:xfrm>
            <a:off x="502920" y="1737360"/>
            <a:ext cx="7635240" cy="4343400"/>
          </a:xfrm>
          <a:prstGeom prst="roundRect">
            <a:avLst>
              <a:gd name="adj" fmla="val 1684"/>
            </a:avLst>
          </a:prstGeom>
          <a:solidFill>
            <a:srgbClr val="0E1016"/>
          </a:solidFill>
          <a:ln w="12700">
            <a:solidFill>
              <a:srgbClr val="2A3140"/>
            </a:solidFill>
            <a:prstDash val="solid"/>
          </a:ln>
        </p:spPr>
      </p:sp>
      <p:sp>
        <p:nvSpPr>
          <p:cNvPr id="5" name="Text 3"/>
          <p:cNvSpPr/>
          <p:nvPr/>
        </p:nvSpPr>
        <p:spPr>
          <a:xfrm>
            <a:off x="704088" y="1883664"/>
            <a:ext cx="7232904" cy="4050792"/>
          </a:xfrm>
          <a:prstGeom prst="rect">
            <a:avLst/>
          </a:prstGeom>
          <a:noFill/>
          <a:ln/>
        </p:spPr>
        <p:txBody>
          <a:bodyPr wrap="square" lIns="0" tIns="0" rIns="0" bIns="0" rtlCol="0" anchor="t"/>
          <a:lstStyle/>
          <a:p>
            <a:pPr algn="l" indent="0" marL="0">
              <a:lnSpc>
                <a:spcPct val="102000"/>
              </a:lnSpc>
              <a:buNone/>
            </a:pPr>
            <a:r>
              <a:rPr lang="en-US" sz="1250" dirty="0">
                <a:solidFill>
                  <a:srgbClr val="9AA5B4"/>
                </a:solidFill>
                <a:latin typeface="Courier New" pitchFamily="34" charset="0"/>
                <a:ea typeface="Courier New" pitchFamily="34" charset="-122"/>
                <a:cs typeface="Courier New" pitchFamily="34" charset="-120"/>
              </a:rPr>
              <a:t>int dry[MAXC];   // 1 = dry, 0 = wet</a:t>
            </a:r>
            <a:endParaRPr lang="en-US" sz="1250" dirty="0"/>
          </a:p>
          <a:p>
            <a:pPr algn="l" indent="0" marL="0">
              <a:lnSpc>
                <a:spcPct val="102000"/>
              </a:lnSpc>
              <a:buNone/>
            </a:pPr>
            <a:r>
              <a:rPr lang="en-US" sz="1250" dirty="0">
                <a:solidFill>
                  <a:srgbClr val="9AA5B4"/>
                </a:solidFill>
                <a:latin typeface="Courier New" pitchFamily="34" charset="0"/>
                <a:ea typeface="Courier New" pitchFamily="34" charset="-122"/>
                <a:cs typeface="Courier New" pitchFamily="34" charset="-120"/>
              </a:rPr>
              <a:t>...</a:t>
            </a:r>
            <a:endParaRPr lang="en-US" sz="1250" dirty="0"/>
          </a:p>
          <a:p>
            <a:pPr algn="l" indent="0" marL="0">
              <a:lnSpc>
                <a:spcPct val="102000"/>
              </a:lnSpc>
              <a:buNone/>
            </a:pPr>
            <a:r>
              <a:rPr lang="en-US" sz="1250" dirty="0">
                <a:solidFill>
                  <a:srgbClr val="EAECEF"/>
                </a:solidFill>
                <a:latin typeface="Courier New" pitchFamily="34" charset="0"/>
                <a:ea typeface="Courier New" pitchFamily="34" charset="-122"/>
                <a:cs typeface="Courier New" pitchFamily="34" charset="-120"/>
              </a:rPr>
              <a:t>int need_dry = N - K, best = C;</a:t>
            </a:r>
            <a:endParaRPr lang="en-US" sz="1250" dirty="0"/>
          </a:p>
          <a:p>
            <a:pPr algn="l" indent="0" marL="0">
              <a:lnSpc>
                <a:spcPct val="102000"/>
              </a:lnSpc>
              <a:buNone/>
            </a:pPr>
            <a:r>
              <a:rPr lang="en-US" sz="1250" dirty="0">
                <a:solidFill>
                  <a:srgbClr val="EAECEF"/>
                </a:solidFill>
                <a:latin typeface="Courier New" pitchFamily="34" charset="0"/>
                <a:ea typeface="Courier New" pitchFamily="34" charset="-122"/>
                <a:cs typeface="Courier New" pitchFamily="34" charset="-120"/>
              </a:rPr>
              <a:t>int num_chairs = 0, num_dry = 0;</a:t>
            </a:r>
            <a:endParaRPr lang="en-US" sz="1250" dirty="0"/>
          </a:p>
          <a:p>
            <a:pPr algn="l" indent="0" marL="0">
              <a:lnSpc>
                <a:spcPct val="102000"/>
              </a:lnSpc>
              <a:buNone/>
            </a:pPr>
            <a:r>
              <a:rPr lang="en-US" sz="1250" dirty="0">
                <a:solidFill>
                  <a:srgbClr val="F2B441"/>
                </a:solidFill>
                <a:latin typeface="Courier New" pitchFamily="34" charset="0"/>
                <a:ea typeface="Courier New" pitchFamily="34" charset="-122"/>
                <a:cs typeface="Courier New" pitchFamily="34" charset="-120"/>
              </a:rPr>
              <a:t>int r = 0;            // window is [l, r)</a:t>
            </a:r>
            <a:endParaRPr lang="en-US" sz="1250" dirty="0"/>
          </a:p>
          <a:p>
            <a:pPr algn="l" indent="0" marL="0">
              <a:lnSpc>
                <a:spcPct val="102000"/>
              </a:lnSpc>
              <a:buNone/>
            </a:pPr>
            <a:r>
              <a:rPr lang="en-US" sz="1250" dirty="0">
                <a:solidFill>
                  <a:srgbClr val="34D8C0"/>
                </a:solidFill>
                <a:latin typeface="Courier New" pitchFamily="34" charset="0"/>
                <a:ea typeface="Courier New" pitchFamily="34" charset="-122"/>
                <a:cs typeface="Courier New" pitchFamily="34" charset="-120"/>
              </a:rPr>
              <a:t>for (int l = 0; l &lt; C; l++) {</a:t>
            </a:r>
            <a:endParaRPr lang="en-US" sz="1250" dirty="0"/>
          </a:p>
          <a:p>
            <a:pPr algn="l" indent="0" marL="0">
              <a:lnSpc>
                <a:spcPct val="102000"/>
              </a:lnSpc>
              <a:buNone/>
            </a:pPr>
            <a:r>
              <a:rPr lang="en-US" sz="1250" dirty="0">
                <a:solidFill>
                  <a:srgbClr val="34D8C0"/>
                </a:solidFill>
                <a:latin typeface="Courier New" pitchFamily="34" charset="0"/>
                <a:ea typeface="Courier New" pitchFamily="34" charset="-122"/>
                <a:cs typeface="Courier New" pitchFamily="34" charset="-120"/>
              </a:rPr>
              <a:t>    while (r &lt; C &amp;&amp;</a:t>
            </a:r>
            <a:endParaRPr lang="en-US" sz="1250" dirty="0"/>
          </a:p>
          <a:p>
            <a:pPr algn="l" indent="0" marL="0">
              <a:lnSpc>
                <a:spcPct val="102000"/>
              </a:lnSpc>
              <a:buNone/>
            </a:pPr>
            <a:r>
              <a:rPr lang="en-US" sz="1250" dirty="0">
                <a:solidFill>
                  <a:srgbClr val="34D8C0"/>
                </a:solidFill>
                <a:latin typeface="Courier New" pitchFamily="34" charset="0"/>
                <a:ea typeface="Courier New" pitchFamily="34" charset="-122"/>
                <a:cs typeface="Courier New" pitchFamily="34" charset="-120"/>
              </a:rPr>
              <a:t>           !(num_chairs&gt;=N &amp;&amp; num_dry&gt;=need_dry)) {</a:t>
            </a:r>
            <a:endParaRPr lang="en-US" sz="1250" dirty="0"/>
          </a:p>
          <a:p>
            <a:pPr algn="l" indent="0" marL="0">
              <a:lnSpc>
                <a:spcPct val="102000"/>
              </a:lnSpc>
              <a:buNone/>
            </a:pPr>
            <a:r>
              <a:rPr lang="en-US" sz="1250" dirty="0">
                <a:solidFill>
                  <a:srgbClr val="4ADE80"/>
                </a:solidFill>
                <a:latin typeface="Courier New" pitchFamily="34" charset="0"/>
                <a:ea typeface="Courier New" pitchFamily="34" charset="-122"/>
                <a:cs typeface="Courier New" pitchFamily="34" charset="-120"/>
              </a:rPr>
              <a:t>        num_chairs++;</a:t>
            </a:r>
            <a:endParaRPr lang="en-US" sz="1250" dirty="0"/>
          </a:p>
          <a:p>
            <a:pPr algn="l" indent="0" marL="0">
              <a:lnSpc>
                <a:spcPct val="102000"/>
              </a:lnSpc>
              <a:buNone/>
            </a:pPr>
            <a:r>
              <a:rPr lang="en-US" sz="1250" dirty="0">
                <a:solidFill>
                  <a:srgbClr val="4ADE80"/>
                </a:solidFill>
                <a:latin typeface="Courier New" pitchFamily="34" charset="0"/>
                <a:ea typeface="Courier New" pitchFamily="34" charset="-122"/>
                <a:cs typeface="Courier New" pitchFamily="34" charset="-120"/>
              </a:rPr>
              <a:t>        num_dry += dry[r];</a:t>
            </a:r>
            <a:endParaRPr lang="en-US" sz="1250" dirty="0"/>
          </a:p>
          <a:p>
            <a:pPr algn="l" indent="0" marL="0">
              <a:lnSpc>
                <a:spcPct val="102000"/>
              </a:lnSpc>
              <a:buNone/>
            </a:pPr>
            <a:r>
              <a:rPr lang="en-US" sz="1250" dirty="0">
                <a:solidFill>
                  <a:srgbClr val="4ADE80"/>
                </a:solidFill>
                <a:latin typeface="Courier New" pitchFamily="34" charset="0"/>
                <a:ea typeface="Courier New" pitchFamily="34" charset="-122"/>
                <a:cs typeface="Courier New" pitchFamily="34" charset="-120"/>
              </a:rPr>
              <a:t>        r++;</a:t>
            </a:r>
            <a:endParaRPr lang="en-US" sz="1250" dirty="0"/>
          </a:p>
          <a:p>
            <a:pPr algn="l" indent="0" marL="0">
              <a:lnSpc>
                <a:spcPct val="102000"/>
              </a:lnSpc>
              <a:buNone/>
            </a:pPr>
            <a:r>
              <a:rPr lang="en-US" sz="1250" dirty="0">
                <a:solidFill>
                  <a:srgbClr val="34D8C0"/>
                </a:solidFill>
                <a:latin typeface="Courier New" pitchFamily="34" charset="0"/>
                <a:ea typeface="Courier New" pitchFamily="34" charset="-122"/>
                <a:cs typeface="Courier New" pitchFamily="34" charset="-120"/>
              </a:rPr>
              <a:t>    }</a:t>
            </a:r>
            <a:endParaRPr lang="en-US" sz="1250" dirty="0"/>
          </a:p>
          <a:p>
            <a:pPr algn="l" indent="0" marL="0">
              <a:lnSpc>
                <a:spcPct val="102000"/>
              </a:lnSpc>
              <a:buNone/>
            </a:pPr>
            <a:r>
              <a:rPr lang="en-US" sz="1250" dirty="0">
                <a:solidFill>
                  <a:srgbClr val="EAECEF"/>
                </a:solidFill>
                <a:latin typeface="Courier New" pitchFamily="34" charset="0"/>
                <a:ea typeface="Courier New" pitchFamily="34" charset="-122"/>
                <a:cs typeface="Courier New" pitchFamily="34" charset="-120"/>
              </a:rPr>
              <a:t>    if (num_chairs&gt;=N &amp;&amp; num_dry&gt;=need_dry)</a:t>
            </a:r>
            <a:endParaRPr lang="en-US" sz="1250" dirty="0"/>
          </a:p>
          <a:p>
            <a:pPr algn="l" indent="0" marL="0">
              <a:lnSpc>
                <a:spcPct val="102000"/>
              </a:lnSpc>
              <a:buNone/>
            </a:pPr>
            <a:r>
              <a:rPr lang="en-US" sz="1250" dirty="0">
                <a:solidFill>
                  <a:srgbClr val="EAECEF"/>
                </a:solidFill>
                <a:latin typeface="Courier New" pitchFamily="34" charset="0"/>
                <a:ea typeface="Courier New" pitchFamily="34" charset="-122"/>
                <a:cs typeface="Courier New" pitchFamily="34" charset="-120"/>
              </a:rPr>
              <a:t>        if (num_chairs &lt; best) best = num_chairs;</a:t>
            </a:r>
            <a:endParaRPr lang="en-US" sz="1250" dirty="0"/>
          </a:p>
          <a:p>
            <a:pPr algn="l" indent="0" marL="0">
              <a:lnSpc>
                <a:spcPct val="102000"/>
              </a:lnSpc>
              <a:buNone/>
            </a:pPr>
            <a:r>
              <a:rPr lang="en-US" sz="1250" dirty="0">
                <a:solidFill>
                  <a:srgbClr val="FF6B6B"/>
                </a:solidFill>
                <a:latin typeface="Courier New" pitchFamily="34" charset="0"/>
                <a:ea typeface="Courier New" pitchFamily="34" charset="-122"/>
                <a:cs typeface="Courier New" pitchFamily="34" charset="-120"/>
              </a:rPr>
              <a:t>    if (r &gt; l) { num_chairs--; num_dry -= dry[l]; }</a:t>
            </a:r>
            <a:endParaRPr lang="en-US" sz="1250" dirty="0"/>
          </a:p>
          <a:p>
            <a:pPr algn="l" indent="0" marL="0">
              <a:lnSpc>
                <a:spcPct val="102000"/>
              </a:lnSpc>
              <a:buNone/>
            </a:pPr>
            <a:r>
              <a:rPr lang="en-US" sz="1250" dirty="0">
                <a:solidFill>
                  <a:srgbClr val="FF6B6B"/>
                </a:solidFill>
                <a:latin typeface="Courier New" pitchFamily="34" charset="0"/>
                <a:ea typeface="Courier New" pitchFamily="34" charset="-122"/>
                <a:cs typeface="Courier New" pitchFamily="34" charset="-120"/>
              </a:rPr>
              <a:t>    else { r = l + 1; }</a:t>
            </a:r>
            <a:endParaRPr lang="en-US" sz="1250" dirty="0"/>
          </a:p>
          <a:p>
            <a:pPr algn="l" indent="0" marL="0">
              <a:lnSpc>
                <a:spcPct val="102000"/>
              </a:lnSpc>
              <a:buNone/>
            </a:pPr>
            <a:r>
              <a:rPr lang="en-US" sz="1250" dirty="0">
                <a:solidFill>
                  <a:srgbClr val="34D8C0"/>
                </a:solidFill>
                <a:latin typeface="Courier New" pitchFamily="34" charset="0"/>
                <a:ea typeface="Courier New" pitchFamily="34" charset="-122"/>
                <a:cs typeface="Courier New" pitchFamily="34" charset="-120"/>
              </a:rPr>
              <a:t>}</a:t>
            </a:r>
            <a:endParaRPr lang="en-US" sz="1250" dirty="0"/>
          </a:p>
        </p:txBody>
      </p:sp>
      <p:sp>
        <p:nvSpPr>
          <p:cNvPr id="6" name="Shape 4"/>
          <p:cNvSpPr/>
          <p:nvPr/>
        </p:nvSpPr>
        <p:spPr>
          <a:xfrm>
            <a:off x="8366760" y="1737360"/>
            <a:ext cx="3291840" cy="4343400"/>
          </a:xfrm>
          <a:prstGeom prst="roundRect">
            <a:avLst>
              <a:gd name="adj" fmla="val 2500"/>
            </a:avLst>
          </a:prstGeom>
          <a:solidFill>
            <a:srgbClr val="20242E"/>
          </a:solidFill>
          <a:ln w="12700">
            <a:solidFill>
              <a:srgbClr val="2A3140"/>
            </a:solidFill>
            <a:prstDash val="solid"/>
          </a:ln>
        </p:spPr>
      </p:sp>
      <p:sp>
        <p:nvSpPr>
          <p:cNvPr id="7" name="Text 5"/>
          <p:cNvSpPr/>
          <p:nvPr/>
        </p:nvSpPr>
        <p:spPr>
          <a:xfrm>
            <a:off x="8549640" y="1920240"/>
            <a:ext cx="3017520" cy="365760"/>
          </a:xfrm>
          <a:prstGeom prst="rect">
            <a:avLst/>
          </a:prstGeom>
          <a:noFill/>
          <a:ln/>
        </p:spPr>
        <p:txBody>
          <a:bodyPr wrap="square" lIns="0" tIns="0" rIns="0" bIns="0" rtlCol="0" anchor="ctr"/>
          <a:lstStyle/>
          <a:p>
            <a:pPr algn="l" indent="0" marL="0">
              <a:buNone/>
            </a:pPr>
            <a:r>
              <a:rPr lang="en-US" sz="1500" b="1" dirty="0">
                <a:solidFill>
                  <a:srgbClr val="F2B441"/>
                </a:solidFill>
                <a:latin typeface="Calibri" pitchFamily="34" charset="0"/>
                <a:ea typeface="Calibri" pitchFamily="34" charset="-122"/>
                <a:cs typeface="Calibri" pitchFamily="34" charset="-120"/>
              </a:rPr>
              <a:t>Read the pointers</a:t>
            </a:r>
            <a:endParaRPr lang="en-US" sz="1500" dirty="0"/>
          </a:p>
        </p:txBody>
      </p:sp>
      <p:sp>
        <p:nvSpPr>
          <p:cNvPr id="8" name="Text 6"/>
          <p:cNvSpPr/>
          <p:nvPr/>
        </p:nvSpPr>
        <p:spPr>
          <a:xfrm>
            <a:off x="8549640" y="2377440"/>
            <a:ext cx="3017520" cy="2743200"/>
          </a:xfrm>
          <a:prstGeom prst="rect">
            <a:avLst/>
          </a:prstGeom>
          <a:noFill/>
          <a:ln/>
        </p:spPr>
        <p:txBody>
          <a:bodyPr wrap="square" lIns="0" tIns="0" rIns="0" bIns="0" rtlCol="0" anchor="t"/>
          <a:lstStyle/>
          <a:p>
            <a:pPr algn="l" marL="203200" indent="-203200">
              <a:spcAft>
                <a:spcPts val="800"/>
              </a:spcAft>
              <a:buSzPct val="100000"/>
              <a:buChar char="•"/>
            </a:pPr>
            <a:r>
              <a:rPr lang="en-US" sz="1300" dirty="0">
                <a:solidFill>
                  <a:srgbClr val="EAECEF"/>
                </a:solidFill>
                <a:latin typeface="Calibri" pitchFamily="34" charset="0"/>
                <a:ea typeface="Calibri" pitchFamily="34" charset="-122"/>
                <a:cs typeface="Calibri" pitchFamily="34" charset="-120"/>
              </a:rPr>
              <a:t>l and r both only increase</a:t>
            </a:r>
            <a:endParaRPr lang="en-US" sz="1300" dirty="0"/>
          </a:p>
          <a:p>
            <a:pPr algn="l" marL="203200" indent="-203200">
              <a:spcAft>
                <a:spcPts val="800"/>
              </a:spcAft>
              <a:buSzPct val="100000"/>
              <a:buChar char="•"/>
            </a:pPr>
            <a:r>
              <a:rPr lang="en-US" sz="1300" dirty="0">
                <a:solidFill>
                  <a:srgbClr val="EAECEF"/>
                </a:solidFill>
                <a:latin typeface="Calibri" pitchFamily="34" charset="0"/>
                <a:ea typeface="Calibri" pitchFamily="34" charset="-122"/>
                <a:cs typeface="Calibri" pitchFamily="34" charset="-120"/>
              </a:rPr>
              <a:t>r declared outside the loop — it never resets</a:t>
            </a:r>
            <a:endParaRPr lang="en-US" sz="1300" dirty="0"/>
          </a:p>
          <a:p>
            <a:pPr algn="l" marL="203200" indent="-203200">
              <a:spcAft>
                <a:spcPts val="800"/>
              </a:spcAft>
              <a:buSzPct val="100000"/>
              <a:buChar char="•"/>
            </a:pPr>
            <a:r>
              <a:rPr lang="en-US" sz="1300" dirty="0">
                <a:solidFill>
                  <a:srgbClr val="EAECEF"/>
                </a:solidFill>
                <a:latin typeface="Calibri" pitchFamily="34" charset="0"/>
                <a:ea typeface="Calibri" pitchFamily="34" charset="-122"/>
                <a:cs typeface="Calibri" pitchFamily="34" charset="-120"/>
              </a:rPr>
              <a:t>green = a chair enters</a:t>
            </a:r>
            <a:endParaRPr lang="en-US" sz="1300" dirty="0"/>
          </a:p>
          <a:p>
            <a:pPr algn="l" marL="203200" indent="-203200">
              <a:spcAft>
                <a:spcPts val="800"/>
              </a:spcAft>
              <a:buSzPct val="100000"/>
              <a:buChar char="•"/>
            </a:pPr>
            <a:r>
              <a:rPr lang="en-US" sz="1300" dirty="0">
                <a:solidFill>
                  <a:srgbClr val="EAECEF"/>
                </a:solidFill>
                <a:latin typeface="Calibri" pitchFamily="34" charset="0"/>
                <a:ea typeface="Calibri" pitchFamily="34" charset="-122"/>
                <a:cs typeface="Calibri" pitchFamily="34" charset="-120"/>
              </a:rPr>
              <a:t>coral = a chair leaves</a:t>
            </a:r>
            <a:endParaRPr lang="en-US" sz="1300" dirty="0"/>
          </a:p>
          <a:p>
            <a:pPr algn="l" marL="203200" indent="-203200">
              <a:spcAft>
                <a:spcPts val="800"/>
              </a:spcAft>
              <a:buSzPct val="100000"/>
              <a:buChar char="•"/>
            </a:pPr>
            <a:r>
              <a:rPr lang="en-US" sz="1300" dirty="0">
                <a:solidFill>
                  <a:srgbClr val="EAECEF"/>
                </a:solidFill>
                <a:latin typeface="Calibri" pitchFamily="34" charset="0"/>
                <a:ea typeface="Calibri" pitchFamily="34" charset="-122"/>
                <a:cs typeface="Calibri" pitchFamily="34" charset="-120"/>
              </a:rPr>
              <a:t>guard r&gt;l for the empty window</a:t>
            </a:r>
            <a:endParaRPr lang="en-US" sz="1300" dirty="0"/>
          </a:p>
        </p:txBody>
      </p:sp>
      <p:sp>
        <p:nvSpPr>
          <p:cNvPr id="9" name="Text 7"/>
          <p:cNvSpPr/>
          <p:nvPr/>
        </p:nvSpPr>
        <p:spPr>
          <a:xfrm>
            <a:off x="8549640" y="5486400"/>
            <a:ext cx="3017520" cy="457200"/>
          </a:xfrm>
          <a:prstGeom prst="rect">
            <a:avLst/>
          </a:prstGeom>
          <a:noFill/>
          <a:ln/>
        </p:spPr>
        <p:txBody>
          <a:bodyPr wrap="square" lIns="0" tIns="0" rIns="0" bIns="0" rtlCol="0" anchor="ctr"/>
          <a:lstStyle/>
          <a:p>
            <a:pPr algn="l" indent="0" marL="0">
              <a:buNone/>
            </a:pPr>
            <a:r>
              <a:rPr lang="en-US" sz="1500" b="1" dirty="0">
                <a:solidFill>
                  <a:srgbClr val="4ADE80"/>
                </a:solidFill>
                <a:latin typeface="Courier New" pitchFamily="34" charset="0"/>
                <a:ea typeface="Courier New" pitchFamily="34" charset="-122"/>
                <a:cs typeface="Courier New" pitchFamily="34" charset="-120"/>
              </a:rPr>
              <a:t>Verified: 100 / 100</a:t>
            </a:r>
            <a:endParaRPr lang="en-US" sz="1500" dirty="0"/>
          </a:p>
        </p:txBody>
      </p:sp>
      <p:sp>
        <p:nvSpPr>
          <p:cNvPr id="10" name="Text 8"/>
          <p:cNvSpPr/>
          <p:nvPr/>
        </p:nvSpPr>
        <p:spPr>
          <a:xfrm>
            <a:off x="8549640" y="5806440"/>
            <a:ext cx="3108960" cy="365760"/>
          </a:xfrm>
          <a:prstGeom prst="rect">
            <a:avLst/>
          </a:prstGeom>
          <a:noFill/>
          <a:ln/>
        </p:spPr>
        <p:txBody>
          <a:bodyPr wrap="square" lIns="0" tIns="0" rIns="0" bIns="0" rtlCol="0" anchor="ctr"/>
          <a:lstStyle/>
          <a:p>
            <a:pPr algn="l" indent="0" marL="0">
              <a:buNone/>
            </a:pPr>
            <a:r>
              <a:rPr lang="en-US" sz="1100" i="1" dirty="0">
                <a:solidFill>
                  <a:srgbClr val="9AA5B4"/>
                </a:solidFill>
                <a:latin typeface="Calibri" pitchFamily="34" charset="0"/>
                <a:ea typeface="Calibri" pitchFamily="34" charset="-122"/>
                <a:cs typeface="Calibri" pitchFamily="34" charset="-120"/>
              </a:rPr>
              <a:t>16,000 random cases vs brute force</a:t>
            </a:r>
            <a:endParaRPr lang="en-US" sz="1100" dirty="0"/>
          </a:p>
        </p:txBody>
      </p:sp>
      <p:sp>
        <p:nvSpPr>
          <p:cNvPr id="11" name="Text 9"/>
          <p:cNvSpPr/>
          <p:nvPr/>
        </p:nvSpPr>
        <p:spPr>
          <a:xfrm>
            <a:off x="502920" y="6455664"/>
            <a:ext cx="5486400" cy="274320"/>
          </a:xfrm>
          <a:prstGeom prst="rect">
            <a:avLst/>
          </a:prstGeom>
          <a:noFill/>
          <a:ln/>
        </p:spPr>
        <p:txBody>
          <a:bodyPr wrap="square" lIns="0" tIns="0" rIns="0" bIns="0" rtlCol="0" anchor="ctr"/>
          <a:lstStyle/>
          <a:p>
            <a:pPr algn="l" indent="0" marL="0">
              <a:buNone/>
            </a:pPr>
            <a:r>
              <a:rPr lang="en-US" sz="1000" dirty="0">
                <a:solidFill>
                  <a:srgbClr val="9AA5B4"/>
                </a:solidFill>
                <a:latin typeface="Calibri" pitchFamily="34" charset="0"/>
                <a:ea typeface="Calibri" pitchFamily="34" charset="-122"/>
                <a:cs typeface="Calibri" pitchFamily="34" charset="-120"/>
              </a:rPr>
              <a:t>Two Pointers &amp; Sliding Window</a:t>
            </a:r>
            <a:endParaRPr lang="en-US" sz="1000" dirty="0"/>
          </a:p>
        </p:txBody>
      </p:sp>
      <p:sp>
        <p:nvSpPr>
          <p:cNvPr id="12" name="Text 10"/>
          <p:cNvSpPr/>
          <p:nvPr/>
        </p:nvSpPr>
        <p:spPr>
          <a:xfrm>
            <a:off x="11228832" y="6455664"/>
            <a:ext cx="457200" cy="274320"/>
          </a:xfrm>
          <a:prstGeom prst="rect">
            <a:avLst/>
          </a:prstGeom>
          <a:noFill/>
          <a:ln/>
        </p:spPr>
        <p:txBody>
          <a:bodyPr wrap="square" lIns="0" tIns="0" rIns="0" bIns="0" rtlCol="0" anchor="ctr"/>
          <a:lstStyle/>
          <a:p>
            <a:pPr algn="r" indent="0" marL="0">
              <a:buNone/>
            </a:pPr>
            <a:r>
              <a:rPr lang="en-US" sz="1000" dirty="0">
                <a:solidFill>
                  <a:srgbClr val="9AA5B4"/>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0251F"/>
        </a:solidFill>
      </p:bgPr>
    </p:bg>
    <p:spTree>
      <p:nvGrpSpPr>
        <p:cNvPr id="1" name=""/>
        <p:cNvGrpSpPr/>
        <p:nvPr/>
      </p:nvGrpSpPr>
      <p:grpSpPr>
        <a:xfrm>
          <a:off x="0" y="0"/>
          <a:ext cx="0" cy="0"/>
          <a:chOff x="0" y="0"/>
          <a:chExt cx="0" cy="0"/>
        </a:xfrm>
      </p:grpSpPr>
      <p:sp>
        <p:nvSpPr>
          <p:cNvPr id="2" name="Text 0"/>
          <p:cNvSpPr/>
          <p:nvPr/>
        </p:nvSpPr>
        <p:spPr>
          <a:xfrm>
            <a:off x="502920" y="457200"/>
            <a:ext cx="3657600" cy="292608"/>
          </a:xfrm>
          <a:prstGeom prst="rect">
            <a:avLst/>
          </a:prstGeom>
          <a:noFill/>
          <a:ln/>
        </p:spPr>
        <p:txBody>
          <a:bodyPr wrap="square" lIns="0" tIns="0" rIns="0" bIns="0" rtlCol="0" anchor="ctr"/>
          <a:lstStyle/>
          <a:p>
            <a:pPr algn="l" indent="0" marL="0">
              <a:buNone/>
            </a:pPr>
            <a:r>
              <a:rPr lang="en-US" sz="1200" b="1" spc="300" kern="0" dirty="0">
                <a:solidFill>
                  <a:srgbClr val="34D8C0"/>
                </a:solidFill>
                <a:latin typeface="Calibri" pitchFamily="34" charset="0"/>
                <a:ea typeface="Calibri" pitchFamily="34" charset="-122"/>
                <a:cs typeface="Calibri" pitchFamily="34" charset="-120"/>
              </a:rPr>
              <a:t>TWO POINTERS · WHY IT'S LINEAR</a:t>
            </a:r>
            <a:endParaRPr lang="en-US" sz="1200" dirty="0"/>
          </a:p>
        </p:txBody>
      </p:sp>
      <p:sp>
        <p:nvSpPr>
          <p:cNvPr id="3" name="Text 1"/>
          <p:cNvSpPr/>
          <p:nvPr/>
        </p:nvSpPr>
        <p:spPr>
          <a:xfrm>
            <a:off x="502920" y="777240"/>
            <a:ext cx="11338560" cy="822960"/>
          </a:xfrm>
          <a:prstGeom prst="rect">
            <a:avLst/>
          </a:prstGeom>
          <a:noFill/>
          <a:ln/>
        </p:spPr>
        <p:txBody>
          <a:bodyPr wrap="square" lIns="0" tIns="0" rIns="0" bIns="0" rtlCol="0" anchor="ctr"/>
          <a:lstStyle/>
          <a:p>
            <a:pPr algn="l" indent="0" marL="0">
              <a:buNone/>
            </a:pPr>
            <a:r>
              <a:rPr lang="en-US" sz="3400" b="1" dirty="0">
                <a:solidFill>
                  <a:srgbClr val="EAECEF"/>
                </a:solidFill>
                <a:latin typeface="Cambria" pitchFamily="34" charset="0"/>
                <a:ea typeface="Cambria" pitchFamily="34" charset="-122"/>
                <a:cs typeface="Cambria" pitchFamily="34" charset="-120"/>
              </a:rPr>
              <a:t>It looks O(C²). It's O(C). Read twice.</a:t>
            </a:r>
            <a:endParaRPr lang="en-US" sz="3400" dirty="0"/>
          </a:p>
        </p:txBody>
      </p:sp>
      <p:sp>
        <p:nvSpPr>
          <p:cNvPr id="4" name="Shape 2"/>
          <p:cNvSpPr/>
          <p:nvPr/>
        </p:nvSpPr>
        <p:spPr>
          <a:xfrm>
            <a:off x="502920" y="1737360"/>
            <a:ext cx="5532120" cy="3931920"/>
          </a:xfrm>
          <a:prstGeom prst="roundRect">
            <a:avLst>
              <a:gd name="adj" fmla="val 2093"/>
            </a:avLst>
          </a:prstGeom>
          <a:solidFill>
            <a:srgbClr val="20242E"/>
          </a:solidFill>
          <a:ln w="12700">
            <a:solidFill>
              <a:srgbClr val="2A3140"/>
            </a:solidFill>
            <a:prstDash val="solid"/>
          </a:ln>
        </p:spPr>
      </p:sp>
      <p:sp>
        <p:nvSpPr>
          <p:cNvPr id="5" name="Text 3"/>
          <p:cNvSpPr/>
          <p:nvPr/>
        </p:nvSpPr>
        <p:spPr>
          <a:xfrm>
            <a:off x="731520" y="1920240"/>
            <a:ext cx="5029200" cy="365760"/>
          </a:xfrm>
          <a:prstGeom prst="rect">
            <a:avLst/>
          </a:prstGeom>
          <a:noFill/>
          <a:ln/>
        </p:spPr>
        <p:txBody>
          <a:bodyPr wrap="square" lIns="0" tIns="0" rIns="0" bIns="0" rtlCol="0" anchor="ctr"/>
          <a:lstStyle/>
          <a:p>
            <a:pPr algn="l" indent="0" marL="0">
              <a:buNone/>
            </a:pPr>
            <a:r>
              <a:rPr lang="en-US" sz="1600" b="1" dirty="0">
                <a:solidFill>
                  <a:srgbClr val="FF6B6B"/>
                </a:solidFill>
                <a:latin typeface="Calibri" pitchFamily="34" charset="0"/>
                <a:ea typeface="Calibri" pitchFamily="34" charset="-122"/>
                <a:cs typeface="Calibri" pitchFamily="34" charset="-120"/>
              </a:rPr>
              <a:t>The wrong instinct</a:t>
            </a:r>
            <a:endParaRPr lang="en-US" sz="1600" dirty="0"/>
          </a:p>
        </p:txBody>
      </p:sp>
      <p:sp>
        <p:nvSpPr>
          <p:cNvPr id="6" name="Text 4"/>
          <p:cNvSpPr/>
          <p:nvPr/>
        </p:nvSpPr>
        <p:spPr>
          <a:xfrm>
            <a:off x="731520" y="2331720"/>
            <a:ext cx="5029200" cy="822960"/>
          </a:xfrm>
          <a:prstGeom prst="rect">
            <a:avLst/>
          </a:prstGeom>
          <a:noFill/>
          <a:ln/>
        </p:spPr>
        <p:txBody>
          <a:bodyPr wrap="square" lIns="0" tIns="0" rIns="0" bIns="0" rtlCol="0" anchor="t"/>
          <a:lstStyle/>
          <a:p>
            <a:pPr algn="l" indent="0" marL="0">
              <a:buNone/>
            </a:pPr>
            <a:r>
              <a:rPr lang="en-US" sz="1500" dirty="0">
                <a:solidFill>
                  <a:srgbClr val="EAECEF"/>
                </a:solidFill>
                <a:latin typeface="Calibri" pitchFamily="34" charset="0"/>
                <a:ea typeface="Calibri" pitchFamily="34" charset="-122"/>
                <a:cs typeface="Calibri" pitchFamily="34" charset="-120"/>
              </a:rPr>
              <a:t>“Outer for-loop, inner while-loop → nested → O(C²).”</a:t>
            </a:r>
            <a:endParaRPr lang="en-US" sz="1500" dirty="0"/>
          </a:p>
        </p:txBody>
      </p:sp>
      <p:sp>
        <p:nvSpPr>
          <p:cNvPr id="7" name="Text 5"/>
          <p:cNvSpPr/>
          <p:nvPr/>
        </p:nvSpPr>
        <p:spPr>
          <a:xfrm>
            <a:off x="731520" y="3200400"/>
            <a:ext cx="5029200" cy="457200"/>
          </a:xfrm>
          <a:prstGeom prst="rect">
            <a:avLst/>
          </a:prstGeom>
          <a:noFill/>
          <a:ln/>
        </p:spPr>
        <p:txBody>
          <a:bodyPr wrap="square" lIns="0" tIns="0" rIns="0" bIns="0" rtlCol="0" anchor="ctr"/>
          <a:lstStyle/>
          <a:p>
            <a:pPr algn="l" indent="0" marL="0">
              <a:buNone/>
            </a:pPr>
            <a:r>
              <a:rPr lang="en-US" sz="1500" b="1" dirty="0">
                <a:solidFill>
                  <a:srgbClr val="34D8C0"/>
                </a:solidFill>
                <a:latin typeface="Calibri" pitchFamily="34" charset="0"/>
                <a:ea typeface="Calibri" pitchFamily="34" charset="-122"/>
                <a:cs typeface="Calibri" pitchFamily="34" charset="-120"/>
              </a:rPr>
              <a:t>Count pointer moves, not loop nesting.</a:t>
            </a:r>
            <a:endParaRPr lang="en-US" sz="1500" dirty="0"/>
          </a:p>
        </p:txBody>
      </p:sp>
      <p:sp>
        <p:nvSpPr>
          <p:cNvPr id="8" name="Text 6"/>
          <p:cNvSpPr/>
          <p:nvPr/>
        </p:nvSpPr>
        <p:spPr>
          <a:xfrm>
            <a:off x="731520" y="3703320"/>
            <a:ext cx="5029200" cy="1828800"/>
          </a:xfrm>
          <a:prstGeom prst="rect">
            <a:avLst/>
          </a:prstGeom>
          <a:noFill/>
          <a:ln/>
        </p:spPr>
        <p:txBody>
          <a:bodyPr wrap="square" lIns="0" tIns="0" rIns="0" bIns="0" rtlCol="0" anchor="t"/>
          <a:lstStyle/>
          <a:p>
            <a:pPr algn="l" marL="203200" indent="-203200">
              <a:spcAft>
                <a:spcPts val="800"/>
              </a:spcAft>
              <a:buSzPct val="100000"/>
              <a:buChar char="•"/>
            </a:pPr>
            <a:r>
              <a:rPr lang="en-US" sz="1400" dirty="0">
                <a:solidFill>
                  <a:srgbClr val="EAECEF"/>
                </a:solidFill>
                <a:latin typeface="Calibri" pitchFamily="34" charset="0"/>
                <a:ea typeface="Calibri" pitchFamily="34" charset="-122"/>
                <a:cs typeface="Calibri" pitchFamily="34" charset="-120"/>
              </a:rPr>
              <a:t>l advances at most C times, total</a:t>
            </a:r>
            <a:endParaRPr lang="en-US" sz="1400" dirty="0"/>
          </a:p>
          <a:p>
            <a:pPr algn="l" marL="203200" indent="-203200">
              <a:spcAft>
                <a:spcPts val="800"/>
              </a:spcAft>
              <a:buSzPct val="100000"/>
              <a:buChar char="•"/>
            </a:pPr>
            <a:r>
              <a:rPr lang="en-US" sz="1400" dirty="0">
                <a:solidFill>
                  <a:srgbClr val="EAECEF"/>
                </a:solidFill>
                <a:latin typeface="Calibri" pitchFamily="34" charset="0"/>
                <a:ea typeface="Calibri" pitchFamily="34" charset="-122"/>
                <a:cs typeface="Calibri" pitchFamily="34" charset="-120"/>
              </a:rPr>
              <a:t>r advances at most C times, total</a:t>
            </a:r>
            <a:endParaRPr lang="en-US" sz="1400" dirty="0"/>
          </a:p>
          <a:p>
            <a:pPr algn="l" marL="203200" indent="-203200">
              <a:spcAft>
                <a:spcPts val="800"/>
              </a:spcAft>
              <a:buSzPct val="100000"/>
              <a:buChar char="•"/>
            </a:pPr>
            <a:r>
              <a:rPr lang="en-US" sz="1400" dirty="0">
                <a:solidFill>
                  <a:srgbClr val="EAECEF"/>
                </a:solidFill>
                <a:latin typeface="Calibri" pitchFamily="34" charset="0"/>
                <a:ea typeface="Calibri" pitchFamily="34" charset="-122"/>
                <a:cs typeface="Calibri" pitchFamily="34" charset="-120"/>
              </a:rPr>
              <a:t>r's progress carries across iterations</a:t>
            </a:r>
            <a:endParaRPr lang="en-US" sz="1400" dirty="0"/>
          </a:p>
          <a:p>
            <a:pPr algn="l" marL="203200" indent="-203200">
              <a:spcAft>
                <a:spcPts val="800"/>
              </a:spcAft>
              <a:buSzPct val="100000"/>
              <a:buChar char="•"/>
            </a:pPr>
            <a:r>
              <a:rPr lang="en-US" sz="1400" dirty="0">
                <a:solidFill>
                  <a:srgbClr val="EAECEF"/>
                </a:solidFill>
                <a:latin typeface="Calibri" pitchFamily="34" charset="0"/>
                <a:ea typeface="Calibri" pitchFamily="34" charset="-122"/>
                <a:cs typeface="Calibri" pitchFamily="34" charset="-120"/>
              </a:rPr>
              <a:t>≤ 2C moves × O(1) work = O(C)</a:t>
            </a:r>
            <a:endParaRPr lang="en-US" sz="1400" dirty="0"/>
          </a:p>
        </p:txBody>
      </p:sp>
      <p:sp>
        <p:nvSpPr>
          <p:cNvPr id="9" name="Shape 7"/>
          <p:cNvSpPr/>
          <p:nvPr/>
        </p:nvSpPr>
        <p:spPr>
          <a:xfrm>
            <a:off x="6263640" y="1737360"/>
            <a:ext cx="5394960" cy="3931920"/>
          </a:xfrm>
          <a:prstGeom prst="roundRect">
            <a:avLst>
              <a:gd name="adj" fmla="val 2093"/>
            </a:avLst>
          </a:prstGeom>
          <a:solidFill>
            <a:srgbClr val="2A3140"/>
          </a:solidFill>
          <a:ln w="12700">
            <a:solidFill>
              <a:srgbClr val="2A3140"/>
            </a:solidFill>
            <a:prstDash val="solid"/>
          </a:ln>
        </p:spPr>
      </p:sp>
      <p:sp>
        <p:nvSpPr>
          <p:cNvPr id="10" name="Text 8"/>
          <p:cNvSpPr/>
          <p:nvPr/>
        </p:nvSpPr>
        <p:spPr>
          <a:xfrm>
            <a:off x="6492240" y="1920240"/>
            <a:ext cx="4937760" cy="365760"/>
          </a:xfrm>
          <a:prstGeom prst="rect">
            <a:avLst/>
          </a:prstGeom>
          <a:noFill/>
          <a:ln/>
        </p:spPr>
        <p:txBody>
          <a:bodyPr wrap="square" lIns="0" tIns="0" rIns="0" bIns="0" rtlCol="0" anchor="ctr"/>
          <a:lstStyle/>
          <a:p>
            <a:pPr algn="l" indent="0" marL="0">
              <a:buNone/>
            </a:pPr>
            <a:r>
              <a:rPr lang="en-US" sz="1600" b="1" dirty="0">
                <a:solidFill>
                  <a:srgbClr val="F2B441"/>
                </a:solidFill>
                <a:latin typeface="Calibri" pitchFamily="34" charset="0"/>
                <a:ea typeface="Calibri" pitchFamily="34" charset="-122"/>
                <a:cs typeface="Calibri" pitchFamily="34" charset="-120"/>
              </a:rPr>
              <a:t>Amortised analysis</a:t>
            </a:r>
            <a:endParaRPr lang="en-US" sz="1600" dirty="0"/>
          </a:p>
        </p:txBody>
      </p:sp>
      <p:sp>
        <p:nvSpPr>
          <p:cNvPr id="11" name="Text 9"/>
          <p:cNvSpPr/>
          <p:nvPr/>
        </p:nvSpPr>
        <p:spPr>
          <a:xfrm>
            <a:off x="6492240" y="2377440"/>
            <a:ext cx="4937760" cy="1188720"/>
          </a:xfrm>
          <a:prstGeom prst="rect">
            <a:avLst/>
          </a:prstGeom>
          <a:noFill/>
          <a:ln/>
        </p:spPr>
        <p:txBody>
          <a:bodyPr wrap="square" lIns="0" tIns="0" rIns="0" bIns="0" rtlCol="0" anchor="t"/>
          <a:lstStyle/>
          <a:p>
            <a:pPr algn="l" indent="0" marL="0">
              <a:buNone/>
            </a:pPr>
            <a:r>
              <a:rPr lang="en-US" sz="1500" dirty="0">
                <a:solidFill>
                  <a:srgbClr val="EAECEF"/>
                </a:solidFill>
                <a:latin typeface="Calibri" pitchFamily="34" charset="0"/>
                <a:ea typeface="Calibri" pitchFamily="34" charset="-122"/>
                <a:cs typeface="Calibri" pitchFamily="34" charset="-120"/>
              </a:rPr>
              <a:t>A single outer step may do lots of while-loop work — but that work is charged to r's forward progress, and r has only C units of progress to give.</a:t>
            </a:r>
            <a:endParaRPr lang="en-US" sz="1500" dirty="0"/>
          </a:p>
        </p:txBody>
      </p:sp>
      <p:sp>
        <p:nvSpPr>
          <p:cNvPr id="12" name="Shape 10"/>
          <p:cNvSpPr/>
          <p:nvPr/>
        </p:nvSpPr>
        <p:spPr>
          <a:xfrm>
            <a:off x="6492240" y="3703320"/>
            <a:ext cx="4937760" cy="1783080"/>
          </a:xfrm>
          <a:prstGeom prst="roundRect">
            <a:avLst>
              <a:gd name="adj" fmla="val 4615"/>
            </a:avLst>
          </a:prstGeom>
          <a:solidFill>
            <a:srgbClr val="0E1016"/>
          </a:solidFill>
          <a:ln w="12700">
            <a:solidFill>
              <a:srgbClr val="2A3140"/>
            </a:solidFill>
            <a:prstDash val="solid"/>
          </a:ln>
        </p:spPr>
      </p:sp>
      <p:sp>
        <p:nvSpPr>
          <p:cNvPr id="13" name="Text 11"/>
          <p:cNvSpPr/>
          <p:nvPr/>
        </p:nvSpPr>
        <p:spPr>
          <a:xfrm>
            <a:off x="6675120" y="3840480"/>
            <a:ext cx="4572000" cy="320040"/>
          </a:xfrm>
          <a:prstGeom prst="rect">
            <a:avLst/>
          </a:prstGeom>
          <a:noFill/>
          <a:ln/>
        </p:spPr>
        <p:txBody>
          <a:bodyPr wrap="square" lIns="0" tIns="0" rIns="0" bIns="0" rtlCol="0" anchor="ctr"/>
          <a:lstStyle/>
          <a:p>
            <a:pPr algn="l" indent="0" marL="0">
              <a:buNone/>
            </a:pPr>
            <a:r>
              <a:rPr lang="en-US" sz="1300" b="1" dirty="0">
                <a:solidFill>
                  <a:srgbClr val="34D8C0"/>
                </a:solidFill>
                <a:latin typeface="Calibri" pitchFamily="34" charset="0"/>
                <a:ea typeface="Calibri" pitchFamily="34" charset="-122"/>
                <a:cs typeface="Calibri" pitchFamily="34" charset="-120"/>
              </a:rPr>
              <a:t>Litmus test</a:t>
            </a:r>
            <a:endParaRPr lang="en-US" sz="1300" dirty="0"/>
          </a:p>
        </p:txBody>
      </p:sp>
      <p:sp>
        <p:nvSpPr>
          <p:cNvPr id="14" name="Text 12"/>
          <p:cNvSpPr/>
          <p:nvPr/>
        </p:nvSpPr>
        <p:spPr>
          <a:xfrm>
            <a:off x="6675120" y="4160520"/>
            <a:ext cx="4617720" cy="1280160"/>
          </a:xfrm>
          <a:prstGeom prst="rect">
            <a:avLst/>
          </a:prstGeom>
          <a:noFill/>
          <a:ln/>
        </p:spPr>
        <p:txBody>
          <a:bodyPr wrap="square" lIns="0" tIns="0" rIns="0" bIns="0" rtlCol="0" anchor="t"/>
          <a:lstStyle/>
          <a:p>
            <a:pPr algn="l" indent="0" marL="0">
              <a:buNone/>
            </a:pPr>
            <a:r>
              <a:rPr lang="en-US" sz="1450" i="1" dirty="0">
                <a:solidFill>
                  <a:srgbClr val="EAECEF"/>
                </a:solidFill>
                <a:latin typeface="Calibri" pitchFamily="34" charset="0"/>
                <a:ea typeface="Calibri" pitchFamily="34" charset="-122"/>
                <a:cs typeface="Calibri" pitchFamily="34" charset="-120"/>
              </a:rPr>
              <a:t>“Each pointer moves one direction only; each element enters once and leaves once.” → linear, however nested it looks.</a:t>
            </a:r>
            <a:endParaRPr lang="en-US" sz="1450" dirty="0"/>
          </a:p>
        </p:txBody>
      </p:sp>
      <p:sp>
        <p:nvSpPr>
          <p:cNvPr id="15" name="Text 13"/>
          <p:cNvSpPr/>
          <p:nvPr/>
        </p:nvSpPr>
        <p:spPr>
          <a:xfrm>
            <a:off x="502920" y="6455664"/>
            <a:ext cx="5486400" cy="274320"/>
          </a:xfrm>
          <a:prstGeom prst="rect">
            <a:avLst/>
          </a:prstGeom>
          <a:noFill/>
          <a:ln/>
        </p:spPr>
        <p:txBody>
          <a:bodyPr wrap="square" lIns="0" tIns="0" rIns="0" bIns="0" rtlCol="0" anchor="ctr"/>
          <a:lstStyle/>
          <a:p>
            <a:pPr algn="l" indent="0" marL="0">
              <a:buNone/>
            </a:pPr>
            <a:r>
              <a:rPr lang="en-US" sz="1000" dirty="0">
                <a:solidFill>
                  <a:srgbClr val="9AA5B4"/>
                </a:solidFill>
                <a:latin typeface="Calibri" pitchFamily="34" charset="0"/>
                <a:ea typeface="Calibri" pitchFamily="34" charset="-122"/>
                <a:cs typeface="Calibri" pitchFamily="34" charset="-120"/>
              </a:rPr>
              <a:t>Two Pointers &amp; Sliding Window</a:t>
            </a:r>
            <a:endParaRPr lang="en-US" sz="1000" dirty="0"/>
          </a:p>
        </p:txBody>
      </p:sp>
      <p:sp>
        <p:nvSpPr>
          <p:cNvPr id="16" name="Text 14"/>
          <p:cNvSpPr/>
          <p:nvPr/>
        </p:nvSpPr>
        <p:spPr>
          <a:xfrm>
            <a:off x="11228832" y="6455664"/>
            <a:ext cx="457200" cy="274320"/>
          </a:xfrm>
          <a:prstGeom prst="rect">
            <a:avLst/>
          </a:prstGeom>
          <a:noFill/>
          <a:ln/>
        </p:spPr>
        <p:txBody>
          <a:bodyPr wrap="square" lIns="0" tIns="0" rIns="0" bIns="0" rtlCol="0" anchor="ctr"/>
          <a:lstStyle/>
          <a:p>
            <a:pPr algn="r" indent="0" marL="0">
              <a:buNone/>
            </a:pPr>
            <a:r>
              <a:rPr lang="en-US" sz="1000" dirty="0">
                <a:solidFill>
                  <a:srgbClr val="9AA5B4"/>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4171F"/>
        </a:solidFill>
      </p:bgPr>
    </p:bg>
    <p:spTree>
      <p:nvGrpSpPr>
        <p:cNvPr id="1" name=""/>
        <p:cNvGrpSpPr/>
        <p:nvPr/>
      </p:nvGrpSpPr>
      <p:grpSpPr>
        <a:xfrm>
          <a:off x="0" y="0"/>
          <a:ext cx="0" cy="0"/>
          <a:chOff x="0" y="0"/>
          <a:chExt cx="0" cy="0"/>
        </a:xfrm>
      </p:grpSpPr>
      <p:sp>
        <p:nvSpPr>
          <p:cNvPr id="2" name="Text 0"/>
          <p:cNvSpPr/>
          <p:nvPr/>
        </p:nvSpPr>
        <p:spPr>
          <a:xfrm>
            <a:off x="502920" y="457200"/>
            <a:ext cx="3657600" cy="292608"/>
          </a:xfrm>
          <a:prstGeom prst="rect">
            <a:avLst/>
          </a:prstGeom>
          <a:noFill/>
          <a:ln/>
        </p:spPr>
        <p:txBody>
          <a:bodyPr wrap="square" lIns="0" tIns="0" rIns="0" bIns="0" rtlCol="0" anchor="ctr"/>
          <a:lstStyle/>
          <a:p>
            <a:pPr algn="l" indent="0" marL="0">
              <a:buNone/>
            </a:pPr>
            <a:r>
              <a:rPr lang="en-US" sz="1200" b="1" spc="300" kern="0" dirty="0">
                <a:solidFill>
                  <a:srgbClr val="34D8C0"/>
                </a:solidFill>
                <a:latin typeface="Calibri" pitchFamily="34" charset="0"/>
                <a:ea typeface="Calibri" pitchFamily="34" charset="-122"/>
                <a:cs typeface="Calibri" pitchFamily="34" charset="-120"/>
              </a:rPr>
              <a:t>TOOLKIT</a:t>
            </a:r>
            <a:endParaRPr lang="en-US" sz="1200" dirty="0"/>
          </a:p>
        </p:txBody>
      </p:sp>
      <p:sp>
        <p:nvSpPr>
          <p:cNvPr id="3" name="Text 1"/>
          <p:cNvSpPr/>
          <p:nvPr/>
        </p:nvSpPr>
        <p:spPr>
          <a:xfrm>
            <a:off x="502920" y="777240"/>
            <a:ext cx="10972800" cy="822960"/>
          </a:xfrm>
          <a:prstGeom prst="rect">
            <a:avLst/>
          </a:prstGeom>
          <a:noFill/>
          <a:ln/>
        </p:spPr>
        <p:txBody>
          <a:bodyPr wrap="square" lIns="0" tIns="0" rIns="0" bIns="0" rtlCol="0" anchor="ctr"/>
          <a:lstStyle/>
          <a:p>
            <a:pPr algn="l" indent="0" marL="0">
              <a:buNone/>
            </a:pPr>
            <a:r>
              <a:rPr lang="en-US" sz="3400" b="1" dirty="0">
                <a:solidFill>
                  <a:srgbClr val="EAECEF"/>
                </a:solidFill>
                <a:latin typeface="Cambria" pitchFamily="34" charset="0"/>
                <a:ea typeface="Cambria" pitchFamily="34" charset="-122"/>
                <a:cs typeface="Cambria" pitchFamily="34" charset="-120"/>
              </a:rPr>
              <a:t>A skeleton you can reuse</a:t>
            </a:r>
            <a:endParaRPr lang="en-US" sz="3400" dirty="0"/>
          </a:p>
        </p:txBody>
      </p:sp>
      <p:sp>
        <p:nvSpPr>
          <p:cNvPr id="4" name="Shape 2"/>
          <p:cNvSpPr/>
          <p:nvPr/>
        </p:nvSpPr>
        <p:spPr>
          <a:xfrm>
            <a:off x="502920" y="1783080"/>
            <a:ext cx="7040880" cy="3840480"/>
          </a:xfrm>
          <a:prstGeom prst="roundRect">
            <a:avLst>
              <a:gd name="adj" fmla="val 1905"/>
            </a:avLst>
          </a:prstGeom>
          <a:solidFill>
            <a:srgbClr val="0E1016"/>
          </a:solidFill>
          <a:ln w="12700">
            <a:solidFill>
              <a:srgbClr val="2A3140"/>
            </a:solidFill>
            <a:prstDash val="solid"/>
          </a:ln>
        </p:spPr>
      </p:sp>
      <p:sp>
        <p:nvSpPr>
          <p:cNvPr id="5" name="Text 3"/>
          <p:cNvSpPr/>
          <p:nvPr/>
        </p:nvSpPr>
        <p:spPr>
          <a:xfrm>
            <a:off x="704088" y="1929384"/>
            <a:ext cx="6638544" cy="3547872"/>
          </a:xfrm>
          <a:prstGeom prst="rect">
            <a:avLst/>
          </a:prstGeom>
          <a:noFill/>
          <a:ln/>
        </p:spPr>
        <p:txBody>
          <a:bodyPr wrap="square" lIns="0" tIns="0" rIns="0" bIns="0" rtlCol="0" anchor="t"/>
          <a:lstStyle/>
          <a:p>
            <a:pPr algn="l" indent="0" marL="0">
              <a:lnSpc>
                <a:spcPct val="102000"/>
              </a:lnSpc>
              <a:buNone/>
            </a:pPr>
            <a:r>
              <a:rPr lang="en-US" sz="1400" dirty="0">
                <a:solidFill>
                  <a:srgbClr val="EAECEF"/>
                </a:solidFill>
                <a:latin typeface="Courier New" pitchFamily="34" charset="0"/>
                <a:ea typeface="Courier New" pitchFamily="34" charset="-122"/>
                <a:cs typeface="Courier New" pitchFamily="34" charset="-120"/>
              </a:rPr>
              <a:t>int l = 0;</a:t>
            </a:r>
            <a:endParaRPr lang="en-US" sz="1400" dirty="0"/>
          </a:p>
          <a:p>
            <a:pPr algn="l" indent="0" marL="0">
              <a:lnSpc>
                <a:spcPct val="102000"/>
              </a:lnSpc>
              <a:buNone/>
            </a:pPr>
            <a:r>
              <a:rPr lang="en-US" sz="1400" dirty="0">
                <a:solidFill>
                  <a:srgbClr val="9AA5B4"/>
                </a:solidFill>
                <a:latin typeface="Courier New" pitchFamily="34" charset="0"/>
                <a:ea typeface="Courier New" pitchFamily="34" charset="-122"/>
                <a:cs typeface="Courier New" pitchFamily="34" charset="-120"/>
              </a:rPr>
              <a:t>// init running state (sums, counts...)</a:t>
            </a:r>
            <a:endParaRPr lang="en-US" sz="1400" dirty="0"/>
          </a:p>
          <a:p>
            <a:pPr algn="l" indent="0" marL="0">
              <a:lnSpc>
                <a:spcPct val="102000"/>
              </a:lnSpc>
              <a:buNone/>
            </a:pPr>
            <a:r>
              <a:rPr lang="en-US" sz="1400" dirty="0">
                <a:solidFill>
                  <a:srgbClr val="34D8C0"/>
                </a:solidFill>
                <a:latin typeface="Courier New" pitchFamily="34" charset="0"/>
                <a:ea typeface="Courier New" pitchFamily="34" charset="-122"/>
                <a:cs typeface="Courier New" pitchFamily="34" charset="-120"/>
              </a:rPr>
              <a:t>for (int r = 0; r &lt; n; r++) {</a:t>
            </a:r>
            <a:endParaRPr lang="en-US" sz="1400" dirty="0"/>
          </a:p>
          <a:p>
            <a:pPr algn="l" indent="0" marL="0">
              <a:lnSpc>
                <a:spcPct val="102000"/>
              </a:lnSpc>
              <a:buNone/>
            </a:pPr>
            <a:r>
              <a:rPr lang="en-US" sz="1400" dirty="0">
                <a:solidFill>
                  <a:srgbClr val="4ADE80"/>
                </a:solidFill>
                <a:latin typeface="Courier New" pitchFamily="34" charset="0"/>
                <a:ea typeface="Courier New" pitchFamily="34" charset="-122"/>
                <a:cs typeface="Courier New" pitchFamily="34" charset="-120"/>
              </a:rPr>
              <a:t>    add element r to the state;      // expand</a:t>
            </a:r>
            <a:endParaRPr lang="en-US" sz="1400" dirty="0"/>
          </a:p>
          <a:p>
            <a:pPr algn="l" indent="0" marL="0">
              <a:lnSpc>
                <a:spcPct val="102000"/>
              </a:lnSpc>
              <a:buNone/>
            </a:pPr>
            <a:r>
              <a:rPr lang="en-US" sz="1400" dirty="0">
                <a:solidFill>
                  <a:srgbClr val="34D8C0"/>
                </a:solidFill>
                <a:latin typeface="Courier New" pitchFamily="34" charset="0"/>
                <a:ea typeface="Courier New" pitchFamily="34" charset="-122"/>
                <a:cs typeface="Courier New" pitchFamily="34" charset="-120"/>
              </a:rPr>
              <a:t>    while (window is invalid) {</a:t>
            </a:r>
            <a:endParaRPr lang="en-US" sz="1400" dirty="0"/>
          </a:p>
          <a:p>
            <a:pPr algn="l" indent="0" marL="0">
              <a:lnSpc>
                <a:spcPct val="102000"/>
              </a:lnSpc>
              <a:buNone/>
            </a:pPr>
            <a:r>
              <a:rPr lang="en-US" sz="1400" dirty="0">
                <a:solidFill>
                  <a:srgbClr val="FF6B6B"/>
                </a:solidFill>
                <a:latin typeface="Courier New" pitchFamily="34" charset="0"/>
                <a:ea typeface="Courier New" pitchFamily="34" charset="-122"/>
                <a:cs typeface="Courier New" pitchFamily="34" charset="-120"/>
              </a:rPr>
              <a:t>        remove element l;            // shrink</a:t>
            </a:r>
            <a:endParaRPr lang="en-US" sz="1400" dirty="0"/>
          </a:p>
          <a:p>
            <a:pPr algn="l" indent="0" marL="0">
              <a:lnSpc>
                <a:spcPct val="102000"/>
              </a:lnSpc>
              <a:buNone/>
            </a:pPr>
            <a:r>
              <a:rPr lang="en-US" sz="1400" dirty="0">
                <a:solidFill>
                  <a:srgbClr val="FF6B6B"/>
                </a:solidFill>
                <a:latin typeface="Courier New" pitchFamily="34" charset="0"/>
                <a:ea typeface="Courier New" pitchFamily="34" charset="-122"/>
                <a:cs typeface="Courier New" pitchFamily="34" charset="-120"/>
              </a:rPr>
              <a:t>        l++;</a:t>
            </a:r>
            <a:endParaRPr lang="en-US" sz="1400" dirty="0"/>
          </a:p>
          <a:p>
            <a:pPr algn="l" indent="0" marL="0">
              <a:lnSpc>
                <a:spcPct val="102000"/>
              </a:lnSpc>
              <a:buNone/>
            </a:pPr>
            <a:r>
              <a:rPr lang="en-US" sz="1400" dirty="0">
                <a:solidFill>
                  <a:srgbClr val="34D8C0"/>
                </a:solidFill>
                <a:latin typeface="Courier New" pitchFamily="34" charset="0"/>
                <a:ea typeface="Courier New" pitchFamily="34" charset="-122"/>
                <a:cs typeface="Courier New" pitchFamily="34" charset="-120"/>
              </a:rPr>
              <a:t>    }</a:t>
            </a:r>
            <a:endParaRPr lang="en-US" sz="1400" dirty="0"/>
          </a:p>
          <a:p>
            <a:pPr algn="l" indent="0" marL="0">
              <a:lnSpc>
                <a:spcPct val="102000"/>
              </a:lnSpc>
              <a:buNone/>
            </a:pPr>
            <a:r>
              <a:rPr lang="en-US" sz="1400" dirty="0">
                <a:solidFill>
                  <a:srgbClr val="EAECEF"/>
                </a:solidFill>
                <a:latin typeface="Courier New" pitchFamily="34" charset="0"/>
                <a:ea typeface="Courier New" pitchFamily="34" charset="-122"/>
                <a:cs typeface="Courier New" pitchFamily="34" charset="-120"/>
              </a:rPr>
              <a:t>    consider [l, r] as a candidate;</a:t>
            </a:r>
            <a:endParaRPr lang="en-US" sz="1400" dirty="0"/>
          </a:p>
          <a:p>
            <a:pPr algn="l" indent="0" marL="0">
              <a:lnSpc>
                <a:spcPct val="102000"/>
              </a:lnSpc>
              <a:buNone/>
            </a:pPr>
            <a:r>
              <a:rPr lang="en-US" sz="1400" dirty="0">
                <a:solidFill>
                  <a:srgbClr val="34D8C0"/>
                </a:solidFill>
                <a:latin typeface="Courier New" pitchFamily="34" charset="0"/>
                <a:ea typeface="Courier New" pitchFamily="34" charset="-122"/>
                <a:cs typeface="Courier New" pitchFamily="34" charset="-120"/>
              </a:rPr>
              <a:t>}</a:t>
            </a:r>
            <a:endParaRPr lang="en-US" sz="1400" dirty="0"/>
          </a:p>
        </p:txBody>
      </p:sp>
      <p:sp>
        <p:nvSpPr>
          <p:cNvPr id="6" name="Shape 4"/>
          <p:cNvSpPr/>
          <p:nvPr/>
        </p:nvSpPr>
        <p:spPr>
          <a:xfrm>
            <a:off x="7772400" y="1783080"/>
            <a:ext cx="3886200" cy="3840480"/>
          </a:xfrm>
          <a:prstGeom prst="roundRect">
            <a:avLst>
              <a:gd name="adj" fmla="val 2143"/>
            </a:avLst>
          </a:prstGeom>
          <a:solidFill>
            <a:srgbClr val="20242E"/>
          </a:solidFill>
          <a:ln w="12700">
            <a:solidFill>
              <a:srgbClr val="2A3140"/>
            </a:solidFill>
            <a:prstDash val="solid"/>
          </a:ln>
        </p:spPr>
      </p:sp>
      <p:sp>
        <p:nvSpPr>
          <p:cNvPr id="7" name="Text 5"/>
          <p:cNvSpPr/>
          <p:nvPr/>
        </p:nvSpPr>
        <p:spPr>
          <a:xfrm>
            <a:off x="7973568" y="1965960"/>
            <a:ext cx="3566160" cy="365760"/>
          </a:xfrm>
          <a:prstGeom prst="rect">
            <a:avLst/>
          </a:prstGeom>
          <a:noFill/>
          <a:ln/>
        </p:spPr>
        <p:txBody>
          <a:bodyPr wrap="square" lIns="0" tIns="0" rIns="0" bIns="0" rtlCol="0" anchor="ctr"/>
          <a:lstStyle/>
          <a:p>
            <a:pPr algn="l" indent="0" marL="0">
              <a:buNone/>
            </a:pPr>
            <a:r>
              <a:rPr lang="en-US" sz="1500" b="1" dirty="0">
                <a:solidFill>
                  <a:srgbClr val="F2B441"/>
                </a:solidFill>
                <a:latin typeface="Calibri" pitchFamily="34" charset="0"/>
                <a:ea typeface="Calibri" pitchFamily="34" charset="-122"/>
                <a:cs typeface="Calibri" pitchFamily="34" charset="-120"/>
              </a:rPr>
              <a:t>Three questions first</a:t>
            </a:r>
            <a:endParaRPr lang="en-US" sz="1500" dirty="0"/>
          </a:p>
        </p:txBody>
      </p:sp>
      <p:sp>
        <p:nvSpPr>
          <p:cNvPr id="8" name="Text 6"/>
          <p:cNvSpPr/>
          <p:nvPr/>
        </p:nvSpPr>
        <p:spPr>
          <a:xfrm>
            <a:off x="7973568" y="2423160"/>
            <a:ext cx="365760" cy="365760"/>
          </a:xfrm>
          <a:prstGeom prst="rect">
            <a:avLst/>
          </a:prstGeom>
          <a:noFill/>
          <a:ln/>
        </p:spPr>
        <p:txBody>
          <a:bodyPr wrap="square" lIns="0" tIns="0" rIns="0" bIns="0" rtlCol="0" anchor="ctr"/>
          <a:lstStyle/>
          <a:p>
            <a:pPr algn="l" indent="0" marL="0">
              <a:buNone/>
            </a:pPr>
            <a:r>
              <a:rPr lang="en-US" sz="2000" b="1" dirty="0">
                <a:solidFill>
                  <a:srgbClr val="34D8C0"/>
                </a:solidFill>
                <a:latin typeface="Cambria" pitchFamily="34" charset="0"/>
                <a:ea typeface="Cambria" pitchFamily="34" charset="-122"/>
                <a:cs typeface="Cambria" pitchFamily="34" charset="-120"/>
              </a:rPr>
              <a:t>1</a:t>
            </a:r>
            <a:endParaRPr lang="en-US" sz="2000" dirty="0"/>
          </a:p>
        </p:txBody>
      </p:sp>
      <p:sp>
        <p:nvSpPr>
          <p:cNvPr id="9" name="Text 7"/>
          <p:cNvSpPr/>
          <p:nvPr/>
        </p:nvSpPr>
        <p:spPr>
          <a:xfrm>
            <a:off x="8366760" y="2423160"/>
            <a:ext cx="3154680" cy="457200"/>
          </a:xfrm>
          <a:prstGeom prst="rect">
            <a:avLst/>
          </a:prstGeom>
          <a:noFill/>
          <a:ln/>
        </p:spPr>
        <p:txBody>
          <a:bodyPr wrap="square" lIns="0" tIns="0" rIns="0" bIns="0" rtlCol="0" anchor="t"/>
          <a:lstStyle/>
          <a:p>
            <a:pPr algn="l" indent="0" marL="0">
              <a:buNone/>
            </a:pPr>
            <a:r>
              <a:rPr lang="en-US" sz="1400" b="1" dirty="0">
                <a:solidFill>
                  <a:srgbClr val="EAECEF"/>
                </a:solidFill>
                <a:latin typeface="Calibri" pitchFamily="34" charset="0"/>
                <a:ea typeface="Calibri" pitchFamily="34" charset="-122"/>
                <a:cs typeface="Calibri" pitchFamily="34" charset="-120"/>
              </a:rPr>
              <a:t>What summary do I keep?</a:t>
            </a:r>
            <a:endParaRPr lang="en-US" sz="1400" dirty="0"/>
          </a:p>
        </p:txBody>
      </p:sp>
      <p:sp>
        <p:nvSpPr>
          <p:cNvPr id="10" name="Text 8"/>
          <p:cNvSpPr/>
          <p:nvPr/>
        </p:nvSpPr>
        <p:spPr>
          <a:xfrm>
            <a:off x="8366760" y="2880360"/>
            <a:ext cx="3154680" cy="320040"/>
          </a:xfrm>
          <a:prstGeom prst="rect">
            <a:avLst/>
          </a:prstGeom>
          <a:noFill/>
          <a:ln/>
        </p:spPr>
        <p:txBody>
          <a:bodyPr wrap="square" lIns="0" tIns="0" rIns="0" bIns="0" rtlCol="0" anchor="ctr"/>
          <a:lstStyle/>
          <a:p>
            <a:pPr algn="l" indent="0" marL="0">
              <a:buNone/>
            </a:pPr>
            <a:r>
              <a:rPr lang="en-US" sz="1200" i="1" dirty="0">
                <a:solidFill>
                  <a:srgbClr val="9AA5B4"/>
                </a:solidFill>
                <a:latin typeface="Calibri" pitchFamily="34" charset="0"/>
                <a:ea typeface="Calibri" pitchFamily="34" charset="-122"/>
                <a:cs typeface="Calibri" pitchFamily="34" charset="-120"/>
              </a:rPr>
              <a:t>a sum, a count, a max…</a:t>
            </a:r>
            <a:endParaRPr lang="en-US" sz="1200" dirty="0"/>
          </a:p>
        </p:txBody>
      </p:sp>
      <p:sp>
        <p:nvSpPr>
          <p:cNvPr id="11" name="Text 9"/>
          <p:cNvSpPr/>
          <p:nvPr/>
        </p:nvSpPr>
        <p:spPr>
          <a:xfrm>
            <a:off x="7973568" y="3447288"/>
            <a:ext cx="365760" cy="365760"/>
          </a:xfrm>
          <a:prstGeom prst="rect">
            <a:avLst/>
          </a:prstGeom>
          <a:noFill/>
          <a:ln/>
        </p:spPr>
        <p:txBody>
          <a:bodyPr wrap="square" lIns="0" tIns="0" rIns="0" bIns="0" rtlCol="0" anchor="ctr"/>
          <a:lstStyle/>
          <a:p>
            <a:pPr algn="l" indent="0" marL="0">
              <a:buNone/>
            </a:pPr>
            <a:r>
              <a:rPr lang="en-US" sz="2000" b="1" dirty="0">
                <a:solidFill>
                  <a:srgbClr val="34D8C0"/>
                </a:solidFill>
                <a:latin typeface="Cambria" pitchFamily="34" charset="0"/>
                <a:ea typeface="Cambria" pitchFamily="34" charset="-122"/>
                <a:cs typeface="Cambria" pitchFamily="34" charset="-120"/>
              </a:rPr>
              <a:t>2</a:t>
            </a:r>
            <a:endParaRPr lang="en-US" sz="2000" dirty="0"/>
          </a:p>
        </p:txBody>
      </p:sp>
      <p:sp>
        <p:nvSpPr>
          <p:cNvPr id="12" name="Text 10"/>
          <p:cNvSpPr/>
          <p:nvPr/>
        </p:nvSpPr>
        <p:spPr>
          <a:xfrm>
            <a:off x="8366760" y="3447288"/>
            <a:ext cx="3154680" cy="457200"/>
          </a:xfrm>
          <a:prstGeom prst="rect">
            <a:avLst/>
          </a:prstGeom>
          <a:noFill/>
          <a:ln/>
        </p:spPr>
        <p:txBody>
          <a:bodyPr wrap="square" lIns="0" tIns="0" rIns="0" bIns="0" rtlCol="0" anchor="t"/>
          <a:lstStyle/>
          <a:p>
            <a:pPr algn="l" indent="0" marL="0">
              <a:buNone/>
            </a:pPr>
            <a:r>
              <a:rPr lang="en-US" sz="1400" b="1" dirty="0">
                <a:solidFill>
                  <a:srgbClr val="EAECEF"/>
                </a:solidFill>
                <a:latin typeface="Calibri" pitchFamily="34" charset="0"/>
                <a:ea typeface="Calibri" pitchFamily="34" charset="-122"/>
                <a:cs typeface="Calibri" pitchFamily="34" charset="-120"/>
              </a:rPr>
              <a:t>How does it update on enter / leave?</a:t>
            </a:r>
            <a:endParaRPr lang="en-US" sz="1400" dirty="0"/>
          </a:p>
        </p:txBody>
      </p:sp>
      <p:sp>
        <p:nvSpPr>
          <p:cNvPr id="13" name="Text 11"/>
          <p:cNvSpPr/>
          <p:nvPr/>
        </p:nvSpPr>
        <p:spPr>
          <a:xfrm>
            <a:off x="8366760" y="3904488"/>
            <a:ext cx="3154680" cy="320040"/>
          </a:xfrm>
          <a:prstGeom prst="rect">
            <a:avLst/>
          </a:prstGeom>
          <a:noFill/>
          <a:ln/>
        </p:spPr>
        <p:txBody>
          <a:bodyPr wrap="square" lIns="0" tIns="0" rIns="0" bIns="0" rtlCol="0" anchor="ctr"/>
          <a:lstStyle/>
          <a:p>
            <a:pPr algn="l" indent="0" marL="0">
              <a:buNone/>
            </a:pPr>
            <a:r>
              <a:rPr lang="en-US" sz="1200" i="1" dirty="0">
                <a:solidFill>
                  <a:srgbClr val="9AA5B4"/>
                </a:solidFill>
                <a:latin typeface="Calibri" pitchFamily="34" charset="0"/>
                <a:ea typeface="Calibri" pitchFamily="34" charset="-122"/>
                <a:cs typeface="Calibri" pitchFamily="34" charset="-120"/>
              </a:rPr>
              <a:t>both must be O(1)</a:t>
            </a:r>
            <a:endParaRPr lang="en-US" sz="1200" dirty="0"/>
          </a:p>
        </p:txBody>
      </p:sp>
      <p:sp>
        <p:nvSpPr>
          <p:cNvPr id="14" name="Text 12"/>
          <p:cNvSpPr/>
          <p:nvPr/>
        </p:nvSpPr>
        <p:spPr>
          <a:xfrm>
            <a:off x="7973568" y="4471416"/>
            <a:ext cx="365760" cy="365760"/>
          </a:xfrm>
          <a:prstGeom prst="rect">
            <a:avLst/>
          </a:prstGeom>
          <a:noFill/>
          <a:ln/>
        </p:spPr>
        <p:txBody>
          <a:bodyPr wrap="square" lIns="0" tIns="0" rIns="0" bIns="0" rtlCol="0" anchor="ctr"/>
          <a:lstStyle/>
          <a:p>
            <a:pPr algn="l" indent="0" marL="0">
              <a:buNone/>
            </a:pPr>
            <a:r>
              <a:rPr lang="en-US" sz="2000" b="1" dirty="0">
                <a:solidFill>
                  <a:srgbClr val="34D8C0"/>
                </a:solidFill>
                <a:latin typeface="Cambria" pitchFamily="34" charset="0"/>
                <a:ea typeface="Cambria" pitchFamily="34" charset="-122"/>
                <a:cs typeface="Cambria" pitchFamily="34" charset="-120"/>
              </a:rPr>
              <a:t>3</a:t>
            </a:r>
            <a:endParaRPr lang="en-US" sz="2000" dirty="0"/>
          </a:p>
        </p:txBody>
      </p:sp>
      <p:sp>
        <p:nvSpPr>
          <p:cNvPr id="15" name="Text 13"/>
          <p:cNvSpPr/>
          <p:nvPr/>
        </p:nvSpPr>
        <p:spPr>
          <a:xfrm>
            <a:off x="8366760" y="4471416"/>
            <a:ext cx="3154680" cy="457200"/>
          </a:xfrm>
          <a:prstGeom prst="rect">
            <a:avLst/>
          </a:prstGeom>
          <a:noFill/>
          <a:ln/>
        </p:spPr>
        <p:txBody>
          <a:bodyPr wrap="square" lIns="0" tIns="0" rIns="0" bIns="0" rtlCol="0" anchor="t"/>
          <a:lstStyle/>
          <a:p>
            <a:pPr algn="l" indent="0" marL="0">
              <a:buNone/>
            </a:pPr>
            <a:r>
              <a:rPr lang="en-US" sz="1400" b="1" dirty="0">
                <a:solidFill>
                  <a:srgbClr val="EAECEF"/>
                </a:solidFill>
                <a:latin typeface="Calibri" pitchFamily="34" charset="0"/>
                <a:ea typeface="Calibri" pitchFamily="34" charset="-122"/>
                <a:cs typeface="Calibri" pitchFamily="34" charset="-120"/>
              </a:rPr>
              <a:t>What is monotonic here?</a:t>
            </a:r>
            <a:endParaRPr lang="en-US" sz="1400" dirty="0"/>
          </a:p>
        </p:txBody>
      </p:sp>
      <p:sp>
        <p:nvSpPr>
          <p:cNvPr id="16" name="Text 14"/>
          <p:cNvSpPr/>
          <p:nvPr/>
        </p:nvSpPr>
        <p:spPr>
          <a:xfrm>
            <a:off x="8366760" y="4928616"/>
            <a:ext cx="3154680" cy="320040"/>
          </a:xfrm>
          <a:prstGeom prst="rect">
            <a:avLst/>
          </a:prstGeom>
          <a:noFill/>
          <a:ln/>
        </p:spPr>
        <p:txBody>
          <a:bodyPr wrap="square" lIns="0" tIns="0" rIns="0" bIns="0" rtlCol="0" anchor="ctr"/>
          <a:lstStyle/>
          <a:p>
            <a:pPr algn="l" indent="0" marL="0">
              <a:buNone/>
            </a:pPr>
            <a:r>
              <a:rPr lang="en-US" sz="1200" i="1" dirty="0">
                <a:solidFill>
                  <a:srgbClr val="9AA5B4"/>
                </a:solidFill>
                <a:latin typeface="Calibri" pitchFamily="34" charset="0"/>
                <a:ea typeface="Calibri" pitchFamily="34" charset="-122"/>
                <a:cs typeface="Calibri" pitchFamily="34" charset="-120"/>
              </a:rPr>
              <a:t>so a pointer never retreats</a:t>
            </a:r>
            <a:endParaRPr lang="en-US" sz="1200" dirty="0"/>
          </a:p>
        </p:txBody>
      </p:sp>
      <p:sp>
        <p:nvSpPr>
          <p:cNvPr id="17" name="Text 15"/>
          <p:cNvSpPr/>
          <p:nvPr/>
        </p:nvSpPr>
        <p:spPr>
          <a:xfrm>
            <a:off x="502920" y="6455664"/>
            <a:ext cx="5486400" cy="274320"/>
          </a:xfrm>
          <a:prstGeom prst="rect">
            <a:avLst/>
          </a:prstGeom>
          <a:noFill/>
          <a:ln/>
        </p:spPr>
        <p:txBody>
          <a:bodyPr wrap="square" lIns="0" tIns="0" rIns="0" bIns="0" rtlCol="0" anchor="ctr"/>
          <a:lstStyle/>
          <a:p>
            <a:pPr algn="l" indent="0" marL="0">
              <a:buNone/>
            </a:pPr>
            <a:r>
              <a:rPr lang="en-US" sz="1000" dirty="0">
                <a:solidFill>
                  <a:srgbClr val="9AA5B4"/>
                </a:solidFill>
                <a:latin typeface="Calibri" pitchFamily="34" charset="0"/>
                <a:ea typeface="Calibri" pitchFamily="34" charset="-122"/>
                <a:cs typeface="Calibri" pitchFamily="34" charset="-120"/>
              </a:rPr>
              <a:t>Two Pointers &amp; Sliding Window</a:t>
            </a:r>
            <a:endParaRPr lang="en-US" sz="1000" dirty="0"/>
          </a:p>
        </p:txBody>
      </p:sp>
      <p:sp>
        <p:nvSpPr>
          <p:cNvPr id="18" name="Text 16"/>
          <p:cNvSpPr/>
          <p:nvPr/>
        </p:nvSpPr>
        <p:spPr>
          <a:xfrm>
            <a:off x="11228832" y="6455664"/>
            <a:ext cx="457200" cy="274320"/>
          </a:xfrm>
          <a:prstGeom prst="rect">
            <a:avLst/>
          </a:prstGeom>
          <a:noFill/>
          <a:ln/>
        </p:spPr>
        <p:txBody>
          <a:bodyPr wrap="square" lIns="0" tIns="0" rIns="0" bIns="0" rtlCol="0" anchor="ctr"/>
          <a:lstStyle/>
          <a:p>
            <a:pPr algn="r" indent="0" marL="0">
              <a:buNone/>
            </a:pPr>
            <a:r>
              <a:rPr lang="en-US" sz="1000" dirty="0">
                <a:solidFill>
                  <a:srgbClr val="9AA5B4"/>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4171F"/>
        </a:solidFill>
      </p:bgPr>
    </p:bg>
    <p:spTree>
      <p:nvGrpSpPr>
        <p:cNvPr id="1" name=""/>
        <p:cNvGrpSpPr/>
        <p:nvPr/>
      </p:nvGrpSpPr>
      <p:grpSpPr>
        <a:xfrm>
          <a:off x="0" y="0"/>
          <a:ext cx="0" cy="0"/>
          <a:chOff x="0" y="0"/>
          <a:chExt cx="0" cy="0"/>
        </a:xfrm>
      </p:grpSpPr>
      <p:sp>
        <p:nvSpPr>
          <p:cNvPr id="2" name="Text 0"/>
          <p:cNvSpPr/>
          <p:nvPr/>
        </p:nvSpPr>
        <p:spPr>
          <a:xfrm>
            <a:off x="502920" y="457200"/>
            <a:ext cx="3657600" cy="292608"/>
          </a:xfrm>
          <a:prstGeom prst="rect">
            <a:avLst/>
          </a:prstGeom>
          <a:noFill/>
          <a:ln/>
        </p:spPr>
        <p:txBody>
          <a:bodyPr wrap="square" lIns="0" tIns="0" rIns="0" bIns="0" rtlCol="0" anchor="ctr"/>
          <a:lstStyle/>
          <a:p>
            <a:pPr algn="l" indent="0" marL="0">
              <a:buNone/>
            </a:pPr>
            <a:r>
              <a:rPr lang="en-US" sz="1200" b="1" spc="300" kern="0" dirty="0">
                <a:solidFill>
                  <a:srgbClr val="FF6B6B"/>
                </a:solidFill>
                <a:latin typeface="Calibri" pitchFamily="34" charset="0"/>
                <a:ea typeface="Calibri" pitchFamily="34" charset="-122"/>
                <a:cs typeface="Calibri" pitchFamily="34" charset="-120"/>
              </a:rPr>
              <a:t>TOOLKIT · DEBUGGING</a:t>
            </a:r>
            <a:endParaRPr lang="en-US" sz="1200" dirty="0"/>
          </a:p>
        </p:txBody>
      </p:sp>
      <p:sp>
        <p:nvSpPr>
          <p:cNvPr id="3" name="Text 1"/>
          <p:cNvSpPr/>
          <p:nvPr/>
        </p:nvSpPr>
        <p:spPr>
          <a:xfrm>
            <a:off x="502920" y="777240"/>
            <a:ext cx="10972800" cy="822960"/>
          </a:xfrm>
          <a:prstGeom prst="rect">
            <a:avLst/>
          </a:prstGeom>
          <a:noFill/>
          <a:ln/>
        </p:spPr>
        <p:txBody>
          <a:bodyPr wrap="square" lIns="0" tIns="0" rIns="0" bIns="0" rtlCol="0" anchor="ctr"/>
          <a:lstStyle/>
          <a:p>
            <a:pPr algn="l" indent="0" marL="0">
              <a:buNone/>
            </a:pPr>
            <a:r>
              <a:rPr lang="en-US" sz="3400" b="1" dirty="0">
                <a:solidFill>
                  <a:srgbClr val="EAECEF"/>
                </a:solidFill>
                <a:latin typeface="Cambria" pitchFamily="34" charset="0"/>
                <a:ea typeface="Cambria" pitchFamily="34" charset="-122"/>
                <a:cs typeface="Cambria" pitchFamily="34" charset="-120"/>
              </a:rPr>
              <a:t>Bugs that quietly cost marks</a:t>
            </a:r>
            <a:endParaRPr lang="en-US" sz="3400" dirty="0"/>
          </a:p>
        </p:txBody>
      </p:sp>
      <p:sp>
        <p:nvSpPr>
          <p:cNvPr id="4" name="Shape 2"/>
          <p:cNvSpPr/>
          <p:nvPr/>
        </p:nvSpPr>
        <p:spPr>
          <a:xfrm>
            <a:off x="502920" y="1783080"/>
            <a:ext cx="5504688" cy="1234440"/>
          </a:xfrm>
          <a:prstGeom prst="roundRect">
            <a:avLst>
              <a:gd name="adj" fmla="val 6667"/>
            </a:avLst>
          </a:prstGeom>
          <a:solidFill>
            <a:srgbClr val="20242E"/>
          </a:solidFill>
          <a:ln w="12700">
            <a:solidFill>
              <a:srgbClr val="2A3140"/>
            </a:solidFill>
            <a:prstDash val="solid"/>
          </a:ln>
        </p:spPr>
      </p:sp>
      <p:sp>
        <p:nvSpPr>
          <p:cNvPr id="5" name="Text 3"/>
          <p:cNvSpPr/>
          <p:nvPr/>
        </p:nvSpPr>
        <p:spPr>
          <a:xfrm>
            <a:off x="731520" y="1920240"/>
            <a:ext cx="5047488" cy="365760"/>
          </a:xfrm>
          <a:prstGeom prst="rect">
            <a:avLst/>
          </a:prstGeom>
          <a:noFill/>
          <a:ln/>
        </p:spPr>
        <p:txBody>
          <a:bodyPr wrap="square" lIns="0" tIns="0" rIns="0" bIns="0" rtlCol="0" anchor="ctr"/>
          <a:lstStyle/>
          <a:p>
            <a:pPr algn="l" indent="0" marL="0">
              <a:buNone/>
            </a:pPr>
            <a:r>
              <a:rPr lang="en-US" sz="1550" b="1" dirty="0">
                <a:solidFill>
                  <a:srgbClr val="F2B441"/>
                </a:solidFill>
                <a:latin typeface="Calibri" pitchFamily="34" charset="0"/>
                <a:ea typeface="Calibri" pitchFamily="34" charset="-122"/>
                <a:cs typeface="Calibri" pitchFamily="34" charset="-120"/>
              </a:rPr>
              <a:t>Recomputing, not repairing</a:t>
            </a:r>
            <a:endParaRPr lang="en-US" sz="1550" dirty="0"/>
          </a:p>
        </p:txBody>
      </p:sp>
      <p:sp>
        <p:nvSpPr>
          <p:cNvPr id="6" name="Text 4"/>
          <p:cNvSpPr/>
          <p:nvPr/>
        </p:nvSpPr>
        <p:spPr>
          <a:xfrm>
            <a:off x="731520" y="2286000"/>
            <a:ext cx="5047488" cy="640080"/>
          </a:xfrm>
          <a:prstGeom prst="rect">
            <a:avLst/>
          </a:prstGeom>
          <a:noFill/>
          <a:ln/>
        </p:spPr>
        <p:txBody>
          <a:bodyPr wrap="square" lIns="0" tIns="0" rIns="0" bIns="0" rtlCol="0" anchor="t"/>
          <a:lstStyle/>
          <a:p>
            <a:pPr algn="l" indent="0" marL="0">
              <a:buNone/>
            </a:pPr>
            <a:r>
              <a:rPr lang="en-US" sz="1250" dirty="0">
                <a:solidFill>
                  <a:srgbClr val="9AA5B4"/>
                </a:solidFill>
                <a:latin typeface="Calibri" pitchFamily="34" charset="0"/>
                <a:ea typeface="Calibri" pitchFamily="34" charset="-122"/>
                <a:cs typeface="Calibri" pitchFamily="34" charset="-120"/>
              </a:rPr>
              <a:t>If you re-sum inside the loop, you've thrown away the whole benefit — touch only the entering and leaving elements.</a:t>
            </a:r>
            <a:endParaRPr lang="en-US" sz="1250" dirty="0"/>
          </a:p>
        </p:txBody>
      </p:sp>
      <p:sp>
        <p:nvSpPr>
          <p:cNvPr id="7" name="Shape 5"/>
          <p:cNvSpPr/>
          <p:nvPr/>
        </p:nvSpPr>
        <p:spPr>
          <a:xfrm>
            <a:off x="6153912" y="1783080"/>
            <a:ext cx="5504688" cy="1234440"/>
          </a:xfrm>
          <a:prstGeom prst="roundRect">
            <a:avLst>
              <a:gd name="adj" fmla="val 6667"/>
            </a:avLst>
          </a:prstGeom>
          <a:solidFill>
            <a:srgbClr val="20242E"/>
          </a:solidFill>
          <a:ln w="12700">
            <a:solidFill>
              <a:srgbClr val="2A3140"/>
            </a:solidFill>
            <a:prstDash val="solid"/>
          </a:ln>
        </p:spPr>
      </p:sp>
      <p:sp>
        <p:nvSpPr>
          <p:cNvPr id="8" name="Text 6"/>
          <p:cNvSpPr/>
          <p:nvPr/>
        </p:nvSpPr>
        <p:spPr>
          <a:xfrm>
            <a:off x="6382512" y="1920240"/>
            <a:ext cx="5047488" cy="365760"/>
          </a:xfrm>
          <a:prstGeom prst="rect">
            <a:avLst/>
          </a:prstGeom>
          <a:noFill/>
          <a:ln/>
        </p:spPr>
        <p:txBody>
          <a:bodyPr wrap="square" lIns="0" tIns="0" rIns="0" bIns="0" rtlCol="0" anchor="ctr"/>
          <a:lstStyle/>
          <a:p>
            <a:pPr algn="l" indent="0" marL="0">
              <a:buNone/>
            </a:pPr>
            <a:r>
              <a:rPr lang="en-US" sz="1550" b="1" dirty="0">
                <a:solidFill>
                  <a:srgbClr val="F2B441"/>
                </a:solidFill>
                <a:latin typeface="Calibri" pitchFamily="34" charset="0"/>
                <a:ea typeface="Calibri" pitchFamily="34" charset="-122"/>
                <a:cs typeface="Calibri" pitchFamily="34" charset="-120"/>
              </a:rPr>
              <a:t>Resetting the fast pointer</a:t>
            </a:r>
            <a:endParaRPr lang="en-US" sz="1550" dirty="0"/>
          </a:p>
        </p:txBody>
      </p:sp>
      <p:sp>
        <p:nvSpPr>
          <p:cNvPr id="9" name="Text 7"/>
          <p:cNvSpPr/>
          <p:nvPr/>
        </p:nvSpPr>
        <p:spPr>
          <a:xfrm>
            <a:off x="6382512" y="2286000"/>
            <a:ext cx="5047488" cy="640080"/>
          </a:xfrm>
          <a:prstGeom prst="rect">
            <a:avLst/>
          </a:prstGeom>
          <a:noFill/>
          <a:ln/>
        </p:spPr>
        <p:txBody>
          <a:bodyPr wrap="square" lIns="0" tIns="0" rIns="0" bIns="0" rtlCol="0" anchor="t"/>
          <a:lstStyle/>
          <a:p>
            <a:pPr algn="l" indent="0" marL="0">
              <a:buNone/>
            </a:pPr>
            <a:r>
              <a:rPr lang="en-US" sz="1250" dirty="0">
                <a:solidFill>
                  <a:srgbClr val="9AA5B4"/>
                </a:solidFill>
                <a:latin typeface="Calibri" pitchFamily="34" charset="0"/>
                <a:ea typeface="Calibri" pitchFamily="34" charset="-122"/>
                <a:cs typeface="Calibri" pitchFamily="34" charset="-120"/>
              </a:rPr>
              <a:t>In a two-pointer sweep, r must live outside the outer loop. Restart it and you silently drop back to O(C²).</a:t>
            </a:r>
            <a:endParaRPr lang="en-US" sz="1250" dirty="0"/>
          </a:p>
        </p:txBody>
      </p:sp>
      <p:sp>
        <p:nvSpPr>
          <p:cNvPr id="10" name="Shape 8"/>
          <p:cNvSpPr/>
          <p:nvPr/>
        </p:nvSpPr>
        <p:spPr>
          <a:xfrm>
            <a:off x="502920" y="3182112"/>
            <a:ext cx="5504688" cy="1234440"/>
          </a:xfrm>
          <a:prstGeom prst="roundRect">
            <a:avLst>
              <a:gd name="adj" fmla="val 6667"/>
            </a:avLst>
          </a:prstGeom>
          <a:solidFill>
            <a:srgbClr val="20242E"/>
          </a:solidFill>
          <a:ln w="12700">
            <a:solidFill>
              <a:srgbClr val="2A3140"/>
            </a:solidFill>
            <a:prstDash val="solid"/>
          </a:ln>
        </p:spPr>
      </p:sp>
      <p:sp>
        <p:nvSpPr>
          <p:cNvPr id="11" name="Text 9"/>
          <p:cNvSpPr/>
          <p:nvPr/>
        </p:nvSpPr>
        <p:spPr>
          <a:xfrm>
            <a:off x="731520" y="3319272"/>
            <a:ext cx="5047488" cy="365760"/>
          </a:xfrm>
          <a:prstGeom prst="rect">
            <a:avLst/>
          </a:prstGeom>
          <a:noFill/>
          <a:ln/>
        </p:spPr>
        <p:txBody>
          <a:bodyPr wrap="square" lIns="0" tIns="0" rIns="0" bIns="0" rtlCol="0" anchor="ctr"/>
          <a:lstStyle/>
          <a:p>
            <a:pPr algn="l" indent="0" marL="0">
              <a:buNone/>
            </a:pPr>
            <a:r>
              <a:rPr lang="en-US" sz="1550" b="1" dirty="0">
                <a:solidFill>
                  <a:srgbClr val="F2B441"/>
                </a:solidFill>
                <a:latin typeface="Calibri" pitchFamily="34" charset="0"/>
                <a:ea typeface="Calibri" pitchFamily="34" charset="-122"/>
                <a:cs typeface="Calibri" pitchFamily="34" charset="-120"/>
              </a:rPr>
              <a:t>Off-by-one boundaries</a:t>
            </a:r>
            <a:endParaRPr lang="en-US" sz="1550" dirty="0"/>
          </a:p>
        </p:txBody>
      </p:sp>
      <p:sp>
        <p:nvSpPr>
          <p:cNvPr id="12" name="Text 10"/>
          <p:cNvSpPr/>
          <p:nvPr/>
        </p:nvSpPr>
        <p:spPr>
          <a:xfrm>
            <a:off x="731520" y="3685032"/>
            <a:ext cx="5047488" cy="640080"/>
          </a:xfrm>
          <a:prstGeom prst="rect">
            <a:avLst/>
          </a:prstGeom>
          <a:noFill/>
          <a:ln/>
        </p:spPr>
        <p:txBody>
          <a:bodyPr wrap="square" lIns="0" tIns="0" rIns="0" bIns="0" rtlCol="0" anchor="t"/>
          <a:lstStyle/>
          <a:p>
            <a:pPr algn="l" indent="0" marL="0">
              <a:buNone/>
            </a:pPr>
            <a:r>
              <a:rPr lang="en-US" sz="1250" dirty="0">
                <a:solidFill>
                  <a:srgbClr val="9AA5B4"/>
                </a:solidFill>
                <a:latin typeface="Calibri" pitchFamily="34" charset="0"/>
                <a:ea typeface="Calibri" pitchFamily="34" charset="-122"/>
                <a:cs typeface="Calibri" pitchFamily="34" charset="-120"/>
              </a:rPr>
              <a:t>Pick [l, r] or [l, r) up front and never mix them. Half-open tends to have fewer ±1 bugs.</a:t>
            </a:r>
            <a:endParaRPr lang="en-US" sz="1250" dirty="0"/>
          </a:p>
        </p:txBody>
      </p:sp>
      <p:sp>
        <p:nvSpPr>
          <p:cNvPr id="13" name="Shape 11"/>
          <p:cNvSpPr/>
          <p:nvPr/>
        </p:nvSpPr>
        <p:spPr>
          <a:xfrm>
            <a:off x="6153912" y="3182112"/>
            <a:ext cx="5504688" cy="1234440"/>
          </a:xfrm>
          <a:prstGeom prst="roundRect">
            <a:avLst>
              <a:gd name="adj" fmla="val 6667"/>
            </a:avLst>
          </a:prstGeom>
          <a:solidFill>
            <a:srgbClr val="20242E"/>
          </a:solidFill>
          <a:ln w="12700">
            <a:solidFill>
              <a:srgbClr val="2A3140"/>
            </a:solidFill>
            <a:prstDash val="solid"/>
          </a:ln>
        </p:spPr>
      </p:sp>
      <p:sp>
        <p:nvSpPr>
          <p:cNvPr id="14" name="Text 12"/>
          <p:cNvSpPr/>
          <p:nvPr/>
        </p:nvSpPr>
        <p:spPr>
          <a:xfrm>
            <a:off x="6382512" y="3319272"/>
            <a:ext cx="5047488" cy="365760"/>
          </a:xfrm>
          <a:prstGeom prst="rect">
            <a:avLst/>
          </a:prstGeom>
          <a:noFill/>
          <a:ln/>
        </p:spPr>
        <p:txBody>
          <a:bodyPr wrap="square" lIns="0" tIns="0" rIns="0" bIns="0" rtlCol="0" anchor="ctr"/>
          <a:lstStyle/>
          <a:p>
            <a:pPr algn="l" indent="0" marL="0">
              <a:buNone/>
            </a:pPr>
            <a:r>
              <a:rPr lang="en-US" sz="1550" b="1" dirty="0">
                <a:solidFill>
                  <a:srgbClr val="F2B441"/>
                </a:solidFill>
                <a:latin typeface="Calibri" pitchFamily="34" charset="0"/>
                <a:ea typeface="Calibri" pitchFamily="34" charset="-122"/>
                <a:cs typeface="Calibri" pitchFamily="34" charset="-120"/>
              </a:rPr>
              <a:t>Forgetting to remove the leaver</a:t>
            </a:r>
            <a:endParaRPr lang="en-US" sz="1550" dirty="0"/>
          </a:p>
        </p:txBody>
      </p:sp>
      <p:sp>
        <p:nvSpPr>
          <p:cNvPr id="15" name="Text 13"/>
          <p:cNvSpPr/>
          <p:nvPr/>
        </p:nvSpPr>
        <p:spPr>
          <a:xfrm>
            <a:off x="6382512" y="3685032"/>
            <a:ext cx="5047488" cy="640080"/>
          </a:xfrm>
          <a:prstGeom prst="rect">
            <a:avLst/>
          </a:prstGeom>
          <a:noFill/>
          <a:ln/>
        </p:spPr>
        <p:txBody>
          <a:bodyPr wrap="square" lIns="0" tIns="0" rIns="0" bIns="0" rtlCol="0" anchor="t"/>
          <a:lstStyle/>
          <a:p>
            <a:pPr algn="l" indent="0" marL="0">
              <a:buNone/>
            </a:pPr>
            <a:r>
              <a:rPr lang="en-US" sz="1250" dirty="0">
                <a:solidFill>
                  <a:srgbClr val="9AA5B4"/>
                </a:solidFill>
                <a:latin typeface="Calibri" pitchFamily="34" charset="0"/>
                <a:ea typeface="Calibri" pitchFamily="34" charset="-122"/>
                <a:cs typeface="Calibri" pitchFamily="34" charset="-120"/>
              </a:rPr>
              <a:t>When l advances, subtract its element from every running count, or the state drifts.</a:t>
            </a:r>
            <a:endParaRPr lang="en-US" sz="1250" dirty="0"/>
          </a:p>
        </p:txBody>
      </p:sp>
      <p:sp>
        <p:nvSpPr>
          <p:cNvPr id="16" name="Shape 14"/>
          <p:cNvSpPr/>
          <p:nvPr/>
        </p:nvSpPr>
        <p:spPr>
          <a:xfrm>
            <a:off x="502920" y="4581144"/>
            <a:ext cx="5504688" cy="1234440"/>
          </a:xfrm>
          <a:prstGeom prst="roundRect">
            <a:avLst>
              <a:gd name="adj" fmla="val 6667"/>
            </a:avLst>
          </a:prstGeom>
          <a:solidFill>
            <a:srgbClr val="20242E"/>
          </a:solidFill>
          <a:ln w="12700">
            <a:solidFill>
              <a:srgbClr val="2A3140"/>
            </a:solidFill>
            <a:prstDash val="solid"/>
          </a:ln>
        </p:spPr>
      </p:sp>
      <p:sp>
        <p:nvSpPr>
          <p:cNvPr id="17" name="Text 15"/>
          <p:cNvSpPr/>
          <p:nvPr/>
        </p:nvSpPr>
        <p:spPr>
          <a:xfrm>
            <a:off x="731520" y="4718304"/>
            <a:ext cx="5047488" cy="365760"/>
          </a:xfrm>
          <a:prstGeom prst="rect">
            <a:avLst/>
          </a:prstGeom>
          <a:noFill/>
          <a:ln/>
        </p:spPr>
        <p:txBody>
          <a:bodyPr wrap="square" lIns="0" tIns="0" rIns="0" bIns="0" rtlCol="0" anchor="ctr"/>
          <a:lstStyle/>
          <a:p>
            <a:pPr algn="l" indent="0" marL="0">
              <a:buNone/>
            </a:pPr>
            <a:r>
              <a:rPr lang="en-US" sz="1550" b="1" dirty="0">
                <a:solidFill>
                  <a:srgbClr val="F2B441"/>
                </a:solidFill>
                <a:latin typeface="Calibri" pitchFamily="34" charset="0"/>
                <a:ea typeface="Calibri" pitchFamily="34" charset="-122"/>
                <a:cs typeface="Calibri" pitchFamily="34" charset="-120"/>
              </a:rPr>
              <a:t>Negative / empty windows</a:t>
            </a:r>
            <a:endParaRPr lang="en-US" sz="1550" dirty="0"/>
          </a:p>
        </p:txBody>
      </p:sp>
      <p:sp>
        <p:nvSpPr>
          <p:cNvPr id="18" name="Text 16"/>
          <p:cNvSpPr/>
          <p:nvPr/>
        </p:nvSpPr>
        <p:spPr>
          <a:xfrm>
            <a:off x="731520" y="5084064"/>
            <a:ext cx="5047488" cy="640080"/>
          </a:xfrm>
          <a:prstGeom prst="rect">
            <a:avLst/>
          </a:prstGeom>
          <a:noFill/>
          <a:ln/>
        </p:spPr>
        <p:txBody>
          <a:bodyPr wrap="square" lIns="0" tIns="0" rIns="0" bIns="0" rtlCol="0" anchor="t"/>
          <a:lstStyle/>
          <a:p>
            <a:pPr algn="l" indent="0" marL="0">
              <a:buNone/>
            </a:pPr>
            <a:r>
              <a:rPr lang="en-US" sz="1250" dirty="0">
                <a:solidFill>
                  <a:srgbClr val="9AA5B4"/>
                </a:solidFill>
                <a:latin typeface="Calibri" pitchFamily="34" charset="0"/>
                <a:ea typeface="Calibri" pitchFamily="34" charset="-122"/>
                <a:cs typeface="Calibri" pitchFamily="34" charset="-120"/>
              </a:rPr>
              <a:t>When l catches r the window is empty — guard so counts can't go negative.</a:t>
            </a:r>
            <a:endParaRPr lang="en-US" sz="1250" dirty="0"/>
          </a:p>
        </p:txBody>
      </p:sp>
      <p:sp>
        <p:nvSpPr>
          <p:cNvPr id="19" name="Shape 17"/>
          <p:cNvSpPr/>
          <p:nvPr/>
        </p:nvSpPr>
        <p:spPr>
          <a:xfrm>
            <a:off x="6153912" y="4581144"/>
            <a:ext cx="5504688" cy="1234440"/>
          </a:xfrm>
          <a:prstGeom prst="roundRect">
            <a:avLst>
              <a:gd name="adj" fmla="val 6667"/>
            </a:avLst>
          </a:prstGeom>
          <a:solidFill>
            <a:srgbClr val="20242E"/>
          </a:solidFill>
          <a:ln w="12700">
            <a:solidFill>
              <a:srgbClr val="2A3140"/>
            </a:solidFill>
            <a:prstDash val="solid"/>
          </a:ln>
        </p:spPr>
      </p:sp>
      <p:sp>
        <p:nvSpPr>
          <p:cNvPr id="20" name="Text 18"/>
          <p:cNvSpPr/>
          <p:nvPr/>
        </p:nvSpPr>
        <p:spPr>
          <a:xfrm>
            <a:off x="6382512" y="4718304"/>
            <a:ext cx="5047488" cy="365760"/>
          </a:xfrm>
          <a:prstGeom prst="rect">
            <a:avLst/>
          </a:prstGeom>
          <a:noFill/>
          <a:ln/>
        </p:spPr>
        <p:txBody>
          <a:bodyPr wrap="square" lIns="0" tIns="0" rIns="0" bIns="0" rtlCol="0" anchor="ctr"/>
          <a:lstStyle/>
          <a:p>
            <a:pPr algn="l" indent="0" marL="0">
              <a:buNone/>
            </a:pPr>
            <a:r>
              <a:rPr lang="en-US" sz="1550" b="1" dirty="0">
                <a:solidFill>
                  <a:srgbClr val="F2B441"/>
                </a:solidFill>
                <a:latin typeface="Calibri" pitchFamily="34" charset="0"/>
                <a:ea typeface="Calibri" pitchFamily="34" charset="-122"/>
                <a:cs typeface="Calibri" pitchFamily="34" charset="-120"/>
              </a:rPr>
              <a:t>Assuming monotonicity</a:t>
            </a:r>
            <a:endParaRPr lang="en-US" sz="1550" dirty="0"/>
          </a:p>
        </p:txBody>
      </p:sp>
      <p:sp>
        <p:nvSpPr>
          <p:cNvPr id="21" name="Text 19"/>
          <p:cNvSpPr/>
          <p:nvPr/>
        </p:nvSpPr>
        <p:spPr>
          <a:xfrm>
            <a:off x="6382512" y="5084064"/>
            <a:ext cx="5047488" cy="640080"/>
          </a:xfrm>
          <a:prstGeom prst="rect">
            <a:avLst/>
          </a:prstGeom>
          <a:noFill/>
          <a:ln/>
        </p:spPr>
        <p:txBody>
          <a:bodyPr wrap="square" lIns="0" tIns="0" rIns="0" bIns="0" rtlCol="0" anchor="t"/>
          <a:lstStyle/>
          <a:p>
            <a:pPr algn="l" indent="0" marL="0">
              <a:buNone/>
            </a:pPr>
            <a:r>
              <a:rPr lang="en-US" sz="1250" dirty="0">
                <a:solidFill>
                  <a:srgbClr val="9AA5B4"/>
                </a:solidFill>
                <a:latin typeface="Calibri" pitchFamily="34" charset="0"/>
                <a:ea typeface="Calibri" pitchFamily="34" charset="-122"/>
                <a:cs typeface="Calibri" pitchFamily="34" charset="-120"/>
              </a:rPr>
              <a:t>Two pointers is only correct when the required edge moves one way. Always be able to state that argument.</a:t>
            </a:r>
            <a:endParaRPr lang="en-US" sz="1250" dirty="0"/>
          </a:p>
        </p:txBody>
      </p:sp>
      <p:sp>
        <p:nvSpPr>
          <p:cNvPr id="22" name="Text 20"/>
          <p:cNvSpPr/>
          <p:nvPr/>
        </p:nvSpPr>
        <p:spPr>
          <a:xfrm>
            <a:off x="502920" y="6455664"/>
            <a:ext cx="5486400" cy="274320"/>
          </a:xfrm>
          <a:prstGeom prst="rect">
            <a:avLst/>
          </a:prstGeom>
          <a:noFill/>
          <a:ln/>
        </p:spPr>
        <p:txBody>
          <a:bodyPr wrap="square" lIns="0" tIns="0" rIns="0" bIns="0" rtlCol="0" anchor="ctr"/>
          <a:lstStyle/>
          <a:p>
            <a:pPr algn="l" indent="0" marL="0">
              <a:buNone/>
            </a:pPr>
            <a:r>
              <a:rPr lang="en-US" sz="1000" dirty="0">
                <a:solidFill>
                  <a:srgbClr val="9AA5B4"/>
                </a:solidFill>
                <a:latin typeface="Calibri" pitchFamily="34" charset="0"/>
                <a:ea typeface="Calibri" pitchFamily="34" charset="-122"/>
                <a:cs typeface="Calibri" pitchFamily="34" charset="-120"/>
              </a:rPr>
              <a:t>Two Pointers &amp; Sliding Window</a:t>
            </a:r>
            <a:endParaRPr lang="en-US" sz="1000" dirty="0"/>
          </a:p>
        </p:txBody>
      </p:sp>
      <p:sp>
        <p:nvSpPr>
          <p:cNvPr id="23" name="Text 21"/>
          <p:cNvSpPr/>
          <p:nvPr/>
        </p:nvSpPr>
        <p:spPr>
          <a:xfrm>
            <a:off x="11228832" y="6455664"/>
            <a:ext cx="457200" cy="274320"/>
          </a:xfrm>
          <a:prstGeom prst="rect">
            <a:avLst/>
          </a:prstGeom>
          <a:noFill/>
          <a:ln/>
        </p:spPr>
        <p:txBody>
          <a:bodyPr wrap="square" lIns="0" tIns="0" rIns="0" bIns="0" rtlCol="0" anchor="ctr"/>
          <a:lstStyle/>
          <a:p>
            <a:pPr algn="r" indent="0" marL="0">
              <a:buNone/>
            </a:pPr>
            <a:r>
              <a:rPr lang="en-US" sz="1000" dirty="0">
                <a:solidFill>
                  <a:srgbClr val="9AA5B4"/>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A1E0B"/>
        </a:solidFill>
      </p:bgPr>
    </p:bg>
    <p:spTree>
      <p:nvGrpSpPr>
        <p:cNvPr id="1" name=""/>
        <p:cNvGrpSpPr/>
        <p:nvPr/>
      </p:nvGrpSpPr>
      <p:grpSpPr>
        <a:xfrm>
          <a:off x="0" y="0"/>
          <a:ext cx="0" cy="0"/>
          <a:chOff x="0" y="0"/>
          <a:chExt cx="0" cy="0"/>
        </a:xfrm>
      </p:grpSpPr>
      <p:sp>
        <p:nvSpPr>
          <p:cNvPr id="2" name="Text 0"/>
          <p:cNvSpPr/>
          <p:nvPr/>
        </p:nvSpPr>
        <p:spPr>
          <a:xfrm>
            <a:off x="502920" y="457200"/>
            <a:ext cx="3657600" cy="292608"/>
          </a:xfrm>
          <a:prstGeom prst="rect">
            <a:avLst/>
          </a:prstGeom>
          <a:noFill/>
          <a:ln/>
        </p:spPr>
        <p:txBody>
          <a:bodyPr wrap="square" lIns="0" tIns="0" rIns="0" bIns="0" rtlCol="0" anchor="ctr"/>
          <a:lstStyle/>
          <a:p>
            <a:pPr algn="l" indent="0" marL="0">
              <a:buNone/>
            </a:pPr>
            <a:r>
              <a:rPr lang="en-US" sz="1200" b="1" spc="300" kern="0" dirty="0">
                <a:solidFill>
                  <a:srgbClr val="F2B441"/>
                </a:solidFill>
                <a:latin typeface="Calibri" pitchFamily="34" charset="0"/>
                <a:ea typeface="Calibri" pitchFamily="34" charset="-122"/>
                <a:cs typeface="Calibri" pitchFamily="34" charset="-120"/>
              </a:rPr>
              <a:t>TOOLKIT · LIMITS</a:t>
            </a:r>
            <a:endParaRPr lang="en-US" sz="1200" dirty="0"/>
          </a:p>
        </p:txBody>
      </p:sp>
      <p:sp>
        <p:nvSpPr>
          <p:cNvPr id="3" name="Text 1"/>
          <p:cNvSpPr/>
          <p:nvPr/>
        </p:nvSpPr>
        <p:spPr>
          <a:xfrm>
            <a:off x="502920" y="777240"/>
            <a:ext cx="11155680" cy="822960"/>
          </a:xfrm>
          <a:prstGeom prst="rect">
            <a:avLst/>
          </a:prstGeom>
          <a:noFill/>
          <a:ln/>
        </p:spPr>
        <p:txBody>
          <a:bodyPr wrap="square" lIns="0" tIns="0" rIns="0" bIns="0" rtlCol="0" anchor="ctr"/>
          <a:lstStyle/>
          <a:p>
            <a:pPr algn="l" indent="0" marL="0">
              <a:buNone/>
            </a:pPr>
            <a:r>
              <a:rPr lang="en-US" sz="3400" b="1" dirty="0">
                <a:solidFill>
                  <a:srgbClr val="EAECEF"/>
                </a:solidFill>
                <a:latin typeface="Cambria" pitchFamily="34" charset="0"/>
                <a:ea typeface="Cambria" pitchFamily="34" charset="-122"/>
                <a:cs typeface="Cambria" pitchFamily="34" charset="-120"/>
              </a:rPr>
              <a:t>When two pointers does NOT apply</a:t>
            </a:r>
            <a:endParaRPr lang="en-US" sz="3400" dirty="0"/>
          </a:p>
        </p:txBody>
      </p:sp>
      <p:sp>
        <p:nvSpPr>
          <p:cNvPr id="4" name="Shape 2"/>
          <p:cNvSpPr/>
          <p:nvPr/>
        </p:nvSpPr>
        <p:spPr>
          <a:xfrm>
            <a:off x="502920" y="1828800"/>
            <a:ext cx="11155680" cy="1371600"/>
          </a:xfrm>
          <a:prstGeom prst="roundRect">
            <a:avLst>
              <a:gd name="adj" fmla="val 6000"/>
            </a:avLst>
          </a:prstGeom>
          <a:solidFill>
            <a:srgbClr val="20242E"/>
          </a:solidFill>
          <a:ln w="12700">
            <a:solidFill>
              <a:srgbClr val="2A3140"/>
            </a:solidFill>
            <a:prstDash val="solid"/>
          </a:ln>
        </p:spPr>
      </p:sp>
      <p:sp>
        <p:nvSpPr>
          <p:cNvPr id="5" name="Text 3"/>
          <p:cNvSpPr/>
          <p:nvPr/>
        </p:nvSpPr>
        <p:spPr>
          <a:xfrm>
            <a:off x="731520" y="1828800"/>
            <a:ext cx="10698480" cy="1371600"/>
          </a:xfrm>
          <a:prstGeom prst="rect">
            <a:avLst/>
          </a:prstGeom>
          <a:noFill/>
          <a:ln/>
        </p:spPr>
        <p:txBody>
          <a:bodyPr wrap="square" lIns="0" tIns="0" rIns="0" bIns="0" rtlCol="0" anchor="ctr"/>
          <a:lstStyle/>
          <a:p>
            <a:pPr algn="l" indent="0" marL="0">
              <a:buNone/>
            </a:pPr>
            <a:r>
              <a:rPr lang="en-US" sz="1700" b="1" dirty="0">
                <a:solidFill>
                  <a:srgbClr val="FF6B6B"/>
                </a:solidFill>
                <a:latin typeface="Calibri" pitchFamily="34" charset="0"/>
                <a:ea typeface="Calibri" pitchFamily="34" charset="-122"/>
                <a:cs typeface="Calibri" pitchFamily="34" charset="-120"/>
              </a:rPr>
              <a:t>The catch:  </a:t>
            </a:r>
            <a:pPr algn="l" indent="0" marL="0">
              <a:buNone/>
            </a:pPr>
            <a:r>
              <a:rPr lang="en-US" sz="1700" dirty="0">
                <a:solidFill>
                  <a:srgbClr val="EAECEF"/>
                </a:solidFill>
                <a:latin typeface="Calibri" pitchFamily="34" charset="0"/>
                <a:ea typeface="Calibri" pitchFamily="34" charset="-122"/>
                <a:cs typeface="Calibri" pitchFamily="34" charset="-120"/>
              </a:rPr>
              <a:t>the technique needs the “required other edge moves one way” property. If it fails, two pointers gives </a:t>
            </a:r>
            <a:pPr algn="l" indent="0" marL="0">
              <a:buNone/>
            </a:pPr>
            <a:r>
              <a:rPr lang="en-US" sz="1700" b="1" dirty="0">
                <a:solidFill>
                  <a:srgbClr val="FF6B6B"/>
                </a:solidFill>
                <a:latin typeface="Calibri" pitchFamily="34" charset="0"/>
                <a:ea typeface="Calibri" pitchFamily="34" charset="-122"/>
                <a:cs typeface="Calibri" pitchFamily="34" charset="-120"/>
              </a:rPr>
              <a:t>wrong answers</a:t>
            </a:r>
            <a:pPr algn="l" indent="0" marL="0">
              <a:buNone/>
            </a:pPr>
            <a:r>
              <a:rPr lang="en-US" sz="1700" dirty="0">
                <a:solidFill>
                  <a:srgbClr val="EAECEF"/>
                </a:solidFill>
                <a:latin typeface="Calibri" pitchFamily="34" charset="0"/>
                <a:ea typeface="Calibri" pitchFamily="34" charset="-122"/>
                <a:cs typeface="Calibri" pitchFamily="34" charset="-120"/>
              </a:rPr>
              <a:t> — not just slow ones.</a:t>
            </a:r>
            <a:endParaRPr lang="en-US" sz="1700" dirty="0"/>
          </a:p>
        </p:txBody>
      </p:sp>
      <p:sp>
        <p:nvSpPr>
          <p:cNvPr id="6" name="Text 4"/>
          <p:cNvSpPr/>
          <p:nvPr/>
        </p:nvSpPr>
        <p:spPr>
          <a:xfrm>
            <a:off x="685800" y="3566160"/>
            <a:ext cx="10972800" cy="2377440"/>
          </a:xfrm>
          <a:prstGeom prst="rect">
            <a:avLst/>
          </a:prstGeom>
          <a:noFill/>
          <a:ln/>
        </p:spPr>
        <p:txBody>
          <a:bodyPr wrap="square" lIns="0" tIns="0" rIns="0" bIns="0" rtlCol="0" anchor="t"/>
          <a:lstStyle/>
          <a:p>
            <a:pPr algn="l" marL="203200" indent="-203200">
              <a:spcAft>
                <a:spcPts val="1200"/>
              </a:spcAft>
              <a:buSzPct val="100000"/>
              <a:buChar char="•"/>
            </a:pPr>
            <a:r>
              <a:rPr lang="en-US" sz="1500" dirty="0">
                <a:solidFill>
                  <a:srgbClr val="EAECEF"/>
                </a:solidFill>
                <a:latin typeface="Calibri" pitchFamily="34" charset="0"/>
                <a:ea typeface="Calibri" pitchFamily="34" charset="-122"/>
                <a:cs typeface="Calibri" pitchFamily="34" charset="-120"/>
              </a:rPr>
              <a:t>Negative numbers break “longest subarray with sum ≤ B” — shrinking the left no longer only lowers the total, so the right edge can need to retreat.</a:t>
            </a:r>
            <a:endParaRPr lang="en-US" sz="1500" dirty="0"/>
          </a:p>
          <a:p>
            <a:pPr algn="l" marL="203200" indent="-203200">
              <a:spcAft>
                <a:spcPts val="1200"/>
              </a:spcAft>
              <a:buSzPct val="100000"/>
              <a:buChar char="•"/>
            </a:pPr>
            <a:r>
              <a:rPr lang="en-US" sz="1500" dirty="0">
                <a:solidFill>
                  <a:srgbClr val="EAECEF"/>
                </a:solidFill>
                <a:latin typeface="Calibri" pitchFamily="34" charset="0"/>
                <a:ea typeface="Calibri" pitchFamily="34" charset="-122"/>
                <a:cs typeface="Calibri" pitchFamily="34" charset="-120"/>
              </a:rPr>
              <a:t>Problems needing the k-th best window, or non-monotone validity, usually want a different tool (prefix sums + binary search, heaps, or divide &amp; conquer).</a:t>
            </a:r>
            <a:endParaRPr lang="en-US" sz="1500" dirty="0"/>
          </a:p>
          <a:p>
            <a:pPr algn="l" marL="203200" indent="-203200">
              <a:spcAft>
                <a:spcPts val="1200"/>
              </a:spcAft>
              <a:buSzPct val="100000"/>
              <a:buChar char="•"/>
            </a:pPr>
            <a:r>
              <a:rPr lang="en-US" sz="1500" dirty="0">
                <a:solidFill>
                  <a:srgbClr val="EAECEF"/>
                </a:solidFill>
                <a:latin typeface="Calibri" pitchFamily="34" charset="0"/>
                <a:ea typeface="Calibri" pitchFamily="34" charset="-122"/>
                <a:cs typeface="Calibri" pitchFamily="34" charset="-120"/>
              </a:rPr>
              <a:t>Always sanity-check the monotonicity claim on paper before trusting the sweep.</a:t>
            </a:r>
            <a:endParaRPr lang="en-US" sz="1500" dirty="0"/>
          </a:p>
        </p:txBody>
      </p:sp>
      <p:sp>
        <p:nvSpPr>
          <p:cNvPr id="7" name="Text 5"/>
          <p:cNvSpPr/>
          <p:nvPr/>
        </p:nvSpPr>
        <p:spPr>
          <a:xfrm>
            <a:off x="502920" y="6455664"/>
            <a:ext cx="5486400" cy="274320"/>
          </a:xfrm>
          <a:prstGeom prst="rect">
            <a:avLst/>
          </a:prstGeom>
          <a:noFill/>
          <a:ln/>
        </p:spPr>
        <p:txBody>
          <a:bodyPr wrap="square" lIns="0" tIns="0" rIns="0" bIns="0" rtlCol="0" anchor="ctr"/>
          <a:lstStyle/>
          <a:p>
            <a:pPr algn="l" indent="0" marL="0">
              <a:buNone/>
            </a:pPr>
            <a:r>
              <a:rPr lang="en-US" sz="1000" dirty="0">
                <a:solidFill>
                  <a:srgbClr val="9AA5B4"/>
                </a:solidFill>
                <a:latin typeface="Calibri" pitchFamily="34" charset="0"/>
                <a:ea typeface="Calibri" pitchFamily="34" charset="-122"/>
                <a:cs typeface="Calibri" pitchFamily="34" charset="-120"/>
              </a:rPr>
              <a:t>Two Pointers &amp; Sliding Window</a:t>
            </a:r>
            <a:endParaRPr lang="en-US" sz="1000" dirty="0"/>
          </a:p>
        </p:txBody>
      </p:sp>
      <p:sp>
        <p:nvSpPr>
          <p:cNvPr id="8" name="Text 6"/>
          <p:cNvSpPr/>
          <p:nvPr/>
        </p:nvSpPr>
        <p:spPr>
          <a:xfrm>
            <a:off x="11228832" y="6455664"/>
            <a:ext cx="457200" cy="274320"/>
          </a:xfrm>
          <a:prstGeom prst="rect">
            <a:avLst/>
          </a:prstGeom>
          <a:noFill/>
          <a:ln/>
        </p:spPr>
        <p:txBody>
          <a:bodyPr wrap="square" lIns="0" tIns="0" rIns="0" bIns="0" rtlCol="0" anchor="ctr"/>
          <a:lstStyle/>
          <a:p>
            <a:pPr algn="r" indent="0" marL="0">
              <a:buNone/>
            </a:pPr>
            <a:r>
              <a:rPr lang="en-US" sz="1000" dirty="0">
                <a:solidFill>
                  <a:srgbClr val="9AA5B4"/>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1118"/>
        </a:solidFill>
      </p:bgPr>
    </p:bg>
    <p:spTree>
      <p:nvGrpSpPr>
        <p:cNvPr id="1" name=""/>
        <p:cNvGrpSpPr/>
        <p:nvPr/>
      </p:nvGrpSpPr>
      <p:grpSpPr>
        <a:xfrm>
          <a:off x="0" y="0"/>
          <a:ext cx="0" cy="0"/>
          <a:chOff x="0" y="0"/>
          <a:chExt cx="0" cy="0"/>
        </a:xfrm>
      </p:grpSpPr>
      <p:sp>
        <p:nvSpPr>
          <p:cNvPr id="2" name="Text 0"/>
          <p:cNvSpPr/>
          <p:nvPr/>
        </p:nvSpPr>
        <p:spPr>
          <a:xfrm>
            <a:off x="822960" y="2377440"/>
            <a:ext cx="5486400" cy="457200"/>
          </a:xfrm>
          <a:prstGeom prst="rect">
            <a:avLst/>
          </a:prstGeom>
          <a:noFill/>
          <a:ln/>
        </p:spPr>
        <p:txBody>
          <a:bodyPr wrap="square" lIns="0" tIns="0" rIns="0" bIns="0" rtlCol="0" anchor="ctr"/>
          <a:lstStyle/>
          <a:p>
            <a:pPr algn="l" indent="0" marL="0">
              <a:buNone/>
            </a:pPr>
            <a:r>
              <a:rPr lang="en-US" sz="1500" b="1" spc="500" kern="0" dirty="0">
                <a:solidFill>
                  <a:srgbClr val="34D8C0"/>
                </a:solidFill>
                <a:latin typeface="Calibri" pitchFamily="34" charset="0"/>
                <a:ea typeface="Calibri" pitchFamily="34" charset="-122"/>
                <a:cs typeface="Calibri" pitchFamily="34" charset="-120"/>
              </a:rPr>
              <a:t>YOUR TURN</a:t>
            </a:r>
            <a:endParaRPr lang="en-US" sz="1500" dirty="0"/>
          </a:p>
        </p:txBody>
      </p:sp>
      <p:sp>
        <p:nvSpPr>
          <p:cNvPr id="3" name="Text 1"/>
          <p:cNvSpPr/>
          <p:nvPr/>
        </p:nvSpPr>
        <p:spPr>
          <a:xfrm>
            <a:off x="777240" y="2880360"/>
            <a:ext cx="10515600" cy="1005840"/>
          </a:xfrm>
          <a:prstGeom prst="rect">
            <a:avLst/>
          </a:prstGeom>
          <a:noFill/>
          <a:ln/>
        </p:spPr>
        <p:txBody>
          <a:bodyPr wrap="square" lIns="0" tIns="0" rIns="0" bIns="0" rtlCol="0" anchor="ctr"/>
          <a:lstStyle/>
          <a:p>
            <a:pPr algn="l" indent="0" marL="0">
              <a:buNone/>
            </a:pPr>
            <a:r>
              <a:rPr lang="en-US" sz="5200" b="1" dirty="0">
                <a:solidFill>
                  <a:srgbClr val="EAECEF"/>
                </a:solidFill>
                <a:latin typeface="Cambria" pitchFamily="34" charset="0"/>
                <a:ea typeface="Cambria" pitchFamily="34" charset="-122"/>
                <a:cs typeface="Cambria" pitchFamily="34" charset="-120"/>
              </a:rPr>
              <a:t>Two Exercises</a:t>
            </a:r>
            <a:endParaRPr lang="en-US" sz="5200" dirty="0"/>
          </a:p>
        </p:txBody>
      </p:sp>
      <p:sp>
        <p:nvSpPr>
          <p:cNvPr id="4" name="Text 2"/>
          <p:cNvSpPr/>
          <p:nvPr/>
        </p:nvSpPr>
        <p:spPr>
          <a:xfrm>
            <a:off x="822960" y="3977640"/>
            <a:ext cx="10241280" cy="822960"/>
          </a:xfrm>
          <a:prstGeom prst="rect">
            <a:avLst/>
          </a:prstGeom>
          <a:noFill/>
          <a:ln/>
        </p:spPr>
        <p:txBody>
          <a:bodyPr wrap="square" lIns="0" tIns="0" rIns="0" bIns="0" rtlCol="0" anchor="t"/>
          <a:lstStyle/>
          <a:p>
            <a:pPr algn="l" indent="0" marL="0">
              <a:buNone/>
            </a:pPr>
            <a:r>
              <a:rPr lang="en-US" sz="1700" dirty="0">
                <a:solidFill>
                  <a:srgbClr val="9AA5B4"/>
                </a:solidFill>
                <a:latin typeface="Calibri" pitchFamily="34" charset="0"/>
                <a:ea typeface="Calibri" pitchFamily="34" charset="-122"/>
                <a:cs typeface="Calibri" pitchFamily="34" charset="-120"/>
              </a:rPr>
              <a:t>One fixed window, one two-pointer sweep. Each ships with 10 test cases — edge cases and a large N to catch an accidental O(N²).</a:t>
            </a:r>
            <a:endParaRPr lang="en-US" sz="1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4171F"/>
        </a:solidFill>
      </p:bgPr>
    </p:bg>
    <p:spTree>
      <p:nvGrpSpPr>
        <p:cNvPr id="1" name=""/>
        <p:cNvGrpSpPr/>
        <p:nvPr/>
      </p:nvGrpSpPr>
      <p:grpSpPr>
        <a:xfrm>
          <a:off x="0" y="0"/>
          <a:ext cx="0" cy="0"/>
          <a:chOff x="0" y="0"/>
          <a:chExt cx="0" cy="0"/>
        </a:xfrm>
      </p:grpSpPr>
      <p:sp>
        <p:nvSpPr>
          <p:cNvPr id="2" name="Text 0"/>
          <p:cNvSpPr/>
          <p:nvPr/>
        </p:nvSpPr>
        <p:spPr>
          <a:xfrm>
            <a:off x="502920" y="457200"/>
            <a:ext cx="3657600" cy="292608"/>
          </a:xfrm>
          <a:prstGeom prst="rect">
            <a:avLst/>
          </a:prstGeom>
          <a:noFill/>
          <a:ln/>
        </p:spPr>
        <p:txBody>
          <a:bodyPr wrap="square" lIns="0" tIns="0" rIns="0" bIns="0" rtlCol="0" anchor="ctr"/>
          <a:lstStyle/>
          <a:p>
            <a:pPr algn="l" indent="0" marL="0">
              <a:buNone/>
            </a:pPr>
            <a:r>
              <a:rPr lang="en-US" sz="1200" b="1" spc="300" kern="0" dirty="0">
                <a:solidFill>
                  <a:srgbClr val="34D8C0"/>
                </a:solidFill>
                <a:latin typeface="Calibri" pitchFamily="34" charset="0"/>
                <a:ea typeface="Calibri" pitchFamily="34" charset="-122"/>
                <a:cs typeface="Calibri" pitchFamily="34" charset="-120"/>
              </a:rPr>
              <a:t>EXERCISE 1 · FIXED WINDOW</a:t>
            </a:r>
            <a:endParaRPr lang="en-US" sz="1200" dirty="0"/>
          </a:p>
        </p:txBody>
      </p:sp>
      <p:sp>
        <p:nvSpPr>
          <p:cNvPr id="3" name="Text 1"/>
          <p:cNvSpPr/>
          <p:nvPr/>
        </p:nvSpPr>
        <p:spPr>
          <a:xfrm>
            <a:off x="502920" y="777240"/>
            <a:ext cx="10972800" cy="822960"/>
          </a:xfrm>
          <a:prstGeom prst="rect">
            <a:avLst/>
          </a:prstGeom>
          <a:noFill/>
          <a:ln/>
        </p:spPr>
        <p:txBody>
          <a:bodyPr wrap="square" lIns="0" tIns="0" rIns="0" bIns="0" rtlCol="0" anchor="ctr"/>
          <a:lstStyle/>
          <a:p>
            <a:pPr algn="l" indent="0" marL="0">
              <a:buNone/>
            </a:pPr>
            <a:r>
              <a:rPr lang="en-US" sz="3400" b="1" dirty="0">
                <a:solidFill>
                  <a:srgbClr val="EAECEF"/>
                </a:solidFill>
                <a:latin typeface="Cambria" pitchFamily="34" charset="0"/>
                <a:ea typeface="Cambria" pitchFamily="34" charset="-122"/>
                <a:cs typeface="Cambria" pitchFamily="34" charset="-120"/>
              </a:rPr>
              <a:t>Assembly Line</a:t>
            </a:r>
            <a:endParaRPr lang="en-US" sz="3400" dirty="0"/>
          </a:p>
        </p:txBody>
      </p:sp>
      <p:sp>
        <p:nvSpPr>
          <p:cNvPr id="4" name="Shape 2"/>
          <p:cNvSpPr/>
          <p:nvPr/>
        </p:nvSpPr>
        <p:spPr>
          <a:xfrm>
            <a:off x="502920" y="1645920"/>
            <a:ext cx="11155680" cy="1051560"/>
          </a:xfrm>
          <a:prstGeom prst="roundRect">
            <a:avLst>
              <a:gd name="adj" fmla="val 7826"/>
            </a:avLst>
          </a:prstGeom>
          <a:solidFill>
            <a:srgbClr val="2A3140"/>
          </a:solidFill>
          <a:ln w="12700">
            <a:solidFill>
              <a:srgbClr val="2A3140"/>
            </a:solidFill>
            <a:prstDash val="solid"/>
          </a:ln>
        </p:spPr>
      </p:sp>
      <p:sp>
        <p:nvSpPr>
          <p:cNvPr id="5" name="Text 3"/>
          <p:cNvSpPr/>
          <p:nvPr/>
        </p:nvSpPr>
        <p:spPr>
          <a:xfrm>
            <a:off x="731520" y="1645920"/>
            <a:ext cx="10698480" cy="1051560"/>
          </a:xfrm>
          <a:prstGeom prst="rect">
            <a:avLst/>
          </a:prstGeom>
          <a:noFill/>
          <a:ln/>
        </p:spPr>
        <p:txBody>
          <a:bodyPr wrap="square" lIns="0" tIns="0" rIns="0" bIns="0" rtlCol="0" anchor="ctr"/>
          <a:lstStyle/>
          <a:p>
            <a:pPr algn="l" indent="0" marL="0">
              <a:buNone/>
            </a:pPr>
            <a:r>
              <a:rPr lang="en-US" sz="1650" b="1" dirty="0">
                <a:solidFill>
                  <a:srgbClr val="34D8C0"/>
                </a:solidFill>
                <a:latin typeface="Calibri" pitchFamily="34" charset="0"/>
                <a:ea typeface="Calibri" pitchFamily="34" charset="-122"/>
                <a:cs typeface="Calibri" pitchFamily="34" charset="-120"/>
              </a:rPr>
              <a:t>Task.  </a:t>
            </a:r>
            <a:pPr algn="l" indent="0" marL="0">
              <a:buNone/>
            </a:pPr>
            <a:r>
              <a:rPr lang="en-US" sz="1650" dirty="0">
                <a:solidFill>
                  <a:srgbClr val="EAECEF"/>
                </a:solidFill>
                <a:latin typeface="Calibri" pitchFamily="34" charset="0"/>
                <a:ea typeface="Calibri" pitchFamily="34" charset="-122"/>
                <a:cs typeface="Calibri" pitchFamily="34" charset="-120"/>
              </a:rPr>
              <a:t>N stations, station i has d[i] defects. Find the smallest total over any K consecutive stations.</a:t>
            </a:r>
            <a:endParaRPr lang="en-US" sz="1650" dirty="0"/>
          </a:p>
        </p:txBody>
      </p:sp>
      <p:sp>
        <p:nvSpPr>
          <p:cNvPr id="6" name="Shape 4"/>
          <p:cNvSpPr/>
          <p:nvPr/>
        </p:nvSpPr>
        <p:spPr>
          <a:xfrm>
            <a:off x="502920" y="2880360"/>
            <a:ext cx="5486400" cy="2468880"/>
          </a:xfrm>
          <a:prstGeom prst="roundRect">
            <a:avLst>
              <a:gd name="adj" fmla="val 2963"/>
            </a:avLst>
          </a:prstGeom>
          <a:solidFill>
            <a:srgbClr val="0E1016"/>
          </a:solidFill>
          <a:ln w="12700">
            <a:solidFill>
              <a:srgbClr val="2A3140"/>
            </a:solidFill>
            <a:prstDash val="solid"/>
          </a:ln>
        </p:spPr>
      </p:sp>
      <p:sp>
        <p:nvSpPr>
          <p:cNvPr id="7" name="Text 5"/>
          <p:cNvSpPr/>
          <p:nvPr/>
        </p:nvSpPr>
        <p:spPr>
          <a:xfrm>
            <a:off x="704088" y="3026664"/>
            <a:ext cx="5084064" cy="2176272"/>
          </a:xfrm>
          <a:prstGeom prst="rect">
            <a:avLst/>
          </a:prstGeom>
          <a:noFill/>
          <a:ln/>
        </p:spPr>
        <p:txBody>
          <a:bodyPr wrap="square" lIns="0" tIns="0" rIns="0" bIns="0" rtlCol="0" anchor="t"/>
          <a:lstStyle/>
          <a:p>
            <a:pPr algn="l" indent="0" marL="0">
              <a:lnSpc>
                <a:spcPct val="102000"/>
              </a:lnSpc>
              <a:buNone/>
            </a:pPr>
            <a:r>
              <a:rPr lang="en-US" sz="1500" dirty="0">
                <a:solidFill>
                  <a:srgbClr val="34D8C0"/>
                </a:solidFill>
                <a:latin typeface="Courier New" pitchFamily="34" charset="0"/>
                <a:ea typeface="Courier New" pitchFamily="34" charset="-122"/>
                <a:cs typeface="Courier New" pitchFamily="34" charset="-120"/>
              </a:rPr>
              <a:t>Input</a:t>
            </a:r>
            <a:endParaRPr lang="en-US" sz="1500" dirty="0"/>
          </a:p>
          <a:p>
            <a:pPr algn="l" indent="0" marL="0">
              <a:lnSpc>
                <a:spcPct val="102000"/>
              </a:lnSpc>
              <a:buNone/>
            </a:pPr>
            <a:r>
              <a:rPr lang="en-US" sz="1500" dirty="0">
                <a:solidFill>
                  <a:srgbClr val="EAECEF"/>
                </a:solidFill>
                <a:latin typeface="Courier New" pitchFamily="34" charset="0"/>
                <a:ea typeface="Courier New" pitchFamily="34" charset="-122"/>
                <a:cs typeface="Courier New" pitchFamily="34" charset="-120"/>
              </a:rPr>
              <a:t>6 3</a:t>
            </a:r>
            <a:endParaRPr lang="en-US" sz="1500" dirty="0"/>
          </a:p>
          <a:p>
            <a:pPr algn="l" indent="0" marL="0">
              <a:lnSpc>
                <a:spcPct val="102000"/>
              </a:lnSpc>
              <a:buNone/>
            </a:pPr>
            <a:r>
              <a:rPr lang="en-US" sz="1500" dirty="0">
                <a:solidFill>
                  <a:srgbClr val="EAECEF"/>
                </a:solidFill>
                <a:latin typeface="Courier New" pitchFamily="34" charset="0"/>
                <a:ea typeface="Courier New" pitchFamily="34" charset="-122"/>
                <a:cs typeface="Courier New" pitchFamily="34" charset="-120"/>
              </a:rPr>
              <a:t>7 2 5 1 4 6</a:t>
            </a:r>
            <a:endParaRPr lang="en-US" sz="1500" dirty="0"/>
          </a:p>
          <a:p>
            <a:pPr algn="l" indent="0" marL="0">
              <a:lnSpc>
                <a:spcPct val="102000"/>
              </a:lnSpc>
              <a:buNone/>
            </a:pPr>
            <a:endParaRPr lang="en-US" sz="1500" dirty="0"/>
          </a:p>
          <a:p>
            <a:pPr algn="l" indent="0" marL="0">
              <a:lnSpc>
                <a:spcPct val="102000"/>
              </a:lnSpc>
              <a:buNone/>
            </a:pPr>
            <a:r>
              <a:rPr lang="en-US" sz="1500" dirty="0">
                <a:solidFill>
                  <a:srgbClr val="34D8C0"/>
                </a:solidFill>
                <a:latin typeface="Courier New" pitchFamily="34" charset="0"/>
                <a:ea typeface="Courier New" pitchFamily="34" charset="-122"/>
                <a:cs typeface="Courier New" pitchFamily="34" charset="-120"/>
              </a:rPr>
              <a:t>Output</a:t>
            </a:r>
            <a:endParaRPr lang="en-US" sz="1500" dirty="0"/>
          </a:p>
          <a:p>
            <a:pPr algn="l" indent="0" marL="0">
              <a:lnSpc>
                <a:spcPct val="102000"/>
              </a:lnSpc>
              <a:buNone/>
            </a:pPr>
            <a:r>
              <a:rPr lang="en-US" sz="1500" dirty="0">
                <a:solidFill>
                  <a:srgbClr val="4ADE80"/>
                </a:solidFill>
                <a:latin typeface="Courier New" pitchFamily="34" charset="0"/>
                <a:ea typeface="Courier New" pitchFamily="34" charset="-122"/>
                <a:cs typeface="Courier New" pitchFamily="34" charset="-120"/>
              </a:rPr>
              <a:t>8</a:t>
            </a:r>
            <a:endParaRPr lang="en-US" sz="1500" dirty="0"/>
          </a:p>
        </p:txBody>
      </p:sp>
      <p:sp>
        <p:nvSpPr>
          <p:cNvPr id="8" name="Text 6"/>
          <p:cNvSpPr/>
          <p:nvPr/>
        </p:nvSpPr>
        <p:spPr>
          <a:xfrm>
            <a:off x="521208" y="5404104"/>
            <a:ext cx="5486400" cy="274320"/>
          </a:xfrm>
          <a:prstGeom prst="rect">
            <a:avLst/>
          </a:prstGeom>
          <a:noFill/>
          <a:ln/>
        </p:spPr>
        <p:txBody>
          <a:bodyPr wrap="square" lIns="0" tIns="0" rIns="0" bIns="0" rtlCol="0" anchor="ctr"/>
          <a:lstStyle/>
          <a:p>
            <a:pPr algn="l" indent="0" marL="0">
              <a:buNone/>
            </a:pPr>
            <a:r>
              <a:rPr lang="en-US" sz="1100" i="1" dirty="0">
                <a:solidFill>
                  <a:srgbClr val="9AA5B4"/>
                </a:solidFill>
                <a:latin typeface="Calibri" pitchFamily="34" charset="0"/>
                <a:ea typeface="Calibri" pitchFamily="34" charset="-122"/>
                <a:cs typeface="Calibri" pitchFamily="34" charset="-120"/>
              </a:rPr>
              <a:t>2+5+1 = 8 is the smallest block of 3.</a:t>
            </a:r>
            <a:endParaRPr lang="en-US" sz="1100" dirty="0"/>
          </a:p>
        </p:txBody>
      </p:sp>
      <p:sp>
        <p:nvSpPr>
          <p:cNvPr id="9" name="Shape 7"/>
          <p:cNvSpPr/>
          <p:nvPr/>
        </p:nvSpPr>
        <p:spPr>
          <a:xfrm>
            <a:off x="6172200" y="2880360"/>
            <a:ext cx="5486400" cy="2468880"/>
          </a:xfrm>
          <a:prstGeom prst="roundRect">
            <a:avLst>
              <a:gd name="adj" fmla="val 3333"/>
            </a:avLst>
          </a:prstGeom>
          <a:solidFill>
            <a:srgbClr val="20242E"/>
          </a:solidFill>
          <a:ln w="12700">
            <a:solidFill>
              <a:srgbClr val="2A3140"/>
            </a:solidFill>
            <a:prstDash val="solid"/>
          </a:ln>
        </p:spPr>
      </p:sp>
      <p:sp>
        <p:nvSpPr>
          <p:cNvPr id="10" name="Text 8"/>
          <p:cNvSpPr/>
          <p:nvPr/>
        </p:nvSpPr>
        <p:spPr>
          <a:xfrm>
            <a:off x="6400800" y="3063240"/>
            <a:ext cx="5029200" cy="365760"/>
          </a:xfrm>
          <a:prstGeom prst="rect">
            <a:avLst/>
          </a:prstGeom>
          <a:noFill/>
          <a:ln/>
        </p:spPr>
        <p:txBody>
          <a:bodyPr wrap="square" lIns="0" tIns="0" rIns="0" bIns="0" rtlCol="0" anchor="ctr"/>
          <a:lstStyle/>
          <a:p>
            <a:pPr algn="l" indent="0" marL="0">
              <a:buNone/>
            </a:pPr>
            <a:r>
              <a:rPr lang="en-US" sz="1500" b="1" dirty="0">
                <a:solidFill>
                  <a:srgbClr val="F2B441"/>
                </a:solidFill>
                <a:latin typeface="Calibri" pitchFamily="34" charset="0"/>
                <a:ea typeface="Calibri" pitchFamily="34" charset="-122"/>
                <a:cs typeface="Calibri" pitchFamily="34" charset="-120"/>
              </a:rPr>
              <a:t>What to practise</a:t>
            </a:r>
            <a:endParaRPr lang="en-US" sz="1500" dirty="0"/>
          </a:p>
        </p:txBody>
      </p:sp>
      <p:sp>
        <p:nvSpPr>
          <p:cNvPr id="11" name="Text 9"/>
          <p:cNvSpPr/>
          <p:nvPr/>
        </p:nvSpPr>
        <p:spPr>
          <a:xfrm>
            <a:off x="6400800" y="3474720"/>
            <a:ext cx="5029200" cy="1828800"/>
          </a:xfrm>
          <a:prstGeom prst="rect">
            <a:avLst/>
          </a:prstGeom>
          <a:noFill/>
          <a:ln/>
        </p:spPr>
        <p:txBody>
          <a:bodyPr wrap="square" lIns="0" tIns="0" rIns="0" bIns="0" rtlCol="0" anchor="t"/>
          <a:lstStyle/>
          <a:p>
            <a:pPr algn="l" marL="203200" indent="-203200">
              <a:spcAft>
                <a:spcPts val="900"/>
              </a:spcAft>
              <a:buSzPct val="100000"/>
              <a:buChar char="•"/>
            </a:pPr>
            <a:r>
              <a:rPr lang="en-US" sz="1400" dirty="0">
                <a:solidFill>
                  <a:srgbClr val="EAECEF"/>
                </a:solidFill>
                <a:latin typeface="Calibri" pitchFamily="34" charset="0"/>
                <a:ea typeface="Calibri" pitchFamily="34" charset="-122"/>
                <a:cs typeface="Calibri" pitchFamily="34" charset="-120"/>
              </a:rPr>
              <a:t>It's Mansion with min instead of max</a:t>
            </a:r>
            <a:endParaRPr lang="en-US" sz="1400" dirty="0"/>
          </a:p>
          <a:p>
            <a:pPr algn="l" marL="203200" indent="-203200">
              <a:spcAft>
                <a:spcPts val="900"/>
              </a:spcAft>
              <a:buSzPct val="100000"/>
              <a:buChar char="•"/>
            </a:pPr>
            <a:r>
              <a:rPr lang="en-US" sz="1400" dirty="0">
                <a:solidFill>
                  <a:srgbClr val="EAECEF"/>
                </a:solidFill>
                <a:latin typeface="Calibri" pitchFamily="34" charset="0"/>
                <a:ea typeface="Calibri" pitchFamily="34" charset="-122"/>
                <a:cs typeface="Calibri" pitchFamily="34" charset="-120"/>
              </a:rPr>
              <a:t>1 ≤ K ≤ N ≤ 10⁵</a:t>
            </a:r>
            <a:endParaRPr lang="en-US" sz="1400" dirty="0"/>
          </a:p>
          <a:p>
            <a:pPr algn="l" marL="203200" indent="-203200">
              <a:spcAft>
                <a:spcPts val="900"/>
              </a:spcAft>
              <a:buSzPct val="100000"/>
              <a:buChar char="•"/>
            </a:pPr>
            <a:r>
              <a:rPr lang="en-US" sz="1400" dirty="0">
                <a:solidFill>
                  <a:srgbClr val="EAECEF"/>
                </a:solidFill>
                <a:latin typeface="Calibri" pitchFamily="34" charset="0"/>
                <a:ea typeface="Calibri" pitchFamily="34" charset="-122"/>
                <a:cs typeface="Calibri" pitchFamily="34" charset="-120"/>
              </a:rPr>
              <a:t>Totals overflow 32-bit → long long</a:t>
            </a:r>
            <a:endParaRPr lang="en-US" sz="1400" dirty="0"/>
          </a:p>
          <a:p>
            <a:pPr algn="l" marL="203200" indent="-203200">
              <a:spcAft>
                <a:spcPts val="900"/>
              </a:spcAft>
              <a:buSzPct val="100000"/>
              <a:buChar char="•"/>
            </a:pPr>
            <a:r>
              <a:rPr lang="en-US" sz="1400" dirty="0">
                <a:solidFill>
                  <a:srgbClr val="EAECEF"/>
                </a:solidFill>
                <a:latin typeface="Calibri" pitchFamily="34" charset="0"/>
                <a:ea typeface="Calibri" pitchFamily="34" charset="-122"/>
                <a:cs typeface="Calibri" pitchFamily="34" charset="-120"/>
              </a:rPr>
              <a:t>Target O(N); the O(NK) brute force times out on test 09</a:t>
            </a:r>
            <a:endParaRPr lang="en-US" sz="1400" dirty="0"/>
          </a:p>
        </p:txBody>
      </p:sp>
      <p:sp>
        <p:nvSpPr>
          <p:cNvPr id="12" name="Text 10"/>
          <p:cNvSpPr/>
          <p:nvPr/>
        </p:nvSpPr>
        <p:spPr>
          <a:xfrm>
            <a:off x="502920" y="6455664"/>
            <a:ext cx="5486400" cy="274320"/>
          </a:xfrm>
          <a:prstGeom prst="rect">
            <a:avLst/>
          </a:prstGeom>
          <a:noFill/>
          <a:ln/>
        </p:spPr>
        <p:txBody>
          <a:bodyPr wrap="square" lIns="0" tIns="0" rIns="0" bIns="0" rtlCol="0" anchor="ctr"/>
          <a:lstStyle/>
          <a:p>
            <a:pPr algn="l" indent="0" marL="0">
              <a:buNone/>
            </a:pPr>
            <a:r>
              <a:rPr lang="en-US" sz="1000" dirty="0">
                <a:solidFill>
                  <a:srgbClr val="9AA5B4"/>
                </a:solidFill>
                <a:latin typeface="Calibri" pitchFamily="34" charset="0"/>
                <a:ea typeface="Calibri" pitchFamily="34" charset="-122"/>
                <a:cs typeface="Calibri" pitchFamily="34" charset="-120"/>
              </a:rPr>
              <a:t>Two Pointers &amp; Sliding Window</a:t>
            </a:r>
            <a:endParaRPr lang="en-US" sz="1000" dirty="0"/>
          </a:p>
        </p:txBody>
      </p:sp>
      <p:sp>
        <p:nvSpPr>
          <p:cNvPr id="13" name="Text 11"/>
          <p:cNvSpPr/>
          <p:nvPr/>
        </p:nvSpPr>
        <p:spPr>
          <a:xfrm>
            <a:off x="11228832" y="6455664"/>
            <a:ext cx="457200" cy="274320"/>
          </a:xfrm>
          <a:prstGeom prst="rect">
            <a:avLst/>
          </a:prstGeom>
          <a:noFill/>
          <a:ln/>
        </p:spPr>
        <p:txBody>
          <a:bodyPr wrap="square" lIns="0" tIns="0" rIns="0" bIns="0" rtlCol="0" anchor="ctr"/>
          <a:lstStyle/>
          <a:p>
            <a:pPr algn="r" indent="0" marL="0">
              <a:buNone/>
            </a:pPr>
            <a:r>
              <a:rPr lang="en-US" sz="1000" dirty="0">
                <a:solidFill>
                  <a:srgbClr val="9AA5B4"/>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4171F"/>
        </a:solidFill>
      </p:bgPr>
    </p:bg>
    <p:spTree>
      <p:nvGrpSpPr>
        <p:cNvPr id="1" name=""/>
        <p:cNvGrpSpPr/>
        <p:nvPr/>
      </p:nvGrpSpPr>
      <p:grpSpPr>
        <a:xfrm>
          <a:off x="0" y="0"/>
          <a:ext cx="0" cy="0"/>
          <a:chOff x="0" y="0"/>
          <a:chExt cx="0" cy="0"/>
        </a:xfrm>
      </p:grpSpPr>
      <p:sp>
        <p:nvSpPr>
          <p:cNvPr id="2" name="Text 0"/>
          <p:cNvSpPr/>
          <p:nvPr/>
        </p:nvSpPr>
        <p:spPr>
          <a:xfrm>
            <a:off x="502920" y="457200"/>
            <a:ext cx="3657600" cy="292608"/>
          </a:xfrm>
          <a:prstGeom prst="rect">
            <a:avLst/>
          </a:prstGeom>
          <a:noFill/>
          <a:ln/>
        </p:spPr>
        <p:txBody>
          <a:bodyPr wrap="square" lIns="0" tIns="0" rIns="0" bIns="0" rtlCol="0" anchor="ctr"/>
          <a:lstStyle/>
          <a:p>
            <a:pPr algn="l" indent="0" marL="0">
              <a:buNone/>
            </a:pPr>
            <a:r>
              <a:rPr lang="en-US" sz="1200" b="1" spc="300" kern="0" dirty="0">
                <a:solidFill>
                  <a:srgbClr val="F2B441"/>
                </a:solidFill>
                <a:latin typeface="Calibri" pitchFamily="34" charset="0"/>
                <a:ea typeface="Calibri" pitchFamily="34" charset="-122"/>
                <a:cs typeface="Calibri" pitchFamily="34" charset="-120"/>
              </a:rPr>
              <a:t>EXERCISE 2 · TWO POINTERS</a:t>
            </a:r>
            <a:endParaRPr lang="en-US" sz="1200" dirty="0"/>
          </a:p>
        </p:txBody>
      </p:sp>
      <p:sp>
        <p:nvSpPr>
          <p:cNvPr id="3" name="Text 1"/>
          <p:cNvSpPr/>
          <p:nvPr/>
        </p:nvSpPr>
        <p:spPr>
          <a:xfrm>
            <a:off x="502920" y="777240"/>
            <a:ext cx="10972800" cy="822960"/>
          </a:xfrm>
          <a:prstGeom prst="rect">
            <a:avLst/>
          </a:prstGeom>
          <a:noFill/>
          <a:ln/>
        </p:spPr>
        <p:txBody>
          <a:bodyPr wrap="square" lIns="0" tIns="0" rIns="0" bIns="0" rtlCol="0" anchor="ctr"/>
          <a:lstStyle/>
          <a:p>
            <a:pPr algn="l" indent="0" marL="0">
              <a:buNone/>
            </a:pPr>
            <a:r>
              <a:rPr lang="en-US" sz="3400" b="1" dirty="0">
                <a:solidFill>
                  <a:srgbClr val="EAECEF"/>
                </a:solidFill>
                <a:latin typeface="Cambria" pitchFamily="34" charset="0"/>
                <a:ea typeface="Cambria" pitchFamily="34" charset="-122"/>
                <a:cs typeface="Cambria" pitchFamily="34" charset="-120"/>
              </a:rPr>
              <a:t>Snack Bar</a:t>
            </a:r>
            <a:endParaRPr lang="en-US" sz="3400" dirty="0"/>
          </a:p>
        </p:txBody>
      </p:sp>
      <p:sp>
        <p:nvSpPr>
          <p:cNvPr id="4" name="Shape 2"/>
          <p:cNvSpPr/>
          <p:nvPr/>
        </p:nvSpPr>
        <p:spPr>
          <a:xfrm>
            <a:off x="502920" y="1645920"/>
            <a:ext cx="11155680" cy="1051560"/>
          </a:xfrm>
          <a:prstGeom prst="roundRect">
            <a:avLst>
              <a:gd name="adj" fmla="val 7826"/>
            </a:avLst>
          </a:prstGeom>
          <a:solidFill>
            <a:srgbClr val="2A3140"/>
          </a:solidFill>
          <a:ln w="12700">
            <a:solidFill>
              <a:srgbClr val="2A3140"/>
            </a:solidFill>
            <a:prstDash val="solid"/>
          </a:ln>
        </p:spPr>
      </p:sp>
      <p:sp>
        <p:nvSpPr>
          <p:cNvPr id="5" name="Text 3"/>
          <p:cNvSpPr/>
          <p:nvPr/>
        </p:nvSpPr>
        <p:spPr>
          <a:xfrm>
            <a:off x="731520" y="1645920"/>
            <a:ext cx="10698480" cy="1051560"/>
          </a:xfrm>
          <a:prstGeom prst="rect">
            <a:avLst/>
          </a:prstGeom>
          <a:noFill/>
          <a:ln/>
        </p:spPr>
        <p:txBody>
          <a:bodyPr wrap="square" lIns="0" tIns="0" rIns="0" bIns="0" rtlCol="0" anchor="ctr"/>
          <a:lstStyle/>
          <a:p>
            <a:pPr algn="l" indent="0" marL="0">
              <a:buNone/>
            </a:pPr>
            <a:r>
              <a:rPr lang="en-US" sz="1650" b="1" dirty="0">
                <a:solidFill>
                  <a:srgbClr val="F2B441"/>
                </a:solidFill>
                <a:latin typeface="Calibri" pitchFamily="34" charset="0"/>
                <a:ea typeface="Calibri" pitchFamily="34" charset="-122"/>
                <a:cs typeface="Calibri" pitchFamily="34" charset="-120"/>
              </a:rPr>
              <a:t>Task.  </a:t>
            </a:r>
            <a:pPr algn="l" indent="0" marL="0">
              <a:buNone/>
            </a:pPr>
            <a:r>
              <a:rPr lang="en-US" sz="1650" dirty="0">
                <a:solidFill>
                  <a:srgbClr val="EAECEF"/>
                </a:solidFill>
                <a:latin typeface="Calibri" pitchFamily="34" charset="0"/>
                <a:ea typeface="Calibri" pitchFamily="34" charset="-122"/>
                <a:cs typeface="Calibri" pitchFamily="34" charset="-120"/>
              </a:rPr>
              <a:t>N items priced p[i], budget B. Buy the longest run of consecutive items with total cost ≤ B.</a:t>
            </a:r>
            <a:endParaRPr lang="en-US" sz="1650" dirty="0"/>
          </a:p>
        </p:txBody>
      </p:sp>
      <p:sp>
        <p:nvSpPr>
          <p:cNvPr id="6" name="Shape 4"/>
          <p:cNvSpPr/>
          <p:nvPr/>
        </p:nvSpPr>
        <p:spPr>
          <a:xfrm>
            <a:off x="502920" y="2880360"/>
            <a:ext cx="5486400" cy="2468880"/>
          </a:xfrm>
          <a:prstGeom prst="roundRect">
            <a:avLst>
              <a:gd name="adj" fmla="val 2963"/>
            </a:avLst>
          </a:prstGeom>
          <a:solidFill>
            <a:srgbClr val="0E1016"/>
          </a:solidFill>
          <a:ln w="12700">
            <a:solidFill>
              <a:srgbClr val="2A3140"/>
            </a:solidFill>
            <a:prstDash val="solid"/>
          </a:ln>
        </p:spPr>
      </p:sp>
      <p:sp>
        <p:nvSpPr>
          <p:cNvPr id="7" name="Text 5"/>
          <p:cNvSpPr/>
          <p:nvPr/>
        </p:nvSpPr>
        <p:spPr>
          <a:xfrm>
            <a:off x="704088" y="3026664"/>
            <a:ext cx="5084064" cy="2176272"/>
          </a:xfrm>
          <a:prstGeom prst="rect">
            <a:avLst/>
          </a:prstGeom>
          <a:noFill/>
          <a:ln/>
        </p:spPr>
        <p:txBody>
          <a:bodyPr wrap="square" lIns="0" tIns="0" rIns="0" bIns="0" rtlCol="0" anchor="t"/>
          <a:lstStyle/>
          <a:p>
            <a:pPr algn="l" indent="0" marL="0">
              <a:lnSpc>
                <a:spcPct val="102000"/>
              </a:lnSpc>
              <a:buNone/>
            </a:pPr>
            <a:r>
              <a:rPr lang="en-US" sz="1500" dirty="0">
                <a:solidFill>
                  <a:srgbClr val="F2B441"/>
                </a:solidFill>
                <a:latin typeface="Courier New" pitchFamily="34" charset="0"/>
                <a:ea typeface="Courier New" pitchFamily="34" charset="-122"/>
                <a:cs typeface="Courier New" pitchFamily="34" charset="-120"/>
              </a:rPr>
              <a:t>Input</a:t>
            </a:r>
            <a:endParaRPr lang="en-US" sz="1500" dirty="0"/>
          </a:p>
          <a:p>
            <a:pPr algn="l" indent="0" marL="0">
              <a:lnSpc>
                <a:spcPct val="102000"/>
              </a:lnSpc>
              <a:buNone/>
            </a:pPr>
            <a:r>
              <a:rPr lang="en-US" sz="1500" dirty="0">
                <a:solidFill>
                  <a:srgbClr val="EAECEF"/>
                </a:solidFill>
                <a:latin typeface="Courier New" pitchFamily="34" charset="0"/>
                <a:ea typeface="Courier New" pitchFamily="34" charset="-122"/>
                <a:cs typeface="Courier New" pitchFamily="34" charset="-120"/>
              </a:rPr>
              <a:t>7 10</a:t>
            </a:r>
            <a:endParaRPr lang="en-US" sz="1500" dirty="0"/>
          </a:p>
          <a:p>
            <a:pPr algn="l" indent="0" marL="0">
              <a:lnSpc>
                <a:spcPct val="102000"/>
              </a:lnSpc>
              <a:buNone/>
            </a:pPr>
            <a:r>
              <a:rPr lang="en-US" sz="1500" dirty="0">
                <a:solidFill>
                  <a:srgbClr val="EAECEF"/>
                </a:solidFill>
                <a:latin typeface="Courier New" pitchFamily="34" charset="0"/>
                <a:ea typeface="Courier New" pitchFamily="34" charset="-122"/>
                <a:cs typeface="Courier New" pitchFamily="34" charset="-120"/>
              </a:rPr>
              <a:t>3 1 4 1 5 9 2</a:t>
            </a:r>
            <a:endParaRPr lang="en-US" sz="1500" dirty="0"/>
          </a:p>
          <a:p>
            <a:pPr algn="l" indent="0" marL="0">
              <a:lnSpc>
                <a:spcPct val="102000"/>
              </a:lnSpc>
              <a:buNone/>
            </a:pPr>
            <a:endParaRPr lang="en-US" sz="1500" dirty="0"/>
          </a:p>
          <a:p>
            <a:pPr algn="l" indent="0" marL="0">
              <a:lnSpc>
                <a:spcPct val="102000"/>
              </a:lnSpc>
              <a:buNone/>
            </a:pPr>
            <a:r>
              <a:rPr lang="en-US" sz="1500" dirty="0">
                <a:solidFill>
                  <a:srgbClr val="F2B441"/>
                </a:solidFill>
                <a:latin typeface="Courier New" pitchFamily="34" charset="0"/>
                <a:ea typeface="Courier New" pitchFamily="34" charset="-122"/>
                <a:cs typeface="Courier New" pitchFamily="34" charset="-120"/>
              </a:rPr>
              <a:t>Output</a:t>
            </a:r>
            <a:endParaRPr lang="en-US" sz="1500" dirty="0"/>
          </a:p>
          <a:p>
            <a:pPr algn="l" indent="0" marL="0">
              <a:lnSpc>
                <a:spcPct val="102000"/>
              </a:lnSpc>
              <a:buNone/>
            </a:pPr>
            <a:r>
              <a:rPr lang="en-US" sz="1500" dirty="0">
                <a:solidFill>
                  <a:srgbClr val="4ADE80"/>
                </a:solidFill>
                <a:latin typeface="Courier New" pitchFamily="34" charset="0"/>
                <a:ea typeface="Courier New" pitchFamily="34" charset="-122"/>
                <a:cs typeface="Courier New" pitchFamily="34" charset="-120"/>
              </a:rPr>
              <a:t>4</a:t>
            </a:r>
            <a:endParaRPr lang="en-US" sz="1500" dirty="0"/>
          </a:p>
        </p:txBody>
      </p:sp>
      <p:sp>
        <p:nvSpPr>
          <p:cNvPr id="8" name="Text 6"/>
          <p:cNvSpPr/>
          <p:nvPr/>
        </p:nvSpPr>
        <p:spPr>
          <a:xfrm>
            <a:off x="521208" y="5404104"/>
            <a:ext cx="5486400" cy="274320"/>
          </a:xfrm>
          <a:prstGeom prst="rect">
            <a:avLst/>
          </a:prstGeom>
          <a:noFill/>
          <a:ln/>
        </p:spPr>
        <p:txBody>
          <a:bodyPr wrap="square" lIns="0" tIns="0" rIns="0" bIns="0" rtlCol="0" anchor="ctr"/>
          <a:lstStyle/>
          <a:p>
            <a:pPr algn="l" indent="0" marL="0">
              <a:buNone/>
            </a:pPr>
            <a:r>
              <a:rPr lang="en-US" sz="1100" i="1" dirty="0">
                <a:solidFill>
                  <a:srgbClr val="9AA5B4"/>
                </a:solidFill>
                <a:latin typeface="Calibri" pitchFamily="34" charset="0"/>
                <a:ea typeface="Calibri" pitchFamily="34" charset="-122"/>
                <a:cs typeface="Calibri" pitchFamily="34" charset="-120"/>
              </a:rPr>
              <a:t>3+1+4+1 = 9 ≤ 10, length 4.</a:t>
            </a:r>
            <a:endParaRPr lang="en-US" sz="1100" dirty="0"/>
          </a:p>
        </p:txBody>
      </p:sp>
      <p:sp>
        <p:nvSpPr>
          <p:cNvPr id="9" name="Shape 7"/>
          <p:cNvSpPr/>
          <p:nvPr/>
        </p:nvSpPr>
        <p:spPr>
          <a:xfrm>
            <a:off x="6172200" y="2880360"/>
            <a:ext cx="5486400" cy="2468880"/>
          </a:xfrm>
          <a:prstGeom prst="roundRect">
            <a:avLst>
              <a:gd name="adj" fmla="val 3333"/>
            </a:avLst>
          </a:prstGeom>
          <a:solidFill>
            <a:srgbClr val="20242E"/>
          </a:solidFill>
          <a:ln w="12700">
            <a:solidFill>
              <a:srgbClr val="2A3140"/>
            </a:solidFill>
            <a:prstDash val="solid"/>
          </a:ln>
        </p:spPr>
      </p:sp>
      <p:sp>
        <p:nvSpPr>
          <p:cNvPr id="10" name="Text 8"/>
          <p:cNvSpPr/>
          <p:nvPr/>
        </p:nvSpPr>
        <p:spPr>
          <a:xfrm>
            <a:off x="6400800" y="3063240"/>
            <a:ext cx="5029200" cy="365760"/>
          </a:xfrm>
          <a:prstGeom prst="rect">
            <a:avLst/>
          </a:prstGeom>
          <a:noFill/>
          <a:ln/>
        </p:spPr>
        <p:txBody>
          <a:bodyPr wrap="square" lIns="0" tIns="0" rIns="0" bIns="0" rtlCol="0" anchor="ctr"/>
          <a:lstStyle/>
          <a:p>
            <a:pPr algn="l" indent="0" marL="0">
              <a:buNone/>
            </a:pPr>
            <a:r>
              <a:rPr lang="en-US" sz="1500" b="1" dirty="0">
                <a:solidFill>
                  <a:srgbClr val="34D8C0"/>
                </a:solidFill>
                <a:latin typeface="Calibri" pitchFamily="34" charset="0"/>
                <a:ea typeface="Calibri" pitchFamily="34" charset="-122"/>
                <a:cs typeface="Calibri" pitchFamily="34" charset="-120"/>
              </a:rPr>
              <a:t>What to practise</a:t>
            </a:r>
            <a:endParaRPr lang="en-US" sz="1500" dirty="0"/>
          </a:p>
        </p:txBody>
      </p:sp>
      <p:sp>
        <p:nvSpPr>
          <p:cNvPr id="11" name="Text 9"/>
          <p:cNvSpPr/>
          <p:nvPr/>
        </p:nvSpPr>
        <p:spPr>
          <a:xfrm>
            <a:off x="6400800" y="3474720"/>
            <a:ext cx="5029200" cy="1828800"/>
          </a:xfrm>
          <a:prstGeom prst="rect">
            <a:avLst/>
          </a:prstGeom>
          <a:noFill/>
          <a:ln/>
        </p:spPr>
        <p:txBody>
          <a:bodyPr wrap="square" lIns="0" tIns="0" rIns="0" bIns="0" rtlCol="0" anchor="t"/>
          <a:lstStyle/>
          <a:p>
            <a:pPr algn="l" marL="203200" indent="-203200">
              <a:spcAft>
                <a:spcPts val="900"/>
              </a:spcAft>
              <a:buSzPct val="100000"/>
              <a:buChar char="•"/>
            </a:pPr>
            <a:r>
              <a:rPr lang="en-US" sz="1400" dirty="0">
                <a:solidFill>
                  <a:srgbClr val="EAECEF"/>
                </a:solidFill>
                <a:latin typeface="Calibri" pitchFamily="34" charset="0"/>
                <a:ea typeface="Calibri" pitchFamily="34" charset="-122"/>
                <a:cs typeface="Calibri" pitchFamily="34" charset="-120"/>
              </a:rPr>
              <a:t>Prices are positive → monotone → two pointers valid</a:t>
            </a:r>
            <a:endParaRPr lang="en-US" sz="1400" dirty="0"/>
          </a:p>
          <a:p>
            <a:pPr algn="l" marL="203200" indent="-203200">
              <a:spcAft>
                <a:spcPts val="900"/>
              </a:spcAft>
              <a:buSzPct val="100000"/>
              <a:buChar char="•"/>
            </a:pPr>
            <a:r>
              <a:rPr lang="en-US" sz="1400" dirty="0">
                <a:solidFill>
                  <a:srgbClr val="EAECEF"/>
                </a:solidFill>
                <a:latin typeface="Calibri" pitchFamily="34" charset="0"/>
                <a:ea typeface="Calibri" pitchFamily="34" charset="-122"/>
                <a:cs typeface="Calibri" pitchFamily="34" charset="-120"/>
              </a:rPr>
              <a:t>Expand r; while over budget, advance l</a:t>
            </a:r>
            <a:endParaRPr lang="en-US" sz="1400" dirty="0"/>
          </a:p>
          <a:p>
            <a:pPr algn="l" marL="203200" indent="-203200">
              <a:spcAft>
                <a:spcPts val="900"/>
              </a:spcAft>
              <a:buSzPct val="100000"/>
              <a:buChar char="•"/>
            </a:pPr>
            <a:r>
              <a:rPr lang="en-US" sz="1400" dirty="0">
                <a:solidFill>
                  <a:srgbClr val="EAECEF"/>
                </a:solidFill>
                <a:latin typeface="Calibri" pitchFamily="34" charset="0"/>
                <a:ea typeface="Calibri" pitchFamily="34" charset="-122"/>
                <a:cs typeface="Calibri" pitchFamily="34" charset="-120"/>
              </a:rPr>
              <a:t>Answer 0 if the first item alone exceeds B</a:t>
            </a:r>
            <a:endParaRPr lang="en-US" sz="1400" dirty="0"/>
          </a:p>
          <a:p>
            <a:pPr algn="l" marL="203200" indent="-203200">
              <a:spcAft>
                <a:spcPts val="900"/>
              </a:spcAft>
              <a:buSzPct val="100000"/>
              <a:buChar char="•"/>
            </a:pPr>
            <a:r>
              <a:rPr lang="en-US" sz="1400" dirty="0">
                <a:solidFill>
                  <a:srgbClr val="EAECEF"/>
                </a:solidFill>
                <a:latin typeface="Calibri" pitchFamily="34" charset="0"/>
                <a:ea typeface="Calibri" pitchFamily="34" charset="-122"/>
                <a:cs typeface="Calibri" pitchFamily="34" charset="-120"/>
              </a:rPr>
              <a:t>Running total overflows 32-bit → long long</a:t>
            </a:r>
            <a:endParaRPr lang="en-US" sz="1400" dirty="0"/>
          </a:p>
        </p:txBody>
      </p:sp>
      <p:sp>
        <p:nvSpPr>
          <p:cNvPr id="12" name="Text 10"/>
          <p:cNvSpPr/>
          <p:nvPr/>
        </p:nvSpPr>
        <p:spPr>
          <a:xfrm>
            <a:off x="502920" y="6455664"/>
            <a:ext cx="5486400" cy="274320"/>
          </a:xfrm>
          <a:prstGeom prst="rect">
            <a:avLst/>
          </a:prstGeom>
          <a:noFill/>
          <a:ln/>
        </p:spPr>
        <p:txBody>
          <a:bodyPr wrap="square" lIns="0" tIns="0" rIns="0" bIns="0" rtlCol="0" anchor="ctr"/>
          <a:lstStyle/>
          <a:p>
            <a:pPr algn="l" indent="0" marL="0">
              <a:buNone/>
            </a:pPr>
            <a:r>
              <a:rPr lang="en-US" sz="1000" dirty="0">
                <a:solidFill>
                  <a:srgbClr val="9AA5B4"/>
                </a:solidFill>
                <a:latin typeface="Calibri" pitchFamily="34" charset="0"/>
                <a:ea typeface="Calibri" pitchFamily="34" charset="-122"/>
                <a:cs typeface="Calibri" pitchFamily="34" charset="-120"/>
              </a:rPr>
              <a:t>Two Pointers &amp; Sliding Window</a:t>
            </a:r>
            <a:endParaRPr lang="en-US" sz="1000" dirty="0"/>
          </a:p>
        </p:txBody>
      </p:sp>
      <p:sp>
        <p:nvSpPr>
          <p:cNvPr id="13" name="Text 11"/>
          <p:cNvSpPr/>
          <p:nvPr/>
        </p:nvSpPr>
        <p:spPr>
          <a:xfrm>
            <a:off x="11228832" y="6455664"/>
            <a:ext cx="457200" cy="274320"/>
          </a:xfrm>
          <a:prstGeom prst="rect">
            <a:avLst/>
          </a:prstGeom>
          <a:noFill/>
          <a:ln/>
        </p:spPr>
        <p:txBody>
          <a:bodyPr wrap="square" lIns="0" tIns="0" rIns="0" bIns="0" rtlCol="0" anchor="ctr"/>
          <a:lstStyle/>
          <a:p>
            <a:pPr algn="r" indent="0" marL="0">
              <a:buNone/>
            </a:pPr>
            <a:r>
              <a:rPr lang="en-US" sz="1000" dirty="0">
                <a:solidFill>
                  <a:srgbClr val="9AA5B4"/>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4171F"/>
        </a:solidFill>
      </p:bgPr>
    </p:bg>
    <p:spTree>
      <p:nvGrpSpPr>
        <p:cNvPr id="1" name=""/>
        <p:cNvGrpSpPr/>
        <p:nvPr/>
      </p:nvGrpSpPr>
      <p:grpSpPr>
        <a:xfrm>
          <a:off x="0" y="0"/>
          <a:ext cx="0" cy="0"/>
          <a:chOff x="0" y="0"/>
          <a:chExt cx="0" cy="0"/>
        </a:xfrm>
      </p:grpSpPr>
      <p:sp>
        <p:nvSpPr>
          <p:cNvPr id="2" name="Text 0"/>
          <p:cNvSpPr/>
          <p:nvPr/>
        </p:nvSpPr>
        <p:spPr>
          <a:xfrm>
            <a:off x="502920" y="457200"/>
            <a:ext cx="3657600" cy="292608"/>
          </a:xfrm>
          <a:prstGeom prst="rect">
            <a:avLst/>
          </a:prstGeom>
          <a:noFill/>
          <a:ln/>
        </p:spPr>
        <p:txBody>
          <a:bodyPr wrap="square" lIns="0" tIns="0" rIns="0" bIns="0" rtlCol="0" anchor="ctr"/>
          <a:lstStyle/>
          <a:p>
            <a:pPr algn="l" indent="0" marL="0">
              <a:buNone/>
            </a:pPr>
            <a:r>
              <a:rPr lang="en-US" sz="1200" b="1" spc="300" kern="0" dirty="0">
                <a:solidFill>
                  <a:srgbClr val="34D8C0"/>
                </a:solidFill>
                <a:latin typeface="Calibri" pitchFamily="34" charset="0"/>
                <a:ea typeface="Calibri" pitchFamily="34" charset="-122"/>
                <a:cs typeface="Calibri" pitchFamily="34" charset="-120"/>
              </a:rPr>
              <a:t>IF YOU'RE STUCK</a:t>
            </a:r>
            <a:endParaRPr lang="en-US" sz="1200" dirty="0"/>
          </a:p>
        </p:txBody>
      </p:sp>
      <p:sp>
        <p:nvSpPr>
          <p:cNvPr id="3" name="Text 1"/>
          <p:cNvSpPr/>
          <p:nvPr/>
        </p:nvSpPr>
        <p:spPr>
          <a:xfrm>
            <a:off x="502920" y="777240"/>
            <a:ext cx="10972800" cy="822960"/>
          </a:xfrm>
          <a:prstGeom prst="rect">
            <a:avLst/>
          </a:prstGeom>
          <a:noFill/>
          <a:ln/>
        </p:spPr>
        <p:txBody>
          <a:bodyPr wrap="square" lIns="0" tIns="0" rIns="0" bIns="0" rtlCol="0" anchor="ctr"/>
          <a:lstStyle/>
          <a:p>
            <a:pPr algn="l" indent="0" marL="0">
              <a:buNone/>
            </a:pPr>
            <a:r>
              <a:rPr lang="en-US" sz="3400" b="1" dirty="0">
                <a:solidFill>
                  <a:srgbClr val="EAECEF"/>
                </a:solidFill>
                <a:latin typeface="Cambria" pitchFamily="34" charset="0"/>
                <a:ea typeface="Cambria" pitchFamily="34" charset="-122"/>
                <a:cs typeface="Cambria" pitchFamily="34" charset="-120"/>
              </a:rPr>
              <a:t>Hints — peek only when needed</a:t>
            </a:r>
            <a:endParaRPr lang="en-US" sz="3400" dirty="0"/>
          </a:p>
        </p:txBody>
      </p:sp>
      <p:sp>
        <p:nvSpPr>
          <p:cNvPr id="4" name="Shape 2"/>
          <p:cNvSpPr/>
          <p:nvPr/>
        </p:nvSpPr>
        <p:spPr>
          <a:xfrm>
            <a:off x="502920" y="1874520"/>
            <a:ext cx="11155680" cy="1188720"/>
          </a:xfrm>
          <a:prstGeom prst="roundRect">
            <a:avLst>
              <a:gd name="adj" fmla="val 6923"/>
            </a:avLst>
          </a:prstGeom>
          <a:solidFill>
            <a:srgbClr val="20242E"/>
          </a:solidFill>
          <a:ln w="12700">
            <a:solidFill>
              <a:srgbClr val="2A3140"/>
            </a:solidFill>
            <a:prstDash val="solid"/>
          </a:ln>
        </p:spPr>
      </p:sp>
      <p:sp>
        <p:nvSpPr>
          <p:cNvPr id="5" name="Shape 3"/>
          <p:cNvSpPr/>
          <p:nvPr/>
        </p:nvSpPr>
        <p:spPr>
          <a:xfrm>
            <a:off x="713232" y="2130552"/>
            <a:ext cx="182880" cy="676656"/>
          </a:xfrm>
          <a:prstGeom prst="roundRect">
            <a:avLst>
              <a:gd name="adj" fmla="val 25000"/>
            </a:avLst>
          </a:prstGeom>
          <a:solidFill>
            <a:srgbClr val="34D8C0"/>
          </a:solidFill>
          <a:ln/>
        </p:spPr>
      </p:sp>
      <p:sp>
        <p:nvSpPr>
          <p:cNvPr id="6" name="Text 4"/>
          <p:cNvSpPr/>
          <p:nvPr/>
        </p:nvSpPr>
        <p:spPr>
          <a:xfrm>
            <a:off x="1051560" y="2057400"/>
            <a:ext cx="2743200" cy="822960"/>
          </a:xfrm>
          <a:prstGeom prst="rect">
            <a:avLst/>
          </a:prstGeom>
          <a:noFill/>
          <a:ln/>
        </p:spPr>
        <p:txBody>
          <a:bodyPr wrap="square" lIns="0" tIns="0" rIns="0" bIns="0" rtlCol="0" anchor="ctr"/>
          <a:lstStyle/>
          <a:p>
            <a:pPr algn="l" indent="0" marL="0">
              <a:buNone/>
            </a:pPr>
            <a:r>
              <a:rPr lang="en-US" sz="1700" b="1" dirty="0">
                <a:solidFill>
                  <a:srgbClr val="34D8C0"/>
                </a:solidFill>
                <a:latin typeface="Calibri" pitchFamily="34" charset="0"/>
                <a:ea typeface="Calibri" pitchFamily="34" charset="-122"/>
                <a:cs typeface="Calibri" pitchFamily="34" charset="-120"/>
              </a:rPr>
              <a:t>Assembly Line</a:t>
            </a:r>
            <a:endParaRPr lang="en-US" sz="1700" dirty="0"/>
          </a:p>
        </p:txBody>
      </p:sp>
      <p:sp>
        <p:nvSpPr>
          <p:cNvPr id="7" name="Text 5"/>
          <p:cNvSpPr/>
          <p:nvPr/>
        </p:nvSpPr>
        <p:spPr>
          <a:xfrm>
            <a:off x="3840480" y="2039112"/>
            <a:ext cx="7589520" cy="868680"/>
          </a:xfrm>
          <a:prstGeom prst="rect">
            <a:avLst/>
          </a:prstGeom>
          <a:noFill/>
          <a:ln/>
        </p:spPr>
        <p:txBody>
          <a:bodyPr wrap="square" lIns="0" tIns="0" rIns="0" bIns="0" rtlCol="0" anchor="ctr"/>
          <a:lstStyle/>
          <a:p>
            <a:pPr algn="l" indent="0" marL="0">
              <a:buNone/>
            </a:pPr>
            <a:r>
              <a:rPr lang="en-US" sz="1450" dirty="0">
                <a:solidFill>
                  <a:srgbClr val="EAECEF"/>
                </a:solidFill>
                <a:latin typeface="Calibri" pitchFamily="34" charset="0"/>
                <a:ea typeface="Calibri" pitchFamily="34" charset="-122"/>
                <a:cs typeface="Calibri" pitchFamily="34" charset="-120"/>
              </a:rPr>
              <a:t>Sum the first K. Then for each next station: window += d[i] - d[i-K]; keep the min. No inner loop.</a:t>
            </a:r>
            <a:endParaRPr lang="en-US" sz="1450" dirty="0"/>
          </a:p>
        </p:txBody>
      </p:sp>
      <p:sp>
        <p:nvSpPr>
          <p:cNvPr id="8" name="Shape 6"/>
          <p:cNvSpPr/>
          <p:nvPr/>
        </p:nvSpPr>
        <p:spPr>
          <a:xfrm>
            <a:off x="502920" y="3246120"/>
            <a:ext cx="11155680" cy="1188720"/>
          </a:xfrm>
          <a:prstGeom prst="roundRect">
            <a:avLst>
              <a:gd name="adj" fmla="val 6923"/>
            </a:avLst>
          </a:prstGeom>
          <a:solidFill>
            <a:srgbClr val="20242E"/>
          </a:solidFill>
          <a:ln w="12700">
            <a:solidFill>
              <a:srgbClr val="2A3140"/>
            </a:solidFill>
            <a:prstDash val="solid"/>
          </a:ln>
        </p:spPr>
      </p:sp>
      <p:sp>
        <p:nvSpPr>
          <p:cNvPr id="9" name="Shape 7"/>
          <p:cNvSpPr/>
          <p:nvPr/>
        </p:nvSpPr>
        <p:spPr>
          <a:xfrm>
            <a:off x="713232" y="3502152"/>
            <a:ext cx="182880" cy="676656"/>
          </a:xfrm>
          <a:prstGeom prst="roundRect">
            <a:avLst>
              <a:gd name="adj" fmla="val 25000"/>
            </a:avLst>
          </a:prstGeom>
          <a:solidFill>
            <a:srgbClr val="F2B441"/>
          </a:solidFill>
          <a:ln/>
        </p:spPr>
      </p:sp>
      <p:sp>
        <p:nvSpPr>
          <p:cNvPr id="10" name="Text 8"/>
          <p:cNvSpPr/>
          <p:nvPr/>
        </p:nvSpPr>
        <p:spPr>
          <a:xfrm>
            <a:off x="1051560" y="3429000"/>
            <a:ext cx="2743200" cy="822960"/>
          </a:xfrm>
          <a:prstGeom prst="rect">
            <a:avLst/>
          </a:prstGeom>
          <a:noFill/>
          <a:ln/>
        </p:spPr>
        <p:txBody>
          <a:bodyPr wrap="square" lIns="0" tIns="0" rIns="0" bIns="0" rtlCol="0" anchor="ctr"/>
          <a:lstStyle/>
          <a:p>
            <a:pPr algn="l" indent="0" marL="0">
              <a:buNone/>
            </a:pPr>
            <a:r>
              <a:rPr lang="en-US" sz="1700" b="1" dirty="0">
                <a:solidFill>
                  <a:srgbClr val="F2B441"/>
                </a:solidFill>
                <a:latin typeface="Calibri" pitchFamily="34" charset="0"/>
                <a:ea typeface="Calibri" pitchFamily="34" charset="-122"/>
                <a:cs typeface="Calibri" pitchFamily="34" charset="-120"/>
              </a:rPr>
              <a:t>Snack Bar</a:t>
            </a:r>
            <a:endParaRPr lang="en-US" sz="1700" dirty="0"/>
          </a:p>
        </p:txBody>
      </p:sp>
      <p:sp>
        <p:nvSpPr>
          <p:cNvPr id="11" name="Text 9"/>
          <p:cNvSpPr/>
          <p:nvPr/>
        </p:nvSpPr>
        <p:spPr>
          <a:xfrm>
            <a:off x="3840480" y="3410712"/>
            <a:ext cx="7589520" cy="868680"/>
          </a:xfrm>
          <a:prstGeom prst="rect">
            <a:avLst/>
          </a:prstGeom>
          <a:noFill/>
          <a:ln/>
        </p:spPr>
        <p:txBody>
          <a:bodyPr wrap="square" lIns="0" tIns="0" rIns="0" bIns="0" rtlCol="0" anchor="ctr"/>
          <a:lstStyle/>
          <a:p>
            <a:pPr algn="l" indent="0" marL="0">
              <a:buNone/>
            </a:pPr>
            <a:r>
              <a:rPr lang="en-US" sz="1450" dirty="0">
                <a:solidFill>
                  <a:srgbClr val="EAECEF"/>
                </a:solidFill>
                <a:latin typeface="Calibri" pitchFamily="34" charset="0"/>
                <a:ea typeface="Calibri" pitchFamily="34" charset="-122"/>
                <a:cs typeface="Calibri" pitchFamily="34" charset="-120"/>
              </a:rPr>
              <a:t>Keep a running sum and a left index l. Add p[r]; while sum &gt; B, subtract p[l] and l++. Best length = r - l + 1.</a:t>
            </a:r>
            <a:endParaRPr lang="en-US" sz="1450" dirty="0"/>
          </a:p>
        </p:txBody>
      </p:sp>
      <p:sp>
        <p:nvSpPr>
          <p:cNvPr id="12" name="Shape 10"/>
          <p:cNvSpPr/>
          <p:nvPr/>
        </p:nvSpPr>
        <p:spPr>
          <a:xfrm>
            <a:off x="502920" y="4617720"/>
            <a:ext cx="11155680" cy="1188720"/>
          </a:xfrm>
          <a:prstGeom prst="roundRect">
            <a:avLst>
              <a:gd name="adj" fmla="val 6923"/>
            </a:avLst>
          </a:prstGeom>
          <a:solidFill>
            <a:srgbClr val="20242E"/>
          </a:solidFill>
          <a:ln w="12700">
            <a:solidFill>
              <a:srgbClr val="2A3140"/>
            </a:solidFill>
            <a:prstDash val="solid"/>
          </a:ln>
        </p:spPr>
      </p:sp>
      <p:sp>
        <p:nvSpPr>
          <p:cNvPr id="13" name="Shape 11"/>
          <p:cNvSpPr/>
          <p:nvPr/>
        </p:nvSpPr>
        <p:spPr>
          <a:xfrm>
            <a:off x="713232" y="4873752"/>
            <a:ext cx="182880" cy="676656"/>
          </a:xfrm>
          <a:prstGeom prst="roundRect">
            <a:avLst>
              <a:gd name="adj" fmla="val 25000"/>
            </a:avLst>
          </a:prstGeom>
          <a:solidFill>
            <a:srgbClr val="4ADE80"/>
          </a:solidFill>
          <a:ln/>
        </p:spPr>
      </p:sp>
      <p:sp>
        <p:nvSpPr>
          <p:cNvPr id="14" name="Text 12"/>
          <p:cNvSpPr/>
          <p:nvPr/>
        </p:nvSpPr>
        <p:spPr>
          <a:xfrm>
            <a:off x="1051560" y="4800600"/>
            <a:ext cx="2743200" cy="822960"/>
          </a:xfrm>
          <a:prstGeom prst="rect">
            <a:avLst/>
          </a:prstGeom>
          <a:noFill/>
          <a:ln/>
        </p:spPr>
        <p:txBody>
          <a:bodyPr wrap="square" lIns="0" tIns="0" rIns="0" bIns="0" rtlCol="0" anchor="ctr"/>
          <a:lstStyle/>
          <a:p>
            <a:pPr algn="l" indent="0" marL="0">
              <a:buNone/>
            </a:pPr>
            <a:r>
              <a:rPr lang="en-US" sz="1700" b="1" dirty="0">
                <a:solidFill>
                  <a:srgbClr val="4ADE80"/>
                </a:solidFill>
                <a:latin typeface="Calibri" pitchFamily="34" charset="0"/>
                <a:ea typeface="Calibri" pitchFamily="34" charset="-122"/>
                <a:cs typeface="Calibri" pitchFamily="34" charset="-120"/>
              </a:rPr>
              <a:t>Both</a:t>
            </a:r>
            <a:endParaRPr lang="en-US" sz="1700" dirty="0"/>
          </a:p>
        </p:txBody>
      </p:sp>
      <p:sp>
        <p:nvSpPr>
          <p:cNvPr id="15" name="Text 13"/>
          <p:cNvSpPr/>
          <p:nvPr/>
        </p:nvSpPr>
        <p:spPr>
          <a:xfrm>
            <a:off x="3840480" y="4782312"/>
            <a:ext cx="7589520" cy="868680"/>
          </a:xfrm>
          <a:prstGeom prst="rect">
            <a:avLst/>
          </a:prstGeom>
          <a:noFill/>
          <a:ln/>
        </p:spPr>
        <p:txBody>
          <a:bodyPr wrap="square" lIns="0" tIns="0" rIns="0" bIns="0" rtlCol="0" anchor="ctr"/>
          <a:lstStyle/>
          <a:p>
            <a:pPr algn="l" indent="0" marL="0">
              <a:buNone/>
            </a:pPr>
            <a:r>
              <a:rPr lang="en-US" sz="1450" dirty="0">
                <a:solidFill>
                  <a:srgbClr val="EAECEF"/>
                </a:solidFill>
                <a:latin typeface="Calibri" pitchFamily="34" charset="0"/>
                <a:ea typeface="Calibri" pitchFamily="34" charset="-122"/>
                <a:cs typeface="Calibri" pitchFamily="34" charset="-120"/>
              </a:rPr>
              <a:t>If you wrote two nested loops that each run to N, step back — the second pointer should carry over, not restart.</a:t>
            </a:r>
            <a:endParaRPr lang="en-US" sz="1450" dirty="0"/>
          </a:p>
        </p:txBody>
      </p:sp>
      <p:sp>
        <p:nvSpPr>
          <p:cNvPr id="16" name="Text 14"/>
          <p:cNvSpPr/>
          <p:nvPr/>
        </p:nvSpPr>
        <p:spPr>
          <a:xfrm>
            <a:off x="502920" y="6455664"/>
            <a:ext cx="5486400" cy="274320"/>
          </a:xfrm>
          <a:prstGeom prst="rect">
            <a:avLst/>
          </a:prstGeom>
          <a:noFill/>
          <a:ln/>
        </p:spPr>
        <p:txBody>
          <a:bodyPr wrap="square" lIns="0" tIns="0" rIns="0" bIns="0" rtlCol="0" anchor="ctr"/>
          <a:lstStyle/>
          <a:p>
            <a:pPr algn="l" indent="0" marL="0">
              <a:buNone/>
            </a:pPr>
            <a:r>
              <a:rPr lang="en-US" sz="1000" dirty="0">
                <a:solidFill>
                  <a:srgbClr val="9AA5B4"/>
                </a:solidFill>
                <a:latin typeface="Calibri" pitchFamily="34" charset="0"/>
                <a:ea typeface="Calibri" pitchFamily="34" charset="-122"/>
                <a:cs typeface="Calibri" pitchFamily="34" charset="-120"/>
              </a:rPr>
              <a:t>Two Pointers &amp; Sliding Window</a:t>
            </a:r>
            <a:endParaRPr lang="en-US" sz="1000" dirty="0"/>
          </a:p>
        </p:txBody>
      </p:sp>
      <p:sp>
        <p:nvSpPr>
          <p:cNvPr id="17" name="Text 15"/>
          <p:cNvSpPr/>
          <p:nvPr/>
        </p:nvSpPr>
        <p:spPr>
          <a:xfrm>
            <a:off x="11228832" y="6455664"/>
            <a:ext cx="457200" cy="274320"/>
          </a:xfrm>
          <a:prstGeom prst="rect">
            <a:avLst/>
          </a:prstGeom>
          <a:noFill/>
          <a:ln/>
        </p:spPr>
        <p:txBody>
          <a:bodyPr wrap="square" lIns="0" tIns="0" rIns="0" bIns="0" rtlCol="0" anchor="ctr"/>
          <a:lstStyle/>
          <a:p>
            <a:pPr algn="r" indent="0" marL="0">
              <a:buNone/>
            </a:pPr>
            <a:r>
              <a:rPr lang="en-US" sz="1000" dirty="0">
                <a:solidFill>
                  <a:srgbClr val="9AA5B4"/>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0251F"/>
        </a:solidFill>
      </p:bgPr>
    </p:bg>
    <p:spTree>
      <p:nvGrpSpPr>
        <p:cNvPr id="1" name=""/>
        <p:cNvGrpSpPr/>
        <p:nvPr/>
      </p:nvGrpSpPr>
      <p:grpSpPr>
        <a:xfrm>
          <a:off x="0" y="0"/>
          <a:ext cx="0" cy="0"/>
          <a:chOff x="0" y="0"/>
          <a:chExt cx="0" cy="0"/>
        </a:xfrm>
      </p:grpSpPr>
      <p:sp>
        <p:nvSpPr>
          <p:cNvPr id="2" name="Text 0"/>
          <p:cNvSpPr/>
          <p:nvPr/>
        </p:nvSpPr>
        <p:spPr>
          <a:xfrm>
            <a:off x="502920" y="457200"/>
            <a:ext cx="3657600" cy="292608"/>
          </a:xfrm>
          <a:prstGeom prst="rect">
            <a:avLst/>
          </a:prstGeom>
          <a:noFill/>
          <a:ln/>
        </p:spPr>
        <p:txBody>
          <a:bodyPr wrap="square" lIns="0" tIns="0" rIns="0" bIns="0" rtlCol="0" anchor="ctr"/>
          <a:lstStyle/>
          <a:p>
            <a:pPr algn="l" indent="0" marL="0">
              <a:buNone/>
            </a:pPr>
            <a:r>
              <a:rPr lang="en-US" sz="1200" b="1" spc="300" kern="0" dirty="0">
                <a:solidFill>
                  <a:srgbClr val="34D8C0"/>
                </a:solidFill>
                <a:latin typeface="Calibri" pitchFamily="34" charset="0"/>
                <a:ea typeface="Calibri" pitchFamily="34" charset="-122"/>
                <a:cs typeface="Calibri" pitchFamily="34" charset="-120"/>
              </a:rPr>
              <a:t>RECAP</a:t>
            </a:r>
            <a:endParaRPr lang="en-US" sz="1200" dirty="0"/>
          </a:p>
        </p:txBody>
      </p:sp>
      <p:sp>
        <p:nvSpPr>
          <p:cNvPr id="3" name="Text 1"/>
          <p:cNvSpPr/>
          <p:nvPr/>
        </p:nvSpPr>
        <p:spPr>
          <a:xfrm>
            <a:off x="502920" y="777240"/>
            <a:ext cx="10972800" cy="822960"/>
          </a:xfrm>
          <a:prstGeom prst="rect">
            <a:avLst/>
          </a:prstGeom>
          <a:noFill/>
          <a:ln/>
        </p:spPr>
        <p:txBody>
          <a:bodyPr wrap="square" lIns="0" tIns="0" rIns="0" bIns="0" rtlCol="0" anchor="ctr"/>
          <a:lstStyle/>
          <a:p>
            <a:pPr algn="l" indent="0" marL="0">
              <a:buNone/>
            </a:pPr>
            <a:r>
              <a:rPr lang="en-US" sz="3400" b="1" dirty="0">
                <a:solidFill>
                  <a:srgbClr val="EAECEF"/>
                </a:solidFill>
                <a:latin typeface="Cambria" pitchFamily="34" charset="0"/>
                <a:ea typeface="Cambria" pitchFamily="34" charset="-122"/>
                <a:cs typeface="Cambria" pitchFamily="34" charset="-120"/>
              </a:rPr>
              <a:t>The one-page cheat sheet</a:t>
            </a:r>
            <a:endParaRPr lang="en-US" sz="3400" dirty="0"/>
          </a:p>
        </p:txBody>
      </p:sp>
      <p:sp>
        <p:nvSpPr>
          <p:cNvPr id="4" name="Text 2"/>
          <p:cNvSpPr/>
          <p:nvPr/>
        </p:nvSpPr>
        <p:spPr>
          <a:xfrm>
            <a:off x="640080" y="1783080"/>
            <a:ext cx="2468880" cy="512064"/>
          </a:xfrm>
          <a:prstGeom prst="rect">
            <a:avLst/>
          </a:prstGeom>
          <a:noFill/>
          <a:ln/>
        </p:spPr>
        <p:txBody>
          <a:bodyPr wrap="square" lIns="0" tIns="0" rIns="0" bIns="0" rtlCol="0" anchor="ctr"/>
          <a:lstStyle/>
          <a:p>
            <a:pPr algn="l" indent="0" marL="0">
              <a:buNone/>
            </a:pPr>
            <a:endParaRPr lang="en-US" sz="1350" dirty="0"/>
          </a:p>
        </p:txBody>
      </p:sp>
      <p:sp>
        <p:nvSpPr>
          <p:cNvPr id="5" name="Text 3"/>
          <p:cNvSpPr/>
          <p:nvPr/>
        </p:nvSpPr>
        <p:spPr>
          <a:xfrm>
            <a:off x="2971800" y="1783080"/>
            <a:ext cx="4343400" cy="512064"/>
          </a:xfrm>
          <a:prstGeom prst="rect">
            <a:avLst/>
          </a:prstGeom>
          <a:noFill/>
          <a:ln/>
        </p:spPr>
        <p:txBody>
          <a:bodyPr wrap="square" lIns="0" tIns="0" rIns="0" bIns="0" rtlCol="0" anchor="ctr"/>
          <a:lstStyle/>
          <a:p>
            <a:pPr algn="l" indent="0" marL="0">
              <a:buNone/>
            </a:pPr>
            <a:r>
              <a:rPr lang="en-US" sz="1500" b="1" dirty="0">
                <a:solidFill>
                  <a:srgbClr val="34D8C0"/>
                </a:solidFill>
                <a:latin typeface="Calibri" pitchFamily="34" charset="0"/>
                <a:ea typeface="Calibri" pitchFamily="34" charset="-122"/>
                <a:cs typeface="Calibri" pitchFamily="34" charset="-120"/>
              </a:rPr>
              <a:t>Fixed window</a:t>
            </a:r>
            <a:endParaRPr lang="en-US" sz="1500" dirty="0"/>
          </a:p>
        </p:txBody>
      </p:sp>
      <p:sp>
        <p:nvSpPr>
          <p:cNvPr id="6" name="Text 4"/>
          <p:cNvSpPr/>
          <p:nvPr/>
        </p:nvSpPr>
        <p:spPr>
          <a:xfrm>
            <a:off x="7315200" y="1783080"/>
            <a:ext cx="4343400" cy="512064"/>
          </a:xfrm>
          <a:prstGeom prst="rect">
            <a:avLst/>
          </a:prstGeom>
          <a:noFill/>
          <a:ln/>
        </p:spPr>
        <p:txBody>
          <a:bodyPr wrap="square" lIns="0" tIns="0" rIns="0" bIns="0" rtlCol="0" anchor="ctr"/>
          <a:lstStyle/>
          <a:p>
            <a:pPr algn="l" indent="0" marL="0">
              <a:buNone/>
            </a:pPr>
            <a:r>
              <a:rPr lang="en-US" sz="1500" b="1" dirty="0">
                <a:solidFill>
                  <a:srgbClr val="F2B441"/>
                </a:solidFill>
                <a:latin typeface="Calibri" pitchFamily="34" charset="0"/>
                <a:ea typeface="Calibri" pitchFamily="34" charset="-122"/>
                <a:cs typeface="Calibri" pitchFamily="34" charset="-120"/>
              </a:rPr>
              <a:t>Two pointers</a:t>
            </a:r>
            <a:endParaRPr lang="en-US" sz="1500" dirty="0"/>
          </a:p>
        </p:txBody>
      </p:sp>
      <p:sp>
        <p:nvSpPr>
          <p:cNvPr id="7" name="Text 5"/>
          <p:cNvSpPr/>
          <p:nvPr/>
        </p:nvSpPr>
        <p:spPr>
          <a:xfrm>
            <a:off x="640080" y="2295144"/>
            <a:ext cx="2468880" cy="512064"/>
          </a:xfrm>
          <a:prstGeom prst="rect">
            <a:avLst/>
          </a:prstGeom>
          <a:noFill/>
          <a:ln/>
        </p:spPr>
        <p:txBody>
          <a:bodyPr wrap="square" lIns="0" tIns="0" rIns="0" bIns="0" rtlCol="0" anchor="ctr"/>
          <a:lstStyle/>
          <a:p>
            <a:pPr algn="l" indent="0" marL="0">
              <a:buNone/>
            </a:pPr>
            <a:r>
              <a:rPr lang="en-US" sz="1350" b="1" dirty="0">
                <a:solidFill>
                  <a:srgbClr val="9AA5B4"/>
                </a:solidFill>
                <a:latin typeface="Calibri" pitchFamily="34" charset="0"/>
                <a:ea typeface="Calibri" pitchFamily="34" charset="-122"/>
                <a:cs typeface="Calibri" pitchFamily="34" charset="-120"/>
              </a:rPr>
              <a:t>Width</a:t>
            </a:r>
            <a:endParaRPr lang="en-US" sz="1350" dirty="0"/>
          </a:p>
        </p:txBody>
      </p:sp>
      <p:sp>
        <p:nvSpPr>
          <p:cNvPr id="8" name="Text 6"/>
          <p:cNvSpPr/>
          <p:nvPr/>
        </p:nvSpPr>
        <p:spPr>
          <a:xfrm>
            <a:off x="2971800" y="2295144"/>
            <a:ext cx="4343400" cy="512064"/>
          </a:xfrm>
          <a:prstGeom prst="rect">
            <a:avLst/>
          </a:prstGeom>
          <a:noFill/>
          <a:ln/>
        </p:spPr>
        <p:txBody>
          <a:bodyPr wrap="square" lIns="0" tIns="0" rIns="0" bIns="0" rtlCol="0" anchor="ctr"/>
          <a:lstStyle/>
          <a:p>
            <a:pPr algn="l" indent="0" marL="0">
              <a:buNone/>
            </a:pPr>
            <a:r>
              <a:rPr lang="en-US" sz="1350" dirty="0">
                <a:solidFill>
                  <a:srgbClr val="EAECEF"/>
                </a:solidFill>
                <a:latin typeface="Courier New" pitchFamily="34" charset="0"/>
                <a:ea typeface="Courier New" pitchFamily="34" charset="-122"/>
                <a:cs typeface="Courier New" pitchFamily="34" charset="-120"/>
              </a:rPr>
              <a:t>constant K</a:t>
            </a:r>
            <a:endParaRPr lang="en-US" sz="1350" dirty="0"/>
          </a:p>
        </p:txBody>
      </p:sp>
      <p:sp>
        <p:nvSpPr>
          <p:cNvPr id="9" name="Text 7"/>
          <p:cNvSpPr/>
          <p:nvPr/>
        </p:nvSpPr>
        <p:spPr>
          <a:xfrm>
            <a:off x="7315200" y="2295144"/>
            <a:ext cx="4343400" cy="512064"/>
          </a:xfrm>
          <a:prstGeom prst="rect">
            <a:avLst/>
          </a:prstGeom>
          <a:noFill/>
          <a:ln/>
        </p:spPr>
        <p:txBody>
          <a:bodyPr wrap="square" lIns="0" tIns="0" rIns="0" bIns="0" rtlCol="0" anchor="ctr"/>
          <a:lstStyle/>
          <a:p>
            <a:pPr algn="l" indent="0" marL="0">
              <a:buNone/>
            </a:pPr>
            <a:r>
              <a:rPr lang="en-US" sz="1350" dirty="0">
                <a:solidFill>
                  <a:srgbClr val="EAECEF"/>
                </a:solidFill>
                <a:latin typeface="Courier New" pitchFamily="34" charset="0"/>
                <a:ea typeface="Courier New" pitchFamily="34" charset="-122"/>
                <a:cs typeface="Courier New" pitchFamily="34" charset="-120"/>
              </a:rPr>
              <a:t>changes as you sweep</a:t>
            </a:r>
            <a:endParaRPr lang="en-US" sz="1350" dirty="0"/>
          </a:p>
        </p:txBody>
      </p:sp>
      <p:sp>
        <p:nvSpPr>
          <p:cNvPr id="10" name="Shape 8"/>
          <p:cNvSpPr/>
          <p:nvPr/>
        </p:nvSpPr>
        <p:spPr>
          <a:xfrm>
            <a:off x="502920" y="2807208"/>
            <a:ext cx="11155680" cy="512064"/>
          </a:xfrm>
          <a:prstGeom prst="roundRect">
            <a:avLst>
              <a:gd name="adj" fmla="val 16071"/>
            </a:avLst>
          </a:prstGeom>
          <a:solidFill>
            <a:srgbClr val="191D26"/>
          </a:solidFill>
          <a:ln w="12700">
            <a:solidFill>
              <a:srgbClr val="2A3140"/>
            </a:solidFill>
            <a:prstDash val="solid"/>
          </a:ln>
        </p:spPr>
      </p:sp>
      <p:sp>
        <p:nvSpPr>
          <p:cNvPr id="11" name="Text 9"/>
          <p:cNvSpPr/>
          <p:nvPr/>
        </p:nvSpPr>
        <p:spPr>
          <a:xfrm>
            <a:off x="640080" y="2807208"/>
            <a:ext cx="2468880" cy="512064"/>
          </a:xfrm>
          <a:prstGeom prst="rect">
            <a:avLst/>
          </a:prstGeom>
          <a:noFill/>
          <a:ln/>
        </p:spPr>
        <p:txBody>
          <a:bodyPr wrap="square" lIns="0" tIns="0" rIns="0" bIns="0" rtlCol="0" anchor="ctr"/>
          <a:lstStyle/>
          <a:p>
            <a:pPr algn="l" indent="0" marL="0">
              <a:buNone/>
            </a:pPr>
            <a:r>
              <a:rPr lang="en-US" sz="1350" b="1" dirty="0">
                <a:solidFill>
                  <a:srgbClr val="9AA5B4"/>
                </a:solidFill>
                <a:latin typeface="Calibri" pitchFamily="34" charset="0"/>
                <a:ea typeface="Calibri" pitchFamily="34" charset="-122"/>
                <a:cs typeface="Calibri" pitchFamily="34" charset="-120"/>
              </a:rPr>
              <a:t>Edges</a:t>
            </a:r>
            <a:endParaRPr lang="en-US" sz="1350" dirty="0"/>
          </a:p>
        </p:txBody>
      </p:sp>
      <p:sp>
        <p:nvSpPr>
          <p:cNvPr id="12" name="Text 10"/>
          <p:cNvSpPr/>
          <p:nvPr/>
        </p:nvSpPr>
        <p:spPr>
          <a:xfrm>
            <a:off x="2971800" y="2807208"/>
            <a:ext cx="4343400" cy="512064"/>
          </a:xfrm>
          <a:prstGeom prst="rect">
            <a:avLst/>
          </a:prstGeom>
          <a:noFill/>
          <a:ln/>
        </p:spPr>
        <p:txBody>
          <a:bodyPr wrap="square" lIns="0" tIns="0" rIns="0" bIns="0" rtlCol="0" anchor="ctr"/>
          <a:lstStyle/>
          <a:p>
            <a:pPr algn="l" indent="0" marL="0">
              <a:buNone/>
            </a:pPr>
            <a:r>
              <a:rPr lang="en-US" sz="1350" dirty="0">
                <a:solidFill>
                  <a:srgbClr val="EAECEF"/>
                </a:solidFill>
                <a:latin typeface="Courier New" pitchFamily="34" charset="0"/>
                <a:ea typeface="Courier New" pitchFamily="34" charset="-122"/>
                <a:cs typeface="Courier New" pitchFamily="34" charset="-120"/>
              </a:rPr>
              <a:t>move together</a:t>
            </a:r>
            <a:endParaRPr lang="en-US" sz="1350" dirty="0"/>
          </a:p>
        </p:txBody>
      </p:sp>
      <p:sp>
        <p:nvSpPr>
          <p:cNvPr id="13" name="Text 11"/>
          <p:cNvSpPr/>
          <p:nvPr/>
        </p:nvSpPr>
        <p:spPr>
          <a:xfrm>
            <a:off x="7315200" y="2807208"/>
            <a:ext cx="4343400" cy="512064"/>
          </a:xfrm>
          <a:prstGeom prst="rect">
            <a:avLst/>
          </a:prstGeom>
          <a:noFill/>
          <a:ln/>
        </p:spPr>
        <p:txBody>
          <a:bodyPr wrap="square" lIns="0" tIns="0" rIns="0" bIns="0" rtlCol="0" anchor="ctr"/>
          <a:lstStyle/>
          <a:p>
            <a:pPr algn="l" indent="0" marL="0">
              <a:buNone/>
            </a:pPr>
            <a:r>
              <a:rPr lang="en-US" sz="1350" dirty="0">
                <a:solidFill>
                  <a:srgbClr val="EAECEF"/>
                </a:solidFill>
                <a:latin typeface="Courier New" pitchFamily="34" charset="0"/>
                <a:ea typeface="Courier New" pitchFamily="34" charset="-122"/>
                <a:cs typeface="Courier New" pitchFamily="34" charset="-120"/>
              </a:rPr>
              <a:t>independent, forward-only</a:t>
            </a:r>
            <a:endParaRPr lang="en-US" sz="1350" dirty="0"/>
          </a:p>
        </p:txBody>
      </p:sp>
      <p:sp>
        <p:nvSpPr>
          <p:cNvPr id="14" name="Text 12"/>
          <p:cNvSpPr/>
          <p:nvPr/>
        </p:nvSpPr>
        <p:spPr>
          <a:xfrm>
            <a:off x="640080" y="3319272"/>
            <a:ext cx="2468880" cy="512064"/>
          </a:xfrm>
          <a:prstGeom prst="rect">
            <a:avLst/>
          </a:prstGeom>
          <a:noFill/>
          <a:ln/>
        </p:spPr>
        <p:txBody>
          <a:bodyPr wrap="square" lIns="0" tIns="0" rIns="0" bIns="0" rtlCol="0" anchor="ctr"/>
          <a:lstStyle/>
          <a:p>
            <a:pPr algn="l" indent="0" marL="0">
              <a:buNone/>
            </a:pPr>
            <a:r>
              <a:rPr lang="en-US" sz="1350" b="1" dirty="0">
                <a:solidFill>
                  <a:srgbClr val="9AA5B4"/>
                </a:solidFill>
                <a:latin typeface="Calibri" pitchFamily="34" charset="0"/>
                <a:ea typeface="Calibri" pitchFamily="34" charset="-122"/>
                <a:cs typeface="Calibri" pitchFamily="34" charset="-120"/>
              </a:rPr>
              <a:t>Use when</a:t>
            </a:r>
            <a:endParaRPr lang="en-US" sz="1350" dirty="0"/>
          </a:p>
        </p:txBody>
      </p:sp>
      <p:sp>
        <p:nvSpPr>
          <p:cNvPr id="15" name="Text 13"/>
          <p:cNvSpPr/>
          <p:nvPr/>
        </p:nvSpPr>
        <p:spPr>
          <a:xfrm>
            <a:off x="2971800" y="3319272"/>
            <a:ext cx="4343400" cy="512064"/>
          </a:xfrm>
          <a:prstGeom prst="rect">
            <a:avLst/>
          </a:prstGeom>
          <a:noFill/>
          <a:ln/>
        </p:spPr>
        <p:txBody>
          <a:bodyPr wrap="square" lIns="0" tIns="0" rIns="0" bIns="0" rtlCol="0" anchor="ctr"/>
          <a:lstStyle/>
          <a:p>
            <a:pPr algn="l" indent="0" marL="0">
              <a:buNone/>
            </a:pPr>
            <a:r>
              <a:rPr lang="en-US" sz="1350" dirty="0">
                <a:solidFill>
                  <a:srgbClr val="EAECEF"/>
                </a:solidFill>
                <a:latin typeface="Courier New" pitchFamily="34" charset="0"/>
                <a:ea typeface="Courier New" pitchFamily="34" charset="-122"/>
                <a:cs typeface="Courier New" pitchFamily="34" charset="-120"/>
              </a:rPr>
              <a:t>best block of exactly K</a:t>
            </a:r>
            <a:endParaRPr lang="en-US" sz="1350" dirty="0"/>
          </a:p>
        </p:txBody>
      </p:sp>
      <p:sp>
        <p:nvSpPr>
          <p:cNvPr id="16" name="Text 14"/>
          <p:cNvSpPr/>
          <p:nvPr/>
        </p:nvSpPr>
        <p:spPr>
          <a:xfrm>
            <a:off x="7315200" y="3319272"/>
            <a:ext cx="4343400" cy="512064"/>
          </a:xfrm>
          <a:prstGeom prst="rect">
            <a:avLst/>
          </a:prstGeom>
          <a:noFill/>
          <a:ln/>
        </p:spPr>
        <p:txBody>
          <a:bodyPr wrap="square" lIns="0" tIns="0" rIns="0" bIns="0" rtlCol="0" anchor="ctr"/>
          <a:lstStyle/>
          <a:p>
            <a:pPr algn="l" indent="0" marL="0">
              <a:buNone/>
            </a:pPr>
            <a:r>
              <a:rPr lang="en-US" sz="1350" dirty="0">
                <a:solidFill>
                  <a:srgbClr val="EAECEF"/>
                </a:solidFill>
                <a:latin typeface="Courier New" pitchFamily="34" charset="0"/>
                <a:ea typeface="Courier New" pitchFamily="34" charset="-122"/>
                <a:cs typeface="Courier New" pitchFamily="34" charset="-120"/>
              </a:rPr>
              <a:t>shortest / longest that satisfies</a:t>
            </a:r>
            <a:endParaRPr lang="en-US" sz="1350" dirty="0"/>
          </a:p>
        </p:txBody>
      </p:sp>
      <p:sp>
        <p:nvSpPr>
          <p:cNvPr id="17" name="Shape 15"/>
          <p:cNvSpPr/>
          <p:nvPr/>
        </p:nvSpPr>
        <p:spPr>
          <a:xfrm>
            <a:off x="502920" y="3831336"/>
            <a:ext cx="11155680" cy="512064"/>
          </a:xfrm>
          <a:prstGeom prst="roundRect">
            <a:avLst>
              <a:gd name="adj" fmla="val 16071"/>
            </a:avLst>
          </a:prstGeom>
          <a:solidFill>
            <a:srgbClr val="191D26"/>
          </a:solidFill>
          <a:ln w="12700">
            <a:solidFill>
              <a:srgbClr val="2A3140"/>
            </a:solidFill>
            <a:prstDash val="solid"/>
          </a:ln>
        </p:spPr>
      </p:sp>
      <p:sp>
        <p:nvSpPr>
          <p:cNvPr id="18" name="Text 16"/>
          <p:cNvSpPr/>
          <p:nvPr/>
        </p:nvSpPr>
        <p:spPr>
          <a:xfrm>
            <a:off x="640080" y="3831336"/>
            <a:ext cx="2468880" cy="512064"/>
          </a:xfrm>
          <a:prstGeom prst="rect">
            <a:avLst/>
          </a:prstGeom>
          <a:noFill/>
          <a:ln/>
        </p:spPr>
        <p:txBody>
          <a:bodyPr wrap="square" lIns="0" tIns="0" rIns="0" bIns="0" rtlCol="0" anchor="ctr"/>
          <a:lstStyle/>
          <a:p>
            <a:pPr algn="l" indent="0" marL="0">
              <a:buNone/>
            </a:pPr>
            <a:r>
              <a:rPr lang="en-US" sz="1350" b="1" dirty="0">
                <a:solidFill>
                  <a:srgbClr val="9AA5B4"/>
                </a:solidFill>
                <a:latin typeface="Calibri" pitchFamily="34" charset="0"/>
                <a:ea typeface="Calibri" pitchFamily="34" charset="-122"/>
                <a:cs typeface="Calibri" pitchFamily="34" charset="-120"/>
              </a:rPr>
              <a:t>On enter</a:t>
            </a:r>
            <a:endParaRPr lang="en-US" sz="1350" dirty="0"/>
          </a:p>
        </p:txBody>
      </p:sp>
      <p:sp>
        <p:nvSpPr>
          <p:cNvPr id="19" name="Text 17"/>
          <p:cNvSpPr/>
          <p:nvPr/>
        </p:nvSpPr>
        <p:spPr>
          <a:xfrm>
            <a:off x="2971800" y="3831336"/>
            <a:ext cx="4343400" cy="512064"/>
          </a:xfrm>
          <a:prstGeom prst="rect">
            <a:avLst/>
          </a:prstGeom>
          <a:noFill/>
          <a:ln/>
        </p:spPr>
        <p:txBody>
          <a:bodyPr wrap="square" lIns="0" tIns="0" rIns="0" bIns="0" rtlCol="0" anchor="ctr"/>
          <a:lstStyle/>
          <a:p>
            <a:pPr algn="l" indent="0" marL="0">
              <a:buNone/>
            </a:pPr>
            <a:r>
              <a:rPr lang="en-US" sz="1350" dirty="0">
                <a:solidFill>
                  <a:srgbClr val="EAECEF"/>
                </a:solidFill>
                <a:latin typeface="Courier New" pitchFamily="34" charset="0"/>
                <a:ea typeface="Courier New" pitchFamily="34" charset="-122"/>
                <a:cs typeface="Courier New" pitchFamily="34" charset="-120"/>
              </a:rPr>
              <a:t>add a[r]</a:t>
            </a:r>
            <a:endParaRPr lang="en-US" sz="1350" dirty="0"/>
          </a:p>
        </p:txBody>
      </p:sp>
      <p:sp>
        <p:nvSpPr>
          <p:cNvPr id="20" name="Text 18"/>
          <p:cNvSpPr/>
          <p:nvPr/>
        </p:nvSpPr>
        <p:spPr>
          <a:xfrm>
            <a:off x="7315200" y="3831336"/>
            <a:ext cx="4343400" cy="512064"/>
          </a:xfrm>
          <a:prstGeom prst="rect">
            <a:avLst/>
          </a:prstGeom>
          <a:noFill/>
          <a:ln/>
        </p:spPr>
        <p:txBody>
          <a:bodyPr wrap="square" lIns="0" tIns="0" rIns="0" bIns="0" rtlCol="0" anchor="ctr"/>
          <a:lstStyle/>
          <a:p>
            <a:pPr algn="l" indent="0" marL="0">
              <a:buNone/>
            </a:pPr>
            <a:r>
              <a:rPr lang="en-US" sz="1350" dirty="0">
                <a:solidFill>
                  <a:srgbClr val="EAECEF"/>
                </a:solidFill>
                <a:latin typeface="Courier New" pitchFamily="34" charset="0"/>
                <a:ea typeface="Courier New" pitchFamily="34" charset="-122"/>
                <a:cs typeface="Courier New" pitchFamily="34" charset="-120"/>
              </a:rPr>
              <a:t>add a[r]</a:t>
            </a:r>
            <a:endParaRPr lang="en-US" sz="1350" dirty="0"/>
          </a:p>
        </p:txBody>
      </p:sp>
      <p:sp>
        <p:nvSpPr>
          <p:cNvPr id="21" name="Text 19"/>
          <p:cNvSpPr/>
          <p:nvPr/>
        </p:nvSpPr>
        <p:spPr>
          <a:xfrm>
            <a:off x="640080" y="4343400"/>
            <a:ext cx="2468880" cy="512064"/>
          </a:xfrm>
          <a:prstGeom prst="rect">
            <a:avLst/>
          </a:prstGeom>
          <a:noFill/>
          <a:ln/>
        </p:spPr>
        <p:txBody>
          <a:bodyPr wrap="square" lIns="0" tIns="0" rIns="0" bIns="0" rtlCol="0" anchor="ctr"/>
          <a:lstStyle/>
          <a:p>
            <a:pPr algn="l" indent="0" marL="0">
              <a:buNone/>
            </a:pPr>
            <a:r>
              <a:rPr lang="en-US" sz="1350" b="1" dirty="0">
                <a:solidFill>
                  <a:srgbClr val="9AA5B4"/>
                </a:solidFill>
                <a:latin typeface="Calibri" pitchFamily="34" charset="0"/>
                <a:ea typeface="Calibri" pitchFamily="34" charset="-122"/>
                <a:cs typeface="Calibri" pitchFamily="34" charset="-120"/>
              </a:rPr>
              <a:t>On leave</a:t>
            </a:r>
            <a:endParaRPr lang="en-US" sz="1350" dirty="0"/>
          </a:p>
        </p:txBody>
      </p:sp>
      <p:sp>
        <p:nvSpPr>
          <p:cNvPr id="22" name="Text 20"/>
          <p:cNvSpPr/>
          <p:nvPr/>
        </p:nvSpPr>
        <p:spPr>
          <a:xfrm>
            <a:off x="2971800" y="4343400"/>
            <a:ext cx="4343400" cy="512064"/>
          </a:xfrm>
          <a:prstGeom prst="rect">
            <a:avLst/>
          </a:prstGeom>
          <a:noFill/>
          <a:ln/>
        </p:spPr>
        <p:txBody>
          <a:bodyPr wrap="square" lIns="0" tIns="0" rIns="0" bIns="0" rtlCol="0" anchor="ctr"/>
          <a:lstStyle/>
          <a:p>
            <a:pPr algn="l" indent="0" marL="0">
              <a:buNone/>
            </a:pPr>
            <a:r>
              <a:rPr lang="en-US" sz="1350" dirty="0">
                <a:solidFill>
                  <a:srgbClr val="EAECEF"/>
                </a:solidFill>
                <a:latin typeface="Courier New" pitchFamily="34" charset="0"/>
                <a:ea typeface="Courier New" pitchFamily="34" charset="-122"/>
                <a:cs typeface="Courier New" pitchFamily="34" charset="-120"/>
              </a:rPr>
              <a:t>subtract a[r-K]</a:t>
            </a:r>
            <a:endParaRPr lang="en-US" sz="1350" dirty="0"/>
          </a:p>
        </p:txBody>
      </p:sp>
      <p:sp>
        <p:nvSpPr>
          <p:cNvPr id="23" name="Text 21"/>
          <p:cNvSpPr/>
          <p:nvPr/>
        </p:nvSpPr>
        <p:spPr>
          <a:xfrm>
            <a:off x="7315200" y="4343400"/>
            <a:ext cx="4343400" cy="512064"/>
          </a:xfrm>
          <a:prstGeom prst="rect">
            <a:avLst/>
          </a:prstGeom>
          <a:noFill/>
          <a:ln/>
        </p:spPr>
        <p:txBody>
          <a:bodyPr wrap="square" lIns="0" tIns="0" rIns="0" bIns="0" rtlCol="0" anchor="ctr"/>
          <a:lstStyle/>
          <a:p>
            <a:pPr algn="l" indent="0" marL="0">
              <a:buNone/>
            </a:pPr>
            <a:r>
              <a:rPr lang="en-US" sz="1350" dirty="0">
                <a:solidFill>
                  <a:srgbClr val="EAECEF"/>
                </a:solidFill>
                <a:latin typeface="Courier New" pitchFamily="34" charset="0"/>
                <a:ea typeface="Courier New" pitchFamily="34" charset="-122"/>
                <a:cs typeface="Courier New" pitchFamily="34" charset="-120"/>
              </a:rPr>
              <a:t>subtract a[l]</a:t>
            </a:r>
            <a:endParaRPr lang="en-US" sz="1350" dirty="0"/>
          </a:p>
        </p:txBody>
      </p:sp>
      <p:sp>
        <p:nvSpPr>
          <p:cNvPr id="24" name="Shape 22"/>
          <p:cNvSpPr/>
          <p:nvPr/>
        </p:nvSpPr>
        <p:spPr>
          <a:xfrm>
            <a:off x="502920" y="4855464"/>
            <a:ext cx="11155680" cy="512064"/>
          </a:xfrm>
          <a:prstGeom prst="roundRect">
            <a:avLst>
              <a:gd name="adj" fmla="val 16071"/>
            </a:avLst>
          </a:prstGeom>
          <a:solidFill>
            <a:srgbClr val="191D26"/>
          </a:solidFill>
          <a:ln w="12700">
            <a:solidFill>
              <a:srgbClr val="2A3140"/>
            </a:solidFill>
            <a:prstDash val="solid"/>
          </a:ln>
        </p:spPr>
      </p:sp>
      <p:sp>
        <p:nvSpPr>
          <p:cNvPr id="25" name="Text 23"/>
          <p:cNvSpPr/>
          <p:nvPr/>
        </p:nvSpPr>
        <p:spPr>
          <a:xfrm>
            <a:off x="640080" y="4855464"/>
            <a:ext cx="2468880" cy="512064"/>
          </a:xfrm>
          <a:prstGeom prst="rect">
            <a:avLst/>
          </a:prstGeom>
          <a:noFill/>
          <a:ln/>
        </p:spPr>
        <p:txBody>
          <a:bodyPr wrap="square" lIns="0" tIns="0" rIns="0" bIns="0" rtlCol="0" anchor="ctr"/>
          <a:lstStyle/>
          <a:p>
            <a:pPr algn="l" indent="0" marL="0">
              <a:buNone/>
            </a:pPr>
            <a:r>
              <a:rPr lang="en-US" sz="1350" b="1" dirty="0">
                <a:solidFill>
                  <a:srgbClr val="9AA5B4"/>
                </a:solidFill>
                <a:latin typeface="Calibri" pitchFamily="34" charset="0"/>
                <a:ea typeface="Calibri" pitchFamily="34" charset="-122"/>
                <a:cs typeface="Calibri" pitchFamily="34" charset="-120"/>
              </a:rPr>
              <a:t>Linear because</a:t>
            </a:r>
            <a:endParaRPr lang="en-US" sz="1350" dirty="0"/>
          </a:p>
        </p:txBody>
      </p:sp>
      <p:sp>
        <p:nvSpPr>
          <p:cNvPr id="26" name="Text 24"/>
          <p:cNvSpPr/>
          <p:nvPr/>
        </p:nvSpPr>
        <p:spPr>
          <a:xfrm>
            <a:off x="2971800" y="4855464"/>
            <a:ext cx="4343400" cy="512064"/>
          </a:xfrm>
          <a:prstGeom prst="rect">
            <a:avLst/>
          </a:prstGeom>
          <a:noFill/>
          <a:ln/>
        </p:spPr>
        <p:txBody>
          <a:bodyPr wrap="square" lIns="0" tIns="0" rIns="0" bIns="0" rtlCol="0" anchor="ctr"/>
          <a:lstStyle/>
          <a:p>
            <a:pPr algn="l" indent="0" marL="0">
              <a:buNone/>
            </a:pPr>
            <a:r>
              <a:rPr lang="en-US" sz="1350" dirty="0">
                <a:solidFill>
                  <a:srgbClr val="EAECEF"/>
                </a:solidFill>
                <a:latin typeface="Courier New" pitchFamily="34" charset="0"/>
                <a:ea typeface="Courier New" pitchFamily="34" charset="-122"/>
                <a:cs typeface="Courier New" pitchFamily="34" charset="-120"/>
              </a:rPr>
              <a:t>N slides × O(1)</a:t>
            </a:r>
            <a:endParaRPr lang="en-US" sz="1350" dirty="0"/>
          </a:p>
        </p:txBody>
      </p:sp>
      <p:sp>
        <p:nvSpPr>
          <p:cNvPr id="27" name="Text 25"/>
          <p:cNvSpPr/>
          <p:nvPr/>
        </p:nvSpPr>
        <p:spPr>
          <a:xfrm>
            <a:off x="7315200" y="4855464"/>
            <a:ext cx="4343400" cy="512064"/>
          </a:xfrm>
          <a:prstGeom prst="rect">
            <a:avLst/>
          </a:prstGeom>
          <a:noFill/>
          <a:ln/>
        </p:spPr>
        <p:txBody>
          <a:bodyPr wrap="square" lIns="0" tIns="0" rIns="0" bIns="0" rtlCol="0" anchor="ctr"/>
          <a:lstStyle/>
          <a:p>
            <a:pPr algn="l" indent="0" marL="0">
              <a:buNone/>
            </a:pPr>
            <a:r>
              <a:rPr lang="en-US" sz="1350" dirty="0">
                <a:solidFill>
                  <a:srgbClr val="EAECEF"/>
                </a:solidFill>
                <a:latin typeface="Courier New" pitchFamily="34" charset="0"/>
                <a:ea typeface="Courier New" pitchFamily="34" charset="-122"/>
                <a:cs typeface="Courier New" pitchFamily="34" charset="-120"/>
              </a:rPr>
              <a:t>each pointer travels ≤ n (amortised)</a:t>
            </a:r>
            <a:endParaRPr lang="en-US" sz="1350" dirty="0"/>
          </a:p>
        </p:txBody>
      </p:sp>
      <p:sp>
        <p:nvSpPr>
          <p:cNvPr id="28" name="Text 26"/>
          <p:cNvSpPr/>
          <p:nvPr/>
        </p:nvSpPr>
        <p:spPr>
          <a:xfrm>
            <a:off x="640080" y="5367528"/>
            <a:ext cx="2468880" cy="512064"/>
          </a:xfrm>
          <a:prstGeom prst="rect">
            <a:avLst/>
          </a:prstGeom>
          <a:noFill/>
          <a:ln/>
        </p:spPr>
        <p:txBody>
          <a:bodyPr wrap="square" lIns="0" tIns="0" rIns="0" bIns="0" rtlCol="0" anchor="ctr"/>
          <a:lstStyle/>
          <a:p>
            <a:pPr algn="l" indent="0" marL="0">
              <a:buNone/>
            </a:pPr>
            <a:r>
              <a:rPr lang="en-US" sz="1350" b="1" dirty="0">
                <a:solidFill>
                  <a:srgbClr val="9AA5B4"/>
                </a:solidFill>
                <a:latin typeface="Calibri" pitchFamily="34" charset="0"/>
                <a:ea typeface="Calibri" pitchFamily="34" charset="-122"/>
                <a:cs typeface="Calibri" pitchFamily="34" charset="-120"/>
              </a:rPr>
              <a:t>AIO problem</a:t>
            </a:r>
            <a:endParaRPr lang="en-US" sz="1350" dirty="0"/>
          </a:p>
        </p:txBody>
      </p:sp>
      <p:sp>
        <p:nvSpPr>
          <p:cNvPr id="29" name="Text 27"/>
          <p:cNvSpPr/>
          <p:nvPr/>
        </p:nvSpPr>
        <p:spPr>
          <a:xfrm>
            <a:off x="2971800" y="5367528"/>
            <a:ext cx="4343400" cy="512064"/>
          </a:xfrm>
          <a:prstGeom prst="rect">
            <a:avLst/>
          </a:prstGeom>
          <a:noFill/>
          <a:ln/>
        </p:spPr>
        <p:txBody>
          <a:bodyPr wrap="square" lIns="0" tIns="0" rIns="0" bIns="0" rtlCol="0" anchor="ctr"/>
          <a:lstStyle/>
          <a:p>
            <a:pPr algn="l" indent="0" marL="0">
              <a:buNone/>
            </a:pPr>
            <a:r>
              <a:rPr lang="en-US" sz="1350" dirty="0">
                <a:solidFill>
                  <a:srgbClr val="EAECEF"/>
                </a:solidFill>
                <a:latin typeface="Courier New" pitchFamily="34" charset="0"/>
                <a:ea typeface="Courier New" pitchFamily="34" charset="-122"/>
                <a:cs typeface="Courier New" pitchFamily="34" charset="-120"/>
              </a:rPr>
              <a:t>Mansion (2007)</a:t>
            </a:r>
            <a:endParaRPr lang="en-US" sz="1350" dirty="0"/>
          </a:p>
        </p:txBody>
      </p:sp>
      <p:sp>
        <p:nvSpPr>
          <p:cNvPr id="30" name="Text 28"/>
          <p:cNvSpPr/>
          <p:nvPr/>
        </p:nvSpPr>
        <p:spPr>
          <a:xfrm>
            <a:off x="7315200" y="5367528"/>
            <a:ext cx="4343400" cy="512064"/>
          </a:xfrm>
          <a:prstGeom prst="rect">
            <a:avLst/>
          </a:prstGeom>
          <a:noFill/>
          <a:ln/>
        </p:spPr>
        <p:txBody>
          <a:bodyPr wrap="square" lIns="0" tIns="0" rIns="0" bIns="0" rtlCol="0" anchor="ctr"/>
          <a:lstStyle/>
          <a:p>
            <a:pPr algn="l" indent="0" marL="0">
              <a:buNone/>
            </a:pPr>
            <a:r>
              <a:rPr lang="en-US" sz="1350" dirty="0">
                <a:solidFill>
                  <a:srgbClr val="EAECEF"/>
                </a:solidFill>
                <a:latin typeface="Courier New" pitchFamily="34" charset="0"/>
                <a:ea typeface="Courier New" pitchFamily="34" charset="-122"/>
                <a:cs typeface="Courier New" pitchFamily="34" charset="-120"/>
              </a:rPr>
              <a:t>Wet Chairs (2015)</a:t>
            </a:r>
            <a:endParaRPr lang="en-US" sz="1350" dirty="0"/>
          </a:p>
        </p:txBody>
      </p:sp>
      <p:sp>
        <p:nvSpPr>
          <p:cNvPr id="31" name="Text 29"/>
          <p:cNvSpPr/>
          <p:nvPr/>
        </p:nvSpPr>
        <p:spPr>
          <a:xfrm>
            <a:off x="502920" y="5989320"/>
            <a:ext cx="11155680" cy="457200"/>
          </a:xfrm>
          <a:prstGeom prst="rect">
            <a:avLst/>
          </a:prstGeom>
          <a:noFill/>
          <a:ln/>
        </p:spPr>
        <p:txBody>
          <a:bodyPr wrap="square" lIns="0" tIns="0" rIns="0" bIns="0" rtlCol="0" anchor="ctr"/>
          <a:lstStyle/>
          <a:p>
            <a:pPr algn="l" indent="0" marL="0">
              <a:buNone/>
            </a:pPr>
            <a:r>
              <a:rPr lang="en-US" sz="1500" i="1" dirty="0">
                <a:solidFill>
                  <a:srgbClr val="34D8C0"/>
                </a:solidFill>
                <a:latin typeface="Calibri" pitchFamily="34" charset="0"/>
                <a:ea typeface="Calibri" pitchFamily="34" charset="-122"/>
                <a:cs typeface="Calibri" pitchFamily="34" charset="-120"/>
              </a:rPr>
              <a:t>Keep a running summary; mend it in O(1) as edges move forward and never back. That sweep is linear.</a:t>
            </a:r>
            <a:endParaRPr lang="en-US" sz="1500" dirty="0"/>
          </a:p>
        </p:txBody>
      </p:sp>
      <p:sp>
        <p:nvSpPr>
          <p:cNvPr id="32" name="Text 30"/>
          <p:cNvSpPr/>
          <p:nvPr/>
        </p:nvSpPr>
        <p:spPr>
          <a:xfrm>
            <a:off x="502920" y="6455664"/>
            <a:ext cx="5486400" cy="274320"/>
          </a:xfrm>
          <a:prstGeom prst="rect">
            <a:avLst/>
          </a:prstGeom>
          <a:noFill/>
          <a:ln/>
        </p:spPr>
        <p:txBody>
          <a:bodyPr wrap="square" lIns="0" tIns="0" rIns="0" bIns="0" rtlCol="0" anchor="ctr"/>
          <a:lstStyle/>
          <a:p>
            <a:pPr algn="l" indent="0" marL="0">
              <a:buNone/>
            </a:pPr>
            <a:r>
              <a:rPr lang="en-US" sz="1000" dirty="0">
                <a:solidFill>
                  <a:srgbClr val="9AA5B4"/>
                </a:solidFill>
                <a:latin typeface="Calibri" pitchFamily="34" charset="0"/>
                <a:ea typeface="Calibri" pitchFamily="34" charset="-122"/>
                <a:cs typeface="Calibri" pitchFamily="34" charset="-120"/>
              </a:rPr>
              <a:t>Two Pointers &amp; Sliding Window</a:t>
            </a:r>
            <a:endParaRPr lang="en-US" sz="1000" dirty="0"/>
          </a:p>
        </p:txBody>
      </p:sp>
      <p:sp>
        <p:nvSpPr>
          <p:cNvPr id="33" name="Text 31"/>
          <p:cNvSpPr/>
          <p:nvPr/>
        </p:nvSpPr>
        <p:spPr>
          <a:xfrm>
            <a:off x="11228832" y="6455664"/>
            <a:ext cx="457200" cy="274320"/>
          </a:xfrm>
          <a:prstGeom prst="rect">
            <a:avLst/>
          </a:prstGeom>
          <a:noFill/>
          <a:ln/>
        </p:spPr>
        <p:txBody>
          <a:bodyPr wrap="square" lIns="0" tIns="0" rIns="0" bIns="0" rtlCol="0" anchor="ctr"/>
          <a:lstStyle/>
          <a:p>
            <a:pPr algn="r" indent="0" marL="0">
              <a:buNone/>
            </a:pPr>
            <a:r>
              <a:rPr lang="en-US" sz="1000" dirty="0">
                <a:solidFill>
                  <a:srgbClr val="9AA5B4"/>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F1118"/>
        </a:solidFill>
      </p:bgPr>
    </p:bg>
    <p:spTree>
      <p:nvGrpSpPr>
        <p:cNvPr id="1" name=""/>
        <p:cNvGrpSpPr/>
        <p:nvPr/>
      </p:nvGrpSpPr>
      <p:grpSpPr>
        <a:xfrm>
          <a:off x="0" y="0"/>
          <a:ext cx="0" cy="0"/>
          <a:chOff x="0" y="0"/>
          <a:chExt cx="0" cy="0"/>
        </a:xfrm>
      </p:grpSpPr>
      <p:sp>
        <p:nvSpPr>
          <p:cNvPr id="2" name="Text 0"/>
          <p:cNvSpPr/>
          <p:nvPr/>
        </p:nvSpPr>
        <p:spPr>
          <a:xfrm>
            <a:off x="502920" y="457200"/>
            <a:ext cx="3657600" cy="292608"/>
          </a:xfrm>
          <a:prstGeom prst="rect">
            <a:avLst/>
          </a:prstGeom>
          <a:noFill/>
          <a:ln/>
        </p:spPr>
        <p:txBody>
          <a:bodyPr wrap="square" lIns="0" tIns="0" rIns="0" bIns="0" rtlCol="0" anchor="ctr"/>
          <a:lstStyle/>
          <a:p>
            <a:pPr algn="l" indent="0" marL="0">
              <a:buNone/>
            </a:pPr>
            <a:r>
              <a:rPr lang="en-US" sz="1200" b="1" spc="300" kern="0" dirty="0">
                <a:solidFill>
                  <a:srgbClr val="F2B441"/>
                </a:solidFill>
                <a:latin typeface="Calibri" pitchFamily="34" charset="0"/>
                <a:ea typeface="Calibri" pitchFamily="34" charset="-122"/>
                <a:cs typeface="Calibri" pitchFamily="34" charset="-120"/>
              </a:rPr>
              <a:t>KEEP GOING</a:t>
            </a:r>
            <a:endParaRPr lang="en-US" sz="1200" dirty="0"/>
          </a:p>
        </p:txBody>
      </p:sp>
      <p:sp>
        <p:nvSpPr>
          <p:cNvPr id="3" name="Text 1"/>
          <p:cNvSpPr/>
          <p:nvPr/>
        </p:nvSpPr>
        <p:spPr>
          <a:xfrm>
            <a:off x="502920" y="822960"/>
            <a:ext cx="10972800" cy="822960"/>
          </a:xfrm>
          <a:prstGeom prst="rect">
            <a:avLst/>
          </a:prstGeom>
          <a:noFill/>
          <a:ln/>
        </p:spPr>
        <p:txBody>
          <a:bodyPr wrap="square" lIns="0" tIns="0" rIns="0" bIns="0" rtlCol="0" anchor="ctr"/>
          <a:lstStyle/>
          <a:p>
            <a:pPr algn="l" indent="0" marL="0">
              <a:buNone/>
            </a:pPr>
            <a:r>
              <a:rPr lang="en-US" sz="3400" b="1" dirty="0">
                <a:solidFill>
                  <a:srgbClr val="EAECEF"/>
                </a:solidFill>
                <a:latin typeface="Cambria" pitchFamily="34" charset="0"/>
                <a:ea typeface="Cambria" pitchFamily="34" charset="-122"/>
                <a:cs typeface="Cambria" pitchFamily="34" charset="-120"/>
              </a:rPr>
              <a:t>More AIO problems to try</a:t>
            </a:r>
            <a:endParaRPr lang="en-US" sz="3400" dirty="0"/>
          </a:p>
        </p:txBody>
      </p:sp>
      <p:sp>
        <p:nvSpPr>
          <p:cNvPr id="4" name="Shape 2"/>
          <p:cNvSpPr/>
          <p:nvPr/>
        </p:nvSpPr>
        <p:spPr>
          <a:xfrm>
            <a:off x="502920" y="1965960"/>
            <a:ext cx="3611880" cy="2286000"/>
          </a:xfrm>
          <a:prstGeom prst="roundRect">
            <a:avLst>
              <a:gd name="adj" fmla="val 3600"/>
            </a:avLst>
          </a:prstGeom>
          <a:solidFill>
            <a:srgbClr val="20242E"/>
          </a:solidFill>
          <a:ln w="12700">
            <a:solidFill>
              <a:srgbClr val="2A3140"/>
            </a:solidFill>
            <a:prstDash val="solid"/>
          </a:ln>
        </p:spPr>
      </p:sp>
      <p:sp>
        <p:nvSpPr>
          <p:cNvPr id="5" name="Text 3"/>
          <p:cNvSpPr/>
          <p:nvPr/>
        </p:nvSpPr>
        <p:spPr>
          <a:xfrm>
            <a:off x="731520" y="2194560"/>
            <a:ext cx="3154680" cy="457200"/>
          </a:xfrm>
          <a:prstGeom prst="rect">
            <a:avLst/>
          </a:prstGeom>
          <a:noFill/>
          <a:ln/>
        </p:spPr>
        <p:txBody>
          <a:bodyPr wrap="square" lIns="0" tIns="0" rIns="0" bIns="0" rtlCol="0" anchor="ctr"/>
          <a:lstStyle/>
          <a:p>
            <a:pPr algn="l" indent="0" marL="0">
              <a:buNone/>
            </a:pPr>
            <a:r>
              <a:rPr lang="en-US" sz="2400" b="1" dirty="0">
                <a:solidFill>
                  <a:srgbClr val="34D8C0"/>
                </a:solidFill>
                <a:latin typeface="Cambria" pitchFamily="34" charset="0"/>
                <a:ea typeface="Cambria" pitchFamily="34" charset="-122"/>
                <a:cs typeface="Cambria" pitchFamily="34" charset="-120"/>
              </a:rPr>
              <a:t>Alien</a:t>
            </a:r>
            <a:endParaRPr lang="en-US" sz="2400" dirty="0"/>
          </a:p>
        </p:txBody>
      </p:sp>
      <p:sp>
        <p:nvSpPr>
          <p:cNvPr id="6" name="Text 4"/>
          <p:cNvSpPr/>
          <p:nvPr/>
        </p:nvSpPr>
        <p:spPr>
          <a:xfrm>
            <a:off x="731520" y="2697480"/>
            <a:ext cx="3154680" cy="320040"/>
          </a:xfrm>
          <a:prstGeom prst="rect">
            <a:avLst/>
          </a:prstGeom>
          <a:noFill/>
          <a:ln/>
        </p:spPr>
        <p:txBody>
          <a:bodyPr wrap="square" lIns="0" tIns="0" rIns="0" bIns="0" rtlCol="0" anchor="ctr"/>
          <a:lstStyle/>
          <a:p>
            <a:pPr algn="l" indent="0" marL="0">
              <a:buNone/>
            </a:pPr>
            <a:r>
              <a:rPr lang="en-US" sz="1300" dirty="0">
                <a:solidFill>
                  <a:srgbClr val="F2B441"/>
                </a:solidFill>
                <a:latin typeface="Courier New" pitchFamily="34" charset="0"/>
                <a:ea typeface="Courier New" pitchFamily="34" charset="-122"/>
                <a:cs typeface="Courier New" pitchFamily="34" charset="-120"/>
              </a:rPr>
              <a:t>AIO 2011</a:t>
            </a:r>
            <a:endParaRPr lang="en-US" sz="1300" dirty="0"/>
          </a:p>
        </p:txBody>
      </p:sp>
      <p:sp>
        <p:nvSpPr>
          <p:cNvPr id="7" name="Text 5"/>
          <p:cNvSpPr/>
          <p:nvPr/>
        </p:nvSpPr>
        <p:spPr>
          <a:xfrm>
            <a:off x="731520" y="3108960"/>
            <a:ext cx="3154680" cy="1005840"/>
          </a:xfrm>
          <a:prstGeom prst="rect">
            <a:avLst/>
          </a:prstGeom>
          <a:noFill/>
          <a:ln/>
        </p:spPr>
        <p:txBody>
          <a:bodyPr wrap="square" lIns="0" tIns="0" rIns="0" bIns="0" rtlCol="0" anchor="t"/>
          <a:lstStyle/>
          <a:p>
            <a:pPr algn="l" indent="0" marL="0">
              <a:buNone/>
            </a:pPr>
            <a:r>
              <a:rPr lang="en-US" sz="1400" dirty="0">
                <a:solidFill>
                  <a:srgbClr val="9AA5B4"/>
                </a:solidFill>
                <a:latin typeface="Calibri" pitchFamily="34" charset="0"/>
                <a:ea typeface="Calibri" pitchFamily="34" charset="-122"/>
                <a:cs typeface="Calibri" pitchFamily="34" charset="-120"/>
              </a:rPr>
              <a:t>Fix one edge; find the monotone condition on the other.</a:t>
            </a:r>
            <a:endParaRPr lang="en-US" sz="1400" dirty="0"/>
          </a:p>
        </p:txBody>
      </p:sp>
      <p:sp>
        <p:nvSpPr>
          <p:cNvPr id="8" name="Shape 6"/>
          <p:cNvSpPr/>
          <p:nvPr/>
        </p:nvSpPr>
        <p:spPr>
          <a:xfrm>
            <a:off x="4370832" y="1965960"/>
            <a:ext cx="3611880" cy="2286000"/>
          </a:xfrm>
          <a:prstGeom prst="roundRect">
            <a:avLst>
              <a:gd name="adj" fmla="val 3600"/>
            </a:avLst>
          </a:prstGeom>
          <a:solidFill>
            <a:srgbClr val="20242E"/>
          </a:solidFill>
          <a:ln w="12700">
            <a:solidFill>
              <a:srgbClr val="2A3140"/>
            </a:solidFill>
            <a:prstDash val="solid"/>
          </a:ln>
        </p:spPr>
      </p:sp>
      <p:sp>
        <p:nvSpPr>
          <p:cNvPr id="9" name="Text 7"/>
          <p:cNvSpPr/>
          <p:nvPr/>
        </p:nvSpPr>
        <p:spPr>
          <a:xfrm>
            <a:off x="4599432" y="2194560"/>
            <a:ext cx="3154680" cy="457200"/>
          </a:xfrm>
          <a:prstGeom prst="rect">
            <a:avLst/>
          </a:prstGeom>
          <a:noFill/>
          <a:ln/>
        </p:spPr>
        <p:txBody>
          <a:bodyPr wrap="square" lIns="0" tIns="0" rIns="0" bIns="0" rtlCol="0" anchor="ctr"/>
          <a:lstStyle/>
          <a:p>
            <a:pPr algn="l" indent="0" marL="0">
              <a:buNone/>
            </a:pPr>
            <a:r>
              <a:rPr lang="en-US" sz="2400" b="1" dirty="0">
                <a:solidFill>
                  <a:srgbClr val="34D8C0"/>
                </a:solidFill>
                <a:latin typeface="Cambria" pitchFamily="34" charset="0"/>
                <a:ea typeface="Cambria" pitchFamily="34" charset="-122"/>
                <a:cs typeface="Cambria" pitchFamily="34" charset="-120"/>
              </a:rPr>
              <a:t>Cloud Cover</a:t>
            </a:r>
            <a:endParaRPr lang="en-US" sz="2400" dirty="0"/>
          </a:p>
        </p:txBody>
      </p:sp>
      <p:sp>
        <p:nvSpPr>
          <p:cNvPr id="10" name="Text 8"/>
          <p:cNvSpPr/>
          <p:nvPr/>
        </p:nvSpPr>
        <p:spPr>
          <a:xfrm>
            <a:off x="4599432" y="2697480"/>
            <a:ext cx="3154680" cy="320040"/>
          </a:xfrm>
          <a:prstGeom prst="rect">
            <a:avLst/>
          </a:prstGeom>
          <a:noFill/>
          <a:ln/>
        </p:spPr>
        <p:txBody>
          <a:bodyPr wrap="square" lIns="0" tIns="0" rIns="0" bIns="0" rtlCol="0" anchor="ctr"/>
          <a:lstStyle/>
          <a:p>
            <a:pPr algn="l" indent="0" marL="0">
              <a:buNone/>
            </a:pPr>
            <a:r>
              <a:rPr lang="en-US" sz="1300" dirty="0">
                <a:solidFill>
                  <a:srgbClr val="F2B441"/>
                </a:solidFill>
                <a:latin typeface="Courier New" pitchFamily="34" charset="0"/>
                <a:ea typeface="Courier New" pitchFamily="34" charset="-122"/>
                <a:cs typeface="Courier New" pitchFamily="34" charset="-120"/>
              </a:rPr>
              <a:t>AIO 2018</a:t>
            </a:r>
            <a:endParaRPr lang="en-US" sz="1300" dirty="0"/>
          </a:p>
        </p:txBody>
      </p:sp>
      <p:sp>
        <p:nvSpPr>
          <p:cNvPr id="11" name="Text 9"/>
          <p:cNvSpPr/>
          <p:nvPr/>
        </p:nvSpPr>
        <p:spPr>
          <a:xfrm>
            <a:off x="4599432" y="3108960"/>
            <a:ext cx="3154680" cy="1005840"/>
          </a:xfrm>
          <a:prstGeom prst="rect">
            <a:avLst/>
          </a:prstGeom>
          <a:noFill/>
          <a:ln/>
        </p:spPr>
        <p:txBody>
          <a:bodyPr wrap="square" lIns="0" tIns="0" rIns="0" bIns="0" rtlCol="0" anchor="t"/>
          <a:lstStyle/>
          <a:p>
            <a:pPr algn="l" indent="0" marL="0">
              <a:buNone/>
            </a:pPr>
            <a:r>
              <a:rPr lang="en-US" sz="1400" dirty="0">
                <a:solidFill>
                  <a:srgbClr val="9AA5B4"/>
                </a:solidFill>
                <a:latin typeface="Calibri" pitchFamily="34" charset="0"/>
                <a:ea typeface="Calibri" pitchFamily="34" charset="-122"/>
                <a:cs typeface="Calibri" pitchFamily="34" charset="-120"/>
              </a:rPr>
              <a:t>Maintain coverage / cost incrementally as the window moves.</a:t>
            </a:r>
            <a:endParaRPr lang="en-US" sz="1400" dirty="0"/>
          </a:p>
        </p:txBody>
      </p:sp>
      <p:sp>
        <p:nvSpPr>
          <p:cNvPr id="12" name="Shape 10"/>
          <p:cNvSpPr/>
          <p:nvPr/>
        </p:nvSpPr>
        <p:spPr>
          <a:xfrm>
            <a:off x="8238744" y="1965960"/>
            <a:ext cx="3611880" cy="2286000"/>
          </a:xfrm>
          <a:prstGeom prst="roundRect">
            <a:avLst>
              <a:gd name="adj" fmla="val 3600"/>
            </a:avLst>
          </a:prstGeom>
          <a:solidFill>
            <a:srgbClr val="20242E"/>
          </a:solidFill>
          <a:ln w="12700">
            <a:solidFill>
              <a:srgbClr val="2A3140"/>
            </a:solidFill>
            <a:prstDash val="solid"/>
          </a:ln>
        </p:spPr>
      </p:sp>
      <p:sp>
        <p:nvSpPr>
          <p:cNvPr id="13" name="Text 11"/>
          <p:cNvSpPr/>
          <p:nvPr/>
        </p:nvSpPr>
        <p:spPr>
          <a:xfrm>
            <a:off x="8467344" y="2194560"/>
            <a:ext cx="3154680" cy="457200"/>
          </a:xfrm>
          <a:prstGeom prst="rect">
            <a:avLst/>
          </a:prstGeom>
          <a:noFill/>
          <a:ln/>
        </p:spPr>
        <p:txBody>
          <a:bodyPr wrap="square" lIns="0" tIns="0" rIns="0" bIns="0" rtlCol="0" anchor="ctr"/>
          <a:lstStyle/>
          <a:p>
            <a:pPr algn="l" indent="0" marL="0">
              <a:buNone/>
            </a:pPr>
            <a:r>
              <a:rPr lang="en-US" sz="2400" b="1" dirty="0">
                <a:solidFill>
                  <a:srgbClr val="34D8C0"/>
                </a:solidFill>
                <a:latin typeface="Cambria" pitchFamily="34" charset="0"/>
                <a:ea typeface="Cambria" pitchFamily="34" charset="-122"/>
                <a:cs typeface="Cambria" pitchFamily="34" charset="-120"/>
              </a:rPr>
              <a:t>Farmer Drama</a:t>
            </a:r>
            <a:endParaRPr lang="en-US" sz="2400" dirty="0"/>
          </a:p>
        </p:txBody>
      </p:sp>
      <p:sp>
        <p:nvSpPr>
          <p:cNvPr id="14" name="Text 12"/>
          <p:cNvSpPr/>
          <p:nvPr/>
        </p:nvSpPr>
        <p:spPr>
          <a:xfrm>
            <a:off x="8467344" y="2697480"/>
            <a:ext cx="3154680" cy="320040"/>
          </a:xfrm>
          <a:prstGeom prst="rect">
            <a:avLst/>
          </a:prstGeom>
          <a:noFill/>
          <a:ln/>
        </p:spPr>
        <p:txBody>
          <a:bodyPr wrap="square" lIns="0" tIns="0" rIns="0" bIns="0" rtlCol="0" anchor="ctr"/>
          <a:lstStyle/>
          <a:p>
            <a:pPr algn="l" indent="0" marL="0">
              <a:buNone/>
            </a:pPr>
            <a:r>
              <a:rPr lang="en-US" sz="1300" dirty="0">
                <a:solidFill>
                  <a:srgbClr val="F2B441"/>
                </a:solidFill>
                <a:latin typeface="Courier New" pitchFamily="34" charset="0"/>
                <a:ea typeface="Courier New" pitchFamily="34" charset="-122"/>
                <a:cs typeface="Courier New" pitchFamily="34" charset="-120"/>
              </a:rPr>
              <a:t>AIO 2016</a:t>
            </a:r>
            <a:endParaRPr lang="en-US" sz="1300" dirty="0"/>
          </a:p>
        </p:txBody>
      </p:sp>
      <p:sp>
        <p:nvSpPr>
          <p:cNvPr id="15" name="Text 13"/>
          <p:cNvSpPr/>
          <p:nvPr/>
        </p:nvSpPr>
        <p:spPr>
          <a:xfrm>
            <a:off x="8467344" y="3108960"/>
            <a:ext cx="3154680" cy="1005840"/>
          </a:xfrm>
          <a:prstGeom prst="rect">
            <a:avLst/>
          </a:prstGeom>
          <a:noFill/>
          <a:ln/>
        </p:spPr>
        <p:txBody>
          <a:bodyPr wrap="square" lIns="0" tIns="0" rIns="0" bIns="0" rtlCol="0" anchor="t"/>
          <a:lstStyle/>
          <a:p>
            <a:pPr algn="l" indent="0" marL="0">
              <a:buNone/>
            </a:pPr>
            <a:r>
              <a:rPr lang="en-US" sz="1400" dirty="0">
                <a:solidFill>
                  <a:srgbClr val="9AA5B4"/>
                </a:solidFill>
                <a:latin typeface="Calibri" pitchFamily="34" charset="0"/>
                <a:ea typeface="Calibri" pitchFamily="34" charset="-122"/>
                <a:cs typeface="Calibri" pitchFamily="34" charset="-120"/>
              </a:rPr>
              <a:t>Slide over a transformed sequence, not the raw array.</a:t>
            </a:r>
            <a:endParaRPr lang="en-US" sz="1400" dirty="0"/>
          </a:p>
        </p:txBody>
      </p:sp>
      <p:sp>
        <p:nvSpPr>
          <p:cNvPr id="16" name="Shape 14"/>
          <p:cNvSpPr/>
          <p:nvPr/>
        </p:nvSpPr>
        <p:spPr>
          <a:xfrm>
            <a:off x="502920" y="4617720"/>
            <a:ext cx="11155680" cy="1234440"/>
          </a:xfrm>
          <a:prstGeom prst="roundRect">
            <a:avLst>
              <a:gd name="adj" fmla="val 6667"/>
            </a:avLst>
          </a:prstGeom>
          <a:solidFill>
            <a:srgbClr val="10251F"/>
          </a:solidFill>
          <a:ln w="12700">
            <a:solidFill>
              <a:srgbClr val="2A3140"/>
            </a:solidFill>
            <a:prstDash val="solid"/>
          </a:ln>
        </p:spPr>
      </p:sp>
      <p:sp>
        <p:nvSpPr>
          <p:cNvPr id="17" name="Text 15"/>
          <p:cNvSpPr/>
          <p:nvPr/>
        </p:nvSpPr>
        <p:spPr>
          <a:xfrm>
            <a:off x="731520" y="4754880"/>
            <a:ext cx="2743200" cy="365760"/>
          </a:xfrm>
          <a:prstGeom prst="rect">
            <a:avLst/>
          </a:prstGeom>
          <a:noFill/>
          <a:ln/>
        </p:spPr>
        <p:txBody>
          <a:bodyPr wrap="square" lIns="0" tIns="0" rIns="0" bIns="0" rtlCol="0" anchor="ctr"/>
          <a:lstStyle/>
          <a:p>
            <a:pPr algn="l" indent="0" marL="0">
              <a:buNone/>
            </a:pPr>
            <a:r>
              <a:rPr lang="en-US" sz="1400" b="1" dirty="0">
                <a:solidFill>
                  <a:srgbClr val="F2B441"/>
                </a:solidFill>
                <a:latin typeface="Calibri" pitchFamily="34" charset="0"/>
                <a:ea typeface="Calibri" pitchFamily="34" charset="-122"/>
                <a:cs typeface="Calibri" pitchFamily="34" charset="-120"/>
              </a:rPr>
              <a:t>Takeaway</a:t>
            </a:r>
            <a:endParaRPr lang="en-US" sz="1400" dirty="0"/>
          </a:p>
        </p:txBody>
      </p:sp>
      <p:sp>
        <p:nvSpPr>
          <p:cNvPr id="18" name="Text 16"/>
          <p:cNvSpPr/>
          <p:nvPr/>
        </p:nvSpPr>
        <p:spPr>
          <a:xfrm>
            <a:off x="731520" y="5074920"/>
            <a:ext cx="10698480" cy="731520"/>
          </a:xfrm>
          <a:prstGeom prst="rect">
            <a:avLst/>
          </a:prstGeom>
          <a:noFill/>
          <a:ln/>
        </p:spPr>
        <p:txBody>
          <a:bodyPr wrap="square" lIns="0" tIns="0" rIns="0" bIns="0" rtlCol="0" anchor="t"/>
          <a:lstStyle/>
          <a:p>
            <a:pPr algn="l" indent="0" marL="0">
              <a:buNone/>
            </a:pPr>
            <a:r>
              <a:rPr lang="en-US" sz="1800" i="1" dirty="0">
                <a:solidFill>
                  <a:srgbClr val="EAECEF"/>
                </a:solidFill>
                <a:latin typeface="Cambria" pitchFamily="34" charset="0"/>
                <a:ea typeface="Cambria" pitchFamily="34" charset="-122"/>
                <a:cs typeface="Cambria" pitchFamily="34" charset="-120"/>
              </a:rPr>
              <a:t>If each pointer moves one way and every element enters once and leaves once, your sweep is O(N). Find the monotonicity, and the speed follows.</a:t>
            </a:r>
            <a:endParaRPr lang="en-US" sz="1800" dirty="0"/>
          </a:p>
        </p:txBody>
      </p:sp>
      <p:sp>
        <p:nvSpPr>
          <p:cNvPr id="19" name="Text 17"/>
          <p:cNvSpPr/>
          <p:nvPr/>
        </p:nvSpPr>
        <p:spPr>
          <a:xfrm>
            <a:off x="502920" y="6455664"/>
            <a:ext cx="5486400" cy="274320"/>
          </a:xfrm>
          <a:prstGeom prst="rect">
            <a:avLst/>
          </a:prstGeom>
          <a:noFill/>
          <a:ln/>
        </p:spPr>
        <p:txBody>
          <a:bodyPr wrap="square" lIns="0" tIns="0" rIns="0" bIns="0" rtlCol="0" anchor="ctr"/>
          <a:lstStyle/>
          <a:p>
            <a:pPr algn="l" indent="0" marL="0">
              <a:buNone/>
            </a:pPr>
            <a:r>
              <a:rPr lang="en-US" sz="1000" dirty="0">
                <a:solidFill>
                  <a:srgbClr val="9AA5B4"/>
                </a:solidFill>
                <a:latin typeface="Calibri" pitchFamily="34" charset="0"/>
                <a:ea typeface="Calibri" pitchFamily="34" charset="-122"/>
                <a:cs typeface="Calibri" pitchFamily="34" charset="-120"/>
              </a:rPr>
              <a:t>Two Pointers &amp; Sliding Window</a:t>
            </a:r>
            <a:endParaRPr lang="en-US" sz="1000" dirty="0"/>
          </a:p>
        </p:txBody>
      </p:sp>
      <p:sp>
        <p:nvSpPr>
          <p:cNvPr id="20" name="Text 18"/>
          <p:cNvSpPr/>
          <p:nvPr/>
        </p:nvSpPr>
        <p:spPr>
          <a:xfrm>
            <a:off x="11228832" y="6455664"/>
            <a:ext cx="457200" cy="274320"/>
          </a:xfrm>
          <a:prstGeom prst="rect">
            <a:avLst/>
          </a:prstGeom>
          <a:noFill/>
          <a:ln/>
        </p:spPr>
        <p:txBody>
          <a:bodyPr wrap="square" lIns="0" tIns="0" rIns="0" bIns="0" rtlCol="0" anchor="ctr"/>
          <a:lstStyle/>
          <a:p>
            <a:pPr algn="r" indent="0" marL="0">
              <a:buNone/>
            </a:pPr>
            <a:r>
              <a:rPr lang="en-US" sz="1000" dirty="0">
                <a:solidFill>
                  <a:srgbClr val="9AA5B4"/>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2026-08-13T13:40:50Z</dcterms:created>
  <dcterms:modified xsi:type="dcterms:W3CDTF">2026-08-13T13:40:50Z</dcterms:modified>
</cp:coreProperties>
</file>